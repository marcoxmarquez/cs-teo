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 id="2147483681" r:id="rId2"/>
  </p:sldMasterIdLst>
  <p:notesMasterIdLst>
    <p:notesMasterId r:id="rId41"/>
  </p:notesMasterIdLst>
  <p:sldIdLst>
    <p:sldId id="256" r:id="rId3"/>
    <p:sldId id="257" r:id="rId4"/>
    <p:sldId id="279" r:id="rId5"/>
    <p:sldId id="324" r:id="rId6"/>
    <p:sldId id="259" r:id="rId7"/>
    <p:sldId id="260" r:id="rId8"/>
    <p:sldId id="261" r:id="rId9"/>
    <p:sldId id="280" r:id="rId10"/>
    <p:sldId id="288" r:id="rId11"/>
    <p:sldId id="289" r:id="rId12"/>
    <p:sldId id="290" r:id="rId13"/>
    <p:sldId id="270" r:id="rId14"/>
    <p:sldId id="271" r:id="rId15"/>
    <p:sldId id="272" r:id="rId16"/>
    <p:sldId id="273" r:id="rId17"/>
    <p:sldId id="274" r:id="rId18"/>
    <p:sldId id="269" r:id="rId19"/>
    <p:sldId id="278" r:id="rId20"/>
    <p:sldId id="275" r:id="rId21"/>
    <p:sldId id="325" r:id="rId22"/>
    <p:sldId id="292" r:id="rId23"/>
    <p:sldId id="293" r:id="rId24"/>
    <p:sldId id="268" r:id="rId25"/>
    <p:sldId id="276" r:id="rId26"/>
    <p:sldId id="277" r:id="rId27"/>
    <p:sldId id="281" r:id="rId28"/>
    <p:sldId id="287" r:id="rId29"/>
    <p:sldId id="286" r:id="rId30"/>
    <p:sldId id="282" r:id="rId31"/>
    <p:sldId id="283" r:id="rId32"/>
    <p:sldId id="284" r:id="rId33"/>
    <p:sldId id="326" r:id="rId34"/>
    <p:sldId id="327" r:id="rId35"/>
    <p:sldId id="322" r:id="rId36"/>
    <p:sldId id="323" r:id="rId37"/>
    <p:sldId id="291" r:id="rId38"/>
    <p:sldId id="285" r:id="rId39"/>
    <p:sldId id="306" r:id="rId40"/>
  </p:sldIdLst>
  <p:sldSz cx="9144000" cy="5143500" type="screen16x9"/>
  <p:notesSz cx="6858000" cy="9144000"/>
  <p:embeddedFontLst>
    <p:embeddedFont>
      <p:font typeface="Arial Black" panose="020B0A04020102020204" pitchFamily="34" charset="0"/>
      <p:bold r:id="rId42"/>
    </p:embeddedFont>
    <p:embeddedFont>
      <p:font typeface="Calibri" panose="020F0502020204030204" pitchFamily="34" charset="0"/>
      <p:regular r:id="rId43"/>
      <p:bold r:id="rId44"/>
      <p:italic r:id="rId45"/>
      <p:boldItalic r:id="rId46"/>
    </p:embeddedFont>
    <p:embeddedFont>
      <p:font typeface="IBM Plex Mono" panose="020B0509050203000203" pitchFamily="49" charset="0"/>
      <p:regular r:id="rId47"/>
      <p:bold r:id="rId48"/>
      <p:italic r:id="rId49"/>
      <p:boldItalic r:id="rId50"/>
    </p:embeddedFont>
    <p:embeddedFont>
      <p:font typeface="Oswald" panose="00000500000000000000" pitchFamily="2" charset="0"/>
      <p:regular r:id="rId51"/>
      <p:bold r:id="rId52"/>
    </p:embeddedFont>
    <p:embeddedFont>
      <p:font typeface="Poppins" panose="00000500000000000000" pitchFamily="2" charset="0"/>
      <p:regular r:id="rId53"/>
      <p:bold r:id="rId54"/>
      <p:italic r:id="rId55"/>
      <p:boldItalic r:id="rId56"/>
    </p:embeddedFont>
    <p:embeddedFont>
      <p:font typeface="Proxima Nova" panose="020B0604020202020204" charset="0"/>
      <p:regular r:id="rId57"/>
      <p:bold r:id="rId58"/>
      <p:italic r:id="rId59"/>
      <p:boldItalic r:id="rId60"/>
    </p:embeddedFont>
    <p:embeddedFont>
      <p:font typeface="Roboto Condensed" panose="02000000000000000000" pitchFamily="2" charset="0"/>
      <p:regular r:id="rId61"/>
      <p:bold r:id="rId62"/>
      <p:italic r:id="rId63"/>
      <p:boldItalic r:id="rId64"/>
    </p:embeddedFont>
    <p:embeddedFont>
      <p:font typeface="Wingdings 3" panose="05040102010807070707" pitchFamily="18" charset="2"/>
      <p:regular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4D8093D-D6F6-46D3-984B-4F09E29151E5}">
  <a:tblStyle styleId="{B4D8093D-D6F6-46D3-984B-4F09E29151E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554" autoAdjust="0"/>
  </p:normalViewPr>
  <p:slideViewPr>
    <p:cSldViewPr snapToGrid="0">
      <p:cViewPr varScale="1">
        <p:scale>
          <a:sx n="108" d="100"/>
          <a:sy n="108" d="100"/>
        </p:scale>
        <p:origin x="80" y="1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font" Target="fonts/font1.fntdata"/><Relationship Id="rId47" Type="http://schemas.openxmlformats.org/officeDocument/2006/relationships/font" Target="fonts/font6.fntdata"/><Relationship Id="rId63" Type="http://schemas.openxmlformats.org/officeDocument/2006/relationships/font" Target="fonts/font22.fntdata"/><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font" Target="fonts/font4.fntdata"/><Relationship Id="rId53" Type="http://schemas.openxmlformats.org/officeDocument/2006/relationships/font" Target="fonts/font12.fntdata"/><Relationship Id="rId58" Type="http://schemas.openxmlformats.org/officeDocument/2006/relationships/font" Target="fonts/font17.fntdata"/><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font" Target="fonts/font20.fntdata"/><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font" Target="fonts/font2.fntdata"/><Relationship Id="rId48" Type="http://schemas.openxmlformats.org/officeDocument/2006/relationships/font" Target="fonts/font7.fntdata"/><Relationship Id="rId56" Type="http://schemas.openxmlformats.org/officeDocument/2006/relationships/font" Target="fonts/font15.fntdata"/><Relationship Id="rId64" Type="http://schemas.openxmlformats.org/officeDocument/2006/relationships/font" Target="fonts/font23.fntdata"/><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font" Target="fonts/font10.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5.fntdata"/><Relationship Id="rId59" Type="http://schemas.openxmlformats.org/officeDocument/2006/relationships/font" Target="fonts/font18.fntdata"/><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notesMaster" Target="notesMasters/notesMaster1.xml"/><Relationship Id="rId54" Type="http://schemas.openxmlformats.org/officeDocument/2006/relationships/font" Target="fonts/font13.fntdata"/><Relationship Id="rId62" Type="http://schemas.openxmlformats.org/officeDocument/2006/relationships/font" Target="fonts/font21.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8.fntdata"/><Relationship Id="rId57" Type="http://schemas.openxmlformats.org/officeDocument/2006/relationships/font" Target="fonts/font16.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font" Target="fonts/font3.fntdata"/><Relationship Id="rId52" Type="http://schemas.openxmlformats.org/officeDocument/2006/relationships/font" Target="fonts/font11.fntdata"/><Relationship Id="rId60" Type="http://schemas.openxmlformats.org/officeDocument/2006/relationships/font" Target="fonts/font19.fntdata"/><Relationship Id="rId65" Type="http://schemas.openxmlformats.org/officeDocument/2006/relationships/font" Target="fonts/font24.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font" Target="fonts/font9.fntdata"/><Relationship Id="rId55"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7"/>
        <p:cNvGrpSpPr/>
        <p:nvPr/>
      </p:nvGrpSpPr>
      <p:grpSpPr>
        <a:xfrm>
          <a:off x="0" y="0"/>
          <a:ext cx="0" cy="0"/>
          <a:chOff x="0" y="0"/>
          <a:chExt cx="0" cy="0"/>
        </a:xfrm>
      </p:grpSpPr>
      <p:sp>
        <p:nvSpPr>
          <p:cNvPr id="1428" name="Google Shape;1428;gd1bf8d60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9" name="Google Shape;1429;gd1bf8d60a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8"/>
        <p:cNvGrpSpPr/>
        <p:nvPr/>
      </p:nvGrpSpPr>
      <p:grpSpPr>
        <a:xfrm>
          <a:off x="0" y="0"/>
          <a:ext cx="0" cy="0"/>
          <a:chOff x="0" y="0"/>
          <a:chExt cx="0" cy="0"/>
        </a:xfrm>
      </p:grpSpPr>
      <p:sp>
        <p:nvSpPr>
          <p:cNvPr id="2409" name="Google Shape;2409;g24ef22aa1ac_0_17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0" name="Google Shape;2410;g24ef22aa1ac_0_17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13"/>
        <p:cNvGrpSpPr/>
        <p:nvPr/>
      </p:nvGrpSpPr>
      <p:grpSpPr>
        <a:xfrm>
          <a:off x="0" y="0"/>
          <a:ext cx="0" cy="0"/>
          <a:chOff x="0" y="0"/>
          <a:chExt cx="0" cy="0"/>
        </a:xfrm>
      </p:grpSpPr>
      <p:sp>
        <p:nvSpPr>
          <p:cNvPr id="14814" name="Google Shape;14814;g20a542a8cd5_0_280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15" name="Google Shape;14815;g20a542a8cd5_0_280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2" name="Google Shape;12;p2"/>
              <p:cNvPicPr preferRelativeResize="0"/>
              <p:nvPr/>
            </p:nvPicPr>
            <p:blipFill rotWithShape="1">
              <a:blip r:embed="rId2">
                <a:alphaModFix/>
              </a:blip>
              <a:srcRect t="17657" b="17663"/>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2700000">
              <a:off x="917817" y="-2200499"/>
              <a:ext cx="3153371" cy="5119296"/>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201475" y="-361175"/>
              <a:ext cx="7138625" cy="819350"/>
            </a:xfrm>
            <a:custGeom>
              <a:avLst/>
              <a:gdLst/>
              <a:ahLst/>
              <a:cxnLst/>
              <a:rect l="l" t="t" r="r" b="b"/>
              <a:pathLst>
                <a:path w="285545" h="32774" extrusionOk="0">
                  <a:moveTo>
                    <a:pt x="0" y="32774"/>
                  </a:moveTo>
                  <a:lnTo>
                    <a:pt x="188861" y="32774"/>
                  </a:lnTo>
                  <a:lnTo>
                    <a:pt x="221636" y="0"/>
                  </a:lnTo>
                  <a:lnTo>
                    <a:pt x="285545" y="0"/>
                  </a:lnTo>
                </a:path>
              </a:pathLst>
            </a:custGeom>
            <a:noFill/>
            <a:ln w="9525" cap="flat" cmpd="sng">
              <a:solidFill>
                <a:schemeClr val="dk2"/>
              </a:solidFill>
              <a:prstDash val="solid"/>
              <a:round/>
              <a:headEnd type="none" w="med" len="med"/>
              <a:tailEnd type="none" w="med" len="med"/>
            </a:ln>
          </p:spPr>
        </p:sp>
        <p:sp>
          <p:nvSpPr>
            <p:cNvPr id="16" name="Google Shape;16;p2"/>
            <p:cNvSpPr/>
            <p:nvPr/>
          </p:nvSpPr>
          <p:spPr>
            <a:xfrm rot="5400000">
              <a:off x="1110859" y="-1245788"/>
              <a:ext cx="577450" cy="3045475"/>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6"/>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rot="5400000">
              <a:off x="654013" y="-781254"/>
              <a:ext cx="687411" cy="2731351"/>
            </a:xfrm>
            <a:custGeom>
              <a:avLst/>
              <a:gdLst/>
              <a:ahLst/>
              <a:cxnLst/>
              <a:rect l="l" t="t" r="r" b="b"/>
              <a:pathLst>
                <a:path w="16760" h="43180" extrusionOk="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6"/>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alphaModFix/>
            </a:blip>
            <a:srcRect l="16960" t="24718" r="7121" b="26177"/>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2"/>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4" name="Google Shape;54;p2"/>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chemeClr val="dk1"/>
              </a:buClr>
              <a:buSzPts val="5200"/>
              <a:buNone/>
              <a:defRPr sz="5200">
                <a:solidFill>
                  <a:schemeClr val="dk1"/>
                </a:solidFill>
              </a:defRPr>
            </a:lvl2pPr>
            <a:lvl3pPr lvl="2" algn="ctr">
              <a:spcBef>
                <a:spcPts val="0"/>
              </a:spcBef>
              <a:spcAft>
                <a:spcPts val="0"/>
              </a:spcAft>
              <a:buClr>
                <a:schemeClr val="dk1"/>
              </a:buClr>
              <a:buSzPts val="5200"/>
              <a:buNone/>
              <a:defRPr sz="5200">
                <a:solidFill>
                  <a:schemeClr val="dk1"/>
                </a:solidFill>
              </a:defRPr>
            </a:lvl3pPr>
            <a:lvl4pPr lvl="3" algn="ctr">
              <a:spcBef>
                <a:spcPts val="0"/>
              </a:spcBef>
              <a:spcAft>
                <a:spcPts val="0"/>
              </a:spcAft>
              <a:buClr>
                <a:schemeClr val="dk1"/>
              </a:buClr>
              <a:buSzPts val="5200"/>
              <a:buNone/>
              <a:defRPr sz="5200">
                <a:solidFill>
                  <a:schemeClr val="dk1"/>
                </a:solidFill>
              </a:defRPr>
            </a:lvl4pPr>
            <a:lvl5pPr lvl="4" algn="ctr">
              <a:spcBef>
                <a:spcPts val="0"/>
              </a:spcBef>
              <a:spcAft>
                <a:spcPts val="0"/>
              </a:spcAft>
              <a:buClr>
                <a:schemeClr val="dk1"/>
              </a:buClr>
              <a:buSzPts val="5200"/>
              <a:buNone/>
              <a:defRPr sz="5200">
                <a:solidFill>
                  <a:schemeClr val="dk1"/>
                </a:solidFill>
              </a:defRPr>
            </a:lvl5pPr>
            <a:lvl6pPr lvl="5" algn="ctr">
              <a:spcBef>
                <a:spcPts val="0"/>
              </a:spcBef>
              <a:spcAft>
                <a:spcPts val="0"/>
              </a:spcAft>
              <a:buClr>
                <a:schemeClr val="dk1"/>
              </a:buClr>
              <a:buSzPts val="5200"/>
              <a:buNone/>
              <a:defRPr sz="5200">
                <a:solidFill>
                  <a:schemeClr val="dk1"/>
                </a:solidFill>
              </a:defRPr>
            </a:lvl6pPr>
            <a:lvl7pPr lvl="6" algn="ctr">
              <a:spcBef>
                <a:spcPts val="0"/>
              </a:spcBef>
              <a:spcAft>
                <a:spcPts val="0"/>
              </a:spcAft>
              <a:buClr>
                <a:schemeClr val="dk1"/>
              </a:buClr>
              <a:buSzPts val="5200"/>
              <a:buNone/>
              <a:defRPr sz="5200">
                <a:solidFill>
                  <a:schemeClr val="dk1"/>
                </a:solidFill>
              </a:defRPr>
            </a:lvl7pPr>
            <a:lvl8pPr lvl="7" algn="ctr">
              <a:spcBef>
                <a:spcPts val="0"/>
              </a:spcBef>
              <a:spcAft>
                <a:spcPts val="0"/>
              </a:spcAft>
              <a:buClr>
                <a:schemeClr val="dk1"/>
              </a:buClr>
              <a:buSzPts val="5200"/>
              <a:buNone/>
              <a:defRPr sz="5200">
                <a:solidFill>
                  <a:schemeClr val="dk1"/>
                </a:solidFill>
              </a:defRPr>
            </a:lvl8pPr>
            <a:lvl9pPr lvl="8" algn="ctr">
              <a:spcBef>
                <a:spcPts val="0"/>
              </a:spcBef>
              <a:spcAft>
                <a:spcPts val="0"/>
              </a:spcAft>
              <a:buClr>
                <a:schemeClr val="dk1"/>
              </a:buClr>
              <a:buSzPts val="5200"/>
              <a:buNone/>
              <a:defRPr sz="5200">
                <a:solidFill>
                  <a:schemeClr val="dk1"/>
                </a:solidFill>
              </a:defRPr>
            </a:lvl9pPr>
          </a:lstStyle>
          <a:p>
            <a:endParaRPr/>
          </a:p>
        </p:txBody>
      </p:sp>
      <p:sp>
        <p:nvSpPr>
          <p:cNvPr id="55" name="Google Shape;55;p2"/>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9" name="Google Shape;69;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6"/>
                      <a:alpha val="46820"/>
                    </a:srgbClr>
                  </a:gs>
                  <a:gs pos="100000">
                    <a:srgbClr val="FFFFFF">
                      <a:alpha val="0"/>
                      <a:alpha val="4682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4" name="Google Shape;8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2"/>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94" name="Google Shape;94;p2"/>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TITLE_AND_BODY">
    <p:spTree>
      <p:nvGrpSpPr>
        <p:cNvPr id="1" name="Shape 140"/>
        <p:cNvGrpSpPr/>
        <p:nvPr/>
      </p:nvGrpSpPr>
      <p:grpSpPr>
        <a:xfrm>
          <a:off x="0" y="0"/>
          <a:ext cx="0" cy="0"/>
          <a:chOff x="0" y="0"/>
          <a:chExt cx="0" cy="0"/>
        </a:xfrm>
      </p:grpSpPr>
      <p:grpSp>
        <p:nvGrpSpPr>
          <p:cNvPr id="143" name="Google Shape;143;p4"/>
          <p:cNvGrpSpPr/>
          <p:nvPr/>
        </p:nvGrpSpPr>
        <p:grpSpPr>
          <a:xfrm>
            <a:off x="7365150" y="-1147799"/>
            <a:ext cx="3733124" cy="6537004"/>
            <a:chOff x="7212750" y="-1147799"/>
            <a:chExt cx="3733124" cy="6537004"/>
          </a:xfrm>
        </p:grpSpPr>
        <p:pic>
          <p:nvPicPr>
            <p:cNvPr id="144" name="Google Shape;144;p4"/>
            <p:cNvPicPr preferRelativeResize="0"/>
            <p:nvPr/>
          </p:nvPicPr>
          <p:blipFill rotWithShape="1">
            <a:blip r:embed="rId2">
              <a:alphaModFix/>
            </a:blip>
            <a:srcRect l="16960" t="24718" r="7121" b="26177"/>
            <a:stretch/>
          </p:blipFill>
          <p:spPr>
            <a:xfrm>
              <a:off x="7212750" y="-1147799"/>
              <a:ext cx="3733124" cy="2849200"/>
            </a:xfrm>
            <a:prstGeom prst="rect">
              <a:avLst/>
            </a:prstGeom>
            <a:noFill/>
            <a:ln>
              <a:noFill/>
            </a:ln>
          </p:spPr>
        </p:pic>
        <p:grpSp>
          <p:nvGrpSpPr>
            <p:cNvPr id="145" name="Google Shape;145;p4"/>
            <p:cNvGrpSpPr/>
            <p:nvPr/>
          </p:nvGrpSpPr>
          <p:grpSpPr>
            <a:xfrm>
              <a:off x="7392021" y="539499"/>
              <a:ext cx="1518472" cy="3030657"/>
              <a:chOff x="7785196" y="342199"/>
              <a:chExt cx="1518472" cy="3030657"/>
            </a:xfrm>
          </p:grpSpPr>
          <p:sp>
            <p:nvSpPr>
              <p:cNvPr id="146" name="Google Shape;146;p4"/>
              <p:cNvSpPr/>
              <p:nvPr/>
            </p:nvSpPr>
            <p:spPr>
              <a:xfrm rot="10800000">
                <a:off x="7882621" y="5394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rot="10800000">
                <a:off x="7785196" y="342199"/>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 name="Google Shape;148;p4"/>
            <p:cNvSpPr/>
            <p:nvPr/>
          </p:nvSpPr>
          <p:spPr>
            <a:xfrm rot="5400000">
              <a:off x="8098189" y="-87718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 name="Google Shape;149;p4"/>
            <p:cNvGrpSpPr/>
            <p:nvPr/>
          </p:nvGrpSpPr>
          <p:grpSpPr>
            <a:xfrm>
              <a:off x="7740801" y="270000"/>
              <a:ext cx="3153315" cy="5119205"/>
              <a:chOff x="7740801" y="270000"/>
              <a:chExt cx="3153315" cy="5119205"/>
            </a:xfrm>
          </p:grpSpPr>
          <p:sp>
            <p:nvSpPr>
              <p:cNvPr id="150" name="Google Shape;150;p4"/>
              <p:cNvSpPr/>
              <p:nvPr/>
            </p:nvSpPr>
            <p:spPr>
              <a:xfrm>
                <a:off x="7740801" y="27000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 name="Google Shape;151;p4"/>
              <p:cNvGrpSpPr/>
              <p:nvPr/>
            </p:nvGrpSpPr>
            <p:grpSpPr>
              <a:xfrm>
                <a:off x="8192886" y="4736397"/>
                <a:ext cx="134004" cy="134004"/>
                <a:chOff x="8356813" y="1074288"/>
                <a:chExt cx="351900" cy="351900"/>
              </a:xfrm>
            </p:grpSpPr>
            <p:sp>
              <p:nvSpPr>
                <p:cNvPr id="152" name="Google Shape;152;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4"/>
              <p:cNvGrpSpPr/>
              <p:nvPr/>
            </p:nvGrpSpPr>
            <p:grpSpPr>
              <a:xfrm>
                <a:off x="8788211" y="3794722"/>
                <a:ext cx="134004" cy="134004"/>
                <a:chOff x="8356813" y="1074288"/>
                <a:chExt cx="351900" cy="351900"/>
              </a:xfrm>
            </p:grpSpPr>
            <p:sp>
              <p:nvSpPr>
                <p:cNvPr id="155" name="Google Shape;155;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8654186" y="2424672"/>
                <a:ext cx="134004" cy="134004"/>
                <a:chOff x="8356813" y="1074288"/>
                <a:chExt cx="351900" cy="351900"/>
              </a:xfrm>
            </p:grpSpPr>
            <p:sp>
              <p:nvSpPr>
                <p:cNvPr id="158" name="Google Shape;158;p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60" name="Google Shape;160;p4"/>
          <p:cNvGrpSpPr/>
          <p:nvPr/>
        </p:nvGrpSpPr>
        <p:grpSpPr>
          <a:xfrm rot="-2529045">
            <a:off x="105741" y="3680210"/>
            <a:ext cx="591691" cy="2260270"/>
            <a:chOff x="-132364" y="1829399"/>
            <a:chExt cx="591677" cy="2260214"/>
          </a:xfrm>
        </p:grpSpPr>
        <p:sp>
          <p:nvSpPr>
            <p:cNvPr id="161" name="Google Shape;161;p4"/>
            <p:cNvSpPr/>
            <p:nvPr/>
          </p:nvSpPr>
          <p:spPr>
            <a:xfrm rot="10800000">
              <a:off x="62461"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4"/>
            <p:cNvSpPr/>
            <p:nvPr/>
          </p:nvSpPr>
          <p:spPr>
            <a:xfrm rot="10800000">
              <a:off x="-132364" y="1829399"/>
              <a:ext cx="396852" cy="2260214"/>
            </a:xfrm>
            <a:custGeom>
              <a:avLst/>
              <a:gdLst/>
              <a:ahLst/>
              <a:cxnLst/>
              <a:rect l="l" t="t" r="r" b="b"/>
              <a:pathLst>
                <a:path w="14079" h="48146" extrusionOk="0">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4"/>
          <p:cNvGrpSpPr/>
          <p:nvPr/>
        </p:nvGrpSpPr>
        <p:grpSpPr>
          <a:xfrm>
            <a:off x="-520148" y="-573164"/>
            <a:ext cx="1502291" cy="2806842"/>
            <a:chOff x="-367748" y="-573164"/>
            <a:chExt cx="1502291" cy="2806842"/>
          </a:xfrm>
        </p:grpSpPr>
        <p:grpSp>
          <p:nvGrpSpPr>
            <p:cNvPr id="164" name="Google Shape;164;p4"/>
            <p:cNvGrpSpPr/>
            <p:nvPr/>
          </p:nvGrpSpPr>
          <p:grpSpPr>
            <a:xfrm rot="10800000">
              <a:off x="-191449" y="1507557"/>
              <a:ext cx="904666" cy="726121"/>
              <a:chOff x="7945225" y="4302000"/>
              <a:chExt cx="904666" cy="726121"/>
            </a:xfrm>
          </p:grpSpPr>
          <p:sp>
            <p:nvSpPr>
              <p:cNvPr id="165" name="Google Shape;165;p4"/>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4"/>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8" name="Google Shape;168;p4"/>
            <p:cNvSpPr/>
            <p:nvPr/>
          </p:nvSpPr>
          <p:spPr>
            <a:xfrm>
              <a:off x="152767" y="-572549"/>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4"/>
            <p:cNvSpPr/>
            <p:nvPr/>
          </p:nvSpPr>
          <p:spPr>
            <a:xfrm>
              <a:off x="-6579" y="-573164"/>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0" name="Google Shape;170;p4"/>
            <p:cNvGrpSpPr/>
            <p:nvPr/>
          </p:nvGrpSpPr>
          <p:grpSpPr>
            <a:xfrm rot="10800000">
              <a:off x="-367748" y="-467133"/>
              <a:ext cx="699928" cy="1651024"/>
              <a:chOff x="8337812" y="3492483"/>
              <a:chExt cx="699928" cy="1651024"/>
            </a:xfrm>
          </p:grpSpPr>
          <p:sp>
            <p:nvSpPr>
              <p:cNvPr id="171" name="Google Shape;171;p4"/>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93"/>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1280"/>
        <p:cNvGrpSpPr/>
        <p:nvPr/>
      </p:nvGrpSpPr>
      <p:grpSpPr>
        <a:xfrm>
          <a:off x="0" y="0"/>
          <a:ext cx="0" cy="0"/>
          <a:chOff x="0" y="0"/>
          <a:chExt cx="0" cy="0"/>
        </a:xfrm>
      </p:grpSpPr>
      <p:sp>
        <p:nvSpPr>
          <p:cNvPr id="1281" name="Google Shape;1281;p29"/>
          <p:cNvSpPr txBox="1">
            <a:spLocks noGrp="1"/>
          </p:cNvSpPr>
          <p:nvPr>
            <p:ph type="title"/>
          </p:nvPr>
        </p:nvSpPr>
        <p:spPr>
          <a:xfrm>
            <a:off x="1157288" y="685275"/>
            <a:ext cx="4448100" cy="1058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sz="7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82" name="Google Shape;1282;p29"/>
          <p:cNvSpPr txBox="1">
            <a:spLocks noGrp="1"/>
          </p:cNvSpPr>
          <p:nvPr>
            <p:ph type="subTitle" idx="1"/>
          </p:nvPr>
        </p:nvSpPr>
        <p:spPr>
          <a:xfrm>
            <a:off x="1157250" y="2203275"/>
            <a:ext cx="4448100" cy="10071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83" name="Google Shape;1283;p29"/>
          <p:cNvSpPr txBox="1">
            <a:spLocks noGrp="1"/>
          </p:cNvSpPr>
          <p:nvPr>
            <p:ph type="subTitle" idx="2"/>
          </p:nvPr>
        </p:nvSpPr>
        <p:spPr>
          <a:xfrm>
            <a:off x="1157250" y="1800075"/>
            <a:ext cx="4448100" cy="385800"/>
          </a:xfrm>
          <a:prstGeom prst="rect">
            <a:avLst/>
          </a:prstGeom>
        </p:spPr>
        <p:txBody>
          <a:bodyPr spcFirstLastPara="1" wrap="square" lIns="91425" tIns="91425" rIns="91425" bIns="91425" anchor="t" anchorCtr="0">
            <a:noAutofit/>
          </a:bodyPr>
          <a:lstStyle>
            <a:lvl1pPr lvl="0">
              <a:spcBef>
                <a:spcPts val="0"/>
              </a:spcBef>
              <a:spcAft>
                <a:spcPts val="0"/>
              </a:spcAft>
              <a:buSzPts val="2500"/>
              <a:buFont typeface="IBM Plex Mono"/>
              <a:buNone/>
              <a:defRPr sz="2000" b="1">
                <a:latin typeface="IBM Plex Mono"/>
                <a:ea typeface="IBM Plex Mono"/>
                <a:cs typeface="IBM Plex Mono"/>
                <a:sym typeface="IBM Plex Mon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1285" name="Google Shape;1285;p29"/>
          <p:cNvGrpSpPr/>
          <p:nvPr/>
        </p:nvGrpSpPr>
        <p:grpSpPr>
          <a:xfrm>
            <a:off x="-291585" y="-494819"/>
            <a:ext cx="1448824" cy="2238804"/>
            <a:chOff x="-308635" y="-494819"/>
            <a:chExt cx="1448824" cy="2238804"/>
          </a:xfrm>
        </p:grpSpPr>
        <p:grpSp>
          <p:nvGrpSpPr>
            <p:cNvPr id="1286" name="Google Shape;1286;p29"/>
            <p:cNvGrpSpPr/>
            <p:nvPr/>
          </p:nvGrpSpPr>
          <p:grpSpPr>
            <a:xfrm>
              <a:off x="-275757" y="-242066"/>
              <a:ext cx="981772" cy="1986051"/>
              <a:chOff x="-293545" y="3454371"/>
              <a:chExt cx="981772" cy="1986051"/>
            </a:xfrm>
          </p:grpSpPr>
          <p:sp>
            <p:nvSpPr>
              <p:cNvPr id="1287" name="Google Shape;1287;p29"/>
              <p:cNvSpPr/>
              <p:nvPr/>
            </p:nvSpPr>
            <p:spPr>
              <a:xfrm rot="10800000">
                <a:off x="-293545" y="3454371"/>
                <a:ext cx="844677" cy="1985522"/>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29"/>
              <p:cNvSpPr/>
              <p:nvPr/>
            </p:nvSpPr>
            <p:spPr>
              <a:xfrm rot="10800000">
                <a:off x="-156450" y="3454901"/>
                <a:ext cx="844677" cy="1985522"/>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9" name="Google Shape;1289;p29"/>
            <p:cNvGrpSpPr/>
            <p:nvPr/>
          </p:nvGrpSpPr>
          <p:grpSpPr>
            <a:xfrm>
              <a:off x="364499" y="794648"/>
              <a:ext cx="699940" cy="478601"/>
              <a:chOff x="39722" y="4349021"/>
              <a:chExt cx="1061964" cy="726143"/>
            </a:xfrm>
          </p:grpSpPr>
          <p:grpSp>
            <p:nvGrpSpPr>
              <p:cNvPr id="1290" name="Google Shape;1290;p29"/>
              <p:cNvGrpSpPr/>
              <p:nvPr/>
            </p:nvGrpSpPr>
            <p:grpSpPr>
              <a:xfrm rot="2700000">
                <a:off x="140502" y="4460924"/>
                <a:ext cx="524584" cy="502337"/>
                <a:chOff x="1189791" y="-1767331"/>
                <a:chExt cx="904284" cy="865933"/>
              </a:xfrm>
            </p:grpSpPr>
            <p:sp>
              <p:nvSpPr>
                <p:cNvPr id="1291" name="Google Shape;1291;p2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2" name="Google Shape;1292;p29"/>
                <p:cNvGrpSpPr/>
                <p:nvPr/>
              </p:nvGrpSpPr>
              <p:grpSpPr>
                <a:xfrm>
                  <a:off x="1232795" y="-1740829"/>
                  <a:ext cx="717621" cy="717392"/>
                  <a:chOff x="1483457" y="3953671"/>
                  <a:chExt cx="717621" cy="717392"/>
                </a:xfrm>
              </p:grpSpPr>
              <p:sp>
                <p:nvSpPr>
                  <p:cNvPr id="1293" name="Google Shape;1293;p2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2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98" name="Google Shape;1298;p2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9" name="Google Shape;1299;p29"/>
            <p:cNvGrpSpPr/>
            <p:nvPr/>
          </p:nvGrpSpPr>
          <p:grpSpPr>
            <a:xfrm rot="-5400000">
              <a:off x="-460623" y="-342832"/>
              <a:ext cx="1351491" cy="1047516"/>
              <a:chOff x="-2460210" y="2758493"/>
              <a:chExt cx="1351491" cy="1047516"/>
            </a:xfrm>
          </p:grpSpPr>
          <p:sp>
            <p:nvSpPr>
              <p:cNvPr id="1300" name="Google Shape;1300;p29"/>
              <p:cNvSpPr/>
              <p:nvPr/>
            </p:nvSpPr>
            <p:spPr>
              <a:xfrm rot="-2700000">
                <a:off x="-2341816" y="31085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9"/>
              <p:cNvSpPr/>
              <p:nvPr/>
            </p:nvSpPr>
            <p:spPr>
              <a:xfrm rot="-2700000">
                <a:off x="-2157466" y="30323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9"/>
              <p:cNvSpPr/>
              <p:nvPr/>
            </p:nvSpPr>
            <p:spPr>
              <a:xfrm rot="-2700000">
                <a:off x="-1993591" y="29561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9"/>
              <p:cNvSpPr/>
              <p:nvPr/>
            </p:nvSpPr>
            <p:spPr>
              <a:xfrm rot="-2700000">
                <a:off x="-1809241" y="2879954"/>
                <a:ext cx="582127" cy="575995"/>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4" name="Google Shape;1304;p29"/>
            <p:cNvGrpSpPr/>
            <p:nvPr/>
          </p:nvGrpSpPr>
          <p:grpSpPr>
            <a:xfrm>
              <a:off x="440249" y="455173"/>
              <a:ext cx="699940" cy="478601"/>
              <a:chOff x="39722" y="4349021"/>
              <a:chExt cx="1061964" cy="726143"/>
            </a:xfrm>
          </p:grpSpPr>
          <p:grpSp>
            <p:nvGrpSpPr>
              <p:cNvPr id="1305" name="Google Shape;1305;p29"/>
              <p:cNvGrpSpPr/>
              <p:nvPr/>
            </p:nvGrpSpPr>
            <p:grpSpPr>
              <a:xfrm rot="2700000">
                <a:off x="140502" y="4460924"/>
                <a:ext cx="524584" cy="502337"/>
                <a:chOff x="1189791" y="-1767331"/>
                <a:chExt cx="904284" cy="865933"/>
              </a:xfrm>
            </p:grpSpPr>
            <p:sp>
              <p:nvSpPr>
                <p:cNvPr id="1306" name="Google Shape;1306;p2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07" name="Google Shape;1307;p29"/>
                <p:cNvGrpSpPr/>
                <p:nvPr/>
              </p:nvGrpSpPr>
              <p:grpSpPr>
                <a:xfrm>
                  <a:off x="1232795" y="-1740829"/>
                  <a:ext cx="717621" cy="717392"/>
                  <a:chOff x="1483457" y="3953671"/>
                  <a:chExt cx="717621" cy="717392"/>
                </a:xfrm>
              </p:grpSpPr>
              <p:sp>
                <p:nvSpPr>
                  <p:cNvPr id="1308" name="Google Shape;1308;p2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2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310;p2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311;p2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13" name="Google Shape;1313;p2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4" name="Google Shape;1314;p29"/>
            <p:cNvGrpSpPr/>
            <p:nvPr/>
          </p:nvGrpSpPr>
          <p:grpSpPr>
            <a:xfrm>
              <a:off x="-63826" y="511661"/>
              <a:ext cx="699940" cy="478601"/>
              <a:chOff x="39722" y="4349021"/>
              <a:chExt cx="1061964" cy="726143"/>
            </a:xfrm>
          </p:grpSpPr>
          <p:grpSp>
            <p:nvGrpSpPr>
              <p:cNvPr id="1315" name="Google Shape;1315;p29"/>
              <p:cNvGrpSpPr/>
              <p:nvPr/>
            </p:nvGrpSpPr>
            <p:grpSpPr>
              <a:xfrm rot="2700000">
                <a:off x="140502" y="4460924"/>
                <a:ext cx="524584" cy="502337"/>
                <a:chOff x="1189791" y="-1767331"/>
                <a:chExt cx="904284" cy="865933"/>
              </a:xfrm>
            </p:grpSpPr>
            <p:sp>
              <p:nvSpPr>
                <p:cNvPr id="1316" name="Google Shape;1316;p29"/>
                <p:cNvSpPr/>
                <p:nvPr/>
              </p:nvSpPr>
              <p:spPr>
                <a:xfrm>
                  <a:off x="1189791" y="-1767331"/>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7" name="Google Shape;1317;p29"/>
                <p:cNvGrpSpPr/>
                <p:nvPr/>
              </p:nvGrpSpPr>
              <p:grpSpPr>
                <a:xfrm>
                  <a:off x="1232795" y="-1740829"/>
                  <a:ext cx="717621" cy="717392"/>
                  <a:chOff x="1483457" y="3953671"/>
                  <a:chExt cx="717621" cy="717392"/>
                </a:xfrm>
              </p:grpSpPr>
              <p:sp>
                <p:nvSpPr>
                  <p:cNvPr id="1318" name="Google Shape;1318;p29"/>
                  <p:cNvSpPr/>
                  <p:nvPr/>
                </p:nvSpPr>
                <p:spPr>
                  <a:xfrm>
                    <a:off x="1483457" y="4257265"/>
                    <a:ext cx="413799" cy="413799"/>
                  </a:xfrm>
                  <a:custGeom>
                    <a:avLst/>
                    <a:gdLst/>
                    <a:ahLst/>
                    <a:cxnLst/>
                    <a:rect l="l" t="t" r="r" b="b"/>
                    <a:pathLst>
                      <a:path w="27121" h="27121" extrusionOk="0">
                        <a:moveTo>
                          <a:pt x="381" y="1"/>
                        </a:moveTo>
                        <a:lnTo>
                          <a:pt x="0" y="382"/>
                        </a:lnTo>
                        <a:lnTo>
                          <a:pt x="26739" y="27121"/>
                        </a:lnTo>
                        <a:lnTo>
                          <a:pt x="27120" y="26740"/>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9"/>
                  <p:cNvSpPr/>
                  <p:nvPr/>
                </p:nvSpPr>
                <p:spPr>
                  <a:xfrm>
                    <a:off x="1559470" y="4181481"/>
                    <a:ext cx="413799" cy="413799"/>
                  </a:xfrm>
                  <a:custGeom>
                    <a:avLst/>
                    <a:gdLst/>
                    <a:ahLst/>
                    <a:cxnLst/>
                    <a:rect l="l" t="t" r="r" b="b"/>
                    <a:pathLst>
                      <a:path w="27121" h="27121" extrusionOk="0">
                        <a:moveTo>
                          <a:pt x="366" y="1"/>
                        </a:moveTo>
                        <a:lnTo>
                          <a:pt x="0" y="382"/>
                        </a:lnTo>
                        <a:lnTo>
                          <a:pt x="26739" y="27121"/>
                        </a:lnTo>
                        <a:lnTo>
                          <a:pt x="27120" y="26740"/>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9"/>
                  <p:cNvSpPr/>
                  <p:nvPr/>
                </p:nvSpPr>
                <p:spPr>
                  <a:xfrm>
                    <a:off x="1635483" y="4105239"/>
                    <a:ext cx="413799" cy="413799"/>
                  </a:xfrm>
                  <a:custGeom>
                    <a:avLst/>
                    <a:gdLst/>
                    <a:ahLst/>
                    <a:cxnLst/>
                    <a:rect l="l" t="t" r="r" b="b"/>
                    <a:pathLst>
                      <a:path w="27121" h="27121" extrusionOk="0">
                        <a:moveTo>
                          <a:pt x="366" y="1"/>
                        </a:moveTo>
                        <a:lnTo>
                          <a:pt x="1" y="381"/>
                        </a:lnTo>
                        <a:lnTo>
                          <a:pt x="26740" y="27120"/>
                        </a:lnTo>
                        <a:lnTo>
                          <a:pt x="27121" y="26755"/>
                        </a:lnTo>
                        <a:lnTo>
                          <a:pt x="366"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9"/>
                  <p:cNvSpPr/>
                  <p:nvPr/>
                </p:nvSpPr>
                <p:spPr>
                  <a:xfrm>
                    <a:off x="1711267" y="4029455"/>
                    <a:ext cx="413799" cy="413799"/>
                  </a:xfrm>
                  <a:custGeom>
                    <a:avLst/>
                    <a:gdLst/>
                    <a:ahLst/>
                    <a:cxnLst/>
                    <a:rect l="l" t="t" r="r" b="b"/>
                    <a:pathLst>
                      <a:path w="27121" h="27121" extrusionOk="0">
                        <a:moveTo>
                          <a:pt x="381" y="1"/>
                        </a:moveTo>
                        <a:lnTo>
                          <a:pt x="0" y="382"/>
                        </a:lnTo>
                        <a:lnTo>
                          <a:pt x="26755" y="27121"/>
                        </a:lnTo>
                        <a:lnTo>
                          <a:pt x="27120" y="26755"/>
                        </a:lnTo>
                        <a:lnTo>
                          <a:pt x="381"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29"/>
                  <p:cNvSpPr/>
                  <p:nvPr/>
                </p:nvSpPr>
                <p:spPr>
                  <a:xfrm>
                    <a:off x="1787280" y="3953671"/>
                    <a:ext cx="413799" cy="413799"/>
                  </a:xfrm>
                  <a:custGeom>
                    <a:avLst/>
                    <a:gdLst/>
                    <a:ahLst/>
                    <a:cxnLst/>
                    <a:rect l="l" t="t" r="r" b="b"/>
                    <a:pathLst>
                      <a:path w="27121" h="27121" extrusionOk="0">
                        <a:moveTo>
                          <a:pt x="382" y="1"/>
                        </a:moveTo>
                        <a:lnTo>
                          <a:pt x="1" y="382"/>
                        </a:lnTo>
                        <a:lnTo>
                          <a:pt x="26740" y="27121"/>
                        </a:lnTo>
                        <a:lnTo>
                          <a:pt x="27121" y="26740"/>
                        </a:lnTo>
                        <a:lnTo>
                          <a:pt x="382" y="1"/>
                        </a:lnTo>
                        <a:close/>
                      </a:path>
                    </a:pathLst>
                  </a:custGeom>
                  <a:gradFill>
                    <a:gsLst>
                      <a:gs pos="0">
                        <a:srgbClr val="9900FF">
                          <a:alpha val="46666"/>
                          <a:alpha val="46820"/>
                        </a:srgbClr>
                      </a:gs>
                      <a:gs pos="100000">
                        <a:srgbClr val="FFFFFF">
                          <a:alpha val="0"/>
                          <a:alpha val="4682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23" name="Google Shape;1323;p29"/>
              <p:cNvSpPr/>
              <p:nvPr/>
            </p:nvSpPr>
            <p:spPr>
              <a:xfrm rot="-2700000">
                <a:off x="542534" y="4469276"/>
                <a:ext cx="492898" cy="391560"/>
              </a:xfrm>
              <a:custGeom>
                <a:avLst/>
                <a:gdLst/>
                <a:ahLst/>
                <a:cxnLst/>
                <a:rect l="l" t="t" r="r" b="b"/>
                <a:pathLst>
                  <a:path w="44612" h="35440" extrusionOk="0">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24" name="Google Shape;1324;p29"/>
          <p:cNvGrpSpPr/>
          <p:nvPr/>
        </p:nvGrpSpPr>
        <p:grpSpPr>
          <a:xfrm>
            <a:off x="2659712" y="4275400"/>
            <a:ext cx="4952059" cy="2992224"/>
            <a:chOff x="2659712" y="4275400"/>
            <a:chExt cx="4952059" cy="2992224"/>
          </a:xfrm>
        </p:grpSpPr>
        <p:pic>
          <p:nvPicPr>
            <p:cNvPr id="1325" name="Google Shape;1325;p29"/>
            <p:cNvPicPr preferRelativeResize="0"/>
            <p:nvPr/>
          </p:nvPicPr>
          <p:blipFill rotWithShape="1">
            <a:blip r:embed="rId2">
              <a:alphaModFix/>
            </a:blip>
            <a:srcRect l="16960" t="24718" r="7121" b="26177"/>
            <a:stretch/>
          </p:blipFill>
          <p:spPr>
            <a:xfrm rot="10800000">
              <a:off x="2659712" y="4275400"/>
              <a:ext cx="3549051" cy="2992224"/>
            </a:xfrm>
            <a:prstGeom prst="rect">
              <a:avLst/>
            </a:prstGeom>
            <a:noFill/>
            <a:ln>
              <a:noFill/>
            </a:ln>
          </p:spPr>
        </p:pic>
        <p:grpSp>
          <p:nvGrpSpPr>
            <p:cNvPr id="1326" name="Google Shape;1326;p29"/>
            <p:cNvGrpSpPr/>
            <p:nvPr/>
          </p:nvGrpSpPr>
          <p:grpSpPr>
            <a:xfrm rot="-5400000">
              <a:off x="3258038" y="4413859"/>
              <a:ext cx="906953" cy="1517787"/>
              <a:chOff x="79748" y="2808602"/>
              <a:chExt cx="906953" cy="1517787"/>
            </a:xfrm>
          </p:grpSpPr>
          <p:sp>
            <p:nvSpPr>
              <p:cNvPr id="1327" name="Google Shape;1327;p29"/>
              <p:cNvSpPr/>
              <p:nvPr/>
            </p:nvSpPr>
            <p:spPr>
              <a:xfrm rot="5400000">
                <a:off x="357831" y="282094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29"/>
              <p:cNvSpPr/>
              <p:nvPr/>
            </p:nvSpPr>
            <p:spPr>
              <a:xfrm rot="5400000">
                <a:off x="537866" y="3393994"/>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29"/>
              <p:cNvSpPr/>
              <p:nvPr/>
            </p:nvSpPr>
            <p:spPr>
              <a:xfrm rot="5400000">
                <a:off x="67406" y="3278257"/>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29"/>
              <p:cNvSpPr/>
              <p:nvPr/>
            </p:nvSpPr>
            <p:spPr>
              <a:xfrm rot="5400000">
                <a:off x="417006" y="375669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1" name="Google Shape;1331;p29"/>
            <p:cNvGrpSpPr/>
            <p:nvPr/>
          </p:nvGrpSpPr>
          <p:grpSpPr>
            <a:xfrm rot="5400000">
              <a:off x="5484569" y="3756062"/>
              <a:ext cx="1421047" cy="2833357"/>
              <a:chOff x="334358" y="2186737"/>
              <a:chExt cx="1421047" cy="2833357"/>
            </a:xfrm>
          </p:grpSpPr>
          <p:sp>
            <p:nvSpPr>
              <p:cNvPr id="1332" name="Google Shape;1332;p29"/>
              <p:cNvSpPr/>
              <p:nvPr/>
            </p:nvSpPr>
            <p:spPr>
              <a:xfrm rot="10800000">
                <a:off x="334358" y="2186737"/>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33" name="Google Shape;1333;p29"/>
              <p:cNvGrpSpPr/>
              <p:nvPr/>
            </p:nvGrpSpPr>
            <p:grpSpPr>
              <a:xfrm rot="5400000">
                <a:off x="1046250" y="3181856"/>
                <a:ext cx="161977" cy="161940"/>
                <a:chOff x="1101075" y="2142375"/>
                <a:chExt cx="439200" cy="439100"/>
              </a:xfrm>
            </p:grpSpPr>
            <p:sp>
              <p:nvSpPr>
                <p:cNvPr id="1334" name="Google Shape;1334;p2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6" name="Google Shape;1336;p29"/>
              <p:cNvGrpSpPr/>
              <p:nvPr/>
            </p:nvGrpSpPr>
            <p:grpSpPr>
              <a:xfrm rot="-5400000">
                <a:off x="628029" y="4564272"/>
                <a:ext cx="161977" cy="161940"/>
                <a:chOff x="1101075" y="2142375"/>
                <a:chExt cx="439200" cy="439100"/>
              </a:xfrm>
            </p:grpSpPr>
            <p:sp>
              <p:nvSpPr>
                <p:cNvPr id="1337" name="Google Shape;1337;p29"/>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338;p29"/>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39"/>
        <p:cNvGrpSpPr/>
        <p:nvPr/>
      </p:nvGrpSpPr>
      <p:grpSpPr>
        <a:xfrm>
          <a:off x="0" y="0"/>
          <a:ext cx="0" cy="0"/>
          <a:chOff x="0" y="0"/>
          <a:chExt cx="0" cy="0"/>
        </a:xfrm>
      </p:grpSpPr>
      <p:grpSp>
        <p:nvGrpSpPr>
          <p:cNvPr id="1340" name="Google Shape;1340;p30"/>
          <p:cNvGrpSpPr/>
          <p:nvPr/>
        </p:nvGrpSpPr>
        <p:grpSpPr>
          <a:xfrm>
            <a:off x="-623241" y="3925887"/>
            <a:ext cx="2833357" cy="1517787"/>
            <a:chOff x="-623241" y="3849687"/>
            <a:chExt cx="2833357" cy="1517787"/>
          </a:xfrm>
        </p:grpSpPr>
        <p:grpSp>
          <p:nvGrpSpPr>
            <p:cNvPr id="1341" name="Google Shape;1341;p30"/>
            <p:cNvGrpSpPr/>
            <p:nvPr/>
          </p:nvGrpSpPr>
          <p:grpSpPr>
            <a:xfrm rot="5400000">
              <a:off x="-879113" y="4155104"/>
              <a:ext cx="1517787" cy="906953"/>
              <a:chOff x="-55500" y="4835979"/>
              <a:chExt cx="1517787" cy="906953"/>
            </a:xfrm>
          </p:grpSpPr>
          <p:sp>
            <p:nvSpPr>
              <p:cNvPr id="1342" name="Google Shape;1342;p30"/>
              <p:cNvSpPr/>
              <p:nvPr/>
            </p:nvSpPr>
            <p:spPr>
              <a:xfrm>
                <a:off x="-55500" y="4895154"/>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30"/>
              <p:cNvSpPr/>
              <p:nvPr/>
            </p:nvSpPr>
            <p:spPr>
              <a:xfrm>
                <a:off x="522674" y="4951702"/>
                <a:ext cx="340329" cy="325895"/>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344;p30"/>
              <p:cNvSpPr/>
              <p:nvPr/>
            </p:nvSpPr>
            <p:spPr>
              <a:xfrm>
                <a:off x="401812" y="51855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30"/>
              <p:cNvSpPr/>
              <p:nvPr/>
            </p:nvSpPr>
            <p:spPr>
              <a:xfrm>
                <a:off x="880250" y="4835979"/>
                <a:ext cx="582037" cy="55735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6" name="Google Shape;1346;p30"/>
            <p:cNvGrpSpPr/>
            <p:nvPr/>
          </p:nvGrpSpPr>
          <p:grpSpPr>
            <a:xfrm>
              <a:off x="-623241" y="3946426"/>
              <a:ext cx="2833357" cy="1421047"/>
              <a:chOff x="-677366" y="4067276"/>
              <a:chExt cx="2833357" cy="1421047"/>
            </a:xfrm>
          </p:grpSpPr>
          <p:sp>
            <p:nvSpPr>
              <p:cNvPr id="1347" name="Google Shape;1347;p30"/>
              <p:cNvSpPr/>
              <p:nvPr/>
            </p:nvSpPr>
            <p:spPr>
              <a:xfrm rot="5400000">
                <a:off x="28789" y="3361120"/>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8" name="Google Shape;1348;p30"/>
              <p:cNvGrpSpPr/>
              <p:nvPr/>
            </p:nvGrpSpPr>
            <p:grpSpPr>
              <a:xfrm>
                <a:off x="317735" y="4614472"/>
                <a:ext cx="161977" cy="161940"/>
                <a:chOff x="1101075" y="2142375"/>
                <a:chExt cx="439200" cy="439100"/>
              </a:xfrm>
            </p:grpSpPr>
            <p:sp>
              <p:nvSpPr>
                <p:cNvPr id="1349" name="Google Shape;1349;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1" name="Google Shape;1351;p30"/>
              <p:cNvGrpSpPr/>
              <p:nvPr/>
            </p:nvGrpSpPr>
            <p:grpSpPr>
              <a:xfrm rot="10800000">
                <a:off x="1700151" y="5032693"/>
                <a:ext cx="161977" cy="161940"/>
                <a:chOff x="1101075" y="2142375"/>
                <a:chExt cx="439200" cy="439100"/>
              </a:xfrm>
            </p:grpSpPr>
            <p:sp>
              <p:nvSpPr>
                <p:cNvPr id="1352" name="Google Shape;1352;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6"/>
                      </a:srgbClr>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354" name="Google Shape;1354;p30"/>
            <p:cNvSpPr/>
            <p:nvPr/>
          </p:nvSpPr>
          <p:spPr>
            <a:xfrm rot="-5400000">
              <a:off x="289120" y="3696219"/>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30"/>
          <p:cNvGrpSpPr/>
          <p:nvPr/>
        </p:nvGrpSpPr>
        <p:grpSpPr>
          <a:xfrm>
            <a:off x="6323925" y="-1678249"/>
            <a:ext cx="4189199" cy="3065874"/>
            <a:chOff x="6171525" y="-1678249"/>
            <a:chExt cx="4189199" cy="3065874"/>
          </a:xfrm>
        </p:grpSpPr>
        <p:sp>
          <p:nvSpPr>
            <p:cNvPr id="1356" name="Google Shape;1356;p30"/>
            <p:cNvSpPr/>
            <p:nvPr/>
          </p:nvSpPr>
          <p:spPr>
            <a:xfrm rot="-5400000">
              <a:off x="6808863" y="-808395"/>
              <a:ext cx="1558682"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57" name="Google Shape;1357;p30"/>
            <p:cNvPicPr preferRelativeResize="0"/>
            <p:nvPr/>
          </p:nvPicPr>
          <p:blipFill rotWithShape="1">
            <a:blip r:embed="rId2">
              <a:alphaModFix/>
            </a:blip>
            <a:srcRect l="16960" t="24718" r="7121" b="26177"/>
            <a:stretch/>
          </p:blipFill>
          <p:spPr>
            <a:xfrm>
              <a:off x="6587425" y="-1678249"/>
              <a:ext cx="3773299" cy="2879876"/>
            </a:xfrm>
            <a:prstGeom prst="rect">
              <a:avLst/>
            </a:prstGeom>
            <a:noFill/>
            <a:ln>
              <a:noFill/>
            </a:ln>
          </p:spPr>
        </p:pic>
        <p:sp>
          <p:nvSpPr>
            <p:cNvPr id="1358" name="Google Shape;1358;p30"/>
            <p:cNvSpPr/>
            <p:nvPr/>
          </p:nvSpPr>
          <p:spPr>
            <a:xfrm>
              <a:off x="8292929" y="-80469"/>
              <a:ext cx="904284" cy="865933"/>
            </a:xfrm>
            <a:custGeom>
              <a:avLst/>
              <a:gdLst/>
              <a:ahLst/>
              <a:cxnLst/>
              <a:rect l="l" t="t" r="r" b="b"/>
              <a:pathLst>
                <a:path w="36902" h="35337" extrusionOk="0">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9" name="Google Shape;1359;p30"/>
            <p:cNvGrpSpPr/>
            <p:nvPr/>
          </p:nvGrpSpPr>
          <p:grpSpPr>
            <a:xfrm rot="-2700000">
              <a:off x="8302147" y="61289"/>
              <a:ext cx="582044" cy="582419"/>
              <a:chOff x="959750" y="3039275"/>
              <a:chExt cx="582050" cy="582425"/>
            </a:xfrm>
          </p:grpSpPr>
          <p:sp>
            <p:nvSpPr>
              <p:cNvPr id="1360" name="Google Shape;1360;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362;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363;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7" name="Google Shape;1367;p30"/>
            <p:cNvGrpSpPr/>
            <p:nvPr/>
          </p:nvGrpSpPr>
          <p:grpSpPr>
            <a:xfrm rot="-2700000">
              <a:off x="8551447" y="61289"/>
              <a:ext cx="582044" cy="582419"/>
              <a:chOff x="959750" y="3039275"/>
              <a:chExt cx="582050" cy="582425"/>
            </a:xfrm>
          </p:grpSpPr>
          <p:sp>
            <p:nvSpPr>
              <p:cNvPr id="1368" name="Google Shape;1368;p30"/>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369;p30"/>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30"/>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30"/>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30"/>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30"/>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374;p30"/>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9900FF">
                      <a:alpha val="46666"/>
                      <a:alpha val="37270"/>
                    </a:srgbClr>
                  </a:gs>
                  <a:gs pos="100000">
                    <a:srgbClr val="FFFFFF">
                      <a:alpha val="0"/>
                      <a:alpha val="3727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75" name="Google Shape;1375;p30"/>
          <p:cNvGrpSpPr/>
          <p:nvPr/>
        </p:nvGrpSpPr>
        <p:grpSpPr>
          <a:xfrm rot="2700000">
            <a:off x="8945322" y="2352177"/>
            <a:ext cx="439196" cy="439096"/>
            <a:chOff x="1101075" y="2142375"/>
            <a:chExt cx="439200" cy="439100"/>
          </a:xfrm>
        </p:grpSpPr>
        <p:sp>
          <p:nvSpPr>
            <p:cNvPr id="1376" name="Google Shape;1376;p30"/>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30"/>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dk2"/>
        </a:solidFill>
        <a:effectLst/>
      </p:bgPr>
    </p:bg>
    <p:spTree>
      <p:nvGrpSpPr>
        <p:cNvPr id="1" name="Shape 1378"/>
        <p:cNvGrpSpPr/>
        <p:nvPr/>
      </p:nvGrpSpPr>
      <p:grpSpPr>
        <a:xfrm>
          <a:off x="0" y="0"/>
          <a:ext cx="0" cy="0"/>
          <a:chOff x="0" y="0"/>
          <a:chExt cx="0" cy="0"/>
        </a:xfrm>
      </p:grpSpPr>
      <p:grpSp>
        <p:nvGrpSpPr>
          <p:cNvPr id="1379" name="Google Shape;1379;p31"/>
          <p:cNvGrpSpPr/>
          <p:nvPr/>
        </p:nvGrpSpPr>
        <p:grpSpPr>
          <a:xfrm>
            <a:off x="8332551" y="-7"/>
            <a:ext cx="2386151" cy="3293873"/>
            <a:chOff x="8256351" y="-7"/>
            <a:chExt cx="2386151" cy="3293873"/>
          </a:xfrm>
        </p:grpSpPr>
        <p:pic>
          <p:nvPicPr>
            <p:cNvPr id="1380" name="Google Shape;1380;p31"/>
            <p:cNvPicPr preferRelativeResize="0"/>
            <p:nvPr/>
          </p:nvPicPr>
          <p:blipFill rotWithShape="1">
            <a:blip r:embed="rId2">
              <a:alphaModFix/>
            </a:blip>
            <a:srcRect l="16960" t="24718" r="7121" b="26177"/>
            <a:stretch/>
          </p:blipFill>
          <p:spPr>
            <a:xfrm rot="5400000">
              <a:off x="7886227" y="537590"/>
              <a:ext cx="3126400" cy="2386151"/>
            </a:xfrm>
            <a:prstGeom prst="rect">
              <a:avLst/>
            </a:prstGeom>
            <a:noFill/>
            <a:ln>
              <a:noFill/>
            </a:ln>
          </p:spPr>
        </p:pic>
        <p:grpSp>
          <p:nvGrpSpPr>
            <p:cNvPr id="1381" name="Google Shape;1381;p31"/>
            <p:cNvGrpSpPr/>
            <p:nvPr/>
          </p:nvGrpSpPr>
          <p:grpSpPr>
            <a:xfrm rot="10800000">
              <a:off x="8452444" y="-7"/>
              <a:ext cx="325154" cy="1788670"/>
              <a:chOff x="8869019" y="-622132"/>
              <a:chExt cx="325154" cy="1788670"/>
            </a:xfrm>
          </p:grpSpPr>
          <p:sp>
            <p:nvSpPr>
              <p:cNvPr id="1382" name="Google Shape;1382;p31"/>
              <p:cNvSpPr/>
              <p:nvPr/>
            </p:nvSpPr>
            <p:spPr>
              <a:xfrm rot="10800000">
                <a:off x="8869019" y="-622132"/>
                <a:ext cx="246869" cy="1703243"/>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3" name="Google Shape;1383;p31"/>
              <p:cNvGrpSpPr/>
              <p:nvPr/>
            </p:nvGrpSpPr>
            <p:grpSpPr>
              <a:xfrm rot="1800062">
                <a:off x="9035610" y="1007995"/>
                <a:ext cx="134040" cy="134009"/>
                <a:chOff x="1101075" y="2142375"/>
                <a:chExt cx="439200" cy="439100"/>
              </a:xfrm>
            </p:grpSpPr>
            <p:sp>
              <p:nvSpPr>
                <p:cNvPr id="1384" name="Google Shape;1384;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385;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386" name="Google Shape;1386;p31"/>
          <p:cNvGrpSpPr/>
          <p:nvPr/>
        </p:nvGrpSpPr>
        <p:grpSpPr>
          <a:xfrm>
            <a:off x="-213525" y="171225"/>
            <a:ext cx="439200" cy="439100"/>
            <a:chOff x="1101075" y="2142375"/>
            <a:chExt cx="439200" cy="439100"/>
          </a:xfrm>
        </p:grpSpPr>
        <p:sp>
          <p:nvSpPr>
            <p:cNvPr id="1387" name="Google Shape;1387;p31"/>
            <p:cNvSpPr/>
            <p:nvPr/>
          </p:nvSpPr>
          <p:spPr>
            <a:xfrm>
              <a:off x="1101075" y="2142375"/>
              <a:ext cx="439200" cy="439100"/>
            </a:xfrm>
            <a:custGeom>
              <a:avLst/>
              <a:gdLst/>
              <a:ahLst/>
              <a:cxnLst/>
              <a:rect l="l" t="t" r="r" b="b"/>
              <a:pathLst>
                <a:path w="17568" h="17564" extrusionOk="0">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31"/>
            <p:cNvSpPr/>
            <p:nvPr/>
          </p:nvSpPr>
          <p:spPr>
            <a:xfrm>
              <a:off x="1189450" y="2242350"/>
              <a:ext cx="262850" cy="239700"/>
            </a:xfrm>
            <a:custGeom>
              <a:avLst/>
              <a:gdLst/>
              <a:ahLst/>
              <a:cxnLst/>
              <a:rect l="l" t="t" r="r" b="b"/>
              <a:pathLst>
                <a:path w="10514" h="9588" extrusionOk="0">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31"/>
          <p:cNvGrpSpPr/>
          <p:nvPr/>
        </p:nvGrpSpPr>
        <p:grpSpPr>
          <a:xfrm>
            <a:off x="-1262974" y="3161328"/>
            <a:ext cx="4822591" cy="2934500"/>
            <a:chOff x="-1186774" y="3161328"/>
            <a:chExt cx="4822591" cy="2934500"/>
          </a:xfrm>
        </p:grpSpPr>
        <p:pic>
          <p:nvPicPr>
            <p:cNvPr id="1390" name="Google Shape;1390;p31"/>
            <p:cNvPicPr preferRelativeResize="0"/>
            <p:nvPr/>
          </p:nvPicPr>
          <p:blipFill rotWithShape="1">
            <a:blip r:embed="rId2">
              <a:alphaModFix/>
            </a:blip>
            <a:srcRect l="16960" t="24718" r="7121" b="26177"/>
            <a:stretch/>
          </p:blipFill>
          <p:spPr>
            <a:xfrm rot="5400000">
              <a:off x="-1534175" y="3508728"/>
              <a:ext cx="2934500" cy="2239699"/>
            </a:xfrm>
            <a:prstGeom prst="rect">
              <a:avLst/>
            </a:prstGeom>
            <a:noFill/>
            <a:ln>
              <a:noFill/>
            </a:ln>
          </p:spPr>
        </p:pic>
        <p:sp>
          <p:nvSpPr>
            <p:cNvPr id="1391" name="Google Shape;1391;p31"/>
            <p:cNvSpPr/>
            <p:nvPr/>
          </p:nvSpPr>
          <p:spPr>
            <a:xfrm rot="-5400000">
              <a:off x="-184180" y="3596444"/>
              <a:ext cx="503090" cy="2327806"/>
            </a:xfrm>
            <a:custGeom>
              <a:avLst/>
              <a:gdLst/>
              <a:ahLst/>
              <a:cxnLst/>
              <a:rect l="l" t="t" r="r" b="b"/>
              <a:pathLst>
                <a:path w="12266" h="56755" extrusionOk="0">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r="100000" b="100000"/>
              </a:path>
              <a:tileRect l="-100000" t="-10000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92" name="Google Shape;1392;p31"/>
            <p:cNvGrpSpPr/>
            <p:nvPr/>
          </p:nvGrpSpPr>
          <p:grpSpPr>
            <a:xfrm>
              <a:off x="58899" y="4608583"/>
              <a:ext cx="604346" cy="657081"/>
              <a:chOff x="58899" y="4608583"/>
              <a:chExt cx="604346" cy="657081"/>
            </a:xfrm>
          </p:grpSpPr>
          <p:grpSp>
            <p:nvGrpSpPr>
              <p:cNvPr id="1393" name="Google Shape;1393;p31"/>
              <p:cNvGrpSpPr/>
              <p:nvPr/>
            </p:nvGrpSpPr>
            <p:grpSpPr>
              <a:xfrm rot="10800000">
                <a:off x="58899" y="4608583"/>
                <a:ext cx="328346" cy="328531"/>
                <a:chOff x="3678700" y="407275"/>
                <a:chExt cx="708100" cy="708500"/>
              </a:xfrm>
            </p:grpSpPr>
            <p:sp>
              <p:nvSpPr>
                <p:cNvPr id="1394" name="Google Shape;1394;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398;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399;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1" name="Google Shape;1401;p31"/>
              <p:cNvGrpSpPr/>
              <p:nvPr/>
            </p:nvGrpSpPr>
            <p:grpSpPr>
              <a:xfrm rot="10800000">
                <a:off x="334899" y="4608583"/>
                <a:ext cx="328346" cy="328531"/>
                <a:chOff x="3678700" y="407275"/>
                <a:chExt cx="708100" cy="708500"/>
              </a:xfrm>
            </p:grpSpPr>
            <p:sp>
              <p:nvSpPr>
                <p:cNvPr id="1402" name="Google Shape;1402;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406;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9" name="Google Shape;1409;p31"/>
              <p:cNvGrpSpPr/>
              <p:nvPr/>
            </p:nvGrpSpPr>
            <p:grpSpPr>
              <a:xfrm rot="10800000">
                <a:off x="282574" y="4937133"/>
                <a:ext cx="328346" cy="328531"/>
                <a:chOff x="3678700" y="407275"/>
                <a:chExt cx="708100" cy="708500"/>
              </a:xfrm>
            </p:grpSpPr>
            <p:sp>
              <p:nvSpPr>
                <p:cNvPr id="1410" name="Google Shape;1410;p31"/>
                <p:cNvSpPr/>
                <p:nvPr/>
              </p:nvSpPr>
              <p:spPr>
                <a:xfrm>
                  <a:off x="3678700" y="4072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31"/>
                <p:cNvSpPr/>
                <p:nvPr/>
              </p:nvSpPr>
              <p:spPr>
                <a:xfrm>
                  <a:off x="3754875" y="483475"/>
                  <a:ext cx="249900" cy="249875"/>
                </a:xfrm>
                <a:custGeom>
                  <a:avLst/>
                  <a:gdLst/>
                  <a:ahLst/>
                  <a:cxnLst/>
                  <a:rect l="l" t="t" r="r" b="b"/>
                  <a:pathLst>
                    <a:path w="9996" h="9995"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412;p31"/>
                <p:cNvSpPr/>
                <p:nvPr/>
              </p:nvSpPr>
              <p:spPr>
                <a:xfrm>
                  <a:off x="3831425" y="560025"/>
                  <a:ext cx="249900" cy="249900"/>
                </a:xfrm>
                <a:custGeom>
                  <a:avLst/>
                  <a:gdLst/>
                  <a:ahLst/>
                  <a:cxnLst/>
                  <a:rect l="l" t="t" r="r" b="b"/>
                  <a:pathLst>
                    <a:path w="9996" h="9996" extrusionOk="0">
                      <a:moveTo>
                        <a:pt x="8594" y="0"/>
                      </a:moveTo>
                      <a:lnTo>
                        <a:pt x="1" y="8594"/>
                      </a:lnTo>
                      <a:lnTo>
                        <a:pt x="1403" y="9995"/>
                      </a:lnTo>
                      <a:lnTo>
                        <a:pt x="9996" y="1402"/>
                      </a:lnTo>
                      <a:lnTo>
                        <a:pt x="8594"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31"/>
                <p:cNvSpPr/>
                <p:nvPr/>
              </p:nvSpPr>
              <p:spPr>
                <a:xfrm>
                  <a:off x="3907625" y="636575"/>
                  <a:ext cx="249875" cy="249525"/>
                </a:xfrm>
                <a:custGeom>
                  <a:avLst/>
                  <a:gdLst/>
                  <a:ahLst/>
                  <a:cxnLst/>
                  <a:rect l="l" t="t" r="r" b="b"/>
                  <a:pathLst>
                    <a:path w="9995" h="9981" extrusionOk="0">
                      <a:moveTo>
                        <a:pt x="8593" y="1"/>
                      </a:moveTo>
                      <a:lnTo>
                        <a:pt x="0" y="8579"/>
                      </a:lnTo>
                      <a:lnTo>
                        <a:pt x="1402" y="9980"/>
                      </a:lnTo>
                      <a:lnTo>
                        <a:pt x="9995" y="1387"/>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31"/>
                <p:cNvSpPr/>
                <p:nvPr/>
              </p:nvSpPr>
              <p:spPr>
                <a:xfrm>
                  <a:off x="3984175" y="713150"/>
                  <a:ext cx="249900" cy="249900"/>
                </a:xfrm>
                <a:custGeom>
                  <a:avLst/>
                  <a:gdLst/>
                  <a:ahLst/>
                  <a:cxnLst/>
                  <a:rect l="l" t="t" r="r" b="b"/>
                  <a:pathLst>
                    <a:path w="9996" h="9996" extrusionOk="0">
                      <a:moveTo>
                        <a:pt x="8593" y="0"/>
                      </a:moveTo>
                      <a:lnTo>
                        <a:pt x="0" y="8593"/>
                      </a:lnTo>
                      <a:lnTo>
                        <a:pt x="1402" y="9995"/>
                      </a:lnTo>
                      <a:lnTo>
                        <a:pt x="9995" y="1402"/>
                      </a:lnTo>
                      <a:lnTo>
                        <a:pt x="8593" y="0"/>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31"/>
                <p:cNvSpPr/>
                <p:nvPr/>
              </p:nvSpPr>
              <p:spPr>
                <a:xfrm>
                  <a:off x="4061125" y="789700"/>
                  <a:ext cx="249500" cy="249525"/>
                </a:xfrm>
                <a:custGeom>
                  <a:avLst/>
                  <a:gdLst/>
                  <a:ahLst/>
                  <a:cxnLst/>
                  <a:rect l="l" t="t" r="r" b="b"/>
                  <a:pathLst>
                    <a:path w="9980" h="9981" extrusionOk="0">
                      <a:moveTo>
                        <a:pt x="8593" y="1"/>
                      </a:moveTo>
                      <a:lnTo>
                        <a:pt x="0" y="8594"/>
                      </a:lnTo>
                      <a:lnTo>
                        <a:pt x="1402" y="9980"/>
                      </a:lnTo>
                      <a:lnTo>
                        <a:pt x="9980" y="1402"/>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31"/>
                <p:cNvSpPr/>
                <p:nvPr/>
              </p:nvSpPr>
              <p:spPr>
                <a:xfrm>
                  <a:off x="4136925" y="865875"/>
                  <a:ext cx="249875" cy="249900"/>
                </a:xfrm>
                <a:custGeom>
                  <a:avLst/>
                  <a:gdLst/>
                  <a:ahLst/>
                  <a:cxnLst/>
                  <a:rect l="l" t="t" r="r" b="b"/>
                  <a:pathLst>
                    <a:path w="9995" h="9996" extrusionOk="0">
                      <a:moveTo>
                        <a:pt x="8593" y="1"/>
                      </a:moveTo>
                      <a:lnTo>
                        <a:pt x="0" y="8594"/>
                      </a:lnTo>
                      <a:lnTo>
                        <a:pt x="1402" y="9996"/>
                      </a:lnTo>
                      <a:lnTo>
                        <a:pt x="9995" y="1403"/>
                      </a:lnTo>
                      <a:lnTo>
                        <a:pt x="8593" y="1"/>
                      </a:lnTo>
                      <a:close/>
                    </a:path>
                  </a:pathLst>
                </a:custGeom>
                <a:gradFill>
                  <a:gsLst>
                    <a:gs pos="0">
                      <a:srgbClr val="0C0A9E">
                        <a:alpha val="37254"/>
                        <a:alpha val="46820"/>
                      </a:srgbClr>
                    </a:gs>
                    <a:gs pos="100000">
                      <a:srgbClr val="FFFFFF">
                        <a:alpha val="0"/>
                        <a:alpha val="4682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17" name="Google Shape;1417;p31"/>
            <p:cNvGrpSpPr/>
            <p:nvPr/>
          </p:nvGrpSpPr>
          <p:grpSpPr>
            <a:xfrm>
              <a:off x="-923150" y="4796551"/>
              <a:ext cx="4558967" cy="134100"/>
              <a:chOff x="796100" y="3019701"/>
              <a:chExt cx="4558967" cy="134100"/>
            </a:xfrm>
          </p:grpSpPr>
          <p:sp>
            <p:nvSpPr>
              <p:cNvPr id="1418" name="Google Shape;1418;p31"/>
              <p:cNvSpPr/>
              <p:nvPr/>
            </p:nvSpPr>
            <p:spPr>
              <a:xfrm>
                <a:off x="5220967" y="3019701"/>
                <a:ext cx="134100" cy="134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19" name="Google Shape;1419;p31"/>
              <p:cNvCxnSpPr/>
              <p:nvPr/>
            </p:nvCxnSpPr>
            <p:spPr>
              <a:xfrm>
                <a:off x="796100" y="3086750"/>
                <a:ext cx="4462800" cy="0"/>
              </a:xfrm>
              <a:prstGeom prst="straightConnector1">
                <a:avLst/>
              </a:prstGeom>
              <a:noFill/>
              <a:ln w="9525" cap="flat" cmpd="sng">
                <a:solidFill>
                  <a:schemeClr val="lt1"/>
                </a:solidFill>
                <a:prstDash val="solid"/>
                <a:round/>
                <a:headEnd type="none" w="med" len="med"/>
                <a:tailEnd type="none" w="med" len="med"/>
              </a:ln>
            </p:spPr>
          </p:cxnSp>
          <p:sp>
            <p:nvSpPr>
              <p:cNvPr id="1420" name="Google Shape;1420;p31"/>
              <p:cNvSpPr/>
              <p:nvPr/>
            </p:nvSpPr>
            <p:spPr>
              <a:xfrm>
                <a:off x="5251079" y="3049843"/>
                <a:ext cx="73800" cy="738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Quote">
  <p:cSld name="1_Quote">
    <p:spTree>
      <p:nvGrpSpPr>
        <p:cNvPr id="1" name="Shape 39"/>
        <p:cNvGrpSpPr/>
        <p:nvPr/>
      </p:nvGrpSpPr>
      <p:grpSpPr>
        <a:xfrm>
          <a:off x="0" y="0"/>
          <a:ext cx="0" cy="0"/>
          <a:chOff x="0" y="0"/>
          <a:chExt cx="0" cy="0"/>
        </a:xfrm>
      </p:grpSpPr>
      <p:sp>
        <p:nvSpPr>
          <p:cNvPr id="40" name="Google Shape;40;p4"/>
          <p:cNvSpPr txBox="1">
            <a:spLocks noGrp="1"/>
          </p:cNvSpPr>
          <p:nvPr>
            <p:ph type="body" idx="1"/>
          </p:nvPr>
        </p:nvSpPr>
        <p:spPr>
          <a:xfrm>
            <a:off x="2822775" y="2161800"/>
            <a:ext cx="3498300" cy="819900"/>
          </a:xfrm>
          <a:prstGeom prst="rect">
            <a:avLst/>
          </a:prstGeom>
        </p:spPr>
        <p:txBody>
          <a:bodyPr spcFirstLastPara="1" wrap="square" lIns="91425" tIns="91425" rIns="91425" bIns="91425" anchor="ctr" anchorCtr="0">
            <a:noAutofit/>
          </a:bodyPr>
          <a:lstStyle>
            <a:lvl1pPr marL="457200" lvl="0" indent="-381000" algn="ctr" rtl="0">
              <a:spcBef>
                <a:spcPts val="600"/>
              </a:spcBef>
              <a:spcAft>
                <a:spcPts val="0"/>
              </a:spcAft>
              <a:buClr>
                <a:srgbClr val="3796BF"/>
              </a:buClr>
              <a:buSzPts val="2400"/>
              <a:buFont typeface="Oswald"/>
              <a:buChar char="»"/>
              <a:defRPr sz="2400">
                <a:solidFill>
                  <a:srgbClr val="3796BF"/>
                </a:solidFill>
                <a:latin typeface="Oswald"/>
                <a:ea typeface="Oswald"/>
                <a:cs typeface="Oswald"/>
                <a:sym typeface="Oswald"/>
              </a:defRPr>
            </a:lvl1pPr>
            <a:lvl2pPr marL="914400" lvl="1"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2pPr>
            <a:lvl3pPr marL="1371600" lvl="2"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3pPr>
            <a:lvl4pPr marL="1828800" lvl="3"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4pPr>
            <a:lvl5pPr marL="2286000" lvl="4"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5pPr>
            <a:lvl6pPr marL="2743200" lvl="5"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6pPr>
            <a:lvl7pPr marL="3200400" lvl="6"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7pPr>
            <a:lvl8pPr marL="3657600" lvl="7" indent="-381000" algn="ctr" rtl="0">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8pPr>
            <a:lvl9pPr marL="4114800" lvl="8" indent="-381000" algn="ctr">
              <a:spcBef>
                <a:spcPts val="0"/>
              </a:spcBef>
              <a:spcAft>
                <a:spcPts val="0"/>
              </a:spcAft>
              <a:buClr>
                <a:srgbClr val="3796BF"/>
              </a:buClr>
              <a:buSzPts val="2400"/>
              <a:buFont typeface="Oswald"/>
              <a:buChar char="■"/>
              <a:defRPr sz="2400">
                <a:solidFill>
                  <a:srgbClr val="3796BF"/>
                </a:solidFill>
                <a:latin typeface="Oswald"/>
                <a:ea typeface="Oswald"/>
                <a:cs typeface="Oswald"/>
                <a:sym typeface="Oswald"/>
              </a:defRPr>
            </a:lvl9pPr>
          </a:lstStyle>
          <a:p>
            <a:endParaRPr/>
          </a:p>
        </p:txBody>
      </p:sp>
      <p:grpSp>
        <p:nvGrpSpPr>
          <p:cNvPr id="41" name="Google Shape;41;p4"/>
          <p:cNvGrpSpPr/>
          <p:nvPr/>
        </p:nvGrpSpPr>
        <p:grpSpPr>
          <a:xfrm>
            <a:off x="5609666" y="2185857"/>
            <a:ext cx="3534604" cy="3432788"/>
            <a:chOff x="6172200" y="2656118"/>
            <a:chExt cx="2971754" cy="2886151"/>
          </a:xfrm>
        </p:grpSpPr>
        <p:sp>
          <p:nvSpPr>
            <p:cNvPr id="42" name="Google Shape;42;p4"/>
            <p:cNvSpPr/>
            <p:nvPr/>
          </p:nvSpPr>
          <p:spPr>
            <a:xfrm rot="9208626" flipH="1">
              <a:off x="6704904" y="4110434"/>
              <a:ext cx="484232" cy="1204006"/>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4"/>
            <p:cNvSpPr/>
            <p:nvPr/>
          </p:nvSpPr>
          <p:spPr>
            <a:xfrm rot="9208633" flipH="1">
              <a:off x="7804300" y="3279013"/>
              <a:ext cx="877624" cy="2182136"/>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rot="9208606" flipH="1">
              <a:off x="7481789" y="4276913"/>
              <a:ext cx="408796" cy="1016449"/>
            </a:xfrm>
            <a:prstGeom prst="flowChartManualInput">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4"/>
            <p:cNvSpPr/>
            <p:nvPr/>
          </p:nvSpPr>
          <p:spPr>
            <a:xfrm rot="9208678" flipH="1">
              <a:off x="6287617" y="4657701"/>
              <a:ext cx="229660" cy="571018"/>
            </a:xfrm>
            <a:prstGeom prst="flowChartManualInput">
              <a:avLst/>
            </a:prstGeom>
            <a:solidFill>
              <a:srgbClr val="4BB5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4"/>
            <p:cNvSpPr/>
            <p:nvPr/>
          </p:nvSpPr>
          <p:spPr>
            <a:xfrm>
              <a:off x="8289303" y="2656118"/>
              <a:ext cx="854651" cy="1929080"/>
            </a:xfrm>
            <a:custGeom>
              <a:avLst/>
              <a:gdLst/>
              <a:ahLst/>
              <a:cxnLst/>
              <a:rect l="l" t="t" r="r" b="b"/>
              <a:pathLst>
                <a:path w="37596" h="84860" extrusionOk="0">
                  <a:moveTo>
                    <a:pt x="19066" y="0"/>
                  </a:moveTo>
                  <a:lnTo>
                    <a:pt x="0" y="9130"/>
                  </a:lnTo>
                  <a:lnTo>
                    <a:pt x="37596" y="84860"/>
                  </a:lnTo>
                  <a:lnTo>
                    <a:pt x="37596" y="37328"/>
                  </a:lnTo>
                  <a:close/>
                </a:path>
              </a:pathLst>
            </a:custGeom>
            <a:solidFill>
              <a:srgbClr val="4BB5D9"/>
            </a:solidFill>
            <a:ln>
              <a:noFill/>
            </a:ln>
          </p:spPr>
        </p:sp>
      </p:grpSp>
      <p:grpSp>
        <p:nvGrpSpPr>
          <p:cNvPr id="47" name="Google Shape;47;p4"/>
          <p:cNvGrpSpPr/>
          <p:nvPr/>
        </p:nvGrpSpPr>
        <p:grpSpPr>
          <a:xfrm>
            <a:off x="-22" y="-324543"/>
            <a:ext cx="3068579" cy="1910876"/>
            <a:chOff x="-32" y="-215963"/>
            <a:chExt cx="2163561" cy="1347300"/>
          </a:xfrm>
        </p:grpSpPr>
        <p:sp>
          <p:nvSpPr>
            <p:cNvPr id="48" name="Google Shape;48;p4"/>
            <p:cNvSpPr/>
            <p:nvPr/>
          </p:nvSpPr>
          <p:spPr>
            <a:xfrm rot="-1591408" flipH="1">
              <a:off x="1362169" y="-63166"/>
              <a:ext cx="205103" cy="509980"/>
            </a:xfrm>
            <a:prstGeom prst="flowChartManualInput">
              <a:avLst/>
            </a:prstGeom>
            <a:solidFill>
              <a:srgbClr val="4BB5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rot="-1591371" flipH="1">
              <a:off x="239463" y="-151890"/>
              <a:ext cx="434754" cy="1080980"/>
            </a:xfrm>
            <a:prstGeom prst="flowChartManualInput">
              <a:avLst/>
            </a:prstGeom>
            <a:solidFill>
              <a:srgbClr val="FF99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rot="-1591339" flipH="1">
              <a:off x="892401" y="-169347"/>
              <a:ext cx="504374" cy="1254067"/>
            </a:xfrm>
            <a:prstGeom prst="flowChartManualInput">
              <a:avLst/>
            </a:prstGeom>
            <a:solidFill>
              <a:srgbClr val="379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rot="-1591322" flipH="1">
              <a:off x="1818452" y="-76292"/>
              <a:ext cx="229660" cy="571018"/>
            </a:xfrm>
            <a:prstGeom prst="flowChartManualInput">
              <a:avLst/>
            </a:prstGeom>
            <a:solidFill>
              <a:srgbClr val="81D1E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rot="10800000">
              <a:off x="-32" y="70725"/>
              <a:ext cx="380284" cy="858147"/>
            </a:xfrm>
            <a:custGeom>
              <a:avLst/>
              <a:gdLst/>
              <a:ahLst/>
              <a:cxnLst/>
              <a:rect l="l" t="t" r="r" b="b"/>
              <a:pathLst>
                <a:path w="37596" h="84860" extrusionOk="0">
                  <a:moveTo>
                    <a:pt x="19066" y="0"/>
                  </a:moveTo>
                  <a:lnTo>
                    <a:pt x="0" y="9130"/>
                  </a:lnTo>
                  <a:lnTo>
                    <a:pt x="37596" y="84860"/>
                  </a:lnTo>
                  <a:lnTo>
                    <a:pt x="37596" y="37328"/>
                  </a:lnTo>
                  <a:close/>
                </a:path>
              </a:pathLst>
            </a:custGeom>
            <a:solidFill>
              <a:srgbClr val="81D1EC"/>
            </a:solidFill>
            <a:ln>
              <a:noFill/>
            </a:ln>
          </p:spPr>
        </p:sp>
      </p:grpSp>
      <p:sp>
        <p:nvSpPr>
          <p:cNvPr id="53" name="Google Shape;53;p4"/>
          <p:cNvSpPr txBox="1">
            <a:spLocks noGrp="1"/>
          </p:cNvSpPr>
          <p:nvPr>
            <p:ph type="sldNum" idx="12"/>
          </p:nvPr>
        </p:nvSpPr>
        <p:spPr>
          <a:xfrm>
            <a:off x="8556784" y="1"/>
            <a:ext cx="548700" cy="393600"/>
          </a:xfrm>
          <a:prstGeom prst="rect">
            <a:avLst/>
          </a:prstGeom>
        </p:spPr>
        <p:txBody>
          <a:bodyPr spcFirstLastPara="1" wrap="square" lIns="91425" tIns="91425" rIns="91425" bIns="91425" anchor="t" anchorCtr="0">
            <a:noAutofit/>
          </a:bodyPr>
          <a:lstStyle>
            <a:lvl1pPr lvl="0" algn="r" rtl="0">
              <a:buNone/>
              <a:defRPr sz="1300">
                <a:solidFill>
                  <a:srgbClr val="4BB5D9"/>
                </a:solidFill>
                <a:latin typeface="Roboto Condensed"/>
                <a:ea typeface="Roboto Condensed"/>
                <a:cs typeface="Roboto Condensed"/>
                <a:sym typeface="Roboto Condensed"/>
              </a:defRPr>
            </a:lvl1pPr>
            <a:lvl2pPr lvl="1" algn="r" rtl="0">
              <a:buNone/>
              <a:defRPr sz="1300">
                <a:solidFill>
                  <a:srgbClr val="4BB5D9"/>
                </a:solidFill>
                <a:latin typeface="Roboto Condensed"/>
                <a:ea typeface="Roboto Condensed"/>
                <a:cs typeface="Roboto Condensed"/>
                <a:sym typeface="Roboto Condensed"/>
              </a:defRPr>
            </a:lvl2pPr>
            <a:lvl3pPr lvl="2" algn="r" rtl="0">
              <a:buNone/>
              <a:defRPr sz="1300">
                <a:solidFill>
                  <a:srgbClr val="4BB5D9"/>
                </a:solidFill>
                <a:latin typeface="Roboto Condensed"/>
                <a:ea typeface="Roboto Condensed"/>
                <a:cs typeface="Roboto Condensed"/>
                <a:sym typeface="Roboto Condensed"/>
              </a:defRPr>
            </a:lvl3pPr>
            <a:lvl4pPr lvl="3" algn="r" rtl="0">
              <a:buNone/>
              <a:defRPr sz="1300">
                <a:solidFill>
                  <a:srgbClr val="4BB5D9"/>
                </a:solidFill>
                <a:latin typeface="Roboto Condensed"/>
                <a:ea typeface="Roboto Condensed"/>
                <a:cs typeface="Roboto Condensed"/>
                <a:sym typeface="Roboto Condensed"/>
              </a:defRPr>
            </a:lvl4pPr>
            <a:lvl5pPr lvl="4" algn="r" rtl="0">
              <a:buNone/>
              <a:defRPr sz="1300">
                <a:solidFill>
                  <a:srgbClr val="4BB5D9"/>
                </a:solidFill>
                <a:latin typeface="Roboto Condensed"/>
                <a:ea typeface="Roboto Condensed"/>
                <a:cs typeface="Roboto Condensed"/>
                <a:sym typeface="Roboto Condensed"/>
              </a:defRPr>
            </a:lvl5pPr>
            <a:lvl6pPr lvl="5" algn="r" rtl="0">
              <a:buNone/>
              <a:defRPr sz="1300">
                <a:solidFill>
                  <a:srgbClr val="4BB5D9"/>
                </a:solidFill>
                <a:latin typeface="Roboto Condensed"/>
                <a:ea typeface="Roboto Condensed"/>
                <a:cs typeface="Roboto Condensed"/>
                <a:sym typeface="Roboto Condensed"/>
              </a:defRPr>
            </a:lvl6pPr>
            <a:lvl7pPr lvl="6" algn="r" rtl="0">
              <a:buNone/>
              <a:defRPr sz="1300">
                <a:solidFill>
                  <a:srgbClr val="4BB5D9"/>
                </a:solidFill>
                <a:latin typeface="Roboto Condensed"/>
                <a:ea typeface="Roboto Condensed"/>
                <a:cs typeface="Roboto Condensed"/>
                <a:sym typeface="Roboto Condensed"/>
              </a:defRPr>
            </a:lvl7pPr>
            <a:lvl8pPr lvl="7" algn="r" rtl="0">
              <a:buNone/>
              <a:defRPr sz="1300">
                <a:solidFill>
                  <a:srgbClr val="4BB5D9"/>
                </a:solidFill>
                <a:latin typeface="Roboto Condensed"/>
                <a:ea typeface="Roboto Condensed"/>
                <a:cs typeface="Roboto Condensed"/>
                <a:sym typeface="Roboto Condensed"/>
              </a:defRPr>
            </a:lvl8pPr>
            <a:lvl9pPr lvl="8" algn="r" rtl="0">
              <a:buNone/>
              <a:defRPr sz="1300">
                <a:solidFill>
                  <a:srgbClr val="4BB5D9"/>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a:t>‹Nº›</a:t>
            </a:fld>
            <a:endParaRPr/>
          </a:p>
        </p:txBody>
      </p:sp>
    </p:spTree>
    <p:extLst>
      <p:ext uri="{BB962C8B-B14F-4D97-AF65-F5344CB8AC3E}">
        <p14:creationId xmlns:p14="http://schemas.microsoft.com/office/powerpoint/2010/main" val="42421795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85800" y="456840"/>
            <a:ext cx="7772400" cy="857250"/>
          </a:xfrm>
          <a:prstGeom prst="rect">
            <a:avLst/>
          </a:prstGeom>
        </p:spPr>
        <p:txBody>
          <a:bodyPr lIns="90000" tIns="46800" rIns="90000" bIns="46800" anchor="ctr">
            <a:noAutofit/>
          </a:bodyPr>
          <a:lstStyle>
            <a:lvl1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lvl1p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300" b="0" strike="noStrike" spc="-1">
              <a:solidFill>
                <a:srgbClr val="000000"/>
              </a:solidFill>
              <a:latin typeface="Times New Roman"/>
            </a:endParaRPr>
          </a:p>
        </p:txBody>
      </p:sp>
      <p:sp>
        <p:nvSpPr>
          <p:cNvPr id="6" name="PlaceHolder 2"/>
          <p:cNvSpPr>
            <a:spLocks noGrp="1"/>
          </p:cNvSpPr>
          <p:nvPr>
            <p:ph type="subTitle"/>
          </p:nvPr>
        </p:nvSpPr>
        <p:spPr>
          <a:xfrm>
            <a:off x="685800" y="1485810"/>
            <a:ext cx="7772400" cy="3086100"/>
          </a:xfrm>
          <a:prstGeom prst="rect">
            <a:avLst/>
          </a:prstGeom>
        </p:spPr>
        <p:txBody>
          <a:bodyPr lIns="0" tIns="0" rIns="0" bIns="0" anchor="ctr">
            <a:noAutofit/>
          </a:bodyPr>
          <a:lstStyle>
            <a:lvl1pPr algn="ctr">
              <a:spcBef>
                <a:spcPts val="599"/>
              </a:spcBef>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lvl1pPr>
          </a:lstStyle>
          <a:p>
            <a:pPr algn="ctr">
              <a:spcBef>
                <a:spcPts val="799"/>
              </a:spcBef>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2400" b="0" strike="noStrike" spc="-1">
              <a:solidFill>
                <a:srgbClr val="000000"/>
              </a:solidFill>
              <a:latin typeface="Times New Roman"/>
            </a:endParaRPr>
          </a:p>
        </p:txBody>
      </p:sp>
    </p:spTree>
    <p:extLst>
      <p:ext uri="{BB962C8B-B14F-4D97-AF65-F5344CB8AC3E}">
        <p14:creationId xmlns:p14="http://schemas.microsoft.com/office/powerpoint/2010/main" val="22954224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85800" y="456840"/>
            <a:ext cx="7772400" cy="857250"/>
          </a:xfrm>
          <a:prstGeom prst="rect">
            <a:avLst/>
          </a:prstGeom>
        </p:spPr>
        <p:txBody>
          <a:bodyPr lIns="90000" tIns="46800" rIns="90000" bIns="46800" anchor="ctr">
            <a:noAutofit/>
          </a:bodyPr>
          <a:lstStyle>
            <a:lvl1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lvl1p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300" b="0" strike="noStrike" spc="-1">
              <a:solidFill>
                <a:srgbClr val="000000"/>
              </a:solidFill>
              <a:latin typeface="Times New Roman"/>
            </a:endParaRPr>
          </a:p>
        </p:txBody>
      </p:sp>
      <p:sp>
        <p:nvSpPr>
          <p:cNvPr id="10" name="PlaceHolder 2"/>
          <p:cNvSpPr>
            <a:spLocks noGrp="1"/>
          </p:cNvSpPr>
          <p:nvPr>
            <p:ph type="body"/>
          </p:nvPr>
        </p:nvSpPr>
        <p:spPr>
          <a:xfrm>
            <a:off x="685800" y="1485810"/>
            <a:ext cx="3792600" cy="3086100"/>
          </a:xfrm>
          <a:prstGeom prst="rect">
            <a:avLst/>
          </a:prstGeom>
        </p:spPr>
        <p:txBody>
          <a:bodyPr lIns="90000" tIns="46800" rIns="90000" bIns="46800">
            <a:normAutofit/>
          </a:bodyPr>
          <a:lstStyle/>
          <a:p>
            <a:endParaRPr lang="en-US" sz="2400" b="0" strike="noStrike" spc="-1">
              <a:solidFill>
                <a:srgbClr val="000000"/>
              </a:solidFill>
              <a:latin typeface="Times New Roman"/>
            </a:endParaRPr>
          </a:p>
        </p:txBody>
      </p:sp>
      <p:sp>
        <p:nvSpPr>
          <p:cNvPr id="11" name="PlaceHolder 3"/>
          <p:cNvSpPr>
            <a:spLocks noGrp="1"/>
          </p:cNvSpPr>
          <p:nvPr>
            <p:ph type="body"/>
          </p:nvPr>
        </p:nvSpPr>
        <p:spPr>
          <a:xfrm>
            <a:off x="4668480" y="1485810"/>
            <a:ext cx="3792600" cy="3086100"/>
          </a:xfrm>
          <a:prstGeom prst="rect">
            <a:avLst/>
          </a:prstGeom>
        </p:spPr>
        <p:txBody>
          <a:bodyPr lIns="90000" tIns="46800" rIns="90000" bIns="46800">
            <a:normAutofit/>
          </a:bodyPr>
          <a:lstStyle/>
          <a:p>
            <a:endParaRPr lang="en-US" sz="2400" b="0" strike="noStrike" spc="-1">
              <a:solidFill>
                <a:srgbClr val="000000"/>
              </a:solidFill>
              <a:latin typeface="Times New Roman"/>
            </a:endParaRPr>
          </a:p>
        </p:txBody>
      </p:sp>
    </p:spTree>
    <p:extLst>
      <p:ext uri="{BB962C8B-B14F-4D97-AF65-F5344CB8AC3E}">
        <p14:creationId xmlns:p14="http://schemas.microsoft.com/office/powerpoint/2010/main" val="34851086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85800" y="456840"/>
            <a:ext cx="7772400" cy="857250"/>
          </a:xfrm>
          <a:prstGeom prst="rect">
            <a:avLst/>
          </a:prstGeom>
        </p:spPr>
        <p:txBody>
          <a:bodyPr lIns="90000" tIns="46800" rIns="90000" bIns="46800" anchor="ctr">
            <a:noAutofit/>
          </a:bodyPr>
          <a:lstStyle>
            <a:lvl1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lvl1p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300" b="0" strike="noStrike" spc="-1">
              <a:solidFill>
                <a:srgbClr val="000000"/>
              </a:solidFill>
              <a:latin typeface="Times New Roman"/>
            </a:endParaRPr>
          </a:p>
        </p:txBody>
      </p:sp>
      <p:sp>
        <p:nvSpPr>
          <p:cNvPr id="8" name="PlaceHolder 2"/>
          <p:cNvSpPr>
            <a:spLocks noGrp="1"/>
          </p:cNvSpPr>
          <p:nvPr>
            <p:ph type="body"/>
          </p:nvPr>
        </p:nvSpPr>
        <p:spPr>
          <a:xfrm>
            <a:off x="685800" y="1485810"/>
            <a:ext cx="7772400" cy="3086100"/>
          </a:xfrm>
          <a:prstGeom prst="rect">
            <a:avLst/>
          </a:prstGeom>
        </p:spPr>
        <p:txBody>
          <a:bodyPr lIns="90000" tIns="46800" rIns="90000" bIns="46800">
            <a:normAutofit/>
          </a:bodyPr>
          <a:lstStyle/>
          <a:p>
            <a:endParaRPr lang="en-US" sz="2400" b="0" strike="noStrike" spc="-1">
              <a:solidFill>
                <a:srgbClr val="000000"/>
              </a:solidFill>
              <a:latin typeface="Times New Roman"/>
            </a:endParaRPr>
          </a:p>
        </p:txBody>
      </p:sp>
    </p:spTree>
    <p:extLst>
      <p:ext uri="{BB962C8B-B14F-4D97-AF65-F5344CB8AC3E}">
        <p14:creationId xmlns:p14="http://schemas.microsoft.com/office/powerpoint/2010/main" val="18113463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85800" y="456840"/>
            <a:ext cx="7772400" cy="857250"/>
          </a:xfrm>
          <a:prstGeom prst="rect">
            <a:avLst/>
          </a:prstGeom>
        </p:spPr>
        <p:txBody>
          <a:bodyPr lIns="90000" tIns="46800" rIns="90000" bIns="46800" anchor="ctr">
            <a:noAutofit/>
          </a:bodyPr>
          <a:lstStyle>
            <a:lvl1pPr algn="ctr">
              <a:tabLst>
                <a:tab pos="0" algn="l"/>
                <a:tab pos="685800" algn="l"/>
                <a:tab pos="1371600" algn="l"/>
                <a:tab pos="2057400" algn="l"/>
                <a:tab pos="2743200" algn="l"/>
                <a:tab pos="3429000" algn="l"/>
                <a:tab pos="4114800" algn="l"/>
                <a:tab pos="4800600" algn="l"/>
                <a:tab pos="5486400" algn="l"/>
                <a:tab pos="6172200" algn="l"/>
                <a:tab pos="6858000" algn="l"/>
                <a:tab pos="7543800" algn="l"/>
              </a:tabLst>
              <a:defRPr/>
            </a:lvl1pPr>
          </a:lstStyle>
          <a:p>
            <a:pPr algn="ctr">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endParaRPr lang="en-US" sz="3300" b="0" strike="noStrike" spc="-1">
              <a:solidFill>
                <a:srgbClr val="000000"/>
              </a:solidFill>
              <a:latin typeface="Times New Roman"/>
            </a:endParaRPr>
          </a:p>
        </p:txBody>
      </p:sp>
    </p:spTree>
    <p:extLst>
      <p:ext uri="{BB962C8B-B14F-4D97-AF65-F5344CB8AC3E}">
        <p14:creationId xmlns:p14="http://schemas.microsoft.com/office/powerpoint/2010/main" val="32137485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‹Nº›</a:t>
            </a:fld>
            <a:endParaRPr lang="en-US" dirty="0"/>
          </a:p>
        </p:txBody>
      </p:sp>
    </p:spTree>
    <p:extLst>
      <p:ext uri="{BB962C8B-B14F-4D97-AF65-F5344CB8AC3E}">
        <p14:creationId xmlns:p14="http://schemas.microsoft.com/office/powerpoint/2010/main" val="16047168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lank slide" type="blank">
  <p:cSld name="BLANK">
    <p:spTree>
      <p:nvGrpSpPr>
        <p:cNvPr id="1" name="Shape 142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sz="3000" b="1">
                <a:solidFill>
                  <a:schemeClr val="dk2"/>
                </a:solidFill>
                <a:latin typeface="IBM Plex Mono"/>
                <a:ea typeface="IBM Plex Mono"/>
                <a:cs typeface="IBM Plex Mono"/>
                <a:sym typeface="IBM Plex Mono"/>
              </a:defRPr>
            </a:lvl9pPr>
          </a:lstStyle>
          <a:p>
            <a:endParaRPr/>
          </a:p>
        </p:txBody>
      </p:sp>
      <p:sp>
        <p:nvSpPr>
          <p:cNvPr id="7" name="Google Shape;7;p1"/>
          <p:cNvSpPr txBox="1">
            <a:spLocks noGrp="1"/>
          </p:cNvSpPr>
          <p:nvPr>
            <p:ph type="body" idx="1"/>
          </p:nvPr>
        </p:nvSpPr>
        <p:spPr>
          <a:xfrm>
            <a:off x="713225" y="1152475"/>
            <a:ext cx="76818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1pPr>
            <a:lvl2pPr marL="914400" lvl="1"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8" r:id="rId3"/>
    <p:sldLayoutId id="2147483675" r:id="rId4"/>
    <p:sldLayoutId id="2147483676" r:id="rId5"/>
    <p:sldLayoutId id="2147483677" r:id="rId6"/>
    <p:sldLayoutId id="2147483682" r:id="rId7"/>
    <p:sldLayoutId id="2147483684" r:id="rId8"/>
    <p:sldLayoutId id="2147483685" r:id="rId9"/>
    <p:sldLayoutId id="2147483686" r:id="rId10"/>
    <p:sldLayoutId id="2147483687" r:id="rId11"/>
    <p:sldLayoutId id="2147483688"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rgbClr val="0E2A47"/>
        </a:solidFill>
        <a:effectLst/>
      </p:bgPr>
    </p:bg>
    <p:spTree>
      <p:nvGrpSpPr>
        <p:cNvPr id="1" name="Shape 1421"/>
        <p:cNvGrpSpPr/>
        <p:nvPr/>
      </p:nvGrpSpPr>
      <p:grpSpPr>
        <a:xfrm>
          <a:off x="0" y="0"/>
          <a:ext cx="0" cy="0"/>
          <a:chOff x="0" y="0"/>
          <a:chExt cx="0" cy="0"/>
        </a:xfrm>
      </p:grpSpPr>
      <p:sp>
        <p:nvSpPr>
          <p:cNvPr id="1422" name="Google Shape;1422;p32"/>
          <p:cNvSpPr txBox="1">
            <a:spLocks noGrp="1"/>
          </p:cNvSpPr>
          <p:nvPr>
            <p:ph type="title"/>
          </p:nvPr>
        </p:nvSpPr>
        <p:spPr>
          <a:xfrm>
            <a:off x="1068100" y="933450"/>
            <a:ext cx="7047300" cy="4824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None/>
              <a:defRPr sz="2400">
                <a:solidFill>
                  <a:srgbClr val="FFFFFF"/>
                </a:solidFill>
              </a:defRPr>
            </a:lvl1pPr>
            <a:lvl2pPr lvl="1" algn="ctr" rtl="0">
              <a:spcBef>
                <a:spcPts val="0"/>
              </a:spcBef>
              <a:spcAft>
                <a:spcPts val="0"/>
              </a:spcAft>
              <a:buClr>
                <a:srgbClr val="FFFFFF"/>
              </a:buClr>
              <a:buSzPts val="2400"/>
              <a:buNone/>
              <a:defRPr sz="2400">
                <a:solidFill>
                  <a:srgbClr val="FFFFFF"/>
                </a:solidFill>
              </a:defRPr>
            </a:lvl2pPr>
            <a:lvl3pPr lvl="2" algn="ctr" rtl="0">
              <a:spcBef>
                <a:spcPts val="0"/>
              </a:spcBef>
              <a:spcAft>
                <a:spcPts val="0"/>
              </a:spcAft>
              <a:buClr>
                <a:srgbClr val="FFFFFF"/>
              </a:buClr>
              <a:buSzPts val="2400"/>
              <a:buNone/>
              <a:defRPr sz="2400">
                <a:solidFill>
                  <a:srgbClr val="FFFFFF"/>
                </a:solidFill>
              </a:defRPr>
            </a:lvl3pPr>
            <a:lvl4pPr lvl="3" algn="ctr" rtl="0">
              <a:spcBef>
                <a:spcPts val="0"/>
              </a:spcBef>
              <a:spcAft>
                <a:spcPts val="0"/>
              </a:spcAft>
              <a:buClr>
                <a:srgbClr val="FFFFFF"/>
              </a:buClr>
              <a:buSzPts val="2400"/>
              <a:buNone/>
              <a:defRPr sz="2400">
                <a:solidFill>
                  <a:srgbClr val="FFFFFF"/>
                </a:solidFill>
              </a:defRPr>
            </a:lvl4pPr>
            <a:lvl5pPr lvl="4" algn="ctr" rtl="0">
              <a:spcBef>
                <a:spcPts val="0"/>
              </a:spcBef>
              <a:spcAft>
                <a:spcPts val="0"/>
              </a:spcAft>
              <a:buClr>
                <a:srgbClr val="FFFFFF"/>
              </a:buClr>
              <a:buSzPts val="2400"/>
              <a:buNone/>
              <a:defRPr sz="2400">
                <a:solidFill>
                  <a:srgbClr val="FFFFFF"/>
                </a:solidFill>
              </a:defRPr>
            </a:lvl5pPr>
            <a:lvl6pPr lvl="5" algn="ctr" rtl="0">
              <a:spcBef>
                <a:spcPts val="0"/>
              </a:spcBef>
              <a:spcAft>
                <a:spcPts val="0"/>
              </a:spcAft>
              <a:buClr>
                <a:srgbClr val="FFFFFF"/>
              </a:buClr>
              <a:buSzPts val="2400"/>
              <a:buNone/>
              <a:defRPr sz="2400">
                <a:solidFill>
                  <a:srgbClr val="FFFFFF"/>
                </a:solidFill>
              </a:defRPr>
            </a:lvl6pPr>
            <a:lvl7pPr lvl="6" algn="ctr" rtl="0">
              <a:spcBef>
                <a:spcPts val="0"/>
              </a:spcBef>
              <a:spcAft>
                <a:spcPts val="0"/>
              </a:spcAft>
              <a:buClr>
                <a:srgbClr val="FFFFFF"/>
              </a:buClr>
              <a:buSzPts val="2400"/>
              <a:buNone/>
              <a:defRPr sz="2400">
                <a:solidFill>
                  <a:srgbClr val="FFFFFF"/>
                </a:solidFill>
              </a:defRPr>
            </a:lvl7pPr>
            <a:lvl8pPr lvl="7" algn="ctr" rtl="0">
              <a:spcBef>
                <a:spcPts val="0"/>
              </a:spcBef>
              <a:spcAft>
                <a:spcPts val="0"/>
              </a:spcAft>
              <a:buClr>
                <a:srgbClr val="FFFFFF"/>
              </a:buClr>
              <a:buSzPts val="2400"/>
              <a:buNone/>
              <a:defRPr sz="2400">
                <a:solidFill>
                  <a:srgbClr val="FFFFFF"/>
                </a:solidFill>
              </a:defRPr>
            </a:lvl8pPr>
            <a:lvl9pPr lvl="8" algn="ctr" rtl="0">
              <a:spcBef>
                <a:spcPts val="0"/>
              </a:spcBef>
              <a:spcAft>
                <a:spcPts val="0"/>
              </a:spcAft>
              <a:buClr>
                <a:srgbClr val="FFFFFF"/>
              </a:buClr>
              <a:buSzPts val="2400"/>
              <a:buNone/>
              <a:defRPr sz="2400">
                <a:solidFill>
                  <a:srgbClr val="FFFFFF"/>
                </a:solidFill>
              </a:defRPr>
            </a:lvl9pPr>
          </a:lstStyle>
          <a:p>
            <a:endParaRPr/>
          </a:p>
        </p:txBody>
      </p:sp>
      <p:sp>
        <p:nvSpPr>
          <p:cNvPr id="1423" name="Google Shape;1423;p32"/>
          <p:cNvSpPr txBox="1">
            <a:spLocks noGrp="1"/>
          </p:cNvSpPr>
          <p:nvPr>
            <p:ph type="body" idx="1"/>
          </p:nvPr>
        </p:nvSpPr>
        <p:spPr>
          <a:xfrm>
            <a:off x="1068100" y="1695450"/>
            <a:ext cx="7047300" cy="2502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cSld>
  <p:clrMap bg1="lt1" tx1="dk1" bg2="dk2" tx2="lt2" accent1="accent1" accent2="accent2" accent3="accent3" accent4="accent4" accent5="accent5" accent6="accent6" hlink="hlink" folHlink="folHlink"/>
  <p:sldLayoutIdLst>
    <p:sldLayoutId id="214748367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en.wikipedia.org/wiki/Agile_software_development"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businessnewsdaily.com/15892-project-management-styles.html" TargetMode="External"/><Relationship Id="rId2" Type="http://schemas.openxmlformats.org/officeDocument/2006/relationships/hyperlink" Target="https://www.businessnewsdaily.com/9977-best-online-project-management-software.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scrumalliance.org/why-scrum/scrum-guid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www.dummies.com/careers/project-management/10-key-benefits-of-scrum/"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blog.belatrixsf.com/benefits-pitfalls-of-using-scrum-software-development-methodology/"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www.dummies.com/careers/project-management/10-key-benefits-of-scrum/"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devqa.io/roles-responsibilities-product-owner-agile/" TargetMode="External"/><Relationship Id="rId2" Type="http://schemas.openxmlformats.org/officeDocument/2006/relationships/hyperlink" Target="https://devqa.io/agile-test-strategy-example-template/" TargetMode="External"/><Relationship Id="rId1" Type="http://schemas.openxmlformats.org/officeDocument/2006/relationships/slideLayout" Target="../slideLayouts/slideLayout2.xml"/><Relationship Id="rId4" Type="http://schemas.openxmlformats.org/officeDocument/2006/relationships/hyperlink" Target="https://devqa.io/acceptance-criteria-vs-acceptance-tests/" TargetMode="External"/></Relationships>
</file>

<file path=ppt/slides/_rels/slide2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hyperlink" Target="https://www.quora.com/What-are-the-technical-skills-required-for-a-software-testing-job"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dzone.com/articles/top-10-automated-software-testing-tools" TargetMode="External"/><Relationship Id="rId2" Type="http://schemas.openxmlformats.org/officeDocument/2006/relationships/hyperlink" Target="http://softwaretestingfundamentals.com/unit-testing/" TargetMode="Externa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airccj.org/CSCP/vol3/csit3917.pdf"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ijiset.com/vol2/v2s3/IJISET_V2_I3_25.pdf" TargetMode="External"/><Relationship Id="rId2" Type="http://schemas.openxmlformats.org/officeDocument/2006/relationships/hyperlink" Target="https://www.iosrjournals.org/iosr-jce/papers/Vol10-issue2/P01028793.pdf?id=196"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30"/>
        <p:cNvGrpSpPr/>
        <p:nvPr/>
      </p:nvGrpSpPr>
      <p:grpSpPr>
        <a:xfrm>
          <a:off x="0" y="0"/>
          <a:ext cx="0" cy="0"/>
          <a:chOff x="0" y="0"/>
          <a:chExt cx="0" cy="0"/>
        </a:xfrm>
      </p:grpSpPr>
      <p:sp>
        <p:nvSpPr>
          <p:cNvPr id="1431" name="Google Shape;1431;p35"/>
          <p:cNvSpPr txBox="1">
            <a:spLocks noGrp="1"/>
          </p:cNvSpPr>
          <p:nvPr>
            <p:ph type="subTitle" idx="1"/>
          </p:nvPr>
        </p:nvSpPr>
        <p:spPr>
          <a:xfrm>
            <a:off x="1096850" y="3456250"/>
            <a:ext cx="4882500" cy="47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PE" sz="1200" b="1" dirty="0"/>
              <a:t>M</a:t>
            </a:r>
            <a:r>
              <a:rPr lang="en" sz="1200" b="1" dirty="0"/>
              <a:t> en C JESUS MARTÍN SILVA FERNÁNDEZ</a:t>
            </a:r>
          </a:p>
          <a:p>
            <a:pPr marL="0" lvl="0" indent="0" algn="l" rtl="0">
              <a:spcBef>
                <a:spcPts val="0"/>
              </a:spcBef>
              <a:spcAft>
                <a:spcPts val="0"/>
              </a:spcAft>
              <a:buNone/>
            </a:pPr>
            <a:r>
              <a:rPr lang="en" dirty="0"/>
              <a:t>jsilvaf@unsa.edu.pe </a:t>
            </a:r>
            <a:endParaRPr dirty="0"/>
          </a:p>
        </p:txBody>
      </p:sp>
      <p:sp>
        <p:nvSpPr>
          <p:cNvPr id="1432" name="Google Shape;1432;p35"/>
          <p:cNvSpPr txBox="1">
            <a:spLocks noGrp="1"/>
          </p:cNvSpPr>
          <p:nvPr>
            <p:ph type="ctrTitle"/>
          </p:nvPr>
        </p:nvSpPr>
        <p:spPr>
          <a:xfrm>
            <a:off x="1096850" y="816324"/>
            <a:ext cx="6974700" cy="232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600">
                <a:solidFill>
                  <a:schemeClr val="dk2"/>
                </a:solidFill>
              </a:rPr>
              <a:t>Calidad y Métodos </a:t>
            </a:r>
            <a:r>
              <a:rPr lang="en" sz="3600" dirty="0">
                <a:solidFill>
                  <a:schemeClr val="dk2"/>
                </a:solidFill>
              </a:rPr>
              <a:t>Agiles</a:t>
            </a:r>
            <a:br>
              <a:rPr lang="en" dirty="0">
                <a:solidFill>
                  <a:schemeClr val="dk2"/>
                </a:solidFill>
              </a:rPr>
            </a:br>
            <a:r>
              <a:rPr lang="en" sz="2800" dirty="0">
                <a:solidFill>
                  <a:schemeClr val="dk1"/>
                </a:solidFill>
              </a:rPr>
              <a:t>Capítulo 3</a:t>
            </a:r>
            <a:endParaRPr sz="2800" dirty="0">
              <a:solidFill>
                <a:schemeClr val="dk1"/>
              </a:solidFill>
            </a:endParaRPr>
          </a:p>
        </p:txBody>
      </p:sp>
      <p:grpSp>
        <p:nvGrpSpPr>
          <p:cNvPr id="1433" name="Google Shape;1433;p35"/>
          <p:cNvGrpSpPr/>
          <p:nvPr/>
        </p:nvGrpSpPr>
        <p:grpSpPr>
          <a:xfrm>
            <a:off x="1096850" y="3242811"/>
            <a:ext cx="3936683" cy="134070"/>
            <a:chOff x="1096850" y="3242811"/>
            <a:chExt cx="3936683" cy="134070"/>
          </a:xfrm>
        </p:grpSpPr>
        <p:cxnSp>
          <p:nvCxnSpPr>
            <p:cNvPr id="1434" name="Google Shape;1434;p35"/>
            <p:cNvCxnSpPr/>
            <p:nvPr/>
          </p:nvCxnSpPr>
          <p:spPr>
            <a:xfrm>
              <a:off x="1096850" y="3309850"/>
              <a:ext cx="3840600" cy="0"/>
            </a:xfrm>
            <a:prstGeom prst="straightConnector1">
              <a:avLst/>
            </a:prstGeom>
            <a:noFill/>
            <a:ln w="9525" cap="flat" cmpd="sng">
              <a:solidFill>
                <a:schemeClr val="dk2"/>
              </a:solidFill>
              <a:prstDash val="solid"/>
              <a:round/>
              <a:headEnd type="none" w="med" len="med"/>
              <a:tailEnd type="none" w="med" len="med"/>
            </a:ln>
          </p:spPr>
        </p:cxnSp>
        <p:grpSp>
          <p:nvGrpSpPr>
            <p:cNvPr id="1435" name="Google Shape;1435;p35"/>
            <p:cNvGrpSpPr/>
            <p:nvPr/>
          </p:nvGrpSpPr>
          <p:grpSpPr>
            <a:xfrm>
              <a:off x="4899464" y="3242811"/>
              <a:ext cx="134070" cy="134070"/>
              <a:chOff x="8382514" y="1084976"/>
              <a:chExt cx="265800" cy="265800"/>
            </a:xfrm>
          </p:grpSpPr>
          <p:sp>
            <p:nvSpPr>
              <p:cNvPr id="1436" name="Google Shape;1436;p35"/>
              <p:cNvSpPr/>
              <p:nvPr/>
            </p:nvSpPr>
            <p:spPr>
              <a:xfrm>
                <a:off x="8442213" y="1144734"/>
                <a:ext cx="146400" cy="1464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35"/>
              <p:cNvSpPr/>
              <p:nvPr/>
            </p:nvSpPr>
            <p:spPr>
              <a:xfrm>
                <a:off x="8382514" y="1084976"/>
                <a:ext cx="265800" cy="265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8" name="Google Shape;1438;p35"/>
          <p:cNvGrpSpPr/>
          <p:nvPr/>
        </p:nvGrpSpPr>
        <p:grpSpPr>
          <a:xfrm>
            <a:off x="8017432" y="-313900"/>
            <a:ext cx="134070" cy="1891362"/>
            <a:chOff x="8017432" y="-313900"/>
            <a:chExt cx="134070" cy="1891362"/>
          </a:xfrm>
        </p:grpSpPr>
        <p:sp>
          <p:nvSpPr>
            <p:cNvPr id="1439" name="Google Shape;1439;p35"/>
            <p:cNvSpPr/>
            <p:nvPr/>
          </p:nvSpPr>
          <p:spPr>
            <a:xfrm rot="5400000">
              <a:off x="8017432" y="1443393"/>
              <a:ext cx="134070" cy="13407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40" name="Google Shape;1440;p35"/>
            <p:cNvCxnSpPr/>
            <p:nvPr/>
          </p:nvCxnSpPr>
          <p:spPr>
            <a:xfrm>
              <a:off x="8084450" y="-313900"/>
              <a:ext cx="0" cy="1795200"/>
            </a:xfrm>
            <a:prstGeom prst="straightConnector1">
              <a:avLst/>
            </a:prstGeom>
            <a:noFill/>
            <a:ln w="9525" cap="flat" cmpd="sng">
              <a:solidFill>
                <a:schemeClr val="dk2"/>
              </a:solidFill>
              <a:prstDash val="solid"/>
              <a:round/>
              <a:headEnd type="none" w="med" len="med"/>
              <a:tailEnd type="none" w="med" len="med"/>
            </a:ln>
          </p:spPr>
        </p:cxnSp>
        <p:sp>
          <p:nvSpPr>
            <p:cNvPr id="1441" name="Google Shape;1441;p35"/>
            <p:cNvSpPr/>
            <p:nvPr/>
          </p:nvSpPr>
          <p:spPr>
            <a:xfrm rot="5400000">
              <a:off x="8047515" y="1473505"/>
              <a:ext cx="73844" cy="73844"/>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2" name="Google Shape;1442;p35"/>
          <p:cNvGrpSpPr/>
          <p:nvPr/>
        </p:nvGrpSpPr>
        <p:grpSpPr>
          <a:xfrm>
            <a:off x="6309526" y="957475"/>
            <a:ext cx="3504715" cy="5119205"/>
            <a:chOff x="6309526" y="836950"/>
            <a:chExt cx="3504715" cy="5119205"/>
          </a:xfrm>
        </p:grpSpPr>
        <p:sp>
          <p:nvSpPr>
            <p:cNvPr id="1443" name="Google Shape;1443;p35"/>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44" name="Google Shape;1444;p35"/>
            <p:cNvGrpSpPr/>
            <p:nvPr/>
          </p:nvGrpSpPr>
          <p:grpSpPr>
            <a:xfrm>
              <a:off x="7728436" y="3524084"/>
              <a:ext cx="134004" cy="134004"/>
              <a:chOff x="8356813" y="1074288"/>
              <a:chExt cx="351900" cy="351900"/>
            </a:xfrm>
          </p:grpSpPr>
          <p:sp>
            <p:nvSpPr>
              <p:cNvPr id="1445" name="Google Shape;1445;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7" name="Google Shape;1447;p35"/>
            <p:cNvGrpSpPr/>
            <p:nvPr/>
          </p:nvGrpSpPr>
          <p:grpSpPr>
            <a:xfrm>
              <a:off x="7344361" y="3150259"/>
              <a:ext cx="134004" cy="134004"/>
              <a:chOff x="8356813" y="1074288"/>
              <a:chExt cx="351900" cy="351900"/>
            </a:xfrm>
          </p:grpSpPr>
          <p:sp>
            <p:nvSpPr>
              <p:cNvPr id="1448" name="Google Shape;1448;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0" name="Google Shape;1450;p35"/>
            <p:cNvGrpSpPr/>
            <p:nvPr/>
          </p:nvGrpSpPr>
          <p:grpSpPr>
            <a:xfrm>
              <a:off x="8337811" y="2464059"/>
              <a:ext cx="134004" cy="134004"/>
              <a:chOff x="8356813" y="1074288"/>
              <a:chExt cx="351900" cy="351900"/>
            </a:xfrm>
          </p:grpSpPr>
          <p:sp>
            <p:nvSpPr>
              <p:cNvPr id="1451" name="Google Shape;1451;p35"/>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35"/>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53" name="Google Shape;1453;p35"/>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CuadroTexto 1">
            <a:extLst>
              <a:ext uri="{FF2B5EF4-FFF2-40B4-BE49-F238E27FC236}">
                <a16:creationId xmlns:a16="http://schemas.microsoft.com/office/drawing/2014/main" id="{ACF85A0A-7258-E399-D4B4-4CD23047F210}"/>
              </a:ext>
            </a:extLst>
          </p:cNvPr>
          <p:cNvSpPr txBox="1"/>
          <p:nvPr/>
        </p:nvSpPr>
        <p:spPr>
          <a:xfrm>
            <a:off x="4065224" y="473725"/>
            <a:ext cx="3952174" cy="307777"/>
          </a:xfrm>
          <a:prstGeom prst="rect">
            <a:avLst/>
          </a:prstGeom>
          <a:noFill/>
        </p:spPr>
        <p:txBody>
          <a:bodyPr wrap="square" rtlCol="0">
            <a:spAutoFit/>
          </a:bodyPr>
          <a:lstStyle/>
          <a:p>
            <a:pPr algn="r"/>
            <a:r>
              <a:rPr lang="es-ES" dirty="0">
                <a:solidFill>
                  <a:schemeClr val="tx2"/>
                </a:solidFill>
                <a:latin typeface="Arial Black" panose="020B0A04020102020204" pitchFamily="34" charset="0"/>
              </a:rPr>
              <a:t>CALIDAD DE SOFTWARE</a:t>
            </a:r>
            <a:endParaRPr lang="es-PE" dirty="0">
              <a:solidFill>
                <a:schemeClr val="tx2"/>
              </a:solidFill>
              <a:latin typeface="Arial Black" panose="020B0A040201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44500"/>
            <a:ext cx="7718425" cy="573088"/>
          </a:xfrm>
        </p:spPr>
        <p:txBody>
          <a:bodyPr/>
          <a:lstStyle/>
          <a:p>
            <a:pPr algn="ctr" rtl="0"/>
            <a:r>
              <a:rPr lang="en-US" dirty="0"/>
              <a:t>¿Qué es ágil?</a:t>
            </a:r>
            <a:br>
              <a:rPr lang="en-US" b="1" dirty="0"/>
            </a:br>
            <a:endParaRPr lang="en-US" dirty="0"/>
          </a:p>
        </p:txBody>
      </p:sp>
      <p:sp>
        <p:nvSpPr>
          <p:cNvPr id="3" name="Content Placeholder 2"/>
          <p:cNvSpPr>
            <a:spLocks noGrp="1"/>
          </p:cNvSpPr>
          <p:nvPr>
            <p:ph idx="4294967295"/>
          </p:nvPr>
        </p:nvSpPr>
        <p:spPr>
          <a:xfrm>
            <a:off x="820010" y="1714501"/>
            <a:ext cx="5392010" cy="2686050"/>
          </a:xfrm>
        </p:spPr>
        <p:txBody>
          <a:bodyPr>
            <a:normAutofit lnSpcReduction="10000"/>
          </a:bodyPr>
          <a:lstStyle/>
          <a:p>
            <a:pPr algn="l" rtl="0"/>
            <a:r>
              <a:rPr lang="en-US" dirty="0"/>
              <a:t>Agile es un proceso que permite a un equipo gestionar un proyecto de forma más eficiente dividiéndolo en varias etapas, cada una de las cuales permite una colaboración constante con las partes interesadas para promover mejoras constantes en cada etapa.</a:t>
            </a:r>
          </a:p>
          <a:p>
            <a:pPr algn="l" rtl="0"/>
            <a:r>
              <a:rPr lang="en-US" dirty="0"/>
              <a:t>En el desarrollo de software, las prácticas ágiles implican descubrir requisitos y desarrollar soluciones a través del esfuerzo colaborativo de equipos autoorganizados y multifuncionales y su cliente/usuario final.</a:t>
            </a:r>
          </a:p>
        </p:txBody>
      </p:sp>
      <p:pic>
        <p:nvPicPr>
          <p:cNvPr id="1026" name="Picture 2" descr="https://www.cprime.com/wp-content/uploads/2019/10/agile-scrum-delivery-300x29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8881" y="1714501"/>
            <a:ext cx="2143125" cy="2100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5687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44500"/>
            <a:ext cx="7718425" cy="573088"/>
          </a:xfrm>
        </p:spPr>
        <p:txBody>
          <a:bodyPr/>
          <a:lstStyle/>
          <a:p>
            <a:pPr algn="ctr" rtl="0"/>
            <a:r>
              <a:rPr lang="en-US" dirty="0"/>
              <a:t>Algunos ejemplos de la vida real del modelo ágil:</a:t>
            </a:r>
          </a:p>
        </p:txBody>
      </p:sp>
      <p:sp>
        <p:nvSpPr>
          <p:cNvPr id="3" name="Content Placeholder 2"/>
          <p:cNvSpPr>
            <a:spLocks noGrp="1"/>
          </p:cNvSpPr>
          <p:nvPr>
            <p:ph idx="4294967295"/>
          </p:nvPr>
        </p:nvSpPr>
        <p:spPr>
          <a:xfrm>
            <a:off x="1924493" y="1779034"/>
            <a:ext cx="4703763" cy="2686050"/>
          </a:xfrm>
        </p:spPr>
        <p:txBody>
          <a:bodyPr>
            <a:normAutofit fontScale="92500" lnSpcReduction="10000"/>
          </a:bodyPr>
          <a:lstStyle/>
          <a:p>
            <a:pPr algn="l" rtl="0"/>
            <a:r>
              <a:rPr lang="en-US" dirty="0"/>
              <a:t>Pedidos de restaurante:</a:t>
            </a:r>
          </a:p>
          <a:p>
            <a:pPr lvl="1" algn="l" rtl="0"/>
            <a:r>
              <a:rPr lang="en-US" i="0" dirty="0"/>
              <a:t>Preparación de algunos de los alimentos antes de abrir la tienda (planificación del sprint)</a:t>
            </a:r>
          </a:p>
          <a:p>
            <a:pPr lvl="1" algn="l" rtl="0"/>
            <a:r>
              <a:rPr lang="en-US" dirty="0" err="1"/>
              <a:t>E</a:t>
            </a:r>
            <a:r>
              <a:rPr lang="en-US" i="0" dirty="0" err="1"/>
              <a:t>ntrega</a:t>
            </a:r>
            <a:r>
              <a:rPr lang="en-US" i="0" dirty="0"/>
              <a:t> continua de pedidos (</a:t>
            </a:r>
            <a:r>
              <a:rPr lang="en-US" i="0" dirty="0" err="1"/>
              <a:t>adhoc</a:t>
            </a:r>
            <a:r>
              <a:rPr lang="en-US" i="0" dirty="0"/>
              <a:t> </a:t>
            </a:r>
            <a:r>
              <a:rPr lang="en-US" i="0" dirty="0" err="1"/>
              <a:t>historias</a:t>
            </a:r>
            <a:r>
              <a:rPr lang="en-US" i="0" dirty="0"/>
              <a:t>)</a:t>
            </a:r>
          </a:p>
          <a:p>
            <a:pPr lvl="1" algn="l" rtl="0"/>
            <a:r>
              <a:rPr lang="en-US" i="0" dirty="0"/>
              <a:t>Número de pedidos exitosos (velocidad))</a:t>
            </a:r>
          </a:p>
          <a:p>
            <a:pPr algn="l" rtl="0"/>
            <a:r>
              <a:rPr lang="en-US" dirty="0"/>
              <a:t>equipo de cricket:</a:t>
            </a:r>
          </a:p>
          <a:p>
            <a:pPr lvl="1" algn="l" rtl="0"/>
            <a:r>
              <a:rPr lang="en-US" i="0" dirty="0"/>
              <a:t>Tasa de carrera (velocidad)</a:t>
            </a:r>
          </a:p>
          <a:p>
            <a:pPr lvl="1" algn="l" rtl="0"/>
            <a:r>
              <a:rPr lang="en-US" i="0" dirty="0"/>
              <a:t>Equipo (equipo scrum autosuficiente)</a:t>
            </a:r>
          </a:p>
          <a:p>
            <a:pPr lvl="1" algn="l" rtl="0"/>
            <a:r>
              <a:rPr lang="en-US" i="0" dirty="0"/>
              <a:t>sobre (duración del sprint)</a:t>
            </a:r>
          </a:p>
          <a:p>
            <a:pPr lvl="1" algn="l" rtl="0"/>
            <a:r>
              <a:rPr lang="en-US" i="0" dirty="0"/>
              <a:t>Capitán/entrenador (Scrum Master)</a:t>
            </a:r>
          </a:p>
          <a:p>
            <a:pPr lvl="1" algn="l" rtl="0"/>
            <a:endParaRPr lang="en-US" i="0" dirty="0"/>
          </a:p>
          <a:p>
            <a:pPr algn="l" rtl="0"/>
            <a:endParaRPr lang="en-US" dirty="0"/>
          </a:p>
        </p:txBody>
      </p:sp>
    </p:spTree>
    <p:extLst>
      <p:ext uri="{BB962C8B-B14F-4D97-AF65-F5344CB8AC3E}">
        <p14:creationId xmlns:p14="http://schemas.microsoft.com/office/powerpoint/2010/main" val="2489380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44500"/>
            <a:ext cx="7718425" cy="573088"/>
          </a:xfrm>
        </p:spPr>
        <p:txBody>
          <a:bodyPr/>
          <a:lstStyle/>
          <a:p>
            <a:pPr algn="ctr" rtl="0"/>
            <a:r>
              <a:rPr lang="en-US" dirty="0"/>
              <a:t>¿Cuáles son los 12 principios de Agile?</a:t>
            </a:r>
            <a:br>
              <a:rPr lang="en-US" b="1" dirty="0"/>
            </a:br>
            <a:endParaRPr lang="en-US" dirty="0"/>
          </a:p>
        </p:txBody>
      </p:sp>
      <p:sp>
        <p:nvSpPr>
          <p:cNvPr id="3" name="Content Placeholder 2"/>
          <p:cNvSpPr>
            <a:spLocks noGrp="1"/>
          </p:cNvSpPr>
          <p:nvPr>
            <p:ph idx="4294967295"/>
          </p:nvPr>
        </p:nvSpPr>
        <p:spPr>
          <a:xfrm>
            <a:off x="1943100" y="1714500"/>
            <a:ext cx="7200900" cy="3122613"/>
          </a:xfrm>
        </p:spPr>
        <p:txBody>
          <a:bodyPr>
            <a:normAutofit lnSpcReduction="10000"/>
          </a:bodyPr>
          <a:lstStyle/>
          <a:p>
            <a:pPr lvl="0" algn="l" rtl="0"/>
            <a:r>
              <a:rPr lang="en-US" dirty="0"/>
              <a:t>Satisfacción del cliente</a:t>
            </a:r>
          </a:p>
          <a:p>
            <a:pPr lvl="0" algn="l" rtl="0"/>
            <a:r>
              <a:rPr lang="en-US" dirty="0"/>
              <a:t>Entrega temprana y continua</a:t>
            </a:r>
          </a:p>
          <a:p>
            <a:pPr lvl="0" algn="l" rtl="0"/>
            <a:r>
              <a:rPr lang="en-US" dirty="0"/>
              <a:t>Abrazar el cambio</a:t>
            </a:r>
          </a:p>
          <a:p>
            <a:pPr lvl="0" algn="l" rtl="0"/>
            <a:r>
              <a:rPr lang="en-US" dirty="0"/>
              <a:t>Entrega frecuente</a:t>
            </a:r>
          </a:p>
          <a:p>
            <a:pPr lvl="0" algn="l" rtl="0"/>
            <a:r>
              <a:rPr lang="en-US" dirty="0"/>
              <a:t>Colaboración de empresas y promotores</a:t>
            </a:r>
          </a:p>
          <a:p>
            <a:pPr lvl="0" algn="l" rtl="0"/>
            <a:r>
              <a:rPr lang="en-US" dirty="0"/>
              <a:t>Individuos motivados</a:t>
            </a:r>
          </a:p>
          <a:p>
            <a:pPr lvl="0" algn="l" rtl="0"/>
            <a:r>
              <a:rPr lang="en-US" dirty="0"/>
              <a:t>Conversación cara a cara</a:t>
            </a:r>
          </a:p>
          <a:p>
            <a:pPr lvl="0" algn="l" rtl="0"/>
            <a:r>
              <a:rPr lang="en-US" dirty="0"/>
              <a:t>Productos funcionales</a:t>
            </a:r>
          </a:p>
          <a:p>
            <a:pPr lvl="0" algn="l" rtl="0"/>
            <a:r>
              <a:rPr lang="en-US" dirty="0"/>
              <a:t>Excelencia técnica</a:t>
            </a:r>
          </a:p>
          <a:p>
            <a:pPr lvl="0" algn="l" rtl="0"/>
            <a:r>
              <a:rPr lang="en-US" dirty="0"/>
              <a:t>Sencillez</a:t>
            </a:r>
          </a:p>
          <a:p>
            <a:pPr lvl="0" algn="l" rtl="0"/>
            <a:r>
              <a:rPr lang="en-US" dirty="0"/>
              <a:t>Equipos autoorganizados</a:t>
            </a:r>
          </a:p>
          <a:p>
            <a:pPr lvl="0" algn="l" rtl="0"/>
            <a:r>
              <a:rPr lang="en-US" dirty="0"/>
              <a:t>Regulación, reflexión y ajuste</a:t>
            </a:r>
          </a:p>
          <a:p>
            <a:pPr algn="l" rtl="0"/>
            <a:endParaRPr lang="en-US" dirty="0"/>
          </a:p>
        </p:txBody>
      </p:sp>
    </p:spTree>
    <p:extLst>
      <p:ext uri="{BB962C8B-B14F-4D97-AF65-F5344CB8AC3E}">
        <p14:creationId xmlns:p14="http://schemas.microsoft.com/office/powerpoint/2010/main" val="26592818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44500"/>
            <a:ext cx="7718425" cy="573088"/>
          </a:xfrm>
        </p:spPr>
        <p:txBody>
          <a:bodyPr/>
          <a:lstStyle/>
          <a:p>
            <a:pPr algn="ctr" rtl="0"/>
            <a:r>
              <a:rPr lang="en-US" u="sng" dirty="0">
                <a:solidFill>
                  <a:schemeClr val="bg2"/>
                </a:solidFill>
                <a:hlinkClick r:id="rId2">
                  <a:extLst>
                    <a:ext uri="{A12FA001-AC4F-418D-AE19-62706E023703}">
                      <ahyp:hlinkClr xmlns:ahyp="http://schemas.microsoft.com/office/drawing/2018/hyperlinkcolor" val="tx"/>
                    </a:ext>
                  </a:extLst>
                </a:hlinkClick>
              </a:rPr>
              <a:t>Metodología ágil</a:t>
            </a:r>
            <a:r>
              <a:rPr lang="en-US" u="sng" dirty="0">
                <a:solidFill>
                  <a:schemeClr val="bg2"/>
                </a:solidFill>
              </a:rPr>
              <a:t> </a:t>
            </a:r>
          </a:p>
        </p:txBody>
      </p:sp>
      <p:sp>
        <p:nvSpPr>
          <p:cNvPr id="3" name="Content Placeholder 2"/>
          <p:cNvSpPr>
            <a:spLocks noGrp="1"/>
          </p:cNvSpPr>
          <p:nvPr>
            <p:ph idx="4294967295"/>
          </p:nvPr>
        </p:nvSpPr>
        <p:spPr>
          <a:xfrm>
            <a:off x="0" y="1152525"/>
            <a:ext cx="7681913" cy="3416300"/>
          </a:xfrm>
        </p:spPr>
        <p:txBody>
          <a:bodyPr>
            <a:normAutofit lnSpcReduction="10000"/>
          </a:bodyPr>
          <a:lstStyle/>
          <a:p>
            <a:pPr algn="l" rtl="0"/>
            <a:r>
              <a:rPr lang="en-US" u="sng" dirty="0" err="1">
                <a:hlinkClick r:id="rId2"/>
              </a:rPr>
              <a:t>Metodología</a:t>
            </a:r>
            <a:r>
              <a:rPr lang="en-US" u="sng" dirty="0">
                <a:hlinkClick r:id="rId2"/>
              </a:rPr>
              <a:t> </a:t>
            </a:r>
            <a:r>
              <a:rPr lang="en-US" u="sng" dirty="0" err="1">
                <a:hlinkClick r:id="rId2"/>
              </a:rPr>
              <a:t>ágil</a:t>
            </a:r>
            <a:r>
              <a:rPr lang="en-US" u="sng" dirty="0"/>
              <a:t> </a:t>
            </a:r>
            <a:r>
              <a:rPr lang="en-US" dirty="0"/>
              <a:t>Es un tipo de proceso de gestión de proyectos, utilizado principalmente para el desarrollo de software, donde las demandas y las soluciones evolucionan a través del esfuerzo colaborativo de equipos autoorganizados y multifuncionales y sus clientes..</a:t>
            </a:r>
          </a:p>
          <a:p>
            <a:pPr algn="l" rtl="0"/>
            <a:r>
              <a:rPr lang="en-US" dirty="0" err="1"/>
              <a:t>Ágil</a:t>
            </a:r>
            <a:r>
              <a:rPr lang="en-US" dirty="0"/>
              <a:t> El desarrollo de software se refiere a un grupo de metodologías de desarrollo de software basadas en el desarrollo iterativo, donde los requisitos y las soluciones evolucionan a través de la colaboración entre equipos multifuncionales autoorganizados. Los métodos ágiles o procesos ágiles generalmente promueven un proceso de gestión de proyectos disciplinado que fomenta la inspección y adaptación frecuentes, una filosofía de liderazgo que fomenta el trabajo en equipo, la autoorganización y la responsabilidad, un conjunto de mejores prácticas de ingeniería destinadas a permitir la entrega rápida de software de alta calidad y un enfoque comercial que alinea el desarrollo con las necesidades del cliente y los objetivos de la empresa.</a:t>
            </a:r>
          </a:p>
          <a:p>
            <a:pPr algn="l" rtl="0"/>
            <a:endParaRPr lang="en-US" dirty="0"/>
          </a:p>
        </p:txBody>
      </p:sp>
    </p:spTree>
    <p:extLst>
      <p:ext uri="{BB962C8B-B14F-4D97-AF65-F5344CB8AC3E}">
        <p14:creationId xmlns:p14="http://schemas.microsoft.com/office/powerpoint/2010/main" val="151428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44500"/>
            <a:ext cx="7718425" cy="573088"/>
          </a:xfrm>
        </p:spPr>
        <p:txBody>
          <a:bodyPr>
            <a:normAutofit fontScale="90000"/>
          </a:bodyPr>
          <a:lstStyle/>
          <a:p>
            <a:pPr algn="ctr" rtl="0"/>
            <a:r>
              <a:rPr lang="en-US" b="1" dirty="0" err="1"/>
              <a:t>Ejemplos</a:t>
            </a:r>
            <a:r>
              <a:rPr lang="en-US" b="1" dirty="0"/>
              <a:t> </a:t>
            </a:r>
            <a:r>
              <a:rPr lang="en-US" dirty="0"/>
              <a:t>de </a:t>
            </a:r>
            <a:r>
              <a:rPr lang="en-US" b="1" dirty="0" err="1"/>
              <a:t>Metodología</a:t>
            </a:r>
            <a:r>
              <a:rPr lang="en-US" b="1" dirty="0"/>
              <a:t> ágil</a:t>
            </a:r>
            <a:br>
              <a:rPr lang="en-US" dirty="0"/>
            </a:br>
            <a:endParaRPr lang="en-US" dirty="0"/>
          </a:p>
        </p:txBody>
      </p:sp>
      <p:sp>
        <p:nvSpPr>
          <p:cNvPr id="3" name="Content Placeholder 2"/>
          <p:cNvSpPr>
            <a:spLocks noGrp="1"/>
          </p:cNvSpPr>
          <p:nvPr>
            <p:ph idx="4294967295"/>
          </p:nvPr>
        </p:nvSpPr>
        <p:spPr>
          <a:xfrm>
            <a:off x="1673926" y="1653970"/>
            <a:ext cx="6044499" cy="2239604"/>
          </a:xfrm>
        </p:spPr>
        <p:txBody>
          <a:bodyPr/>
          <a:lstStyle/>
          <a:p>
            <a:pPr algn="l" rtl="0"/>
            <a:r>
              <a:rPr lang="en-US" dirty="0"/>
              <a:t>Ágil Metodología Scrum.</a:t>
            </a:r>
          </a:p>
          <a:p>
            <a:pPr algn="l" rtl="0"/>
            <a:r>
              <a:rPr lang="en-US" dirty="0"/>
              <a:t>Desarrollo de software lean.</a:t>
            </a:r>
          </a:p>
          <a:p>
            <a:pPr algn="l" rtl="0"/>
            <a:r>
              <a:rPr lang="en-US" dirty="0"/>
              <a:t>Kanban.</a:t>
            </a:r>
          </a:p>
          <a:p>
            <a:pPr algn="l" rtl="0"/>
            <a:r>
              <a:rPr lang="en-US" dirty="0"/>
              <a:t>Programación extrema (XP))</a:t>
            </a:r>
          </a:p>
          <a:p>
            <a:pPr algn="l" rtl="0"/>
            <a:r>
              <a:rPr lang="en-US" dirty="0"/>
              <a:t>Cristal.</a:t>
            </a:r>
          </a:p>
          <a:p>
            <a:pPr algn="l" rtl="0"/>
            <a:r>
              <a:rPr lang="en-US" dirty="0"/>
              <a:t>Método de desarrollo de sistemas dinámicos(DSM)</a:t>
            </a:r>
          </a:p>
          <a:p>
            <a:pPr algn="l" rtl="0"/>
            <a:r>
              <a:rPr lang="en-US" dirty="0"/>
              <a:t>Desarrollo basado en características(FDD)</a:t>
            </a:r>
          </a:p>
          <a:p>
            <a:pPr algn="l" rtl="0"/>
            <a:endParaRPr lang="en-US" dirty="0"/>
          </a:p>
        </p:txBody>
      </p:sp>
    </p:spTree>
    <p:extLst>
      <p:ext uri="{BB962C8B-B14F-4D97-AF65-F5344CB8AC3E}">
        <p14:creationId xmlns:p14="http://schemas.microsoft.com/office/powerpoint/2010/main" val="37218397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33867"/>
            <a:ext cx="7718425" cy="573088"/>
          </a:xfrm>
        </p:spPr>
        <p:txBody>
          <a:bodyPr/>
          <a:lstStyle/>
          <a:p>
            <a:pPr algn="ctr" rtl="0"/>
            <a:r>
              <a:rPr lang="en-US" dirty="0"/>
              <a:t>S</a:t>
            </a:r>
            <a:r>
              <a:rPr lang="en-US" b="1" dirty="0"/>
              <a:t>crum</a:t>
            </a:r>
            <a:r>
              <a:rPr lang="en-US" dirty="0"/>
              <a:t> </a:t>
            </a:r>
          </a:p>
        </p:txBody>
      </p:sp>
      <p:sp>
        <p:nvSpPr>
          <p:cNvPr id="3" name="Content Placeholder 2"/>
          <p:cNvSpPr>
            <a:spLocks noGrp="1"/>
          </p:cNvSpPr>
          <p:nvPr>
            <p:ph idx="4294967295"/>
          </p:nvPr>
        </p:nvSpPr>
        <p:spPr>
          <a:xfrm>
            <a:off x="0" y="1152525"/>
            <a:ext cx="7681913" cy="3416300"/>
          </a:xfrm>
        </p:spPr>
        <p:txBody>
          <a:bodyPr>
            <a:normAutofit fontScale="92500"/>
          </a:bodyPr>
          <a:lstStyle/>
          <a:p>
            <a:pPr algn="l" rtl="0"/>
            <a:r>
              <a:rPr lang="en-US" dirty="0"/>
              <a:t>El término desarrollo de software </a:t>
            </a:r>
            <a:r>
              <a:rPr lang="en-US" b="1" dirty="0"/>
              <a:t>scrum </a:t>
            </a:r>
            <a:r>
              <a:rPr lang="en-US" dirty="0"/>
              <a:t>Se utilizó por primera vez en un artículo de 1986 titulado "El nuevo Juego de desarrollo de producto". El término está tomado del rugby, </a:t>
            </a:r>
            <a:r>
              <a:rPr lang="en-US" dirty="0" err="1"/>
              <a:t>donde</a:t>
            </a:r>
            <a:r>
              <a:rPr lang="en-US" dirty="0"/>
              <a:t> un </a:t>
            </a:r>
            <a:r>
              <a:rPr lang="en-US" b="1" dirty="0"/>
              <a:t>scrum </a:t>
            </a:r>
            <a:r>
              <a:rPr lang="en-US" dirty="0"/>
              <a:t>es una formación de jugadores. El </a:t>
            </a:r>
            <a:r>
              <a:rPr lang="en-US" dirty="0" err="1"/>
              <a:t>término</a:t>
            </a:r>
            <a:r>
              <a:rPr lang="en-US" dirty="0"/>
              <a:t> </a:t>
            </a:r>
            <a:r>
              <a:rPr lang="en-US" b="1" dirty="0"/>
              <a:t>scrum </a:t>
            </a:r>
            <a:r>
              <a:rPr lang="en-US" dirty="0" err="1"/>
              <a:t>Fue</a:t>
            </a:r>
            <a:r>
              <a:rPr lang="en-US" dirty="0"/>
              <a:t> elegido por los autores del artículo porque enfatiza el trabajo en equipo.</a:t>
            </a:r>
          </a:p>
          <a:p>
            <a:pPr algn="l" rtl="0"/>
            <a:r>
              <a:rPr lang="en-US" dirty="0"/>
              <a:t>Scrum es un subconjunto de </a:t>
            </a:r>
            <a:r>
              <a:rPr lang="en-US" dirty="0" err="1"/>
              <a:t>Agil</a:t>
            </a:r>
            <a:r>
              <a:rPr lang="en-US" dirty="0"/>
              <a:t>. Es un marco de proceso liviano para el desarrollo ágil y el más utilizado..</a:t>
            </a:r>
          </a:p>
          <a:p>
            <a:pPr algn="l" rtl="0"/>
            <a:r>
              <a:rPr lang="en-US" b="1" dirty="0"/>
              <a:t>Scrum </a:t>
            </a:r>
            <a:r>
              <a:rPr lang="en-US" dirty="0"/>
              <a:t>es </a:t>
            </a:r>
            <a:r>
              <a:rPr lang="en-US" dirty="0" err="1"/>
              <a:t>una</a:t>
            </a:r>
            <a:r>
              <a:rPr lang="en-US" dirty="0"/>
              <a:t> </a:t>
            </a:r>
            <a:r>
              <a:rPr lang="en-US" dirty="0" err="1"/>
              <a:t>Gestión</a:t>
            </a:r>
            <a:r>
              <a:rPr lang="en-US" dirty="0"/>
              <a:t> </a:t>
            </a:r>
            <a:r>
              <a:rPr lang="en-US" b="1" dirty="0" err="1"/>
              <a:t>ágil</a:t>
            </a:r>
            <a:r>
              <a:rPr lang="en-US" b="1" dirty="0"/>
              <a:t> </a:t>
            </a:r>
            <a:r>
              <a:rPr lang="en-US" dirty="0"/>
              <a:t>de </a:t>
            </a:r>
            <a:r>
              <a:rPr lang="en-US" dirty="0" err="1"/>
              <a:t>proyectos</a:t>
            </a:r>
            <a:r>
              <a:rPr lang="en-US" dirty="0"/>
              <a:t> </a:t>
            </a:r>
            <a:r>
              <a:rPr lang="en-US" b="1" dirty="0" err="1"/>
              <a:t>metodología</a:t>
            </a:r>
            <a:r>
              <a:rPr lang="en-US" b="1" dirty="0"/>
              <a:t> </a:t>
            </a:r>
            <a:r>
              <a:rPr lang="en-US" dirty="0"/>
              <a:t>o marco utilizado </a:t>
            </a:r>
            <a:r>
              <a:rPr lang="en-US" dirty="0" err="1"/>
              <a:t>principalmente</a:t>
            </a:r>
            <a:r>
              <a:rPr lang="en-US" dirty="0"/>
              <a:t> para </a:t>
            </a:r>
            <a:r>
              <a:rPr lang="en-US" dirty="0" err="1"/>
              <a:t>desarrollo</a:t>
            </a:r>
            <a:r>
              <a:rPr lang="en-US" dirty="0"/>
              <a:t> </a:t>
            </a:r>
            <a:r>
              <a:rPr lang="en-US" dirty="0" err="1"/>
              <a:t>proyectos</a:t>
            </a:r>
            <a:r>
              <a:rPr lang="en-US" dirty="0"/>
              <a:t> de </a:t>
            </a:r>
            <a:r>
              <a:rPr lang="en-US" b="1" dirty="0"/>
              <a:t>software </a:t>
            </a:r>
            <a:r>
              <a:rPr lang="en-US" dirty="0"/>
              <a:t>con el objetivo de </a:t>
            </a:r>
            <a:r>
              <a:rPr lang="en-US" dirty="0" err="1"/>
              <a:t>entregar</a:t>
            </a:r>
            <a:r>
              <a:rPr lang="en-US" dirty="0"/>
              <a:t> nuevo </a:t>
            </a:r>
            <a:r>
              <a:rPr lang="en-US" b="1" dirty="0"/>
              <a:t>software </a:t>
            </a:r>
            <a:r>
              <a:rPr lang="en-US" dirty="0" err="1"/>
              <a:t>capacidad</a:t>
            </a:r>
            <a:r>
              <a:rPr lang="en-US" dirty="0"/>
              <a:t> cada 2-4 semanas.</a:t>
            </a:r>
          </a:p>
          <a:p>
            <a:pPr marL="0" indent="0">
              <a:buNone/>
            </a:pPr>
            <a:endParaRPr lang="en-US" dirty="0"/>
          </a:p>
          <a:p>
            <a:pPr algn="l" rtl="0"/>
            <a:r>
              <a:rPr lang="en-US" dirty="0"/>
              <a:t>Scrum es un marco ágil para desarrollar, entregar y mantener productos complejos, con un énfasis inicial en el desarrollo de software, aunque se ha utilizado en otros campos, incluida la investigación, las ventas, el marketing y las tecnologías avanzadas.</a:t>
            </a:r>
          </a:p>
          <a:p>
            <a:pPr algn="l" rtl="0"/>
            <a:endParaRPr lang="en-US" dirty="0"/>
          </a:p>
        </p:txBody>
      </p:sp>
    </p:spTree>
    <p:extLst>
      <p:ext uri="{BB962C8B-B14F-4D97-AF65-F5344CB8AC3E}">
        <p14:creationId xmlns:p14="http://schemas.microsoft.com/office/powerpoint/2010/main" val="28654237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44500"/>
            <a:ext cx="7718425" cy="573088"/>
          </a:xfrm>
        </p:spPr>
        <p:txBody>
          <a:bodyPr/>
          <a:lstStyle/>
          <a:p>
            <a:pPr algn="ctr" rtl="0"/>
            <a:r>
              <a:rPr lang="en-US" dirty="0"/>
              <a:t>Metodología ágil scrum</a:t>
            </a:r>
          </a:p>
        </p:txBody>
      </p:sp>
      <p:sp>
        <p:nvSpPr>
          <p:cNvPr id="3" name="Content Placeholder 2"/>
          <p:cNvSpPr>
            <a:spLocks noGrp="1"/>
          </p:cNvSpPr>
          <p:nvPr>
            <p:ph idx="4294967295"/>
          </p:nvPr>
        </p:nvSpPr>
        <p:spPr>
          <a:xfrm>
            <a:off x="0" y="1152525"/>
            <a:ext cx="7681913" cy="3416300"/>
          </a:xfrm>
        </p:spPr>
        <p:txBody>
          <a:bodyPr>
            <a:normAutofit fontScale="92500" lnSpcReduction="10000"/>
          </a:bodyPr>
          <a:lstStyle/>
          <a:p>
            <a:pPr algn="l" rtl="0"/>
            <a:r>
              <a:rPr lang="en-US" dirty="0"/>
              <a:t>La metodología ágil Scrum es un </a:t>
            </a:r>
            <a:r>
              <a:rPr lang="en-US" dirty="0" err="1">
                <a:hlinkClick r:id="rId2"/>
              </a:rPr>
              <a:t>sistema</a:t>
            </a:r>
            <a:r>
              <a:rPr lang="en-US" dirty="0">
                <a:hlinkClick r:id="rId2"/>
              </a:rPr>
              <a:t> de gestión de </a:t>
            </a:r>
            <a:r>
              <a:rPr lang="en-US" dirty="0" err="1">
                <a:hlinkClick r:id="rId2"/>
              </a:rPr>
              <a:t>proyectos</a:t>
            </a:r>
            <a:r>
              <a:rPr lang="en-US" dirty="0"/>
              <a:t> que se basa en el desarrollo incremental. Cada iteración consta de sprints de dos a cuatro semanas, donde el objetivo de cada sprint es crear primero las características más importantes y obtener un producto potencialmente entregable. Se incorporan más características al producto en sprints posteriores y se ajustan en función de los comentarios de las partes interesadas y los clientes entre sprints.</a:t>
            </a:r>
          </a:p>
          <a:p>
            <a:pPr algn="l" rtl="0"/>
            <a:r>
              <a:rPr lang="en-US" dirty="0"/>
              <a:t>Mientras que otros métodos de gestión de proyectos enfatizan la construcción de un producto completo en una iteración de principio a fin, la metodología Scrum ágil se centra en entregar varias iteraciones de un producto para brindar a las partes interesadas el mayor valor comercial en la menor cantidad de tiempo.</a:t>
            </a:r>
          </a:p>
          <a:p>
            <a:pPr algn="l" rtl="0"/>
            <a:r>
              <a:rPr lang="en-US" dirty="0">
                <a:hlinkClick r:id="rId3"/>
              </a:rPr>
              <a:t>Metodología </a:t>
            </a:r>
            <a:r>
              <a:rPr lang="en-US" dirty="0" err="1">
                <a:hlinkClick r:id="rId3"/>
              </a:rPr>
              <a:t>ágil</a:t>
            </a:r>
            <a:r>
              <a:rPr lang="en-US" dirty="0">
                <a:hlinkClick r:id="rId3"/>
              </a:rPr>
              <a:t> scrum</a:t>
            </a:r>
            <a:r>
              <a:rPr lang="en-US" dirty="0"/>
              <a:t> </a:t>
            </a:r>
            <a:r>
              <a:rPr lang="en-US" dirty="0" err="1"/>
              <a:t>tiene</a:t>
            </a:r>
            <a:r>
              <a:rPr lang="en-US" dirty="0"/>
              <a:t> varias ventajas. En primer lugar, fomenta que los productos se creen más rápido, ya que cada conjunto de objetivos debe completarse dentro del marco temporal de cada sprint. También requiere una planificación y un establecimiento de objetivos frecuentes, lo que ayuda al equipo Scrum a centrarse en los objetivos del sprint actual y a aumentar la productividad.</a:t>
            </a:r>
          </a:p>
          <a:p>
            <a:pPr algn="l" rtl="0"/>
            <a:endParaRPr lang="en-US" dirty="0"/>
          </a:p>
        </p:txBody>
      </p:sp>
    </p:spTree>
    <p:extLst>
      <p:ext uri="{BB962C8B-B14F-4D97-AF65-F5344CB8AC3E}">
        <p14:creationId xmlns:p14="http://schemas.microsoft.com/office/powerpoint/2010/main" val="2104894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44500"/>
            <a:ext cx="7718425" cy="573088"/>
          </a:xfrm>
        </p:spPr>
        <p:txBody>
          <a:bodyPr/>
          <a:lstStyle/>
          <a:p>
            <a:pPr algn="ctr" rtl="0"/>
            <a:r>
              <a:rPr lang="en-US" b="1" dirty="0"/>
              <a:t>Ciclo de vida de Scrum:</a:t>
            </a:r>
            <a:br>
              <a:rPr lang="en-US" dirty="0"/>
            </a:br>
            <a:endParaRPr lang="en-US" dirty="0"/>
          </a:p>
        </p:txBody>
      </p:sp>
      <p:sp>
        <p:nvSpPr>
          <p:cNvPr id="3" name="Content Placeholder 2"/>
          <p:cNvSpPr>
            <a:spLocks noGrp="1"/>
          </p:cNvSpPr>
          <p:nvPr>
            <p:ph idx="4294967295"/>
          </p:nvPr>
        </p:nvSpPr>
        <p:spPr>
          <a:xfrm>
            <a:off x="0" y="1714500"/>
            <a:ext cx="4225925" cy="2686050"/>
          </a:xfrm>
        </p:spPr>
        <p:txBody>
          <a:bodyPr>
            <a:normAutofit fontScale="62500" lnSpcReduction="20000"/>
          </a:bodyPr>
          <a:lstStyle/>
          <a:p>
            <a:pPr algn="l" rtl="0"/>
            <a:r>
              <a:rPr lang="en-US" b="1" dirty="0"/>
              <a:t>Sprint:</a:t>
            </a:r>
            <a:br>
              <a:rPr lang="en-US" dirty="0"/>
            </a:br>
            <a:r>
              <a:rPr lang="en-US" dirty="0"/>
              <a:t>Un sprint es un período de tiempo de un mes o menos. Un nuevo sprint comienza inmediatamente después de la finalización del sprint anterior.</a:t>
            </a:r>
          </a:p>
          <a:p>
            <a:pPr algn="l" rtl="0" fontAlgn="base"/>
            <a:r>
              <a:rPr lang="en-US" b="1" dirty="0"/>
              <a:t>Liberar:</a:t>
            </a:r>
            <a:br>
              <a:rPr lang="en-US" dirty="0"/>
            </a:br>
            <a:r>
              <a:rPr lang="en-US" dirty="0"/>
              <a:t>Cuando el producto está terminado pasa a la etapa de lanzamiento.</a:t>
            </a:r>
          </a:p>
          <a:p>
            <a:pPr algn="l" rtl="0" fontAlgn="base"/>
            <a:r>
              <a:rPr lang="en-US" b="1" dirty="0"/>
              <a:t>Reseña de Sprint:</a:t>
            </a:r>
            <a:br>
              <a:rPr lang="en-US" dirty="0"/>
            </a:br>
            <a:r>
              <a:rPr lang="en-US" dirty="0"/>
              <a:t>Si el producto aún tiene algunas características no alcanzables, se verificará en esta etapa y luego el producto pasará a la etapa de Retrospectiva de Sprint.</a:t>
            </a:r>
          </a:p>
          <a:p>
            <a:pPr algn="l" rtl="0" fontAlgn="base"/>
            <a:r>
              <a:rPr lang="en-US" b="1" dirty="0"/>
              <a:t>Retrospectiva del sprint:</a:t>
            </a:r>
            <a:br>
              <a:rPr lang="en-US" dirty="0"/>
            </a:br>
            <a:r>
              <a:rPr lang="en-US" dirty="0"/>
              <a:t>En esta etapa se verifica la calidad o estado del producto.</a:t>
            </a:r>
          </a:p>
          <a:p>
            <a:pPr algn="l" rtl="0" fontAlgn="base"/>
            <a:r>
              <a:rPr lang="en-US" b="1" dirty="0"/>
              <a:t>Cartera de productos:</a:t>
            </a:r>
            <a:br>
              <a:rPr lang="en-US" dirty="0"/>
            </a:br>
            <a:r>
              <a:rPr lang="en-US" dirty="0"/>
              <a:t>Según las características prioritarias se organiza el producto.</a:t>
            </a:r>
          </a:p>
          <a:p>
            <a:pPr algn="l" rtl="0"/>
            <a:r>
              <a:rPr lang="en-US" b="1" dirty="0"/>
              <a:t>Lista de tareas pendientes del sprint:</a:t>
            </a:r>
            <a:br>
              <a:rPr lang="en-US" dirty="0"/>
            </a:br>
            <a:r>
              <a:rPr lang="en-US" dirty="0"/>
              <a:t>El Backlog del Sprint se divide en dos partes: las funciones asignadas al producto para el sprint y la reunión de planificación del sprint.</a:t>
            </a:r>
          </a:p>
          <a:p>
            <a:pPr algn="l" rtl="0"/>
            <a:endParaRPr lang="en-US" dirty="0"/>
          </a:p>
        </p:txBody>
      </p:sp>
      <p:pic>
        <p:nvPicPr>
          <p:cNvPr id="4" name="Picture 3" descr="https://media.geeksforgeeks.org/wp-content/uploads/20190607191430/442.jpg"/>
          <p:cNvPicPr/>
          <p:nvPr/>
        </p:nvPicPr>
        <p:blipFill>
          <a:blip r:embed="rId2">
            <a:extLst>
              <a:ext uri="{28A0092B-C50C-407E-A947-70E740481C1C}">
                <a14:useLocalDpi xmlns:a14="http://schemas.microsoft.com/office/drawing/2010/main" val="0"/>
              </a:ext>
            </a:extLst>
          </a:blip>
          <a:srcRect/>
          <a:stretch>
            <a:fillRect/>
          </a:stretch>
        </p:blipFill>
        <p:spPr bwMode="auto">
          <a:xfrm>
            <a:off x="5255315" y="1714500"/>
            <a:ext cx="3888685" cy="2686050"/>
          </a:xfrm>
          <a:prstGeom prst="rect">
            <a:avLst/>
          </a:prstGeom>
          <a:noFill/>
          <a:ln>
            <a:noFill/>
          </a:ln>
        </p:spPr>
      </p:pic>
    </p:spTree>
    <p:extLst>
      <p:ext uri="{BB962C8B-B14F-4D97-AF65-F5344CB8AC3E}">
        <p14:creationId xmlns:p14="http://schemas.microsoft.com/office/powerpoint/2010/main" val="11906471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943100" y="0"/>
            <a:ext cx="7200900" cy="998538"/>
          </a:xfrm>
        </p:spPr>
        <p:txBody>
          <a:bodyPr/>
          <a:lstStyle/>
          <a:p>
            <a:pPr algn="l" rtl="0"/>
            <a:r>
              <a:rPr lang="en-US" dirty="0"/>
              <a:t>Cómo funciona Scrum</a:t>
            </a:r>
            <a:br>
              <a:rPr lang="en-US" b="1" dirty="0"/>
            </a:br>
            <a:endParaRPr lang="en-US" dirty="0"/>
          </a:p>
        </p:txBody>
      </p:sp>
      <p:sp>
        <p:nvSpPr>
          <p:cNvPr id="3" name="Content Placeholder 2"/>
          <p:cNvSpPr>
            <a:spLocks noGrp="1"/>
          </p:cNvSpPr>
          <p:nvPr>
            <p:ph idx="4294967295"/>
          </p:nvPr>
        </p:nvSpPr>
        <p:spPr>
          <a:xfrm>
            <a:off x="971550" y="920824"/>
            <a:ext cx="7200900" cy="4010025"/>
          </a:xfrm>
        </p:spPr>
        <p:txBody>
          <a:bodyPr>
            <a:normAutofit fontScale="77500" lnSpcReduction="20000"/>
          </a:bodyPr>
          <a:lstStyle/>
          <a:p>
            <a:pPr algn="l" rtl="0"/>
            <a:r>
              <a:rPr lang="en-US" dirty="0"/>
              <a:t>En un scrum de rugby, todos los jugadores literalmente juntan sus cabezas. Cuando se trata de desarrollo de software, un scrum se puede caracterizar por</a:t>
            </a:r>
            <a:r>
              <a:rPr lang="en-US" u="sng" dirty="0">
                <a:hlinkClick r:id="rId2"/>
              </a:rPr>
              <a:t>Desarrolladores que unen sus mentes para abordar problemas complejos</a:t>
            </a:r>
            <a:r>
              <a:rPr lang="en-US" dirty="0"/>
              <a:t>.</a:t>
            </a:r>
            <a:endParaRPr lang="en-US" sz="1200" dirty="0"/>
          </a:p>
          <a:p>
            <a:pPr lvl="0" algn="l" rtl="0"/>
            <a:r>
              <a:rPr lang="en-US" dirty="0"/>
              <a:t>El desarrollo de software Scrum comienza con una lista de características deseadas, también conocida como lista de tareas pendientes del producto. El equipo se reúne para analizar:</a:t>
            </a:r>
            <a:endParaRPr lang="en-US" sz="1050" dirty="0"/>
          </a:p>
          <a:p>
            <a:pPr lvl="1" algn="l" rtl="0"/>
            <a:r>
              <a:rPr lang="en-US" dirty="0"/>
              <a:t>El atraso.</a:t>
            </a:r>
            <a:endParaRPr lang="en-US" sz="1050" dirty="0"/>
          </a:p>
          <a:p>
            <a:pPr lvl="1" algn="l" rtl="0"/>
            <a:r>
              <a:rPr lang="en-US" dirty="0"/>
              <a:t>Lo que falta por completar.</a:t>
            </a:r>
            <a:endParaRPr lang="en-US" sz="1050" dirty="0"/>
          </a:p>
          <a:p>
            <a:pPr lvl="1" algn="l" rtl="0"/>
            <a:r>
              <a:rPr lang="en-US" dirty="0"/>
              <a:t>¿Cuánto tiempo tomará?</a:t>
            </a:r>
            <a:endParaRPr lang="en-US" sz="1050" dirty="0"/>
          </a:p>
          <a:p>
            <a:pPr lvl="0" algn="l" rtl="0"/>
            <a:r>
              <a:rPr lang="en-US" dirty="0"/>
              <a:t>Scrum se basa en un concepto de desarrollo de software ágil llamado sprints:</a:t>
            </a:r>
            <a:endParaRPr lang="en-US" sz="1050" dirty="0"/>
          </a:p>
          <a:p>
            <a:pPr lvl="1" algn="l" rtl="0"/>
            <a:r>
              <a:rPr lang="en-US" dirty="0"/>
              <a:t>Los sprints son períodos de tiempo en los que realmente se realiza el desarrollo de software.</a:t>
            </a:r>
            <a:endParaRPr lang="en-US" sz="1050" dirty="0"/>
          </a:p>
          <a:p>
            <a:pPr lvl="1" algn="l" rtl="0"/>
            <a:r>
              <a:rPr lang="en-US" dirty="0"/>
              <a:t>Un sprint suele durar entre una semana y un mes para completar un elemento del backlog.</a:t>
            </a:r>
            <a:endParaRPr lang="en-US" sz="1050" dirty="0"/>
          </a:p>
          <a:p>
            <a:pPr lvl="1" algn="l" rtl="0"/>
            <a:r>
              <a:rPr lang="en-US" dirty="0"/>
              <a:t>El objetivo de cada sprint es crear un producto vendible.</a:t>
            </a:r>
            <a:endParaRPr lang="en-US" sz="1050" dirty="0"/>
          </a:p>
          <a:p>
            <a:pPr lvl="1" algn="l" rtl="0"/>
            <a:r>
              <a:rPr lang="en-US" dirty="0"/>
              <a:t>Cada sprint finaliza con una revisión del sprint.</a:t>
            </a:r>
            <a:endParaRPr lang="en-US" sz="1050" dirty="0"/>
          </a:p>
          <a:p>
            <a:pPr lvl="1" algn="l" rtl="0"/>
            <a:r>
              <a:rPr lang="en-US" dirty="0"/>
              <a:t>Luego, el equipo elige otra parte del backlog para desarrollar, lo que inicia un nuevo sprint.</a:t>
            </a:r>
            <a:endParaRPr lang="en-US" sz="1050" dirty="0"/>
          </a:p>
          <a:p>
            <a:pPr lvl="1" algn="l" rtl="0"/>
            <a:r>
              <a:rPr lang="en-US" dirty="0"/>
              <a:t>Los sprints continúan hasta la fecha límite del proyecto o hasta que se agote el presupuesto del mismo.</a:t>
            </a:r>
            <a:endParaRPr lang="en-US" sz="1050" dirty="0"/>
          </a:p>
          <a:p>
            <a:pPr lvl="0" algn="l" rtl="0"/>
            <a:r>
              <a:rPr lang="en-US" dirty="0"/>
              <a:t>En los scrums diarios, los equipos se reúnen para discutir su progreso desde la reunión anterior y hacer planes para ese día.</a:t>
            </a:r>
            <a:endParaRPr lang="en-US" sz="1050" dirty="0"/>
          </a:p>
          <a:p>
            <a:pPr lvl="1" algn="l" rtl="0"/>
            <a:r>
              <a:rPr lang="en-US" dirty="0"/>
              <a:t>Las reuniones deben ser breves: no durar más de 15 minutos.</a:t>
            </a:r>
            <a:endParaRPr lang="en-US" sz="1050" dirty="0"/>
          </a:p>
          <a:p>
            <a:pPr lvl="1" algn="l" rtl="0"/>
            <a:r>
              <a:rPr lang="en-US" dirty="0"/>
              <a:t>Cada miembro del equipo debe estar presente y preparado.</a:t>
            </a:r>
            <a:endParaRPr lang="en-US" sz="1050" dirty="0"/>
          </a:p>
          <a:p>
            <a:pPr algn="l" rtl="0"/>
            <a:r>
              <a:rPr lang="en-US" dirty="0"/>
              <a:t>El Maestro Scrum </a:t>
            </a:r>
            <a:r>
              <a:rPr lang="en-US" dirty="0" err="1"/>
              <a:t>Mantiene</a:t>
            </a:r>
            <a:r>
              <a:rPr lang="en-US" dirty="0"/>
              <a:t> al equipo concentrado en el objetivo.</a:t>
            </a:r>
            <a:r>
              <a:rPr lang="en-US" sz="1050" dirty="0"/>
              <a:t> </a:t>
            </a:r>
            <a:endParaRPr lang="en-US" dirty="0"/>
          </a:p>
        </p:txBody>
      </p:sp>
    </p:spTree>
    <p:extLst>
      <p:ext uri="{BB962C8B-B14F-4D97-AF65-F5344CB8AC3E}">
        <p14:creationId xmlns:p14="http://schemas.microsoft.com/office/powerpoint/2010/main" val="5553212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44500"/>
            <a:ext cx="7718425" cy="573088"/>
          </a:xfrm>
        </p:spPr>
        <p:txBody>
          <a:bodyPr/>
          <a:lstStyle/>
          <a:p>
            <a:pPr algn="ctr" rtl="0"/>
            <a:r>
              <a:rPr lang="en-US" dirty="0"/>
              <a:t>Cómo funciona Scrum</a:t>
            </a:r>
            <a:br>
              <a:rPr lang="en-US" b="1" dirty="0"/>
            </a:br>
            <a:endParaRPr lang="en-US" dirty="0"/>
          </a:p>
        </p:txBody>
      </p:sp>
      <p:pic>
        <p:nvPicPr>
          <p:cNvPr id="4" name="Content Placeholder 3" descr="Scrum Framework"/>
          <p:cNvPicPr>
            <a:picLocks noGrp="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1996927" y="1512481"/>
            <a:ext cx="4829175" cy="2686050"/>
          </a:xfrm>
          <a:prstGeom prst="rect">
            <a:avLst/>
          </a:prstGeom>
          <a:noFill/>
          <a:ln>
            <a:noFill/>
          </a:ln>
        </p:spPr>
      </p:pic>
    </p:spTree>
    <p:extLst>
      <p:ext uri="{BB962C8B-B14F-4D97-AF65-F5344CB8AC3E}">
        <p14:creationId xmlns:p14="http://schemas.microsoft.com/office/powerpoint/2010/main" val="3717643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88131"/>
            <a:ext cx="7718425" cy="573088"/>
          </a:xfrm>
        </p:spPr>
        <p:txBody>
          <a:bodyPr/>
          <a:lstStyle/>
          <a:p>
            <a:pPr algn="ctr" rtl="0"/>
            <a:r>
              <a:rPr lang="en-US" dirty="0"/>
              <a:t>Introducción a los términos de Scrum</a:t>
            </a:r>
          </a:p>
        </p:txBody>
      </p:sp>
      <p:sp>
        <p:nvSpPr>
          <p:cNvPr id="3" name="Content Placeholder 2"/>
          <p:cNvSpPr>
            <a:spLocks noGrp="1"/>
          </p:cNvSpPr>
          <p:nvPr>
            <p:ph idx="4294967295"/>
          </p:nvPr>
        </p:nvSpPr>
        <p:spPr>
          <a:xfrm>
            <a:off x="0" y="1152525"/>
            <a:ext cx="7681913" cy="3416300"/>
          </a:xfrm>
        </p:spPr>
        <p:txBody>
          <a:bodyPr/>
          <a:lstStyle/>
          <a:p>
            <a:pPr algn="l" rtl="0"/>
            <a:r>
              <a:rPr lang="en-US" dirty="0"/>
              <a:t>Una introducción a Scrum no estaría completa sin conocer los términos que utilizará. En esta sección de la descripción general de Scrum, se analizarán los conceptos comunes de Scrum.</a:t>
            </a:r>
          </a:p>
          <a:p>
            <a:pPr algn="l" rtl="0"/>
            <a:r>
              <a:rPr lang="en-US" b="1" dirty="0"/>
              <a:t>Equipo Scrum:</a:t>
            </a:r>
            <a:r>
              <a:rPr lang="en-US" dirty="0"/>
              <a:t>Un equipo Scrum típico tiene entre cinco y nueve personas, pero los proyectos Scrum pueden escalar fácilmente a cientos. Sin embargo, Scrum puede ser utilizado fácilmente por equipos de una sola persona y, a menudo, lo es. Este equipo no incluye ninguno de los roles tradicionales de ingeniería de software, como programador, diseñador, probador o arquitecto. Todos los integrantes del proyecto trabajan juntos para completar el conjunto de trabajo que se han comprometido colectivamente a completar dentro de un sprint. Los equipos Scrum desarrollan una profunda forma de camaradería y un sentimiento de que "estamos todos juntos en esto".</a:t>
            </a:r>
          </a:p>
          <a:p>
            <a:pPr algn="l" rtl="0"/>
            <a:endParaRPr lang="en-US" dirty="0"/>
          </a:p>
        </p:txBody>
      </p:sp>
    </p:spTree>
    <p:extLst>
      <p:ext uri="{BB962C8B-B14F-4D97-AF65-F5344CB8AC3E}">
        <p14:creationId xmlns:p14="http://schemas.microsoft.com/office/powerpoint/2010/main" val="3646637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114891"/>
            <a:ext cx="7718425" cy="573088"/>
          </a:xfrm>
        </p:spPr>
        <p:txBody>
          <a:bodyPr/>
          <a:lstStyle/>
          <a:p>
            <a:pPr algn="ctr" rtl="0"/>
            <a:r>
              <a:rPr lang="en-US" dirty="0"/>
              <a:t>¿Quién está en Scrum??/scrum </a:t>
            </a:r>
            <a:r>
              <a:rPr lang="en-US" dirty="0" err="1"/>
              <a:t>Términos</a:t>
            </a:r>
            <a:endParaRPr lang="en-US" dirty="0"/>
          </a:p>
        </p:txBody>
      </p:sp>
      <p:sp>
        <p:nvSpPr>
          <p:cNvPr id="3" name="Content Placeholder 2"/>
          <p:cNvSpPr>
            <a:spLocks noGrp="1"/>
          </p:cNvSpPr>
          <p:nvPr>
            <p:ph idx="4294967295"/>
          </p:nvPr>
        </p:nvSpPr>
        <p:spPr>
          <a:xfrm>
            <a:off x="0" y="1152525"/>
            <a:ext cx="7681913" cy="3416300"/>
          </a:xfrm>
        </p:spPr>
        <p:txBody>
          <a:bodyPr>
            <a:normAutofit lnSpcReduction="10000"/>
          </a:bodyPr>
          <a:lstStyle/>
          <a:p>
            <a:pPr algn="l" rtl="0"/>
            <a:r>
              <a:rPr lang="en-US" b="1" dirty="0"/>
              <a:t>Propietario del producto:</a:t>
            </a:r>
            <a:r>
              <a:rPr lang="en-US" dirty="0"/>
              <a:t>El propietario del producto es el actor clave del proyecto y representa a los usuarios, clientes y otras personas en el proceso. El propietario del producto suele ser alguien del área de gestión o marketing del producto, un actor clave o un usuario clave.</a:t>
            </a:r>
          </a:p>
          <a:p>
            <a:pPr algn="l" rtl="0"/>
            <a:r>
              <a:rPr lang="en-US" b="1" dirty="0"/>
              <a:t>Maestro Scrum:</a:t>
            </a:r>
            <a:r>
              <a:rPr lang="en-US" dirty="0"/>
              <a:t>El Scrum Master es responsable de garantizar que el equipo sea lo más productivo posible. Para ello, ayuda al equipo a utilizar el proceso Scrum, elimina los impedimentos para el progreso, protege al equipo del exterior, etc.</a:t>
            </a:r>
          </a:p>
          <a:p>
            <a:pPr algn="l" rtl="0"/>
            <a:r>
              <a:rPr lang="en-US" b="1" dirty="0"/>
              <a:t>Cartera de productos:</a:t>
            </a:r>
            <a:r>
              <a:rPr lang="en-US" dirty="0"/>
              <a:t>El backlog del producto es una lista de funciones priorizadas que contiene todas las funciones o cambios deseados para el producto. Nota: El término "backlog" puede resultar confuso porque se utiliza para dos cosas diferentes. Para aclarar, el backlog del producto es una lista de funciones deseadas para el producto. El backlog del sprint es una lista de tareas que se deben completar en un sprint.</a:t>
            </a:r>
          </a:p>
          <a:p>
            <a:pPr algn="l" rtl="0"/>
            <a:endParaRPr lang="en-US" dirty="0"/>
          </a:p>
        </p:txBody>
      </p:sp>
    </p:spTree>
    <p:extLst>
      <p:ext uri="{BB962C8B-B14F-4D97-AF65-F5344CB8AC3E}">
        <p14:creationId xmlns:p14="http://schemas.microsoft.com/office/powerpoint/2010/main" val="8518405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879844" y="946150"/>
            <a:ext cx="7200900" cy="3454400"/>
          </a:xfrm>
        </p:spPr>
        <p:txBody>
          <a:bodyPr>
            <a:normAutofit fontScale="70000" lnSpcReduction="20000"/>
          </a:bodyPr>
          <a:lstStyle/>
          <a:p>
            <a:pPr algn="l" rtl="0"/>
            <a:r>
              <a:rPr lang="en-US" b="1" dirty="0"/>
              <a:t>Reunión de planificación del sprint:</a:t>
            </a:r>
            <a:r>
              <a:rPr lang="en-US" dirty="0"/>
              <a:t>Al comienzo de cada sprint, se lleva a cabo una reunión de planificación del sprint, durante la cual el propietario del producto presenta los elementos principales del product backlog al equipo. El equipo Scrum selecciona el trabajo que puede completar durante el próximo sprint. Luego, ese trabajo se traslada del product backlog al sprint backlog, que es la lista de tareas necesarias para completar los elementos del product backlog que el equipo se comprometió a completar en el sprint.</a:t>
            </a:r>
          </a:p>
          <a:p>
            <a:pPr algn="l" rtl="0"/>
            <a:r>
              <a:rPr lang="en-US" b="1" dirty="0"/>
              <a:t>Scrum diario:</a:t>
            </a:r>
            <a:r>
              <a:rPr lang="en-US" dirty="0"/>
              <a:t>Cada día, durante el sprint, se lleva a cabo una breve reunión denominada "scrum diario". Esta reunión ayuda a establecer el contexto del trabajo de cada día y ayuda al equipo a mantener el rumbo. Todos los miembros del equipo deben asistir al "scrum diario".</a:t>
            </a:r>
          </a:p>
          <a:p>
            <a:pPr algn="l" rtl="0"/>
            <a:r>
              <a:rPr lang="en-US" b="1" dirty="0"/>
              <a:t>Reunión de revisión de sprint:</a:t>
            </a:r>
            <a:r>
              <a:rPr lang="en-US" dirty="0"/>
              <a:t>Al final de cada sprint, el equipo demuestra la funcionalidad completada en una reunión de revisión del sprint, durante la cual el equipo muestra lo que logró durante el sprint. Por lo general, esto toma la forma de una demostración de las nuevas características, pero de manera informal; por ejemplo, no se permiten diapositivas de PowerPoint. La reunión no debe convertirse en una tarea en sí misma ni en una distracción del proceso..</a:t>
            </a:r>
          </a:p>
          <a:p>
            <a:pPr algn="l" rtl="0"/>
            <a:r>
              <a:rPr lang="en-US" b="1" dirty="0"/>
              <a:t>Retrospectiva del sprint:</a:t>
            </a:r>
            <a:r>
              <a:rPr lang="en-US" dirty="0"/>
              <a:t>Además, al final de cada sprint, el equipo realiza una retrospectiva del sprint, que es una reunión durante la cual el equipo (incluidos sus</a:t>
            </a:r>
            <a:r>
              <a:rPr lang="en-US" dirty="0" err="1"/>
              <a:t>Maestro Scrum</a:t>
            </a:r>
            <a:r>
              <a:rPr lang="en-US" dirty="0"/>
              <a:t>y el propietario del producto) reflexionan sobre qué tan bien está funcionando Scrum para ellos y qué cambios podrían desear hacer para que funcione aún mejor.</a:t>
            </a:r>
          </a:p>
          <a:p>
            <a:pPr algn="l" rtl="0"/>
            <a:r>
              <a:rPr lang="en-US" dirty="0"/>
              <a:t>Cada uno de los términos de Scrum tiene su propia página dentro de la sección Scrum, así que asegúrese de consultar todas las páginas en la navegación.</a:t>
            </a:r>
          </a:p>
          <a:p>
            <a:pPr marL="0" indent="0">
              <a:buNone/>
            </a:pPr>
            <a:endParaRPr lang="en-US" dirty="0"/>
          </a:p>
        </p:txBody>
      </p:sp>
    </p:spTree>
    <p:extLst>
      <p:ext uri="{BB962C8B-B14F-4D97-AF65-F5344CB8AC3E}">
        <p14:creationId xmlns:p14="http://schemas.microsoft.com/office/powerpoint/2010/main" val="748829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44500"/>
            <a:ext cx="7718425" cy="573088"/>
          </a:xfrm>
        </p:spPr>
        <p:txBody>
          <a:bodyPr/>
          <a:lstStyle/>
          <a:p>
            <a:pPr algn="ctr" rtl="0"/>
            <a:r>
              <a:rPr lang="en-US" dirty="0"/>
              <a:t>Una introducción visual a Scrum</a:t>
            </a:r>
            <a:br>
              <a:rPr lang="en-US" dirty="0"/>
            </a:br>
            <a:endParaRPr lang="en-US" dirty="0"/>
          </a:p>
        </p:txBody>
      </p:sp>
      <p:pic>
        <p:nvPicPr>
          <p:cNvPr id="4" name="Content Placeholder 3" descr="https://www.mountaingoatsoftware.com/uploads/blog/ScrumMediumLabelled.png"/>
          <p:cNvPicPr>
            <a:picLocks noGrp="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4190668" y="1778997"/>
            <a:ext cx="4538662" cy="2446337"/>
          </a:xfrm>
          <a:prstGeom prst="rect">
            <a:avLst/>
          </a:prstGeom>
          <a:noFill/>
          <a:ln>
            <a:noFill/>
          </a:ln>
        </p:spPr>
      </p:pic>
      <p:sp>
        <p:nvSpPr>
          <p:cNvPr id="5" name="Rectangle 4"/>
          <p:cNvSpPr/>
          <p:nvPr/>
        </p:nvSpPr>
        <p:spPr>
          <a:xfrm>
            <a:off x="639832" y="2159872"/>
            <a:ext cx="3452605" cy="1384995"/>
          </a:xfrm>
          <a:prstGeom prst="rect">
            <a:avLst/>
          </a:prstGeom>
        </p:spPr>
        <p:txBody>
          <a:bodyPr wrap="square">
            <a:spAutoFit/>
          </a:bodyPr>
          <a:lstStyle/>
          <a:p>
            <a:pPr>
              <a:spcBef>
                <a:spcPts val="1328"/>
              </a:spcBef>
            </a:pPr>
            <a:r>
              <a:rPr lang="en-US" sz="1050" dirty="0">
                <a:solidFill>
                  <a:srgbClr val="4C4D52"/>
                </a:solidFill>
                <a:latin typeface="Arial" panose="020B0604020202020204" pitchFamily="34" charset="0"/>
                <a:ea typeface="Times New Roman" panose="02020603050405020304" pitchFamily="18" charset="0"/>
                <a:cs typeface="Arial" panose="020B0604020202020204" pitchFamily="34" charset="0"/>
              </a:rPr>
              <a:t>Este gráfico es una introducción a los elementos esenciales del uso de Scrum para el desarrollo ágil de software. A la izquierda, vemos el backlog del producto, que ha sido priorizado por el propietario del producto y que contiene todo lo que se desea en el producto que se conoce en ese momento. Los sprints de dos a cuatro semanas se muestran con el círculo verde más grande.</a:t>
            </a:r>
            <a:endParaRPr lang="en-US" sz="9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5108281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88458" y="885493"/>
            <a:ext cx="7200900" cy="3557587"/>
          </a:xfrm>
        </p:spPr>
        <p:txBody>
          <a:bodyPr>
            <a:normAutofit fontScale="92500" lnSpcReduction="10000"/>
          </a:bodyPr>
          <a:lstStyle/>
          <a:p>
            <a:pPr algn="l" rtl="0"/>
            <a:r>
              <a:rPr lang="en-US" dirty="0"/>
              <a:t>Al comienzo de cada sprint, el equipo selecciona una cierta cantidad de trabajo del product backlog y se compromete a completar ese trabajo durante el sprint. Parte de determinar cuánto pueden comprometerse es crear el sprint backlog, que es la lista de tareas (y una estimación de cuánto tiempo tomará cada una) necesarias para entregar el conjunto seleccionado de elementos del product backlog que se completarán en el sprint.</a:t>
            </a:r>
          </a:p>
          <a:p>
            <a:pPr algn="l" rtl="0"/>
            <a:r>
              <a:rPr lang="en-US" dirty="0"/>
              <a:t>Al final de cada sprint, el equipo produce un incremento de producto potencialmente entregable, es decir, un software funcional y de alta calidad. Cada día durante el sprint, los miembros del equipo se reúnen para analizar su progreso y los impedimentos que se les presentan para completar el trabajo de ese sprint. Esto se conoce como el scrum diario y se muestra como el círculo verde más pequeño que se muestra arriba.</a:t>
            </a:r>
          </a:p>
          <a:p>
            <a:pPr algn="l" rtl="0" fontAlgn="base"/>
            <a:r>
              <a:rPr lang="en-US" b="1" dirty="0"/>
              <a:t>Scrum </a:t>
            </a:r>
            <a:r>
              <a:rPr lang="en-US" dirty="0"/>
              <a:t>es el </a:t>
            </a:r>
            <a:r>
              <a:rPr lang="en-US" dirty="0" err="1"/>
              <a:t>tipo</a:t>
            </a:r>
            <a:r>
              <a:rPr lang="en-US" dirty="0"/>
              <a:t> de </a:t>
            </a:r>
            <a:r>
              <a:rPr lang="en-US" b="1" dirty="0"/>
              <a:t>Marco </a:t>
            </a:r>
            <a:r>
              <a:rPr lang="en-US" b="1" dirty="0" err="1"/>
              <a:t>ágil</a:t>
            </a:r>
            <a:r>
              <a:rPr lang="en-US" b="1" dirty="0"/>
              <a:t> </a:t>
            </a:r>
            <a:r>
              <a:rPr lang="en-US" dirty="0"/>
              <a:t>Es un marco dentro del cual las personas pueden abordar problemas complejos y adaptables mientras la productividad y la creatividad en la entrega del producto alcanzan los valores más altos posibles. Scrum </a:t>
            </a:r>
            <a:r>
              <a:rPr lang="en-US" dirty="0" err="1"/>
              <a:t>utiliza</a:t>
            </a:r>
            <a:r>
              <a:rPr lang="en-US" dirty="0"/>
              <a:t> </a:t>
            </a:r>
            <a:r>
              <a:rPr lang="en-US" b="1" dirty="0" err="1"/>
              <a:t>Proceso</a:t>
            </a:r>
            <a:r>
              <a:rPr lang="en-US" b="1" dirty="0"/>
              <a:t> iterativo</a:t>
            </a:r>
            <a:r>
              <a:rPr lang="en-US" dirty="0"/>
              <a:t>.</a:t>
            </a:r>
          </a:p>
          <a:p>
            <a:pPr algn="l" rtl="0"/>
            <a:endParaRPr lang="en-US" dirty="0"/>
          </a:p>
        </p:txBody>
      </p:sp>
    </p:spTree>
    <p:extLst>
      <p:ext uri="{BB962C8B-B14F-4D97-AF65-F5344CB8AC3E}">
        <p14:creationId xmlns:p14="http://schemas.microsoft.com/office/powerpoint/2010/main" val="25319390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44500"/>
            <a:ext cx="7718425" cy="573088"/>
          </a:xfrm>
        </p:spPr>
        <p:txBody>
          <a:bodyPr/>
          <a:lstStyle/>
          <a:p>
            <a:pPr algn="ctr" rtl="0"/>
            <a:r>
              <a:rPr lang="en-US" b="1" dirty="0"/>
              <a:t>Características clave de la metodología Scrum</a:t>
            </a:r>
            <a:br>
              <a:rPr lang="en-US" dirty="0"/>
            </a:br>
            <a:endParaRPr lang="en-US" dirty="0"/>
          </a:p>
        </p:txBody>
      </p:sp>
      <p:sp>
        <p:nvSpPr>
          <p:cNvPr id="3" name="Content Placeholder 2"/>
          <p:cNvSpPr>
            <a:spLocks noGrp="1"/>
          </p:cNvSpPr>
          <p:nvPr>
            <p:ph idx="4294967295"/>
          </p:nvPr>
        </p:nvSpPr>
        <p:spPr>
          <a:xfrm>
            <a:off x="0" y="1714500"/>
            <a:ext cx="5188226" cy="2686050"/>
          </a:xfrm>
        </p:spPr>
        <p:txBody>
          <a:bodyPr/>
          <a:lstStyle/>
          <a:p>
            <a:pPr lvl="0" algn="l" rtl="0"/>
            <a:r>
              <a:rPr lang="en-US" dirty="0"/>
              <a:t>Scrum tiene un cronograma fijo corto de ciclos de lanzamiento con un alcance ajustable </a:t>
            </a:r>
            <a:r>
              <a:rPr lang="en-US" dirty="0" err="1"/>
              <a:t>conocido</a:t>
            </a:r>
            <a:r>
              <a:rPr lang="en-US" dirty="0"/>
              <a:t> </a:t>
            </a:r>
            <a:r>
              <a:rPr lang="en-US" dirty="0" err="1"/>
              <a:t>como</a:t>
            </a:r>
            <a:r>
              <a:rPr lang="en-US" dirty="0"/>
              <a:t> </a:t>
            </a:r>
            <a:r>
              <a:rPr lang="en-US" b="1" dirty="0"/>
              <a:t>sprints </a:t>
            </a:r>
            <a:r>
              <a:rPr lang="en-US" dirty="0"/>
              <a:t>para abordar necesidades de desarrollo que cambian rápidamente. Cada versión podría tener múltiples sprints. Cada proyecto Scrum podría tener múltiples ciclos de lanzamiento.</a:t>
            </a:r>
          </a:p>
          <a:p>
            <a:pPr lvl="0" algn="l" rtl="0"/>
            <a:r>
              <a:rPr lang="en-US" dirty="0"/>
              <a:t>Una secuencia </a:t>
            </a:r>
            <a:r>
              <a:rPr lang="en-US" dirty="0" err="1"/>
              <a:t>repetida</a:t>
            </a:r>
            <a:r>
              <a:rPr lang="en-US" dirty="0"/>
              <a:t> de </a:t>
            </a:r>
            <a:r>
              <a:rPr lang="en-US" b="1" dirty="0" err="1"/>
              <a:t>reuniones</a:t>
            </a:r>
            <a:r>
              <a:rPr lang="en-US" b="1" dirty="0"/>
              <a:t>, eventos y hitos</a:t>
            </a:r>
            <a:endParaRPr lang="en-US" dirty="0"/>
          </a:p>
          <a:p>
            <a:pPr lvl="0" algn="l" rtl="0"/>
            <a:r>
              <a:rPr lang="en-US" dirty="0"/>
              <a:t>Una práctica de probar e implementar nuevos requisitos, </a:t>
            </a:r>
            <a:r>
              <a:rPr lang="en-US" dirty="0" err="1"/>
              <a:t>conocida</a:t>
            </a:r>
            <a:r>
              <a:rPr lang="en-US" dirty="0"/>
              <a:t> </a:t>
            </a:r>
            <a:r>
              <a:rPr lang="en-US" dirty="0" err="1"/>
              <a:t>como</a:t>
            </a:r>
            <a:r>
              <a:rPr lang="en-US" dirty="0"/>
              <a:t> </a:t>
            </a:r>
            <a:r>
              <a:rPr lang="en-US" b="1" dirty="0" err="1"/>
              <a:t>historias</a:t>
            </a:r>
            <a:r>
              <a:rPr lang="en-US" dirty="0"/>
              <a:t>, para asegurarse de que algún trabajo se publique listo después de cada sprint</a:t>
            </a:r>
          </a:p>
          <a:p>
            <a:pPr algn="l" rtl="0"/>
            <a:endParaRPr lang="en-US" dirty="0"/>
          </a:p>
        </p:txBody>
      </p:sp>
      <p:pic>
        <p:nvPicPr>
          <p:cNvPr id="4" name="Picture 3" descr="https://www.guru99.com/images/11-2014/112714_1232_ScrumTestin1.jpg"/>
          <p:cNvPicPr/>
          <p:nvPr/>
        </p:nvPicPr>
        <p:blipFill>
          <a:blip r:embed="rId2">
            <a:extLst>
              <a:ext uri="{28A0092B-C50C-407E-A947-70E740481C1C}">
                <a14:useLocalDpi xmlns:a14="http://schemas.microsoft.com/office/drawing/2010/main" val="0"/>
              </a:ext>
            </a:extLst>
          </a:blip>
          <a:srcRect/>
          <a:stretch>
            <a:fillRect/>
          </a:stretch>
        </p:blipFill>
        <p:spPr bwMode="auto">
          <a:xfrm>
            <a:off x="5188226" y="1714500"/>
            <a:ext cx="3876261" cy="2855015"/>
          </a:xfrm>
          <a:prstGeom prst="rect">
            <a:avLst/>
          </a:prstGeom>
          <a:noFill/>
          <a:ln>
            <a:noFill/>
          </a:ln>
        </p:spPr>
      </p:pic>
    </p:spTree>
    <p:extLst>
      <p:ext uri="{BB962C8B-B14F-4D97-AF65-F5344CB8AC3E}">
        <p14:creationId xmlns:p14="http://schemas.microsoft.com/office/powerpoint/2010/main" val="4160125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4428" y="288131"/>
            <a:ext cx="7718425" cy="573088"/>
          </a:xfrm>
        </p:spPr>
        <p:txBody>
          <a:bodyPr/>
          <a:lstStyle/>
          <a:p>
            <a:pPr algn="ctr" rtl="0"/>
            <a:r>
              <a:rPr lang="en-US" dirty="0"/>
              <a:t>¿Quién puede beneficiarse de Scrum?</a:t>
            </a:r>
            <a:br>
              <a:rPr lang="en-US" b="1" dirty="0"/>
            </a:br>
            <a:endParaRPr lang="en-US" dirty="0"/>
          </a:p>
        </p:txBody>
      </p:sp>
      <p:sp>
        <p:nvSpPr>
          <p:cNvPr id="3" name="Content Placeholder 2"/>
          <p:cNvSpPr>
            <a:spLocks noGrp="1"/>
          </p:cNvSpPr>
          <p:nvPr>
            <p:ph idx="4294967295"/>
          </p:nvPr>
        </p:nvSpPr>
        <p:spPr>
          <a:xfrm>
            <a:off x="0" y="1152525"/>
            <a:ext cx="7681913" cy="3416300"/>
          </a:xfrm>
        </p:spPr>
        <p:txBody>
          <a:bodyPr>
            <a:normAutofit/>
          </a:bodyPr>
          <a:lstStyle/>
          <a:p>
            <a:pPr algn="l" rtl="0"/>
            <a:r>
              <a:rPr lang="en-US" dirty="0" err="1"/>
              <a:t>Mientras</a:t>
            </a:r>
            <a:r>
              <a:rPr lang="en-US" dirty="0"/>
              <a:t> Scrum puede beneficiar a una amplia variedad de empresas y proyectos, estos son los beneficiarios más probables:</a:t>
            </a:r>
          </a:p>
          <a:p>
            <a:pPr lvl="0" algn="l" rtl="0"/>
            <a:r>
              <a:rPr lang="en-US" b="1" dirty="0"/>
              <a:t>Proyectos complicados</a:t>
            </a:r>
            <a:r>
              <a:rPr lang="en-US" dirty="0"/>
              <a:t>:La metodología Scrum es ideal para proyectos que requieren que los equipos completen un backlog.</a:t>
            </a:r>
            <a:br>
              <a:rPr lang="en-US" dirty="0"/>
            </a:br>
            <a:endParaRPr lang="en-US" dirty="0"/>
          </a:p>
          <a:p>
            <a:pPr lvl="0" algn="l" rtl="0"/>
            <a:r>
              <a:rPr lang="en-US" b="1" dirty="0"/>
              <a:t>Empresas que valoran los resultados</a:t>
            </a:r>
            <a:r>
              <a:rPr lang="en-US" dirty="0"/>
              <a:t>:Scrum también es beneficioso para las empresas que valoran los resultados por encima del progreso documentado del proceso.</a:t>
            </a:r>
            <a:br>
              <a:rPr lang="en-US" dirty="0"/>
            </a:br>
            <a:endParaRPr lang="en-US" dirty="0"/>
          </a:p>
          <a:p>
            <a:pPr lvl="0" algn="l" rtl="0"/>
            <a:r>
              <a:rPr lang="en-US" b="1" dirty="0"/>
              <a:t>Empresas que atienden a los clientes</a:t>
            </a:r>
            <a:r>
              <a:rPr lang="en-US" dirty="0"/>
              <a:t>:Scrum puede ayudar a las empresas que desarrollan productos de acuerdo con las preferencias y especificaciones del cliente.</a:t>
            </a:r>
          </a:p>
          <a:p>
            <a:pPr algn="l" rtl="0"/>
            <a:endParaRPr lang="en-US" dirty="0"/>
          </a:p>
        </p:txBody>
      </p:sp>
    </p:spTree>
    <p:extLst>
      <p:ext uri="{BB962C8B-B14F-4D97-AF65-F5344CB8AC3E}">
        <p14:creationId xmlns:p14="http://schemas.microsoft.com/office/powerpoint/2010/main" val="33235049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42260" y="288131"/>
            <a:ext cx="7718425" cy="573088"/>
          </a:xfrm>
        </p:spPr>
        <p:txBody>
          <a:bodyPr>
            <a:normAutofit fontScale="90000"/>
          </a:bodyPr>
          <a:lstStyle/>
          <a:p>
            <a:pPr algn="ctr" rtl="0"/>
            <a:r>
              <a:rPr lang="en-US" dirty="0"/>
              <a:t>¿Cuáles son los beneficios de la metodología ágil Scrum?</a:t>
            </a:r>
            <a:br>
              <a:rPr lang="en-US" b="1" dirty="0"/>
            </a:br>
            <a:endParaRPr lang="en-US" dirty="0"/>
          </a:p>
        </p:txBody>
      </p:sp>
      <p:sp>
        <p:nvSpPr>
          <p:cNvPr id="3" name="Content Placeholder 2"/>
          <p:cNvSpPr>
            <a:spLocks noGrp="1"/>
          </p:cNvSpPr>
          <p:nvPr>
            <p:ph idx="4294967295"/>
          </p:nvPr>
        </p:nvSpPr>
        <p:spPr>
          <a:xfrm>
            <a:off x="542260" y="1524664"/>
            <a:ext cx="7681913" cy="3416300"/>
          </a:xfrm>
        </p:spPr>
        <p:txBody>
          <a:bodyPr/>
          <a:lstStyle/>
          <a:p>
            <a:pPr algn="l" rtl="0"/>
            <a:r>
              <a:rPr lang="en-US" dirty="0"/>
              <a:t>A continuación se presentan algunos de los beneficios colectivos de la metodología Scrum ágil:</a:t>
            </a:r>
          </a:p>
          <a:p>
            <a:pPr lvl="0" algn="l" rtl="0"/>
            <a:r>
              <a:rPr lang="en-US" dirty="0"/>
              <a:t>Flexibilidad y adaptabilidad</a:t>
            </a:r>
          </a:p>
          <a:p>
            <a:pPr lvl="0" algn="l" rtl="0"/>
            <a:r>
              <a:rPr lang="en-US" dirty="0"/>
              <a:t>Creatividad e innovación</a:t>
            </a:r>
          </a:p>
          <a:p>
            <a:pPr lvl="0" algn="l" rtl="0"/>
            <a:r>
              <a:rPr lang="en-US" dirty="0"/>
              <a:t>Costos más bajos</a:t>
            </a:r>
          </a:p>
          <a:p>
            <a:pPr lvl="0" algn="l" rtl="0"/>
            <a:r>
              <a:rPr lang="en-US" dirty="0"/>
              <a:t>Mejora de la calidad</a:t>
            </a:r>
          </a:p>
          <a:p>
            <a:pPr lvl="0" algn="l" rtl="0"/>
            <a:r>
              <a:rPr lang="en-US" dirty="0"/>
              <a:t>Sinergia organizacional</a:t>
            </a:r>
          </a:p>
          <a:p>
            <a:pPr lvl="0" algn="l" rtl="0"/>
            <a:r>
              <a:rPr lang="en-US" dirty="0"/>
              <a:t>Satisfacción de los empleados</a:t>
            </a:r>
          </a:p>
          <a:p>
            <a:pPr lvl="0" algn="l" rtl="0"/>
            <a:r>
              <a:rPr lang="en-US" dirty="0"/>
              <a:t>Satisfacción del cliente</a:t>
            </a:r>
          </a:p>
          <a:p>
            <a:pPr algn="l" rtl="0"/>
            <a:endParaRPr lang="en-US" dirty="0"/>
          </a:p>
        </p:txBody>
      </p:sp>
    </p:spTree>
    <p:extLst>
      <p:ext uri="{BB962C8B-B14F-4D97-AF65-F5344CB8AC3E}">
        <p14:creationId xmlns:p14="http://schemas.microsoft.com/office/powerpoint/2010/main" val="11315861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71550" y="56743"/>
            <a:ext cx="7200900" cy="685800"/>
          </a:xfrm>
        </p:spPr>
        <p:txBody>
          <a:bodyPr>
            <a:normAutofit fontScale="90000"/>
          </a:bodyPr>
          <a:lstStyle/>
          <a:p>
            <a:pPr algn="ctr" rtl="0"/>
            <a:r>
              <a:rPr lang="en-US" dirty="0"/>
              <a:t>Beneficios de Scrum</a:t>
            </a:r>
            <a:br>
              <a:rPr lang="en-US" b="1" dirty="0"/>
            </a:br>
            <a:endParaRPr lang="en-US" dirty="0"/>
          </a:p>
        </p:txBody>
      </p:sp>
      <p:sp>
        <p:nvSpPr>
          <p:cNvPr id="3" name="Content Placeholder 2"/>
          <p:cNvSpPr>
            <a:spLocks noGrp="1"/>
          </p:cNvSpPr>
          <p:nvPr>
            <p:ph idx="4294967295"/>
          </p:nvPr>
        </p:nvSpPr>
        <p:spPr>
          <a:xfrm>
            <a:off x="614030" y="425302"/>
            <a:ext cx="7200900" cy="4427538"/>
          </a:xfrm>
        </p:spPr>
        <p:txBody>
          <a:bodyPr>
            <a:normAutofit fontScale="85000" lnSpcReduction="20000"/>
          </a:bodyPr>
          <a:lstStyle/>
          <a:p>
            <a:pPr algn="l" rtl="0"/>
            <a:r>
              <a:rPr lang="en-US" dirty="0"/>
              <a:t>Los jugadores de rugby intentan hacerse con el control del balón en el scrum y moverlo hacia el campo. Desarrolladores de software</a:t>
            </a:r>
            <a:r>
              <a:rPr lang="en-US" u="sng" dirty="0">
                <a:hlinkClick r:id="rId2"/>
              </a:rPr>
              <a:t>Utilice Scrum para avanzar sus proyectos rápidamente</a:t>
            </a:r>
            <a:r>
              <a:rPr lang="en-US" dirty="0"/>
              <a:t>Y los beneficios llegan a los desarrolladores de software:</a:t>
            </a:r>
            <a:endParaRPr lang="en-US" sz="1200" dirty="0"/>
          </a:p>
          <a:p>
            <a:pPr lvl="0" algn="l" rtl="0"/>
            <a:r>
              <a:rPr lang="en-US" dirty="0"/>
              <a:t>Los desarrolladores que desean tener la libertad de tomar decisiones prosperan en los equipos Scrum. La moral del equipo suele ser alta.</a:t>
            </a:r>
            <a:endParaRPr lang="en-US" sz="1050" dirty="0"/>
          </a:p>
          <a:p>
            <a:pPr lvl="0" algn="l" rtl="0"/>
            <a:r>
              <a:rPr lang="en-US" dirty="0"/>
              <a:t>Cada sprint produce un producto que está listo para comercializarse, aunque el proyecto esté en curso. Los requisitos de mayor prioridad se abordan primero para que un producto de alta calidad y bajo riesgo pueda estar en el mercado.</a:t>
            </a:r>
            <a:endParaRPr lang="en-US" sz="1050" dirty="0"/>
          </a:p>
          <a:p>
            <a:pPr lvl="0" algn="l" rtl="0"/>
            <a:r>
              <a:rPr lang="en-US" dirty="0"/>
              <a:t>El proceso incremental acorta el tiempo de comercialización entre un 30 y un 40 por ciento. Como el propietario del producto es parte del equipo Scrum, los requisitos se pueden entregar a medida que se necesitan.</a:t>
            </a:r>
            <a:endParaRPr lang="en-US" sz="1050" dirty="0"/>
          </a:p>
          <a:p>
            <a:pPr lvl="0" algn="l" rtl="0"/>
            <a:r>
              <a:rPr lang="en-US" dirty="0"/>
              <a:t>Los proyectos Scrum suelen generar un mayor retorno de la inversión (ROI). Esto se debe a lo siguiente:</a:t>
            </a:r>
            <a:endParaRPr lang="en-US" sz="1050" dirty="0"/>
          </a:p>
          <a:p>
            <a:pPr lvl="1" algn="l" rtl="0"/>
            <a:r>
              <a:rPr lang="en-US" dirty="0"/>
              <a:t>Disminución del tiempo de comercialización.</a:t>
            </a:r>
            <a:endParaRPr lang="en-US" sz="1050" dirty="0"/>
          </a:p>
          <a:p>
            <a:pPr lvl="1" algn="l" rtl="0"/>
            <a:r>
              <a:rPr lang="en-US" dirty="0"/>
              <a:t>Retroalimentación temprana y regular que impulsa correcciones del curso temprano, cuando son menos costosas.</a:t>
            </a:r>
            <a:endParaRPr lang="en-US" sz="1050" dirty="0"/>
          </a:p>
          <a:p>
            <a:pPr lvl="1" algn="l" rtl="0"/>
            <a:r>
              <a:rPr lang="en-US" dirty="0"/>
              <a:t>Defectos menos frecuentes y menos costosos.</a:t>
            </a:r>
            <a:endParaRPr lang="en-US" sz="1050" dirty="0"/>
          </a:p>
          <a:p>
            <a:pPr lvl="1" algn="l" rtl="0"/>
            <a:r>
              <a:rPr lang="en-US" dirty="0"/>
              <a:t>Proyectos que fracasan tempranamente y rápidamente cuando es menos costoso.</a:t>
            </a:r>
            <a:endParaRPr lang="en-US" sz="1050" dirty="0"/>
          </a:p>
          <a:p>
            <a:pPr lvl="0" algn="l" rtl="0"/>
            <a:r>
              <a:rPr lang="en-US" dirty="0"/>
              <a:t>Revisar cada sprint antes de que el equipo pase al siguiente sprint distribuye las pruebas a lo largo del desarrollo.</a:t>
            </a:r>
            <a:endParaRPr lang="en-US" sz="1050" dirty="0"/>
          </a:p>
          <a:p>
            <a:pPr lvl="0" algn="l" rtl="0"/>
            <a:r>
              <a:rPr lang="en-US" dirty="0"/>
              <a:t>El enfoque y los objetivos del proyecto pueden cambiar a medida que evolucionan los objetivos del negocio.</a:t>
            </a:r>
            <a:endParaRPr lang="en-US" sz="1050" dirty="0"/>
          </a:p>
          <a:p>
            <a:pPr algn="l" rtl="0"/>
            <a:endParaRPr lang="en-US" dirty="0"/>
          </a:p>
        </p:txBody>
      </p:sp>
    </p:spTree>
    <p:extLst>
      <p:ext uri="{BB962C8B-B14F-4D97-AF65-F5344CB8AC3E}">
        <p14:creationId xmlns:p14="http://schemas.microsoft.com/office/powerpoint/2010/main" val="42888112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01970"/>
            <a:ext cx="7718425" cy="573088"/>
          </a:xfrm>
        </p:spPr>
        <p:txBody>
          <a:bodyPr/>
          <a:lstStyle/>
          <a:p>
            <a:pPr algn="ctr" rtl="0"/>
            <a:r>
              <a:rPr lang="en-US" dirty="0"/>
              <a:t>Desventajas de Scrum</a:t>
            </a:r>
            <a:br>
              <a:rPr lang="en-US" b="1" dirty="0"/>
            </a:br>
            <a:endParaRPr lang="en-US" dirty="0"/>
          </a:p>
        </p:txBody>
      </p:sp>
      <p:sp>
        <p:nvSpPr>
          <p:cNvPr id="3" name="Content Placeholder 2"/>
          <p:cNvSpPr>
            <a:spLocks noGrp="1"/>
          </p:cNvSpPr>
          <p:nvPr>
            <p:ph idx="4294967295"/>
          </p:nvPr>
        </p:nvSpPr>
        <p:spPr>
          <a:xfrm>
            <a:off x="0" y="1152525"/>
            <a:ext cx="7681913" cy="3416300"/>
          </a:xfrm>
        </p:spPr>
        <p:txBody>
          <a:bodyPr/>
          <a:lstStyle/>
          <a:p>
            <a:pPr algn="l" rtl="0"/>
            <a:r>
              <a:rPr lang="en-US" dirty="0"/>
              <a:t>Si bien una pelea de rugby puede volverse dura y sangrienta, los desarrolladores de software no deberían preocuparse por eso. Sin embargo, Scrum no es para todos los equipos de desarrolladores o proyectos de desarrollo de software.</a:t>
            </a:r>
            <a:r>
              <a:rPr lang="en-US" u="sng" dirty="0">
                <a:hlinkClick r:id="rId2"/>
              </a:rPr>
              <a:t>Desventajas de implementar proyectos Scrum</a:t>
            </a:r>
            <a:r>
              <a:rPr lang="en-US" dirty="0"/>
              <a:t>:</a:t>
            </a:r>
          </a:p>
          <a:p>
            <a:pPr lvl="0" algn="l" rtl="0"/>
            <a:r>
              <a:rPr lang="en-US" dirty="0"/>
              <a:t>Existe el riesgo de que se produzca una ampliación del alcance si las partes interesadas siguen añadiendo funcionalidades a la lista de tareas pendientes. Esto podría verse fomentado por la fecha límite fijada.</a:t>
            </a:r>
          </a:p>
          <a:p>
            <a:pPr lvl="0" algn="l" rtl="0"/>
            <a:r>
              <a:rPr lang="en-US" dirty="0"/>
              <a:t>Scrum funciona mejor con equipos pequeños de desarrolladores de software experimentados, que deben poder trabajar con rapidez.</a:t>
            </a:r>
          </a:p>
          <a:p>
            <a:pPr lvl="0" algn="l" rtl="0"/>
            <a:r>
              <a:rPr lang="en-US" dirty="0"/>
              <a:t>Los equipos Scrum no funcionan bien cuando el Scrum Master microgestiona su trabajo.</a:t>
            </a:r>
          </a:p>
          <a:p>
            <a:pPr lvl="0" algn="l" rtl="0"/>
            <a:r>
              <a:rPr lang="en-US" dirty="0"/>
              <a:t>Perder cualquier miembro del equipo puede perjudicar el progreso del proyecto.</a:t>
            </a:r>
          </a:p>
          <a:p>
            <a:pPr algn="l" rtl="0"/>
            <a:endParaRPr lang="en-US" dirty="0"/>
          </a:p>
        </p:txBody>
      </p:sp>
    </p:spTree>
    <p:extLst>
      <p:ext uri="{BB962C8B-B14F-4D97-AF65-F5344CB8AC3E}">
        <p14:creationId xmlns:p14="http://schemas.microsoft.com/office/powerpoint/2010/main" val="39379801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971550" y="411162"/>
            <a:ext cx="7200900" cy="700088"/>
          </a:xfrm>
        </p:spPr>
        <p:txBody>
          <a:bodyPr>
            <a:normAutofit fontScale="90000"/>
          </a:bodyPr>
          <a:lstStyle/>
          <a:p>
            <a:pPr algn="ctr" rtl="0"/>
            <a:r>
              <a:rPr lang="en-US" dirty="0"/>
              <a:t>Mejores prácticas de Scrum</a:t>
            </a:r>
            <a:br>
              <a:rPr lang="en-US" b="1" dirty="0"/>
            </a:br>
            <a:endParaRPr lang="en-US" dirty="0"/>
          </a:p>
        </p:txBody>
      </p:sp>
      <p:sp>
        <p:nvSpPr>
          <p:cNvPr id="3" name="Content Placeholder 2"/>
          <p:cNvSpPr>
            <a:spLocks noGrp="1"/>
          </p:cNvSpPr>
          <p:nvPr>
            <p:ph idx="4294967295"/>
          </p:nvPr>
        </p:nvSpPr>
        <p:spPr>
          <a:xfrm>
            <a:off x="709723" y="954088"/>
            <a:ext cx="7200900" cy="3778250"/>
          </a:xfrm>
        </p:spPr>
        <p:txBody>
          <a:bodyPr>
            <a:normAutofit fontScale="92500"/>
          </a:bodyPr>
          <a:lstStyle/>
          <a:p>
            <a:pPr algn="l" rtl="0"/>
            <a:r>
              <a:rPr lang="en-US" dirty="0"/>
              <a:t>Trabajo </a:t>
            </a:r>
            <a:r>
              <a:rPr lang="en-US" dirty="0" err="1"/>
              <a:t>en</a:t>
            </a:r>
            <a:r>
              <a:rPr lang="en-US" dirty="0"/>
              <a:t> </a:t>
            </a:r>
            <a:r>
              <a:rPr lang="en-US" dirty="0" err="1"/>
              <a:t>equipo</a:t>
            </a:r>
            <a:r>
              <a:rPr lang="en-US" dirty="0"/>
              <a:t> </a:t>
            </a:r>
            <a:r>
              <a:rPr lang="en-US" dirty="0" err="1"/>
              <a:t>gana</a:t>
            </a:r>
            <a:r>
              <a:rPr lang="en-US" dirty="0"/>
              <a:t> partidos de rugby y ayuda a los desarrolladores de software a crear productos de calidad. Para conseguirlo</a:t>
            </a:r>
            <a:r>
              <a:rPr lang="en-US" dirty="0">
                <a:hlinkClick r:id="rId2"/>
              </a:rPr>
              <a:t>La mejor calidad de Scrum</a:t>
            </a:r>
            <a:r>
              <a:rPr lang="en-US" dirty="0"/>
              <a:t>:</a:t>
            </a:r>
          </a:p>
          <a:p>
            <a:pPr lvl="0" algn="l" rtl="0"/>
            <a:r>
              <a:rPr lang="en-US" dirty="0"/>
              <a:t>Defina los requisitos justo a tiempo para mantener las características del producto lo más relevantes posible.</a:t>
            </a:r>
          </a:p>
          <a:p>
            <a:pPr lvl="0" algn="l" rtl="0"/>
            <a:r>
              <a:rPr lang="en-US" dirty="0"/>
              <a:t>Pruebe e incorpore los comentarios del propietario del producto diariamente.</a:t>
            </a:r>
          </a:p>
          <a:p>
            <a:pPr lvl="0" algn="l" rtl="0"/>
            <a:r>
              <a:rPr lang="en-US" dirty="0"/>
              <a:t>Las revisiones de sprint con las partes interesadas deben ser periódicas.</a:t>
            </a:r>
          </a:p>
          <a:p>
            <a:pPr lvl="0" algn="l" rtl="0"/>
            <a:r>
              <a:rPr lang="en-US" dirty="0"/>
              <a:t>El equipo Scrum necesita utilizar las retrospectivas del sprint para mejorar su trabajo.</a:t>
            </a:r>
          </a:p>
          <a:p>
            <a:pPr lvl="0" algn="l" rtl="0"/>
            <a:r>
              <a:rPr lang="en-US" dirty="0"/>
              <a:t>Mantenga conversaciones cara a cara para reducir la falta de comunicación.</a:t>
            </a:r>
          </a:p>
          <a:p>
            <a:pPr lvl="0" algn="l" rtl="0"/>
            <a:r>
              <a:rPr lang="en-US" dirty="0"/>
              <a:t>Confíe en que los equipos harán el mejor trabajo posible.</a:t>
            </a:r>
          </a:p>
          <a:p>
            <a:pPr lvl="0" algn="l" rtl="0"/>
            <a:r>
              <a:rPr lang="en-US" dirty="0"/>
              <a:t>Permitir que los equipos se autoorganicen en torno a las habilidades, estilos de trabajo y personalidades de las personas.</a:t>
            </a:r>
          </a:p>
          <a:p>
            <a:pPr lvl="0" algn="l" rtl="0"/>
            <a:r>
              <a:rPr lang="en-US" dirty="0"/>
              <a:t>No agotes a los miembros del equipo. Respeta el equilibrio entre su vida personal y profesional para aliviar el estrés.. </a:t>
            </a:r>
          </a:p>
          <a:p>
            <a:pPr algn="l" rtl="0"/>
            <a:endParaRPr lang="en-US" dirty="0"/>
          </a:p>
        </p:txBody>
      </p:sp>
    </p:spTree>
    <p:extLst>
      <p:ext uri="{BB962C8B-B14F-4D97-AF65-F5344CB8AC3E}">
        <p14:creationId xmlns:p14="http://schemas.microsoft.com/office/powerpoint/2010/main" val="13928694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38223" y="136156"/>
            <a:ext cx="7718425" cy="573088"/>
          </a:xfrm>
        </p:spPr>
        <p:txBody>
          <a:bodyPr/>
          <a:lstStyle/>
          <a:p>
            <a:pPr algn="ctr" rtl="0"/>
            <a:r>
              <a:rPr lang="en-US" dirty="0"/>
              <a:t>Rol del ingeniero de pruebas en el equipo Scrum</a:t>
            </a:r>
          </a:p>
        </p:txBody>
      </p:sp>
      <p:sp>
        <p:nvSpPr>
          <p:cNvPr id="3" name="Content Placeholder 2"/>
          <p:cNvSpPr>
            <a:spLocks noGrp="1"/>
          </p:cNvSpPr>
          <p:nvPr>
            <p:ph idx="4294967295"/>
          </p:nvPr>
        </p:nvSpPr>
        <p:spPr>
          <a:xfrm>
            <a:off x="0" y="1152525"/>
            <a:ext cx="7681913" cy="3416300"/>
          </a:xfrm>
        </p:spPr>
        <p:txBody>
          <a:bodyPr>
            <a:normAutofit fontScale="92500"/>
          </a:bodyPr>
          <a:lstStyle/>
          <a:p>
            <a:pPr algn="l" rtl="0"/>
            <a:r>
              <a:rPr lang="en-US" dirty="0"/>
              <a:t>El </a:t>
            </a:r>
            <a:r>
              <a:rPr lang="en-US" b="1" dirty="0" err="1"/>
              <a:t>ensayador</a:t>
            </a:r>
            <a:r>
              <a:rPr lang="en-US" b="1" dirty="0"/>
              <a:t> </a:t>
            </a:r>
            <a:r>
              <a:rPr lang="en-US" dirty="0" err="1"/>
              <a:t>Debería</a:t>
            </a:r>
            <a:r>
              <a:rPr lang="en-US" dirty="0"/>
              <a:t> participar activamente </a:t>
            </a:r>
            <a:r>
              <a:rPr lang="en-US" dirty="0" err="1"/>
              <a:t>en</a:t>
            </a:r>
            <a:r>
              <a:rPr lang="en-US" dirty="0"/>
              <a:t> la </a:t>
            </a:r>
            <a:r>
              <a:rPr lang="en-US" b="1" dirty="0"/>
              <a:t>del </a:t>
            </a:r>
            <a:r>
              <a:rPr lang="en-US" b="1" dirty="0" err="1"/>
              <a:t>equipo</a:t>
            </a:r>
            <a:r>
              <a:rPr lang="en-US" b="1" dirty="0"/>
              <a:t> </a:t>
            </a:r>
            <a:r>
              <a:rPr lang="en-US" dirty="0" err="1"/>
              <a:t>trabajar</a:t>
            </a:r>
            <a:r>
              <a:rPr lang="en-US" dirty="0"/>
              <a:t> </a:t>
            </a:r>
            <a:r>
              <a:rPr lang="en-US" dirty="0" err="1"/>
              <a:t>durante</a:t>
            </a:r>
            <a:r>
              <a:rPr lang="en-US" dirty="0"/>
              <a:t> </a:t>
            </a:r>
            <a:r>
              <a:rPr lang="en-US" dirty="0" err="1"/>
              <a:t>el</a:t>
            </a:r>
            <a:r>
              <a:rPr lang="en-US" dirty="0"/>
              <a:t> </a:t>
            </a:r>
            <a:r>
              <a:rPr lang="en-US" b="1" dirty="0"/>
              <a:t>Sprint </a:t>
            </a:r>
            <a:r>
              <a:rPr lang="en-US" dirty="0"/>
              <a:t>y reuniones. Es </a:t>
            </a:r>
            <a:r>
              <a:rPr lang="en-US" dirty="0" err="1"/>
              <a:t>el</a:t>
            </a:r>
            <a:r>
              <a:rPr lang="en-US" dirty="0"/>
              <a:t> </a:t>
            </a:r>
            <a:r>
              <a:rPr lang="en-US" b="1" dirty="0" err="1"/>
              <a:t>papel</a:t>
            </a:r>
            <a:r>
              <a:rPr lang="en-US" b="1" dirty="0"/>
              <a:t> del </a:t>
            </a:r>
            <a:r>
              <a:rPr lang="en-US" b="1" dirty="0" err="1"/>
              <a:t>probador</a:t>
            </a:r>
            <a:r>
              <a:rPr lang="en-US" b="1" dirty="0"/>
              <a:t> </a:t>
            </a:r>
            <a:r>
              <a:rPr lang="en-US" dirty="0"/>
              <a:t>Para garantizar la calidad del producto desarrollado y el proceso de entrega.sí mismo</a:t>
            </a:r>
          </a:p>
          <a:p>
            <a:pPr algn="l" rtl="0"/>
            <a:r>
              <a:rPr lang="en-US" dirty="0"/>
              <a:t>Elequipo de </a:t>
            </a:r>
            <a:r>
              <a:rPr lang="en-US" dirty="0" err="1"/>
              <a:t>desarrollo</a:t>
            </a:r>
            <a:r>
              <a:rPr lang="en-US" dirty="0"/>
              <a:t> </a:t>
            </a:r>
            <a:r>
              <a:rPr lang="en-US" dirty="0" err="1"/>
              <a:t>en</a:t>
            </a:r>
            <a:r>
              <a:rPr lang="en-US" dirty="0"/>
              <a:t> </a:t>
            </a:r>
            <a:r>
              <a:rPr lang="en-US" b="1" dirty="0"/>
              <a:t>scrum </a:t>
            </a:r>
            <a:r>
              <a:rPr lang="en-US" dirty="0"/>
              <a:t>es responsable del desarrollo del producto trabajando en estrecha colaboración con el propietario del producto. </a:t>
            </a:r>
            <a:r>
              <a:rPr lang="en-US" dirty="0" err="1"/>
              <a:t>Según</a:t>
            </a:r>
            <a:r>
              <a:rPr lang="en-US" dirty="0"/>
              <a:t> </a:t>
            </a:r>
            <a:r>
              <a:rPr lang="en-US" dirty="0" err="1"/>
              <a:t>el</a:t>
            </a:r>
            <a:r>
              <a:rPr lang="en-US" dirty="0"/>
              <a:t> </a:t>
            </a:r>
            <a:r>
              <a:rPr lang="en-US" b="1" dirty="0" err="1"/>
              <a:t>pruebas</a:t>
            </a:r>
            <a:r>
              <a:rPr lang="en-US" b="1" dirty="0"/>
              <a:t> </a:t>
            </a:r>
            <a:r>
              <a:rPr lang="en-US" dirty="0" err="1"/>
              <a:t>cuadrantes</a:t>
            </a:r>
            <a:r>
              <a:rPr lang="en-US" dirty="0"/>
              <a:t>, </a:t>
            </a:r>
            <a:r>
              <a:rPr lang="en-US" dirty="0" err="1"/>
              <a:t>los</a:t>
            </a:r>
            <a:r>
              <a:rPr lang="en-US" dirty="0"/>
              <a:t> </a:t>
            </a:r>
            <a:r>
              <a:rPr lang="en-US" b="1" dirty="0" err="1"/>
              <a:t>Probadores</a:t>
            </a:r>
            <a:r>
              <a:rPr lang="en-US" b="1" dirty="0"/>
              <a:t> </a:t>
            </a:r>
            <a:r>
              <a:rPr lang="en-US" dirty="0"/>
              <a:t>Son responsables de las pruebas orientadas a la tecnología que apoyan al equipo y critican el producto, y de las pruebas orientadas al negocio que ayudan al equipo y critican el producto.</a:t>
            </a:r>
          </a:p>
          <a:p>
            <a:pPr algn="l" rtl="0"/>
            <a:r>
              <a:rPr lang="en-US" dirty="0"/>
              <a:t>Aunque un </a:t>
            </a:r>
            <a:r>
              <a:rPr lang="en-US" dirty="0" err="1"/>
              <a:t>entero</a:t>
            </a:r>
            <a:r>
              <a:rPr lang="en-US" dirty="0"/>
              <a:t> </a:t>
            </a:r>
            <a:r>
              <a:rPr lang="en-US" b="1" dirty="0" err="1"/>
              <a:t>Equipo</a:t>
            </a:r>
            <a:r>
              <a:rPr lang="en-US" b="1" dirty="0"/>
              <a:t> Scrum </a:t>
            </a:r>
            <a:r>
              <a:rPr lang="en-US" dirty="0" err="1"/>
              <a:t>tiene</a:t>
            </a:r>
            <a:r>
              <a:rPr lang="en-US" dirty="0"/>
              <a:t> </a:t>
            </a:r>
            <a:r>
              <a:rPr lang="en-US" b="1" dirty="0" err="1"/>
              <a:t>responsabilidad</a:t>
            </a:r>
            <a:r>
              <a:rPr lang="en-US" b="1" dirty="0"/>
              <a:t> </a:t>
            </a:r>
            <a:r>
              <a:rPr lang="en-US" dirty="0"/>
              <a:t>para </a:t>
            </a:r>
            <a:r>
              <a:rPr lang="en-US" b="1" dirty="0" err="1"/>
              <a:t>pruebas</a:t>
            </a:r>
            <a:r>
              <a:rPr lang="en-US" b="1" dirty="0"/>
              <a:t> </a:t>
            </a:r>
            <a:r>
              <a:rPr lang="en-US" dirty="0"/>
              <a:t>y la calidad del código, alguien </a:t>
            </a:r>
            <a:r>
              <a:rPr lang="en-US" dirty="0" err="1"/>
              <a:t>en</a:t>
            </a:r>
            <a:r>
              <a:rPr lang="en-US" dirty="0"/>
              <a:t> </a:t>
            </a:r>
            <a:r>
              <a:rPr lang="en-US" dirty="0" err="1"/>
              <a:t>el</a:t>
            </a:r>
            <a:r>
              <a:rPr lang="en-US" dirty="0"/>
              <a:t> </a:t>
            </a:r>
            <a:r>
              <a:rPr lang="en-US" b="1" dirty="0" err="1"/>
              <a:t>equipo</a:t>
            </a:r>
            <a:r>
              <a:rPr lang="en-US" b="1" dirty="0"/>
              <a:t> </a:t>
            </a:r>
            <a:r>
              <a:rPr lang="en-US" dirty="0" err="1"/>
              <a:t>Necesita</a:t>
            </a:r>
            <a:r>
              <a:rPr lang="en-US" dirty="0"/>
              <a:t> ser bueno </a:t>
            </a:r>
            <a:r>
              <a:rPr lang="en-US" dirty="0" err="1"/>
              <a:t>en</a:t>
            </a:r>
            <a:r>
              <a:rPr lang="en-US" dirty="0"/>
              <a:t> </a:t>
            </a:r>
            <a:r>
              <a:rPr lang="en-US" b="1" dirty="0" err="1"/>
              <a:t>pruebas</a:t>
            </a:r>
            <a:r>
              <a:rPr lang="en-US" dirty="0"/>
              <a:t>, y alguien </a:t>
            </a:r>
            <a:r>
              <a:rPr lang="en-US" dirty="0" err="1"/>
              <a:t>en</a:t>
            </a:r>
            <a:r>
              <a:rPr lang="en-US" dirty="0"/>
              <a:t> </a:t>
            </a:r>
            <a:r>
              <a:rPr lang="en-US" dirty="0" err="1"/>
              <a:t>el</a:t>
            </a:r>
            <a:r>
              <a:rPr lang="en-US" dirty="0"/>
              <a:t> </a:t>
            </a:r>
            <a:r>
              <a:rPr lang="en-US" b="1" dirty="0" err="1"/>
              <a:t>equipo</a:t>
            </a:r>
            <a:r>
              <a:rPr lang="en-US" b="1" dirty="0"/>
              <a:t> </a:t>
            </a:r>
            <a:r>
              <a:rPr lang="en-US" dirty="0" err="1"/>
              <a:t>Necesita</a:t>
            </a:r>
            <a:r>
              <a:rPr lang="en-US" dirty="0"/>
              <a:t> configurar la unidad y la regresión.</a:t>
            </a:r>
            <a:r>
              <a:rPr lang="en-US" b="1" dirty="0"/>
              <a:t>prueba</a:t>
            </a:r>
            <a:r>
              <a:rPr lang="en-US" dirty="0"/>
              <a:t>automatización, ejecutar las pruebas de integración de extremo a extremo y realizar </a:t>
            </a:r>
            <a:r>
              <a:rPr lang="en-US" dirty="0" err="1"/>
              <a:t>exploraciones</a:t>
            </a:r>
            <a:r>
              <a:rPr lang="en-US" dirty="0"/>
              <a:t> manuals </a:t>
            </a:r>
            <a:r>
              <a:rPr lang="en-US" b="1" dirty="0" err="1"/>
              <a:t>pruebas</a:t>
            </a:r>
            <a:r>
              <a:rPr lang="en-US" b="1" dirty="0"/>
              <a:t> </a:t>
            </a:r>
            <a:r>
              <a:rPr lang="en-US" dirty="0" err="1"/>
              <a:t>sobre</a:t>
            </a:r>
            <a:r>
              <a:rPr lang="en-US" dirty="0"/>
              <a:t> todo el producto</a:t>
            </a:r>
          </a:p>
        </p:txBody>
      </p:sp>
    </p:spTree>
    <p:extLst>
      <p:ext uri="{BB962C8B-B14F-4D97-AF65-F5344CB8AC3E}">
        <p14:creationId xmlns:p14="http://schemas.microsoft.com/office/powerpoint/2010/main" val="144521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22301" y="354861"/>
            <a:ext cx="7059612" cy="1114425"/>
          </a:xfrm>
        </p:spPr>
        <p:txBody>
          <a:bodyPr/>
          <a:lstStyle/>
          <a:p>
            <a:pPr algn="ctr" rtl="0"/>
            <a:r>
              <a:rPr lang="en-US" b="1" dirty="0"/>
              <a:t>Scrum en pruebas de software</a:t>
            </a:r>
            <a:r>
              <a:rPr lang="en-US" dirty="0"/>
              <a:t> </a:t>
            </a:r>
          </a:p>
        </p:txBody>
      </p:sp>
      <p:sp>
        <p:nvSpPr>
          <p:cNvPr id="3" name="Content Placeholder 2"/>
          <p:cNvSpPr>
            <a:spLocks noGrp="1"/>
          </p:cNvSpPr>
          <p:nvPr>
            <p:ph idx="4294967295"/>
          </p:nvPr>
        </p:nvSpPr>
        <p:spPr>
          <a:xfrm>
            <a:off x="95693" y="1372339"/>
            <a:ext cx="7681913" cy="3416300"/>
          </a:xfrm>
        </p:spPr>
        <p:txBody>
          <a:bodyPr/>
          <a:lstStyle/>
          <a:p>
            <a:pPr algn="l" rtl="0"/>
            <a:r>
              <a:rPr lang="en-US" b="1" dirty="0"/>
              <a:t>Scrum en pruebas de software </a:t>
            </a:r>
            <a:r>
              <a:rPr lang="en-US" dirty="0"/>
              <a:t>es una metodología para crear aplicaciones de software complejas. Proporciona soluciones sencillas para ejecutar tareas complicadas. Scrum ayuda al equipo de desarrollo a centrarse en todos los aspectos del desarrollo del producto de software, como la calidad, el rendimiento, la facilidad de uso, etc. Proporciona transparencia, inspección y adaptación durante el desarrollo del software para evitar la complejidad.</a:t>
            </a:r>
          </a:p>
          <a:p>
            <a:pPr algn="l" rtl="0"/>
            <a:endParaRPr lang="en-US" dirty="0"/>
          </a:p>
        </p:txBody>
      </p:sp>
    </p:spTree>
    <p:extLst>
      <p:ext uri="{BB962C8B-B14F-4D97-AF65-F5344CB8AC3E}">
        <p14:creationId xmlns:p14="http://schemas.microsoft.com/office/powerpoint/2010/main" val="16140059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12602"/>
            <a:ext cx="7718425" cy="573088"/>
          </a:xfrm>
        </p:spPr>
        <p:txBody>
          <a:bodyPr/>
          <a:lstStyle/>
          <a:p>
            <a:pPr algn="ctr" rtl="0"/>
            <a:r>
              <a:rPr lang="en-US" b="1" dirty="0"/>
              <a:t>Pruebas Scrum</a:t>
            </a:r>
            <a:br>
              <a:rPr lang="en-US" b="1" dirty="0"/>
            </a:br>
            <a:endParaRPr lang="en-US" dirty="0"/>
          </a:p>
        </p:txBody>
      </p:sp>
      <p:sp>
        <p:nvSpPr>
          <p:cNvPr id="3" name="Content Placeholder 2"/>
          <p:cNvSpPr>
            <a:spLocks noGrp="1"/>
          </p:cNvSpPr>
          <p:nvPr>
            <p:ph idx="4294967295"/>
          </p:nvPr>
        </p:nvSpPr>
        <p:spPr>
          <a:xfrm>
            <a:off x="0" y="1152525"/>
            <a:ext cx="7681913" cy="3416300"/>
          </a:xfrm>
        </p:spPr>
        <p:txBody>
          <a:bodyPr/>
          <a:lstStyle/>
          <a:p>
            <a:pPr algn="l" rtl="0"/>
            <a:r>
              <a:rPr lang="en-US" b="1" dirty="0"/>
              <a:t>Scrum </a:t>
            </a:r>
            <a:r>
              <a:rPr lang="en-US" b="1" dirty="0" err="1"/>
              <a:t>Pruebas</a:t>
            </a:r>
            <a:r>
              <a:rPr lang="en-US" b="1" dirty="0"/>
              <a:t> </a:t>
            </a:r>
            <a:r>
              <a:rPr lang="en-US" dirty="0"/>
              <a:t>Es una prueba que se realiza con la metodología Scrum para verificar que se cumplan los requisitos de la aplicación de software. Implica comprobar parámetros no funcionales como seguridad, usabilidad, rendimiento, etc. No hay un rol activo del evaluador en el proceso, por lo que generalmente lo realizan los desarrolladores con pruebas unitarias. A veces se necesitan equipos de prueba dedicados según la naturaleza y la complejidad del proyecto.</a:t>
            </a:r>
          </a:p>
          <a:p>
            <a:pPr algn="l" rtl="0"/>
            <a:endParaRPr lang="en-US" dirty="0"/>
          </a:p>
        </p:txBody>
      </p:sp>
    </p:spTree>
    <p:extLst>
      <p:ext uri="{BB962C8B-B14F-4D97-AF65-F5344CB8AC3E}">
        <p14:creationId xmlns:p14="http://schemas.microsoft.com/office/powerpoint/2010/main" val="37631446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606056" y="146789"/>
            <a:ext cx="7718425" cy="573088"/>
          </a:xfrm>
        </p:spPr>
        <p:txBody>
          <a:bodyPr/>
          <a:lstStyle/>
          <a:p>
            <a:pPr algn="ctr" rtl="0"/>
            <a:r>
              <a:rPr lang="en-US" dirty="0"/>
              <a:t>Rol del ingeniero de pruebas en el equipo Scrum</a:t>
            </a:r>
          </a:p>
        </p:txBody>
      </p:sp>
      <p:sp>
        <p:nvSpPr>
          <p:cNvPr id="3" name="Content Placeholder 2"/>
          <p:cNvSpPr>
            <a:spLocks noGrp="1"/>
          </p:cNvSpPr>
          <p:nvPr>
            <p:ph idx="4294967295"/>
          </p:nvPr>
        </p:nvSpPr>
        <p:spPr>
          <a:xfrm>
            <a:off x="839972" y="1397073"/>
            <a:ext cx="7681913" cy="3416300"/>
          </a:xfrm>
        </p:spPr>
        <p:txBody>
          <a:bodyPr/>
          <a:lstStyle/>
          <a:p>
            <a:pPr lvl="0" algn="l" rtl="0" fontAlgn="base"/>
            <a:r>
              <a:rPr lang="en-US" dirty="0"/>
              <a:t>1) Asistir a las sesiones de planificación de sprints</a:t>
            </a:r>
          </a:p>
          <a:p>
            <a:pPr lvl="0" algn="l" rtl="0" fontAlgn="base"/>
            <a:r>
              <a:rPr lang="en-US" dirty="0"/>
              <a:t>2) Asistir a las reuniones diarias.</a:t>
            </a:r>
          </a:p>
          <a:p>
            <a:pPr lvl="0" algn="l" rtl="0" fontAlgn="base"/>
            <a:r>
              <a:rPr lang="en-US" dirty="0"/>
              <a:t>3) No guardes todas las pruebas para el final; prueba durante todo el sprint.</a:t>
            </a:r>
          </a:p>
          <a:p>
            <a:pPr lvl="0" algn="l" rtl="0" fontAlgn="base"/>
            <a:r>
              <a:rPr lang="en-US" dirty="0"/>
              <a:t>4) Reunirse con los desarrolladores para realizar demostraciones breves.</a:t>
            </a:r>
          </a:p>
          <a:p>
            <a:pPr lvl="0" algn="l" rtl="0" fontAlgn="base"/>
            <a:r>
              <a:rPr lang="en-US" dirty="0"/>
              <a:t>5) Asistir a retrospectivas de sprint</a:t>
            </a:r>
          </a:p>
          <a:p>
            <a:pPr lvl="0" algn="l" rtl="0" fontAlgn="base"/>
            <a:r>
              <a:rPr lang="en-US" dirty="0"/>
              <a:t>6) Documentar casos de prueba</a:t>
            </a:r>
          </a:p>
          <a:p>
            <a:pPr algn="l" rtl="0"/>
            <a:endParaRPr lang="en-US" dirty="0"/>
          </a:p>
        </p:txBody>
      </p:sp>
    </p:spTree>
    <p:extLst>
      <p:ext uri="{BB962C8B-B14F-4D97-AF65-F5344CB8AC3E}">
        <p14:creationId xmlns:p14="http://schemas.microsoft.com/office/powerpoint/2010/main" val="26559175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91386" y="146789"/>
            <a:ext cx="7718425" cy="573088"/>
          </a:xfrm>
        </p:spPr>
        <p:txBody>
          <a:bodyPr/>
          <a:lstStyle/>
          <a:p>
            <a:pPr algn="ctr" rtl="0"/>
            <a:r>
              <a:rPr lang="en-US" b="1" dirty="0"/>
              <a:t>El rol del tester en un equipo ágil</a:t>
            </a:r>
            <a:br>
              <a:rPr lang="en-US" dirty="0"/>
            </a:br>
            <a:endParaRPr lang="en-US" dirty="0"/>
          </a:p>
        </p:txBody>
      </p:sp>
      <p:sp>
        <p:nvSpPr>
          <p:cNvPr id="3" name="Content Placeholder 2"/>
          <p:cNvSpPr>
            <a:spLocks noGrp="1"/>
          </p:cNvSpPr>
          <p:nvPr>
            <p:ph idx="4294967295"/>
          </p:nvPr>
        </p:nvSpPr>
        <p:spPr>
          <a:xfrm>
            <a:off x="227898" y="1152525"/>
            <a:ext cx="8756614" cy="3416300"/>
          </a:xfrm>
        </p:spPr>
        <p:txBody>
          <a:bodyPr>
            <a:noAutofit/>
          </a:bodyPr>
          <a:lstStyle/>
          <a:p>
            <a:pPr lvl="0" algn="l" rtl="0" fontAlgn="base"/>
            <a:r>
              <a:rPr lang="en-US" sz="1000" dirty="0"/>
              <a:t>Comprender, implementar y </a:t>
            </a:r>
            <a:r>
              <a:rPr lang="en-US" sz="1000" dirty="0" err="1"/>
              <a:t>actualizar</a:t>
            </a:r>
            <a:r>
              <a:rPr lang="en-US" sz="1000" dirty="0"/>
              <a:t> la </a:t>
            </a:r>
            <a:r>
              <a:rPr lang="en-US" sz="1000" u="sng" dirty="0" err="1">
                <a:hlinkClick r:id="rId2"/>
              </a:rPr>
              <a:t>Estrategia</a:t>
            </a:r>
            <a:r>
              <a:rPr lang="en-US" sz="1000" u="sng" dirty="0">
                <a:hlinkClick r:id="rId2"/>
              </a:rPr>
              <a:t> de pruebas ágiles</a:t>
            </a:r>
            <a:endParaRPr lang="en-US" sz="1000" dirty="0"/>
          </a:p>
          <a:p>
            <a:pPr lvl="0" algn="l" rtl="0" fontAlgn="base"/>
            <a:r>
              <a:rPr lang="en-US" sz="1000" dirty="0" err="1"/>
              <a:t>Trabajar</a:t>
            </a:r>
            <a:r>
              <a:rPr lang="en-US" sz="1000" dirty="0"/>
              <a:t> con </a:t>
            </a:r>
            <a:r>
              <a:rPr lang="en-US" sz="1000" u="sng" dirty="0" err="1">
                <a:hlinkClick r:id="rId3"/>
              </a:rPr>
              <a:t>Propietarios</a:t>
            </a:r>
            <a:r>
              <a:rPr lang="en-US" sz="1000" u="sng" dirty="0">
                <a:hlinkClick r:id="rId3"/>
              </a:rPr>
              <a:t> de </a:t>
            </a:r>
            <a:r>
              <a:rPr lang="en-US" sz="1000" u="sng" dirty="0" err="1">
                <a:hlinkClick r:id="rId3"/>
              </a:rPr>
              <a:t>productos</a:t>
            </a:r>
            <a:r>
              <a:rPr lang="en-US" sz="1000" u="sng" dirty="0"/>
              <a:t> </a:t>
            </a:r>
            <a:r>
              <a:rPr lang="en-US" sz="1000" dirty="0" err="1"/>
              <a:t>definir</a:t>
            </a:r>
            <a:r>
              <a:rPr lang="en-US" sz="1000" dirty="0"/>
              <a:t> </a:t>
            </a:r>
            <a:r>
              <a:rPr lang="en-US" sz="1000" u="sng" dirty="0" err="1">
                <a:hlinkClick r:id="rId4"/>
              </a:rPr>
              <a:t>Criterios</a:t>
            </a:r>
            <a:r>
              <a:rPr lang="en-US" sz="1000" u="sng" dirty="0">
                <a:hlinkClick r:id="rId4"/>
              </a:rPr>
              <a:t> de aceptación</a:t>
            </a:r>
            <a:r>
              <a:rPr lang="en-US" sz="1000" dirty="0"/>
              <a:t>y la definición de Hecho.</a:t>
            </a:r>
          </a:p>
          <a:p>
            <a:pPr lvl="0" algn="l" rtl="0" fontAlgn="base"/>
            <a:r>
              <a:rPr lang="en-US" sz="1000" dirty="0"/>
              <a:t>Medición y generación de informes sobre la cobertura de pruebas en todas las dimensiones de cobertura aplicables</a:t>
            </a:r>
          </a:p>
          <a:p>
            <a:pPr lvl="0" algn="l" rtl="0" fontAlgn="base"/>
            <a:r>
              <a:rPr lang="en-US" sz="1000" dirty="0"/>
              <a:t>Garantizar el uso adecuado de las herramientas de prueba</a:t>
            </a:r>
          </a:p>
          <a:p>
            <a:pPr lvl="0" algn="l" rtl="0" fontAlgn="base"/>
            <a:r>
              <a:rPr lang="en-US" sz="1000" dirty="0"/>
              <a:t>Configuración, uso y gestión de entornos de prueba y datos de prueba</a:t>
            </a:r>
          </a:p>
          <a:p>
            <a:pPr lvl="0" algn="l" rtl="0" fontAlgn="base"/>
            <a:r>
              <a:rPr lang="en-US" sz="1000" dirty="0"/>
              <a:t>Redactar y ejecutar controles automatizados e informar al equipo.</a:t>
            </a:r>
          </a:p>
          <a:p>
            <a:pPr lvl="0" algn="l" rtl="0" fontAlgn="base"/>
            <a:r>
              <a:rPr lang="en-US" sz="1000" dirty="0"/>
              <a:t>Informar defectos y trabajar con el equipo para resolverlos.</a:t>
            </a:r>
          </a:p>
          <a:p>
            <a:pPr lvl="0" algn="l" rtl="0" fontAlgn="base"/>
            <a:r>
              <a:rPr lang="en-US" sz="1000" dirty="0"/>
              <a:t>Capacitar a otros miembros del equipo en aspectos relevantes de las pruebas.</a:t>
            </a:r>
          </a:p>
          <a:p>
            <a:pPr lvl="0" algn="l" rtl="0" fontAlgn="base"/>
            <a:r>
              <a:rPr lang="en-US" sz="1000" dirty="0"/>
              <a:t>Garantizar que se programen las tareas de prueba adecuadas durante la planificación del lanzamiento y la iteración</a:t>
            </a:r>
          </a:p>
          <a:p>
            <a:pPr lvl="0" algn="l" rtl="0" fontAlgn="base"/>
            <a:r>
              <a:rPr lang="en-US" sz="1000" dirty="0"/>
              <a:t>Colaborar activamente con los desarrolladores y las partes interesadas comerciales para aclarar los requisitos, especialmente en términos de capacidad de prueba, consistencia y completitud.</a:t>
            </a:r>
          </a:p>
          <a:p>
            <a:pPr lvl="0" algn="l" rtl="0" fontAlgn="base"/>
            <a:r>
              <a:rPr lang="en-US" sz="1000" dirty="0"/>
              <a:t>Participar de manera proactiva en reuniones diarias, sesiones de preparación de historias, retrospectivas de equipo, sugiriendo e implementando mejoras.</a:t>
            </a:r>
          </a:p>
          <a:p>
            <a:pPr algn="l" rtl="0" fontAlgn="base"/>
            <a:r>
              <a:rPr lang="en-US" sz="1000" dirty="0"/>
              <a:t>Dentro de un equipo Agile, cada miembro del equipo es responsable de la calidad del producto y desempeña un papel en la realización de tareas relacionadas con las pruebas.</a:t>
            </a:r>
            <a:br>
              <a:rPr lang="en-US" sz="1000" dirty="0"/>
            </a:br>
            <a:r>
              <a:rPr lang="en-US" sz="1000" dirty="0"/>
              <a:t>Las organizaciones ágiles pueden enfrentar algunos riesgos organizacionales relacionados con las pruebas:</a:t>
            </a:r>
          </a:p>
          <a:p>
            <a:pPr lvl="0" algn="l" rtl="0" fontAlgn="base"/>
            <a:r>
              <a:rPr lang="en-US" sz="1000" dirty="0"/>
              <a:t>Los evaluadores trabajan tan de cerca con los desarrolladores que pierden la mentalidad de evaluador adecuada</a:t>
            </a:r>
          </a:p>
          <a:p>
            <a:pPr lvl="0" algn="l" rtl="0" fontAlgn="base"/>
            <a:r>
              <a:rPr lang="en-US" sz="1000" dirty="0"/>
              <a:t>Los evaluadores se vuelven tolerantes o silenciados ante prácticas ineficientes, ineficaces o de baja calidad dentro del equipo.</a:t>
            </a:r>
          </a:p>
          <a:p>
            <a:pPr lvl="0" algn="l" rtl="0" fontAlgn="base"/>
            <a:r>
              <a:rPr lang="en-US" sz="1000" dirty="0"/>
              <a:t>Los evaluadores no pueden seguir el ritmo de los cambios entrantes en iteraciones limitadas en el tiempo.</a:t>
            </a:r>
          </a:p>
          <a:p>
            <a:pPr algn="l" rtl="0"/>
            <a:endParaRPr lang="en-US" sz="1000" dirty="0"/>
          </a:p>
        </p:txBody>
      </p:sp>
    </p:spTree>
    <p:extLst>
      <p:ext uri="{BB962C8B-B14F-4D97-AF65-F5344CB8AC3E}">
        <p14:creationId xmlns:p14="http://schemas.microsoft.com/office/powerpoint/2010/main" val="15953345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44500"/>
            <a:ext cx="7718425" cy="573088"/>
          </a:xfrm>
        </p:spPr>
        <p:txBody>
          <a:bodyPr>
            <a:normAutofit fontScale="90000"/>
          </a:bodyPr>
          <a:lstStyle/>
          <a:p>
            <a:pPr algn="ctr" rtl="0"/>
            <a:r>
              <a:rPr lang="en-US" b="1" dirty="0"/>
              <a:t>¿Cuál es el rol de un tester de control de calidad en un equipo Scrum?</a:t>
            </a:r>
            <a:br>
              <a:rPr lang="en-US" b="1" dirty="0"/>
            </a:br>
            <a:endParaRPr lang="en-US" dirty="0"/>
          </a:p>
        </p:txBody>
      </p:sp>
      <p:pic>
        <p:nvPicPr>
          <p:cNvPr id="4" name="Content Placeholder 3" descr="What is the role of a QA tester on a Scrum team"/>
          <p:cNvPicPr>
            <a:picLocks noGrp="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2180431" y="1852723"/>
            <a:ext cx="3357562" cy="2686050"/>
          </a:xfrm>
          <a:prstGeom prst="rect">
            <a:avLst/>
          </a:prstGeom>
          <a:noFill/>
          <a:ln>
            <a:noFill/>
          </a:ln>
        </p:spPr>
      </p:pic>
    </p:spTree>
    <p:extLst>
      <p:ext uri="{BB962C8B-B14F-4D97-AF65-F5344CB8AC3E}">
        <p14:creationId xmlns:p14="http://schemas.microsoft.com/office/powerpoint/2010/main" val="25367941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444500"/>
            <a:ext cx="7718425" cy="573088"/>
          </a:xfrm>
        </p:spPr>
        <p:txBody>
          <a:bodyPr/>
          <a:lstStyle/>
          <a:p>
            <a:pPr algn="ctr" rtl="0"/>
            <a:r>
              <a:rPr lang="en-US" b="1" dirty="0"/>
              <a:t>¿Cuál es el rol de un tester de control de calidad en un equipo Scrum?</a:t>
            </a:r>
            <a:endParaRPr lang="en-US" dirty="0"/>
          </a:p>
        </p:txBody>
      </p:sp>
      <p:sp>
        <p:nvSpPr>
          <p:cNvPr id="3" name="Content Placeholder 2"/>
          <p:cNvSpPr>
            <a:spLocks noGrp="1"/>
          </p:cNvSpPr>
          <p:nvPr>
            <p:ph idx="4294967295"/>
          </p:nvPr>
        </p:nvSpPr>
        <p:spPr>
          <a:xfrm>
            <a:off x="258762" y="1714500"/>
            <a:ext cx="7200900" cy="3429000"/>
          </a:xfrm>
        </p:spPr>
        <p:txBody>
          <a:bodyPr>
            <a:normAutofit fontScale="85000" lnSpcReduction="20000"/>
          </a:bodyPr>
          <a:lstStyle/>
          <a:p>
            <a:pPr algn="l" rtl="0"/>
            <a:r>
              <a:rPr lang="en-US" b="1" dirty="0"/>
              <a:t>Comunicación cara a cara:</a:t>
            </a:r>
          </a:p>
          <a:p>
            <a:pPr marL="0" indent="0" fontAlgn="base">
              <a:buNone/>
            </a:pPr>
            <a:r>
              <a:rPr lang="en-US" dirty="0"/>
              <a:t>RostroEnfrentar la discusión con el equipo es la forma más eficiente de comunicar ideas al equipo. Un tester participa en la planificación/lanzamiento del sprint: Las reuniones de diseño se llevan a cabo cada vez antes de que se realice la planificación del sprint. Los testers pueden participar en esta reunión y hacer preguntas sobre las historias que se están discutiendo. El tester debe crear un modelo en su mente sobre cómo se vería y funcionaría el sistema en función de las discusiones.</a:t>
            </a:r>
          </a:p>
          <a:p>
            <a:pPr algn="l" rtl="0"/>
            <a:r>
              <a:rPr lang="en-US" b="1" dirty="0"/>
              <a:t>Capacidad de encontrar ambigüedad:</a:t>
            </a:r>
          </a:p>
          <a:p>
            <a:pPr marL="0" indent="0" fontAlgn="base">
              <a:buNone/>
            </a:pPr>
            <a:r>
              <a:rPr lang="en-US" dirty="0"/>
              <a:t>El tester trabajaría de forma colaborativa y productiva con el propietario del producto y el cliente para crear criterios de aceptación. Un tester ágil sería capaz de describir bien la característica. Antes de enviar cualquier historia de usuario para su desarrollo, el tester y otros miembros del equipo analizarían la historia de usuario completa con el miembro del equipo para averiguar qué quiere el cliente.</a:t>
            </a:r>
          </a:p>
          <a:p>
            <a:pPr algn="l" rtl="0"/>
            <a:r>
              <a:rPr lang="en-US" b="1" dirty="0"/>
              <a:t>Rol absoluto:</a:t>
            </a:r>
          </a:p>
          <a:p>
            <a:pPr marL="0" indent="0" fontAlgn="base">
              <a:buNone/>
            </a:pPr>
            <a:r>
              <a:rPr lang="en-US" dirty="0"/>
              <a:t>El probador debe tener buenas habilidades interpersonales.</a:t>
            </a:r>
            <a:r>
              <a:rPr lang="en-US" b="1" u="sng" dirty="0">
                <a:hlinkClick r:id="rId2"/>
              </a:rPr>
              <a:t>El probador debe tener habilidades técnicas</a:t>
            </a:r>
            <a:r>
              <a:rPr lang="en-US" dirty="0"/>
              <a:t>Además de eso, debe tener buenas habilidades de comunicación para entregar el proyecto al cliente. Esto demuestra que el tester debe tener una gama más amplia de funcionalidades.</a:t>
            </a:r>
          </a:p>
          <a:p>
            <a:pPr algn="l" rtl="0"/>
            <a:endParaRPr lang="en-US" dirty="0"/>
          </a:p>
        </p:txBody>
      </p:sp>
    </p:spTree>
    <p:extLst>
      <p:ext uri="{BB962C8B-B14F-4D97-AF65-F5344CB8AC3E}">
        <p14:creationId xmlns:p14="http://schemas.microsoft.com/office/powerpoint/2010/main" val="26124650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37582" y="0"/>
            <a:ext cx="8200361" cy="865187"/>
          </a:xfrm>
        </p:spPr>
        <p:txBody>
          <a:bodyPr>
            <a:normAutofit fontScale="90000"/>
          </a:bodyPr>
          <a:lstStyle/>
          <a:p>
            <a:pPr algn="ctr" rtl="0"/>
            <a:r>
              <a:rPr lang="en-US" b="1" dirty="0"/>
              <a:t>¿Cuál es el rol de un tester de control de calidad en un equipo Scrum?</a:t>
            </a:r>
            <a:endParaRPr lang="en-US" dirty="0"/>
          </a:p>
        </p:txBody>
      </p:sp>
      <p:sp>
        <p:nvSpPr>
          <p:cNvPr id="3" name="Content Placeholder 2"/>
          <p:cNvSpPr>
            <a:spLocks noGrp="1"/>
          </p:cNvSpPr>
          <p:nvPr>
            <p:ph idx="4294967295"/>
          </p:nvPr>
        </p:nvSpPr>
        <p:spPr>
          <a:xfrm>
            <a:off x="837312" y="1146027"/>
            <a:ext cx="7200900" cy="3786188"/>
          </a:xfrm>
        </p:spPr>
        <p:txBody>
          <a:bodyPr>
            <a:normAutofit fontScale="85000" lnSpcReduction="20000"/>
          </a:bodyPr>
          <a:lstStyle/>
          <a:p>
            <a:pPr algn="l" rtl="0"/>
            <a:r>
              <a:rPr lang="en-US" b="1" dirty="0"/>
              <a:t>Habilidades técnicas:</a:t>
            </a:r>
          </a:p>
          <a:p>
            <a:pPr marL="0" indent="0" fontAlgn="base">
              <a:buNone/>
            </a:pPr>
            <a:r>
              <a:rPr lang="en-US" dirty="0"/>
              <a:t>Un probador ágil comprende la relevancia de las habilidades técnicas.</a:t>
            </a:r>
            <a:r>
              <a:rPr lang="en-US" dirty="0" err="1"/>
              <a:t>Él/Ella</a:t>
            </a:r>
            <a:r>
              <a:rPr lang="en-US" dirty="0"/>
              <a:t>Siempre está dispuesto a contribuir a las discusiones técnicas del equipo. Su contribución puede extenderse a revisiones de código, preparación de historias de usuario y comprensión de requisitos. El evaluador de software ágil trabajará con los desarrolladores </a:t>
            </a:r>
            <a:r>
              <a:rPr lang="en-US" dirty="0" err="1"/>
              <a:t>cuando</a:t>
            </a:r>
            <a:r>
              <a:rPr lang="en-US" dirty="0"/>
              <a:t> </a:t>
            </a:r>
            <a:r>
              <a:rPr lang="en-US" dirty="0" err="1"/>
              <a:t>estén</a:t>
            </a:r>
            <a:r>
              <a:rPr lang="en-US" dirty="0"/>
              <a:t> para </a:t>
            </a:r>
            <a:r>
              <a:rPr lang="en-US" b="1" u="sng" dirty="0" err="1">
                <a:hlinkClick r:id="rId2"/>
              </a:rPr>
              <a:t>Realizar</a:t>
            </a:r>
            <a:r>
              <a:rPr lang="en-US" b="1" u="sng" dirty="0">
                <a:hlinkClick r:id="rId2"/>
              </a:rPr>
              <a:t> pruebas unitarias</a:t>
            </a:r>
            <a:r>
              <a:rPr lang="en-US" dirty="0"/>
              <a:t>y compartir la perspectiva de las pruebas desde el punto de vista de un evaluador en lugar del punto de vista de un desarrollador.</a:t>
            </a:r>
          </a:p>
          <a:p>
            <a:pPr algn="l" rtl="0"/>
            <a:r>
              <a:rPr lang="en-US" b="1" dirty="0"/>
              <a:t>Automatización:</a:t>
            </a:r>
          </a:p>
          <a:p>
            <a:pPr marL="0" indent="0" fontAlgn="base">
              <a:buNone/>
            </a:pPr>
            <a:r>
              <a:rPr lang="en-US" dirty="0"/>
              <a:t>Las pruebas ágiles implican la automatización en el momento de las pruebas unitarias y las pruebas de integración. Para la automatización, existen muchas</a:t>
            </a:r>
            <a:r>
              <a:rPr lang="en-US" b="1" u="sng" dirty="0">
                <a:hlinkClick r:id="rId3"/>
              </a:rPr>
              <a:t>herramientas disponibles para la automatización</a:t>
            </a:r>
            <a:r>
              <a:rPr lang="en-US" dirty="0"/>
              <a:t>que no requiere formación previa en idiomas.</a:t>
            </a:r>
          </a:p>
          <a:p>
            <a:pPr algn="l" rtl="0"/>
            <a:r>
              <a:rPr lang="en-US" b="1" dirty="0"/>
              <a:t>Probador exploratorio:</a:t>
            </a:r>
          </a:p>
          <a:p>
            <a:pPr marL="0" indent="0" fontAlgn="base">
              <a:buNone/>
            </a:pPr>
            <a:r>
              <a:rPr lang="en-US" dirty="0"/>
              <a:t>La habilidad de realizar pruebas exploratorias es un método muy útil y poderoso en ocasiones en el proceso ágil. Un evaluador exploratorio puede utilizar sus habilidades para realizar pruebas evitando riesgos e incertidumbre en el producto. El evaluador puede obtener ideas de las discusiones iniciales de diseño y de las reuniones con el equipo para descubrir el sistema y explorar más en él. Una vez que el evaluador es capaz de descubrir las áreas de ambigüedad, puede trabajar de manera más sistemática y eficiente en el producto. Un evaluador ágil debe compartir su conocimiento e información con el resto del equipo Scrum.</a:t>
            </a:r>
          </a:p>
          <a:p>
            <a:pPr algn="l" rtl="0"/>
            <a:endParaRPr lang="en-US" dirty="0"/>
          </a:p>
        </p:txBody>
      </p:sp>
    </p:spTree>
    <p:extLst>
      <p:ext uri="{BB962C8B-B14F-4D97-AF65-F5344CB8AC3E}">
        <p14:creationId xmlns:p14="http://schemas.microsoft.com/office/powerpoint/2010/main" val="3111171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4428" y="157421"/>
            <a:ext cx="8240233" cy="573088"/>
          </a:xfrm>
        </p:spPr>
        <p:txBody>
          <a:bodyPr>
            <a:normAutofit fontScale="90000"/>
          </a:bodyPr>
          <a:lstStyle/>
          <a:p>
            <a:pPr algn="ctr" rtl="0"/>
            <a:r>
              <a:rPr lang="en-US" b="1" dirty="0"/>
              <a:t>¿Cuáles son las distintas actividades de prueba en el proceso Scrum?</a:t>
            </a:r>
            <a:br>
              <a:rPr lang="en-US" b="1" dirty="0"/>
            </a:br>
            <a:endParaRPr lang="en-US" dirty="0"/>
          </a:p>
        </p:txBody>
      </p:sp>
      <p:sp>
        <p:nvSpPr>
          <p:cNvPr id="3" name="Content Placeholder 2"/>
          <p:cNvSpPr>
            <a:spLocks noGrp="1"/>
          </p:cNvSpPr>
          <p:nvPr>
            <p:ph idx="4294967295"/>
          </p:nvPr>
        </p:nvSpPr>
        <p:spPr>
          <a:xfrm>
            <a:off x="382773" y="1492767"/>
            <a:ext cx="7681913" cy="3416300"/>
          </a:xfrm>
        </p:spPr>
        <p:txBody>
          <a:bodyPr/>
          <a:lstStyle/>
          <a:p>
            <a:pPr lvl="0" algn="l" rtl="0" fontAlgn="base"/>
            <a:r>
              <a:rPr lang="en-US" dirty="0"/>
              <a:t>Sprint </a:t>
            </a:r>
            <a:r>
              <a:rPr lang="en-US" dirty="0" err="1"/>
              <a:t>Reunión</a:t>
            </a:r>
            <a:r>
              <a:rPr lang="en-US" dirty="0"/>
              <a:t>: qué elemento se debe seleccionar de los trabajos pendientes y el tiempo estimado para desarrollar el componente. También se debe priorizar el trabajo.</a:t>
            </a:r>
          </a:p>
          <a:p>
            <a:pPr lvl="0" algn="l" rtl="0" fontAlgn="base"/>
            <a:r>
              <a:rPr lang="en-US" dirty="0"/>
              <a:t>Scrum diario: en la reunión de Scrum diario, el evaluador debe obtener información sobre las tareas realizadas anteriormente y también planificar la próxima tarea para entregársela al desarrollador.</a:t>
            </a:r>
          </a:p>
          <a:p>
            <a:pPr lvl="0" algn="l" rtl="0" fontAlgn="base"/>
            <a:r>
              <a:rPr lang="en-US" dirty="0"/>
              <a:t>Trabajo diario: el probador debe realizar pruebas de aceptación, pruebas del sistema y, en la prueba unitaria y la prueba de integración, el probador debe realizar pruebas de automatización en el trabajo diario del sprint actual.</a:t>
            </a:r>
          </a:p>
          <a:p>
            <a:pPr algn="l" rtl="0"/>
            <a:endParaRPr lang="en-US" dirty="0"/>
          </a:p>
        </p:txBody>
      </p:sp>
    </p:spTree>
    <p:extLst>
      <p:ext uri="{BB962C8B-B14F-4D97-AF65-F5344CB8AC3E}">
        <p14:creationId xmlns:p14="http://schemas.microsoft.com/office/powerpoint/2010/main" val="20871764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391337"/>
            <a:ext cx="8367823" cy="573088"/>
          </a:xfrm>
        </p:spPr>
        <p:txBody>
          <a:bodyPr/>
          <a:lstStyle/>
          <a:p>
            <a:pPr algn="ctr" rtl="0"/>
            <a:r>
              <a:rPr lang="en-US" b="1" dirty="0"/>
              <a:t>Reunión de revisión y retrospección</a:t>
            </a:r>
            <a:br>
              <a:rPr lang="en-US" b="1" dirty="0"/>
            </a:br>
            <a:endParaRPr lang="en-US" dirty="0"/>
          </a:p>
        </p:txBody>
      </p:sp>
      <p:sp>
        <p:nvSpPr>
          <p:cNvPr id="3" name="Content Placeholder 2"/>
          <p:cNvSpPr>
            <a:spLocks noGrp="1"/>
          </p:cNvSpPr>
          <p:nvPr>
            <p:ph idx="4294967295"/>
          </p:nvPr>
        </p:nvSpPr>
        <p:spPr>
          <a:xfrm>
            <a:off x="457200" y="1335863"/>
            <a:ext cx="7681913" cy="3416300"/>
          </a:xfrm>
        </p:spPr>
        <p:txBody>
          <a:bodyPr/>
          <a:lstStyle/>
          <a:p>
            <a:pPr lvl="0" algn="l" rtl="0" fontAlgn="base"/>
            <a:r>
              <a:rPr lang="en-US" dirty="0"/>
              <a:t>El probador debe identificar qué salió mal y qué salió bien en el sprint actual.</a:t>
            </a:r>
          </a:p>
          <a:p>
            <a:pPr lvl="0" algn="l" rtl="0" fontAlgn="base"/>
            <a:r>
              <a:rPr lang="en-US" dirty="0"/>
              <a:t>Necesita aprender nuevas lecciones y mejores prácticas del sprint actual.</a:t>
            </a:r>
          </a:p>
          <a:p>
            <a:pPr lvl="0" algn="l" rtl="0" fontAlgn="base"/>
            <a:r>
              <a:rPr lang="en-US" dirty="0"/>
              <a:t>Se anima al evaluador a escribir nuevas historias de usuario que ayuden en las pruebas y también historias de usuario que ayuden al cliente.</a:t>
            </a:r>
          </a:p>
          <a:p>
            <a:pPr lvl="0" algn="l" rtl="0" fontAlgn="base"/>
            <a:r>
              <a:rPr lang="en-US" dirty="0"/>
              <a:t>El evaluador discutirá si alguna historia de usuario no fue cubierta en el sprint actual.</a:t>
            </a:r>
          </a:p>
          <a:p>
            <a:pPr lvl="0" algn="l" rtl="0" fontAlgn="base"/>
            <a:r>
              <a:rPr lang="en-US" dirty="0"/>
              <a:t>Cualquier obstáculo en el proyecto será puesto a consideración del Scrum Master.</a:t>
            </a:r>
          </a:p>
          <a:p>
            <a:pPr algn="l" rtl="0"/>
            <a:endParaRPr lang="en-US" dirty="0"/>
          </a:p>
        </p:txBody>
      </p:sp>
    </p:spTree>
    <p:extLst>
      <p:ext uri="{BB962C8B-B14F-4D97-AF65-F5344CB8AC3E}">
        <p14:creationId xmlns:p14="http://schemas.microsoft.com/office/powerpoint/2010/main" val="1614932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0EC13595-1B27-42B9-9E36-E87D4DBE98DB}"/>
              </a:ext>
            </a:extLst>
          </p:cNvPr>
          <p:cNvPicPr>
            <a:picLocks noChangeAspect="1"/>
          </p:cNvPicPr>
          <p:nvPr/>
        </p:nvPicPr>
        <p:blipFill>
          <a:blip r:embed="rId2"/>
          <a:stretch>
            <a:fillRect/>
          </a:stretch>
        </p:blipFill>
        <p:spPr>
          <a:xfrm>
            <a:off x="1610524" y="1179871"/>
            <a:ext cx="6170725" cy="2613414"/>
          </a:xfrm>
          <a:prstGeom prst="rect">
            <a:avLst/>
          </a:prstGeom>
        </p:spPr>
      </p:pic>
      <p:sp>
        <p:nvSpPr>
          <p:cNvPr id="4" name="Title 1">
            <a:extLst>
              <a:ext uri="{FF2B5EF4-FFF2-40B4-BE49-F238E27FC236}">
                <a16:creationId xmlns:a16="http://schemas.microsoft.com/office/drawing/2014/main" id="{FEB04302-F10B-436A-BDE0-6ED5B81DD5F4}"/>
              </a:ext>
            </a:extLst>
          </p:cNvPr>
          <p:cNvSpPr txBox="1">
            <a:spLocks/>
          </p:cNvSpPr>
          <p:nvPr/>
        </p:nvSpPr>
        <p:spPr>
          <a:xfrm>
            <a:off x="2418735" y="391337"/>
            <a:ext cx="4495309" cy="57308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1pPr>
            <a:lvl2pPr marR="0" lvl="1"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2pPr>
            <a:lvl3pPr marR="0" lvl="2"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3pPr>
            <a:lvl4pPr marR="0" lvl="3"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4pPr>
            <a:lvl5pPr marR="0" lvl="4"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5pPr>
            <a:lvl6pPr marR="0" lvl="5"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6pPr>
            <a:lvl7pPr marR="0" lvl="6"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7pPr>
            <a:lvl8pPr marR="0" lvl="7"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8pPr>
            <a:lvl9pPr marR="0" lvl="8" algn="l" rtl="0">
              <a:lnSpc>
                <a:spcPct val="100000"/>
              </a:lnSpc>
              <a:spcBef>
                <a:spcPts val="0"/>
              </a:spcBef>
              <a:spcAft>
                <a:spcPts val="0"/>
              </a:spcAft>
              <a:buClr>
                <a:schemeClr val="dk2"/>
              </a:buClr>
              <a:buSzPts val="3000"/>
              <a:buFont typeface="IBM Plex Mono"/>
              <a:buNone/>
              <a:defRPr sz="3000" b="1" i="0" u="none" strike="noStrike" cap="none">
                <a:solidFill>
                  <a:schemeClr val="dk2"/>
                </a:solidFill>
                <a:latin typeface="IBM Plex Mono"/>
                <a:ea typeface="IBM Plex Mono"/>
                <a:cs typeface="IBM Plex Mono"/>
                <a:sym typeface="IBM Plex Mono"/>
              </a:defRPr>
            </a:lvl9pPr>
          </a:lstStyle>
          <a:p>
            <a:pPr algn="ctr"/>
            <a:r>
              <a:rPr lang="en-US" dirty="0"/>
              <a:t>PDCA </a:t>
            </a:r>
            <a:r>
              <a:rPr lang="en-US" dirty="0" err="1"/>
              <a:t>ciclo</a:t>
            </a:r>
            <a:r>
              <a:rPr lang="en-US" dirty="0"/>
              <a:t> SCRUM</a:t>
            </a:r>
          </a:p>
          <a:p>
            <a:pPr algn="ctr"/>
            <a:r>
              <a:rPr lang="en-US" sz="1800" dirty="0"/>
              <a:t>Plan-Do-Check-Act Cycle</a:t>
            </a:r>
            <a:br>
              <a:rPr lang="en-US" dirty="0"/>
            </a:br>
            <a:endParaRPr lang="en-US" dirty="0"/>
          </a:p>
        </p:txBody>
      </p:sp>
      <p:sp>
        <p:nvSpPr>
          <p:cNvPr id="6" name="CuadroTexto 5">
            <a:extLst>
              <a:ext uri="{FF2B5EF4-FFF2-40B4-BE49-F238E27FC236}">
                <a16:creationId xmlns:a16="http://schemas.microsoft.com/office/drawing/2014/main" id="{8274A2CC-7AAD-41E1-8617-6330D54F0438}"/>
              </a:ext>
            </a:extLst>
          </p:cNvPr>
          <p:cNvSpPr txBox="1"/>
          <p:nvPr/>
        </p:nvSpPr>
        <p:spPr>
          <a:xfrm>
            <a:off x="749219" y="3873046"/>
            <a:ext cx="7551174" cy="738664"/>
          </a:xfrm>
          <a:prstGeom prst="rect">
            <a:avLst/>
          </a:prstGeom>
          <a:noFill/>
        </p:spPr>
        <p:txBody>
          <a:bodyPr wrap="square">
            <a:spAutoFit/>
          </a:bodyPr>
          <a:lstStyle/>
          <a:p>
            <a:r>
              <a:rPr lang="en-US" dirty="0"/>
              <a:t>Las directrices de la </a:t>
            </a:r>
            <a:r>
              <a:rPr lang="en-US" dirty="0" err="1"/>
              <a:t>dirección</a:t>
            </a:r>
            <a:r>
              <a:rPr lang="en-US" dirty="0"/>
              <a:t> </a:t>
            </a:r>
            <a:r>
              <a:rPr lang="en-US" dirty="0" err="1"/>
              <a:t>definen</a:t>
            </a:r>
            <a:r>
              <a:rPr lang="en-US" dirty="0"/>
              <a:t> la </a:t>
            </a:r>
            <a:r>
              <a:rPr lang="en-US" dirty="0" err="1"/>
              <a:t>calidad</a:t>
            </a:r>
            <a:r>
              <a:rPr lang="en-US" dirty="0"/>
              <a:t>, </a:t>
            </a:r>
            <a:r>
              <a:rPr lang="en-US" dirty="0" err="1"/>
              <a:t>cuando</a:t>
            </a:r>
            <a:r>
              <a:rPr lang="en-US" dirty="0"/>
              <a:t> la </a:t>
            </a:r>
            <a:r>
              <a:rPr lang="en-US" dirty="0" err="1"/>
              <a:t>dirección</a:t>
            </a:r>
            <a:r>
              <a:rPr lang="en-US" dirty="0"/>
              <a:t> </a:t>
            </a:r>
            <a:r>
              <a:rPr lang="en-US" dirty="0" err="1"/>
              <a:t>logra</a:t>
            </a:r>
            <a:r>
              <a:rPr lang="en-US" dirty="0"/>
              <a:t> </a:t>
            </a:r>
            <a:r>
              <a:rPr lang="en-US" dirty="0" err="1"/>
              <a:t>crear</a:t>
            </a:r>
            <a:r>
              <a:rPr lang="en-US" dirty="0"/>
              <a:t> un </a:t>
            </a:r>
            <a:r>
              <a:rPr lang="en-US" dirty="0" err="1"/>
              <a:t>entorno</a:t>
            </a:r>
            <a:r>
              <a:rPr lang="en-US" dirty="0"/>
              <a:t> </a:t>
            </a:r>
            <a:r>
              <a:rPr lang="en-US" dirty="0" err="1"/>
              <a:t>propicio</a:t>
            </a:r>
            <a:r>
              <a:rPr lang="en-US" dirty="0"/>
              <a:t> y </a:t>
            </a:r>
            <a:r>
              <a:rPr lang="en-US" dirty="0" err="1"/>
              <a:t>motivar</a:t>
            </a:r>
            <a:r>
              <a:rPr lang="en-US" dirty="0"/>
              <a:t> a sus </a:t>
            </a:r>
            <a:r>
              <a:rPr lang="en-US" dirty="0" err="1"/>
              <a:t>empleados</a:t>
            </a:r>
            <a:r>
              <a:rPr lang="en-US" dirty="0"/>
              <a:t> para </a:t>
            </a:r>
            <a:r>
              <a:rPr lang="en-US" dirty="0" err="1"/>
              <a:t>mejorar</a:t>
            </a:r>
            <a:r>
              <a:rPr lang="en-US" dirty="0"/>
              <a:t> la </a:t>
            </a:r>
            <a:r>
              <a:rPr lang="en-US" dirty="0" err="1"/>
              <a:t>calidad</a:t>
            </a:r>
            <a:r>
              <a:rPr lang="en-US" dirty="0"/>
              <a:t> de forma continua, </a:t>
            </a:r>
            <a:r>
              <a:rPr lang="en-US" dirty="0" err="1"/>
              <a:t>cada</a:t>
            </a:r>
            <a:r>
              <a:rPr lang="en-US" dirty="0"/>
              <a:t> </a:t>
            </a:r>
            <a:r>
              <a:rPr lang="en-US" dirty="0" err="1"/>
              <a:t>empleado</a:t>
            </a:r>
            <a:r>
              <a:rPr lang="en-US" dirty="0"/>
              <a:t> </a:t>
            </a:r>
            <a:r>
              <a:rPr lang="en-US" dirty="0" err="1"/>
              <a:t>puede</a:t>
            </a:r>
            <a:r>
              <a:rPr lang="en-US" dirty="0"/>
              <a:t> </a:t>
            </a:r>
            <a:r>
              <a:rPr lang="en-US" dirty="0" err="1"/>
              <a:t>contribuir</a:t>
            </a:r>
            <a:r>
              <a:rPr lang="en-US" dirty="0"/>
              <a:t> a </a:t>
            </a:r>
            <a:r>
              <a:rPr lang="en-US" dirty="0" err="1"/>
              <a:t>lograr</a:t>
            </a:r>
            <a:r>
              <a:rPr lang="en-US" dirty="0"/>
              <a:t> un </a:t>
            </a:r>
            <a:r>
              <a:rPr lang="en-US" dirty="0" err="1"/>
              <a:t>producto</a:t>
            </a:r>
            <a:r>
              <a:rPr lang="en-US" dirty="0"/>
              <a:t> de </a:t>
            </a:r>
            <a:r>
              <a:rPr lang="en-US" dirty="0" err="1"/>
              <a:t>calidad</a:t>
            </a:r>
            <a:r>
              <a:rPr lang="en-US" dirty="0"/>
              <a:t> superior.</a:t>
            </a:r>
          </a:p>
        </p:txBody>
      </p:sp>
    </p:spTree>
    <p:extLst>
      <p:ext uri="{BB962C8B-B14F-4D97-AF65-F5344CB8AC3E}">
        <p14:creationId xmlns:p14="http://schemas.microsoft.com/office/powerpoint/2010/main" val="26163911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C8EC4F-B398-7EF7-25CD-53C5AA46B431}"/>
              </a:ext>
            </a:extLst>
          </p:cNvPr>
          <p:cNvSpPr>
            <a:spLocks noGrp="1"/>
          </p:cNvSpPr>
          <p:nvPr>
            <p:ph type="title" idx="4294967295"/>
          </p:nvPr>
        </p:nvSpPr>
        <p:spPr>
          <a:xfrm>
            <a:off x="0" y="444500"/>
            <a:ext cx="4926505" cy="573088"/>
          </a:xfrm>
        </p:spPr>
        <p:txBody>
          <a:bodyPr/>
          <a:lstStyle/>
          <a:p>
            <a:pPr algn="ctr"/>
            <a:r>
              <a:rPr lang="es-ES" dirty="0">
                <a:solidFill>
                  <a:srgbClr val="FF0000"/>
                </a:solidFill>
              </a:rPr>
              <a:t>Control de Lectura </a:t>
            </a:r>
            <a:endParaRPr lang="es-PE" dirty="0">
              <a:solidFill>
                <a:srgbClr val="FF0000"/>
              </a:solidFill>
            </a:endParaRPr>
          </a:p>
        </p:txBody>
      </p:sp>
      <p:sp>
        <p:nvSpPr>
          <p:cNvPr id="3" name="Marcador de número de diapositiva 2">
            <a:extLst>
              <a:ext uri="{FF2B5EF4-FFF2-40B4-BE49-F238E27FC236}">
                <a16:creationId xmlns:a16="http://schemas.microsoft.com/office/drawing/2014/main" id="{F399993E-5EDB-673D-8361-4422522C8B46}"/>
              </a:ext>
            </a:extLst>
          </p:cNvPr>
          <p:cNvSpPr>
            <a:spLocks noGrp="1"/>
          </p:cNvSpPr>
          <p:nvPr>
            <p:ph type="sldNum" idx="4294967295"/>
          </p:nvPr>
        </p:nvSpPr>
        <p:spPr>
          <a:xfrm>
            <a:off x="8594725" y="0"/>
            <a:ext cx="549275" cy="39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1pPr>
            <a:lvl2pPr marR="0" lvl="1"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2pPr>
            <a:lvl3pPr marR="0" lvl="2"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3pPr>
            <a:lvl4pPr marR="0" lvl="3"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4pPr>
            <a:lvl5pPr marR="0" lvl="4"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5pPr>
            <a:lvl6pPr marR="0" lvl="5"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6pPr>
            <a:lvl7pPr marR="0" lvl="6"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7pPr>
            <a:lvl8pPr marR="0" lvl="7"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8pPr>
            <a:lvl9pPr marR="0" lvl="8"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34</a:t>
            </a:fld>
            <a:endParaRPr lang="es-PE"/>
          </a:p>
        </p:txBody>
      </p:sp>
      <p:sp>
        <p:nvSpPr>
          <p:cNvPr id="4" name="CuadroTexto 3">
            <a:extLst>
              <a:ext uri="{FF2B5EF4-FFF2-40B4-BE49-F238E27FC236}">
                <a16:creationId xmlns:a16="http://schemas.microsoft.com/office/drawing/2014/main" id="{758ABAFC-2607-C736-EE67-A88A518A4452}"/>
              </a:ext>
            </a:extLst>
          </p:cNvPr>
          <p:cNvSpPr txBox="1"/>
          <p:nvPr/>
        </p:nvSpPr>
        <p:spPr>
          <a:xfrm>
            <a:off x="274638" y="1173409"/>
            <a:ext cx="5264925" cy="3277820"/>
          </a:xfrm>
          <a:prstGeom prst="rect">
            <a:avLst/>
          </a:prstGeom>
          <a:noFill/>
        </p:spPr>
        <p:txBody>
          <a:bodyPr wrap="square" rtlCol="0">
            <a:spAutoFit/>
          </a:bodyPr>
          <a:lstStyle/>
          <a:p>
            <a:r>
              <a:rPr lang="es-ES" dirty="0"/>
              <a:t>Revisar y responder:</a:t>
            </a:r>
          </a:p>
          <a:p>
            <a:r>
              <a:rPr lang="es-PE" sz="1100" dirty="0">
                <a:hlinkClick r:id="rId2"/>
              </a:rPr>
              <a:t>https://airccj.org/CSCP/vol3/csit3917.pdf</a:t>
            </a:r>
            <a:endParaRPr lang="es-PE" sz="1100" dirty="0"/>
          </a:p>
          <a:p>
            <a:endParaRPr lang="es-PE" dirty="0"/>
          </a:p>
          <a:p>
            <a:pPr marL="342900" indent="-342900">
              <a:buAutoNum type="arabicPeriod"/>
            </a:pPr>
            <a:r>
              <a:rPr lang="es-PE" dirty="0"/>
              <a:t>De los parámetros que definen la calidad ágil, indique 3 que considere los mas importantes</a:t>
            </a:r>
          </a:p>
          <a:p>
            <a:pPr marL="342900" indent="-342900">
              <a:buAutoNum type="arabicPeriod"/>
            </a:pPr>
            <a:r>
              <a:rPr lang="es-PE" dirty="0"/>
              <a:t>En el proceso de gestión de defectos de calidad identifique la actividad mas relevante que se realiza usualmente. Justifique</a:t>
            </a:r>
          </a:p>
          <a:p>
            <a:pPr marL="342900" indent="-342900">
              <a:buAutoNum type="arabicPeriod"/>
            </a:pPr>
            <a:r>
              <a:rPr lang="es-PE" dirty="0"/>
              <a:t>Describa alguna estrategia para realizar la mejora de calidad.</a:t>
            </a:r>
          </a:p>
          <a:p>
            <a:endParaRPr lang="es-PE" dirty="0"/>
          </a:p>
          <a:p>
            <a:r>
              <a:rPr lang="es-PE" dirty="0"/>
              <a:t>PRESENTACION</a:t>
            </a:r>
          </a:p>
          <a:p>
            <a:r>
              <a:rPr lang="es-PE" dirty="0"/>
              <a:t>Individual</a:t>
            </a:r>
          </a:p>
          <a:p>
            <a:r>
              <a:rPr lang="es-PE" dirty="0"/>
              <a:t>Responder preguntas</a:t>
            </a:r>
          </a:p>
          <a:p>
            <a:r>
              <a:rPr lang="es-PE" dirty="0"/>
              <a:t>Fecha: Sesión actual</a:t>
            </a:r>
          </a:p>
        </p:txBody>
      </p:sp>
      <p:pic>
        <p:nvPicPr>
          <p:cNvPr id="7" name="Imagen 6">
            <a:extLst>
              <a:ext uri="{FF2B5EF4-FFF2-40B4-BE49-F238E27FC236}">
                <a16:creationId xmlns:a16="http://schemas.microsoft.com/office/drawing/2014/main" id="{A5E76FDF-16C4-C8F5-5265-D07BEC268F21}"/>
              </a:ext>
            </a:extLst>
          </p:cNvPr>
          <p:cNvPicPr>
            <a:picLocks noChangeAspect="1"/>
          </p:cNvPicPr>
          <p:nvPr/>
        </p:nvPicPr>
        <p:blipFill>
          <a:blip r:embed="rId3"/>
          <a:stretch>
            <a:fillRect/>
          </a:stretch>
        </p:blipFill>
        <p:spPr>
          <a:xfrm>
            <a:off x="5832754" y="1514607"/>
            <a:ext cx="2114286" cy="2114286"/>
          </a:xfrm>
          <a:prstGeom prst="rect">
            <a:avLst/>
          </a:prstGeom>
        </p:spPr>
      </p:pic>
    </p:spTree>
    <p:extLst>
      <p:ext uri="{BB962C8B-B14F-4D97-AF65-F5344CB8AC3E}">
        <p14:creationId xmlns:p14="http://schemas.microsoft.com/office/powerpoint/2010/main" val="38905567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F784075-DC8E-999B-1A55-77A32C651E01}"/>
              </a:ext>
            </a:extLst>
          </p:cNvPr>
          <p:cNvSpPr>
            <a:spLocks noGrp="1"/>
          </p:cNvSpPr>
          <p:nvPr>
            <p:ph type="title" idx="4294967295"/>
          </p:nvPr>
        </p:nvSpPr>
        <p:spPr>
          <a:xfrm>
            <a:off x="0" y="444500"/>
            <a:ext cx="7702550" cy="573088"/>
          </a:xfrm>
        </p:spPr>
        <p:txBody>
          <a:bodyPr/>
          <a:lstStyle/>
          <a:p>
            <a:pPr algn="ctr"/>
            <a:r>
              <a:rPr lang="es-ES" dirty="0">
                <a:solidFill>
                  <a:srgbClr val="FF0000"/>
                </a:solidFill>
              </a:rPr>
              <a:t>Referencias</a:t>
            </a:r>
            <a:endParaRPr lang="es-PE" dirty="0">
              <a:solidFill>
                <a:srgbClr val="FF0000"/>
              </a:solidFill>
            </a:endParaRPr>
          </a:p>
        </p:txBody>
      </p:sp>
      <p:sp>
        <p:nvSpPr>
          <p:cNvPr id="3" name="Marcador de número de diapositiva 2">
            <a:extLst>
              <a:ext uri="{FF2B5EF4-FFF2-40B4-BE49-F238E27FC236}">
                <a16:creationId xmlns:a16="http://schemas.microsoft.com/office/drawing/2014/main" id="{264804EB-EE00-069E-F15B-3AAD1E68CFA5}"/>
              </a:ext>
            </a:extLst>
          </p:cNvPr>
          <p:cNvSpPr>
            <a:spLocks noGrp="1"/>
          </p:cNvSpPr>
          <p:nvPr>
            <p:ph type="sldNum" idx="4294967295"/>
          </p:nvPr>
        </p:nvSpPr>
        <p:spPr>
          <a:xfrm>
            <a:off x="8594725" y="0"/>
            <a:ext cx="549275" cy="393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1pPr>
            <a:lvl2pPr marR="0" lvl="1"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2pPr>
            <a:lvl3pPr marR="0" lvl="2"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3pPr>
            <a:lvl4pPr marR="0" lvl="3"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4pPr>
            <a:lvl5pPr marR="0" lvl="4"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5pPr>
            <a:lvl6pPr marR="0" lvl="5"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6pPr>
            <a:lvl7pPr marR="0" lvl="6"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7pPr>
            <a:lvl8pPr marR="0" lvl="7"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8pPr>
            <a:lvl9pPr marR="0" lvl="8" algn="r" rtl="0">
              <a:lnSpc>
                <a:spcPct val="100000"/>
              </a:lnSpc>
              <a:spcBef>
                <a:spcPts val="0"/>
              </a:spcBef>
              <a:spcAft>
                <a:spcPts val="0"/>
              </a:spcAft>
              <a:buClr>
                <a:srgbClr val="000000"/>
              </a:buClr>
              <a:buFont typeface="Arial"/>
              <a:buNone/>
              <a:defRPr sz="1300" b="0" i="0" u="none" strike="noStrike" cap="none">
                <a:solidFill>
                  <a:srgbClr val="4BB5D9"/>
                </a:solidFill>
                <a:latin typeface="Roboto Condensed"/>
                <a:ea typeface="Roboto Condensed"/>
                <a:cs typeface="Roboto Condensed"/>
                <a:sym typeface="Roboto Condensed"/>
              </a:defRPr>
            </a:lvl9p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35</a:t>
            </a:fld>
            <a:endParaRPr lang="es-PE"/>
          </a:p>
        </p:txBody>
      </p:sp>
      <p:sp>
        <p:nvSpPr>
          <p:cNvPr id="4" name="CuadroTexto 3">
            <a:extLst>
              <a:ext uri="{FF2B5EF4-FFF2-40B4-BE49-F238E27FC236}">
                <a16:creationId xmlns:a16="http://schemas.microsoft.com/office/drawing/2014/main" id="{7B773407-3A80-118C-FEB4-3D7782050D4D}"/>
              </a:ext>
            </a:extLst>
          </p:cNvPr>
          <p:cNvSpPr txBox="1"/>
          <p:nvPr/>
        </p:nvSpPr>
        <p:spPr>
          <a:xfrm>
            <a:off x="606056" y="1520456"/>
            <a:ext cx="6624084" cy="738664"/>
          </a:xfrm>
          <a:prstGeom prst="rect">
            <a:avLst/>
          </a:prstGeom>
          <a:noFill/>
        </p:spPr>
        <p:txBody>
          <a:bodyPr wrap="square" rtlCol="0">
            <a:spAutoFit/>
          </a:bodyPr>
          <a:lstStyle/>
          <a:p>
            <a:pPr marL="342900" indent="-342900">
              <a:buAutoNum type="arabicPeriod"/>
            </a:pPr>
            <a:r>
              <a:rPr lang="es-ES" dirty="0">
                <a:hlinkClick r:id="rId2"/>
              </a:rPr>
              <a:t>https://www.iosrjournals.org/iosr-jce/papers/Vol10-issue2/P01028793.pdf?id=196</a:t>
            </a:r>
            <a:endParaRPr lang="es-ES" dirty="0"/>
          </a:p>
          <a:p>
            <a:pPr marL="342900" indent="-342900">
              <a:buAutoNum type="arabicPeriod"/>
            </a:pPr>
            <a:r>
              <a:rPr lang="es-ES" dirty="0">
                <a:hlinkClick r:id="rId3"/>
              </a:rPr>
              <a:t>https://ijiset.com/vol2/v2s3/IJISET_V2_I3_25.pdf</a:t>
            </a:r>
            <a:endParaRPr lang="es-ES" dirty="0"/>
          </a:p>
        </p:txBody>
      </p:sp>
    </p:spTree>
    <p:extLst>
      <p:ext uri="{BB962C8B-B14F-4D97-AF65-F5344CB8AC3E}">
        <p14:creationId xmlns:p14="http://schemas.microsoft.com/office/powerpoint/2010/main" val="39749988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ítulo 1">
            <a:extLst>
              <a:ext uri="{FF2B5EF4-FFF2-40B4-BE49-F238E27FC236}">
                <a16:creationId xmlns:a16="http://schemas.microsoft.com/office/drawing/2014/main" id="{0558C7F0-DE8B-4C81-B63D-E961D7877609}"/>
              </a:ext>
            </a:extLst>
          </p:cNvPr>
          <p:cNvSpPr>
            <a:spLocks noGrp="1"/>
          </p:cNvSpPr>
          <p:nvPr>
            <p:ph type="title" idx="4294967295"/>
          </p:nvPr>
        </p:nvSpPr>
        <p:spPr>
          <a:xfrm>
            <a:off x="542260" y="136156"/>
            <a:ext cx="7702550" cy="573088"/>
          </a:xfrm>
        </p:spPr>
        <p:txBody>
          <a:bodyPr rtlCol="0"/>
          <a:lstStyle/>
          <a:p>
            <a:pPr algn="ctr">
              <a:defRPr/>
            </a:pPr>
            <a:r>
              <a:rPr lang="es-PE" sz="2400" dirty="0">
                <a:solidFill>
                  <a:srgbClr val="FE9202"/>
                </a:solidFill>
                <a:latin typeface="Arial" panose="020B0604020202020204" pitchFamily="34" charset="0"/>
                <a:cs typeface="Arial" panose="020B0604020202020204" pitchFamily="34" charset="0"/>
              </a:rPr>
              <a:t>Trabajo </a:t>
            </a:r>
            <a:r>
              <a:rPr lang="es-PE" sz="2400">
                <a:solidFill>
                  <a:srgbClr val="FE9202"/>
                </a:solidFill>
                <a:latin typeface="Arial" panose="020B0604020202020204" pitchFamily="34" charset="0"/>
                <a:cs typeface="Arial" panose="020B0604020202020204" pitchFamily="34" charset="0"/>
              </a:rPr>
              <a:t>Parcial 2: </a:t>
            </a:r>
            <a:br>
              <a:rPr lang="es-PE" sz="2400" dirty="0">
                <a:solidFill>
                  <a:srgbClr val="FE9202"/>
                </a:solidFill>
                <a:latin typeface="Arial" panose="020B0604020202020204" pitchFamily="34" charset="0"/>
                <a:cs typeface="Arial" panose="020B0604020202020204" pitchFamily="34" charset="0"/>
              </a:rPr>
            </a:br>
            <a:r>
              <a:rPr lang="es-PE" sz="2400" dirty="0">
                <a:solidFill>
                  <a:srgbClr val="FE9202"/>
                </a:solidFill>
                <a:latin typeface="Arial" panose="020B0604020202020204" pitchFamily="34" charset="0"/>
                <a:cs typeface="Arial" panose="020B0604020202020204" pitchFamily="34" charset="0"/>
              </a:rPr>
              <a:t>Aplicación de norma ISO 9000 2015</a:t>
            </a:r>
          </a:p>
        </p:txBody>
      </p:sp>
      <p:sp>
        <p:nvSpPr>
          <p:cNvPr id="3" name="Marcador de contenido 2">
            <a:extLst>
              <a:ext uri="{FF2B5EF4-FFF2-40B4-BE49-F238E27FC236}">
                <a16:creationId xmlns:a16="http://schemas.microsoft.com/office/drawing/2014/main" id="{98B4DB2D-D07C-4909-A335-0B42EAA5B99D}"/>
              </a:ext>
            </a:extLst>
          </p:cNvPr>
          <p:cNvSpPr>
            <a:spLocks noGrp="1"/>
          </p:cNvSpPr>
          <p:nvPr>
            <p:ph type="body" idx="4294967295"/>
          </p:nvPr>
        </p:nvSpPr>
        <p:spPr>
          <a:xfrm>
            <a:off x="446568" y="578090"/>
            <a:ext cx="7702550" cy="411163"/>
          </a:xfrm>
        </p:spPr>
        <p:txBody>
          <a:bodyPr rtlCol="0">
            <a:noAutofit/>
          </a:bodyPr>
          <a:lstStyle/>
          <a:p>
            <a:pPr marL="139700" indent="0">
              <a:buNone/>
              <a:defRPr/>
            </a:pPr>
            <a:endParaRPr lang="es-PE" sz="1800" dirty="0">
              <a:solidFill>
                <a:schemeClr val="tx1">
                  <a:lumMod val="95000"/>
                  <a:lumOff val="5000"/>
                </a:schemeClr>
              </a:solidFill>
              <a:latin typeface="Arial" panose="020B0604020202020204" pitchFamily="34" charset="0"/>
              <a:cs typeface="Arial" panose="020B0604020202020204" pitchFamily="34" charset="0"/>
            </a:endParaRPr>
          </a:p>
          <a:p>
            <a:pPr marL="139700" indent="0">
              <a:buNone/>
              <a:defRPr/>
            </a:pPr>
            <a:r>
              <a:rPr lang="es-PE" sz="1800" dirty="0">
                <a:solidFill>
                  <a:schemeClr val="tx1">
                    <a:lumMod val="95000"/>
                    <a:lumOff val="5000"/>
                  </a:schemeClr>
                </a:solidFill>
                <a:latin typeface="Arial" panose="020B0604020202020204" pitchFamily="34" charset="0"/>
                <a:cs typeface="Arial" panose="020B0604020202020204" pitchFamily="34" charset="0"/>
              </a:rPr>
              <a:t>Revisar:</a:t>
            </a:r>
          </a:p>
          <a:p>
            <a:pPr marL="139700" indent="0">
              <a:buNone/>
              <a:defRPr/>
            </a:pPr>
            <a:r>
              <a:rPr lang="es-PE" sz="1200" dirty="0">
                <a:solidFill>
                  <a:schemeClr val="tx1">
                    <a:lumMod val="95000"/>
                    <a:lumOff val="5000"/>
                  </a:schemeClr>
                </a:solidFill>
                <a:latin typeface="Arial" panose="020B0604020202020204" pitchFamily="34" charset="0"/>
                <a:cs typeface="Arial" panose="020B0604020202020204" pitchFamily="34" charset="0"/>
              </a:rPr>
              <a:t>https://www.ler.uam.mx/Calidad-UAML/wp-content/uploads/2025/02/ISO-9000-2015-s.pdf </a:t>
            </a:r>
          </a:p>
          <a:p>
            <a:pPr marL="139700" indent="0">
              <a:buNone/>
              <a:defRPr/>
            </a:pPr>
            <a:r>
              <a:rPr lang="es-PE" sz="1200" dirty="0">
                <a:solidFill>
                  <a:schemeClr val="tx1">
                    <a:lumMod val="95000"/>
                    <a:lumOff val="5000"/>
                  </a:schemeClr>
                </a:solidFill>
                <a:latin typeface="Arial" panose="020B0604020202020204" pitchFamily="34" charset="0"/>
                <a:cs typeface="Arial" panose="020B0604020202020204" pitchFamily="34" charset="0"/>
              </a:rPr>
              <a:t>https://github.com/IBM/agile-tutorial</a:t>
            </a:r>
          </a:p>
          <a:p>
            <a:pPr marL="482600" indent="-342900">
              <a:buAutoNum type="arabicPeriod"/>
              <a:defRPr/>
            </a:pPr>
            <a:r>
              <a:rPr lang="es-PE" sz="1800" dirty="0">
                <a:solidFill>
                  <a:schemeClr val="tx1">
                    <a:lumMod val="95000"/>
                    <a:lumOff val="5000"/>
                  </a:schemeClr>
                </a:solidFill>
                <a:latin typeface="Arial" panose="020B0604020202020204" pitchFamily="34" charset="0"/>
                <a:cs typeface="Arial" panose="020B0604020202020204" pitchFamily="34" charset="0"/>
              </a:rPr>
              <a:t>Revisar, seleccionar y adoptar características de la norma ISO 9000-2015 y de tutorial de modelos agiles en el proyecto de salud publica.</a:t>
            </a:r>
          </a:p>
          <a:p>
            <a:pPr>
              <a:buFont typeface="Wingdings 3" charset="2"/>
              <a:buAutoNum type="arabicPeriod"/>
              <a:defRPr/>
            </a:pPr>
            <a:r>
              <a:rPr lang="es-PE" sz="1800" dirty="0">
                <a:solidFill>
                  <a:schemeClr val="tx1">
                    <a:lumMod val="95000"/>
                    <a:lumOff val="5000"/>
                  </a:schemeClr>
                </a:solidFill>
                <a:latin typeface="Arial" panose="020B0604020202020204" pitchFamily="34" charset="0"/>
                <a:cs typeface="Arial" panose="020B0604020202020204" pitchFamily="34" charset="0"/>
              </a:rPr>
              <a:t> Describir el proceso de metodologías ágiles que podría utilizar.</a:t>
            </a:r>
          </a:p>
          <a:p>
            <a:pPr>
              <a:buFont typeface="Wingdings 3" charset="2"/>
              <a:buAutoNum type="arabicPeriod"/>
              <a:defRPr/>
            </a:pPr>
            <a:r>
              <a:rPr lang="es-PE" sz="1800" dirty="0">
                <a:solidFill>
                  <a:schemeClr val="tx1">
                    <a:lumMod val="95000"/>
                    <a:lumOff val="5000"/>
                  </a:schemeClr>
                </a:solidFill>
                <a:latin typeface="Arial" panose="020B0604020202020204" pitchFamily="34" charset="0"/>
                <a:cs typeface="Arial" panose="020B0604020202020204" pitchFamily="34" charset="0"/>
              </a:rPr>
              <a:t>Indique herramientas y roles a considerar en el proceso mencionado.</a:t>
            </a:r>
          </a:p>
          <a:p>
            <a:pPr>
              <a:defRPr/>
            </a:pPr>
            <a:endParaRPr lang="es-PE" sz="1800" dirty="0">
              <a:solidFill>
                <a:schemeClr val="tx1">
                  <a:lumMod val="95000"/>
                  <a:lumOff val="5000"/>
                </a:schemeClr>
              </a:solidFill>
              <a:latin typeface="Arial" panose="020B0604020202020204" pitchFamily="34" charset="0"/>
              <a:cs typeface="Arial" panose="020B0604020202020204" pitchFamily="34" charset="0"/>
            </a:endParaRPr>
          </a:p>
          <a:p>
            <a:pPr marL="139700" indent="0">
              <a:buNone/>
              <a:defRPr/>
            </a:pPr>
            <a:r>
              <a:rPr lang="es-PE" sz="1800" dirty="0">
                <a:solidFill>
                  <a:schemeClr val="tx1">
                    <a:lumMod val="95000"/>
                    <a:lumOff val="5000"/>
                  </a:schemeClr>
                </a:solidFill>
                <a:latin typeface="Arial" panose="020B0604020202020204" pitchFamily="34" charset="0"/>
                <a:cs typeface="Arial" panose="020B0604020202020204" pitchFamily="34" charset="0"/>
              </a:rPr>
              <a:t>Grupo:   05 personas</a:t>
            </a:r>
          </a:p>
          <a:p>
            <a:pPr marL="139700" indent="0">
              <a:buNone/>
              <a:defRPr/>
            </a:pPr>
            <a:r>
              <a:rPr lang="es-PE" sz="1800" dirty="0">
                <a:solidFill>
                  <a:schemeClr val="tx1">
                    <a:lumMod val="95000"/>
                    <a:lumOff val="5000"/>
                  </a:schemeClr>
                </a:solidFill>
                <a:latin typeface="Arial" panose="020B0604020202020204" pitchFamily="34" charset="0"/>
                <a:cs typeface="Arial" panose="020B0604020202020204" pitchFamily="34" charset="0"/>
              </a:rPr>
              <a:t>Entregable: Reporte y presentación </a:t>
            </a:r>
            <a:r>
              <a:rPr lang="es-PE" sz="1800" dirty="0" err="1">
                <a:solidFill>
                  <a:schemeClr val="tx1">
                    <a:lumMod val="95000"/>
                    <a:lumOff val="5000"/>
                  </a:schemeClr>
                </a:solidFill>
                <a:latin typeface="Arial" panose="020B0604020202020204" pitchFamily="34" charset="0"/>
                <a:cs typeface="Arial" panose="020B0604020202020204" pitchFamily="34" charset="0"/>
              </a:rPr>
              <a:t>ppt</a:t>
            </a:r>
            <a:endParaRPr lang="es-PE" sz="1800" dirty="0">
              <a:solidFill>
                <a:schemeClr val="tx1">
                  <a:lumMod val="95000"/>
                  <a:lumOff val="5000"/>
                </a:schemeClr>
              </a:solidFill>
              <a:latin typeface="Arial" panose="020B0604020202020204" pitchFamily="34" charset="0"/>
              <a:cs typeface="Arial" panose="020B0604020202020204" pitchFamily="34" charset="0"/>
            </a:endParaRPr>
          </a:p>
          <a:p>
            <a:pPr marL="139700" indent="0">
              <a:buNone/>
              <a:defRPr/>
            </a:pPr>
            <a:r>
              <a:rPr lang="es-PE" sz="1800" dirty="0">
                <a:solidFill>
                  <a:schemeClr val="tx1">
                    <a:lumMod val="95000"/>
                    <a:lumOff val="5000"/>
                  </a:schemeClr>
                </a:solidFill>
                <a:latin typeface="Arial" panose="020B0604020202020204" pitchFamily="34" charset="0"/>
                <a:cs typeface="Arial" panose="020B0604020202020204" pitchFamily="34" charset="0"/>
              </a:rPr>
              <a:t>Entrega: 15/09/2026</a:t>
            </a:r>
          </a:p>
          <a:p>
            <a:pPr>
              <a:defRPr/>
            </a:pPr>
            <a:endParaRPr lang="es-PE" sz="1500" dirty="0">
              <a:solidFill>
                <a:schemeClr val="tx1">
                  <a:lumMod val="95000"/>
                  <a:lumOff val="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411"/>
        <p:cNvGrpSpPr/>
        <p:nvPr/>
      </p:nvGrpSpPr>
      <p:grpSpPr>
        <a:xfrm>
          <a:off x="0" y="0"/>
          <a:ext cx="0" cy="0"/>
          <a:chOff x="0" y="0"/>
          <a:chExt cx="0" cy="0"/>
        </a:xfrm>
      </p:grpSpPr>
      <p:sp>
        <p:nvSpPr>
          <p:cNvPr id="2412" name="Google Shape;2412;p64"/>
          <p:cNvSpPr txBox="1">
            <a:spLocks noGrp="1"/>
          </p:cNvSpPr>
          <p:nvPr>
            <p:ph type="title"/>
          </p:nvPr>
        </p:nvSpPr>
        <p:spPr>
          <a:xfrm>
            <a:off x="1157288" y="685275"/>
            <a:ext cx="4448100" cy="1058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Thanks!</a:t>
            </a:r>
            <a:endParaRPr dirty="0"/>
          </a:p>
        </p:txBody>
      </p:sp>
      <p:sp>
        <p:nvSpPr>
          <p:cNvPr id="2413" name="Google Shape;2413;p64"/>
          <p:cNvSpPr txBox="1">
            <a:spLocks noGrp="1"/>
          </p:cNvSpPr>
          <p:nvPr>
            <p:ph type="subTitle" idx="1"/>
          </p:nvPr>
        </p:nvSpPr>
        <p:spPr>
          <a:xfrm>
            <a:off x="1157250" y="2203275"/>
            <a:ext cx="4448100" cy="100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jsilvaf@unsa.edu.pe</a:t>
            </a:r>
            <a:endParaRPr dirty="0"/>
          </a:p>
        </p:txBody>
      </p:sp>
      <p:sp>
        <p:nvSpPr>
          <p:cNvPr id="2414" name="Google Shape;2414;p64"/>
          <p:cNvSpPr txBox="1">
            <a:spLocks noGrp="1"/>
          </p:cNvSpPr>
          <p:nvPr>
            <p:ph type="subTitle" idx="2"/>
          </p:nvPr>
        </p:nvSpPr>
        <p:spPr>
          <a:xfrm>
            <a:off x="1157250" y="1800075"/>
            <a:ext cx="4448100" cy="385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Do you have any questions?</a:t>
            </a:r>
            <a:endParaRPr/>
          </a:p>
        </p:txBody>
      </p:sp>
      <p:grpSp>
        <p:nvGrpSpPr>
          <p:cNvPr id="2416" name="Google Shape;2416;p64"/>
          <p:cNvGrpSpPr/>
          <p:nvPr/>
        </p:nvGrpSpPr>
        <p:grpSpPr>
          <a:xfrm>
            <a:off x="5361478" y="2513937"/>
            <a:ext cx="597900" cy="385800"/>
            <a:chOff x="2289878" y="3082512"/>
            <a:chExt cx="597900" cy="385800"/>
          </a:xfrm>
        </p:grpSpPr>
        <p:sp>
          <p:nvSpPr>
            <p:cNvPr id="2417" name="Google Shape;2417;p64"/>
            <p:cNvSpPr/>
            <p:nvPr/>
          </p:nvSpPr>
          <p:spPr>
            <a:xfrm>
              <a:off x="2447030" y="3130409"/>
              <a:ext cx="282876" cy="283216"/>
            </a:xfrm>
            <a:custGeom>
              <a:avLst/>
              <a:gdLst/>
              <a:ahLst/>
              <a:cxnLst/>
              <a:rect l="l" t="t" r="r" b="b"/>
              <a:pathLst>
                <a:path w="10860" h="10872" extrusionOk="0">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64"/>
            <p:cNvSpPr/>
            <p:nvPr/>
          </p:nvSpPr>
          <p:spPr>
            <a:xfrm>
              <a:off x="2289878" y="3082512"/>
              <a:ext cx="597900" cy="385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19" name="Google Shape;2419;p64"/>
          <p:cNvGrpSpPr/>
          <p:nvPr/>
        </p:nvGrpSpPr>
        <p:grpSpPr>
          <a:xfrm>
            <a:off x="4573177" y="2513937"/>
            <a:ext cx="597900" cy="385800"/>
            <a:chOff x="1501577" y="3082512"/>
            <a:chExt cx="597900" cy="385800"/>
          </a:xfrm>
        </p:grpSpPr>
        <p:grpSp>
          <p:nvGrpSpPr>
            <p:cNvPr id="2420" name="Google Shape;2420;p64"/>
            <p:cNvGrpSpPr/>
            <p:nvPr/>
          </p:nvGrpSpPr>
          <p:grpSpPr>
            <a:xfrm>
              <a:off x="1659114" y="3130469"/>
              <a:ext cx="283212" cy="282899"/>
              <a:chOff x="3303268" y="3817349"/>
              <a:chExt cx="346056" cy="345674"/>
            </a:xfrm>
          </p:grpSpPr>
          <p:sp>
            <p:nvSpPr>
              <p:cNvPr id="2421" name="Google Shape;2421;p64"/>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64"/>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64"/>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64"/>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25" name="Google Shape;2425;p64"/>
            <p:cNvSpPr/>
            <p:nvPr/>
          </p:nvSpPr>
          <p:spPr>
            <a:xfrm>
              <a:off x="1501577" y="3082512"/>
              <a:ext cx="597900" cy="385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26" name="Google Shape;2426;p64"/>
          <p:cNvGrpSpPr/>
          <p:nvPr/>
        </p:nvGrpSpPr>
        <p:grpSpPr>
          <a:xfrm>
            <a:off x="3784875" y="2513937"/>
            <a:ext cx="597900" cy="385800"/>
            <a:chOff x="713275" y="3082512"/>
            <a:chExt cx="597900" cy="385800"/>
          </a:xfrm>
        </p:grpSpPr>
        <p:grpSp>
          <p:nvGrpSpPr>
            <p:cNvPr id="2427" name="Google Shape;2427;p64"/>
            <p:cNvGrpSpPr/>
            <p:nvPr/>
          </p:nvGrpSpPr>
          <p:grpSpPr>
            <a:xfrm>
              <a:off x="870716" y="3133963"/>
              <a:ext cx="283558" cy="283245"/>
              <a:chOff x="3752358" y="3817349"/>
              <a:chExt cx="346056" cy="345674"/>
            </a:xfrm>
          </p:grpSpPr>
          <p:sp>
            <p:nvSpPr>
              <p:cNvPr id="2428" name="Google Shape;2428;p64"/>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64"/>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64"/>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64"/>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32" name="Google Shape;2432;p64"/>
            <p:cNvSpPr/>
            <p:nvPr/>
          </p:nvSpPr>
          <p:spPr>
            <a:xfrm>
              <a:off x="713275" y="3082512"/>
              <a:ext cx="597900" cy="385800"/>
            </a:xfrm>
            <a:prstGeom prst="rect">
              <a:avLst/>
            </a:prstGeom>
            <a:noFill/>
            <a:ln w="9525" cap="flat" cmpd="sng">
              <a:solidFill>
                <a:schemeClr val="l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3" name="Google Shape;2433;p64"/>
          <p:cNvGrpSpPr/>
          <p:nvPr/>
        </p:nvGrpSpPr>
        <p:grpSpPr>
          <a:xfrm rot="10800000" flipH="1">
            <a:off x="6773992" y="-1205456"/>
            <a:ext cx="4151819" cy="5527900"/>
            <a:chOff x="6309526" y="836950"/>
            <a:chExt cx="3920509" cy="5219925"/>
          </a:xfrm>
        </p:grpSpPr>
        <p:pic>
          <p:nvPicPr>
            <p:cNvPr id="2434" name="Google Shape;2434;p64"/>
            <p:cNvPicPr preferRelativeResize="0"/>
            <p:nvPr/>
          </p:nvPicPr>
          <p:blipFill rotWithShape="1">
            <a:blip r:embed="rId3">
              <a:alphaModFix/>
            </a:blip>
            <a:srcRect l="16960" t="24718" r="7121" b="26177"/>
            <a:stretch/>
          </p:blipFill>
          <p:spPr>
            <a:xfrm>
              <a:off x="6309535" y="3064650"/>
              <a:ext cx="3920501" cy="2992224"/>
            </a:xfrm>
            <a:prstGeom prst="rect">
              <a:avLst/>
            </a:prstGeom>
            <a:noFill/>
            <a:ln>
              <a:noFill/>
            </a:ln>
          </p:spPr>
        </p:pic>
        <p:sp>
          <p:nvSpPr>
            <p:cNvPr id="2435" name="Google Shape;2435;p64"/>
            <p:cNvSpPr/>
            <p:nvPr/>
          </p:nvSpPr>
          <p:spPr>
            <a:xfrm rot="10800000">
              <a:off x="7535449" y="2941132"/>
              <a:ext cx="981776" cy="2307791"/>
            </a:xfrm>
            <a:custGeom>
              <a:avLst/>
              <a:gdLst/>
              <a:ahLst/>
              <a:cxnLst/>
              <a:rect l="l" t="t" r="r" b="b"/>
              <a:pathLst>
                <a:path w="23937" h="56267" extrusionOk="0">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64"/>
            <p:cNvSpPr/>
            <p:nvPr/>
          </p:nvSpPr>
          <p:spPr>
            <a:xfrm rot="10800000">
              <a:off x="7694795" y="2941747"/>
              <a:ext cx="981776" cy="2307791"/>
            </a:xfrm>
            <a:custGeom>
              <a:avLst/>
              <a:gdLst/>
              <a:ahLst/>
              <a:cxnLst/>
              <a:rect l="l" t="t" r="r" b="b"/>
              <a:pathLst>
                <a:path w="23937" h="56267" extrusionOk="0">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64"/>
            <p:cNvSpPr/>
            <p:nvPr/>
          </p:nvSpPr>
          <p:spPr>
            <a:xfrm>
              <a:off x="6309526" y="836950"/>
              <a:ext cx="3153315" cy="5119205"/>
            </a:xfrm>
            <a:custGeom>
              <a:avLst/>
              <a:gdLst/>
              <a:ahLst/>
              <a:cxnLst/>
              <a:rect l="l" t="t" r="r" b="b"/>
              <a:pathLst>
                <a:path w="76882" h="124813" extrusionOk="0">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38" name="Google Shape;2438;p64"/>
            <p:cNvGrpSpPr/>
            <p:nvPr/>
          </p:nvGrpSpPr>
          <p:grpSpPr>
            <a:xfrm>
              <a:off x="7280400" y="3719575"/>
              <a:ext cx="582050" cy="582425"/>
              <a:chOff x="959750" y="3039275"/>
              <a:chExt cx="582050" cy="582425"/>
            </a:xfrm>
          </p:grpSpPr>
          <p:sp>
            <p:nvSpPr>
              <p:cNvPr id="2439" name="Google Shape;2439;p64"/>
              <p:cNvSpPr/>
              <p:nvPr/>
            </p:nvSpPr>
            <p:spPr>
              <a:xfrm>
                <a:off x="959750" y="3498275"/>
                <a:ext cx="123450" cy="123425"/>
              </a:xfrm>
              <a:custGeom>
                <a:avLst/>
                <a:gdLst/>
                <a:ahLst/>
                <a:cxnLst/>
                <a:rect l="l" t="t" r="r" b="b"/>
                <a:pathLst>
                  <a:path w="4938" h="4937" extrusionOk="0">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64"/>
              <p:cNvSpPr/>
              <p:nvPr/>
            </p:nvSpPr>
            <p:spPr>
              <a:xfrm>
                <a:off x="1035950" y="3421700"/>
                <a:ext cx="123425" cy="123825"/>
              </a:xfrm>
              <a:custGeom>
                <a:avLst/>
                <a:gdLst/>
                <a:ahLst/>
                <a:cxnLst/>
                <a:rect l="l" t="t" r="r" b="b"/>
                <a:pathLst>
                  <a:path w="4937" h="4953" extrusionOk="0">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64"/>
              <p:cNvSpPr/>
              <p:nvPr/>
            </p:nvSpPr>
            <p:spPr>
              <a:xfrm>
                <a:off x="1112500" y="3345525"/>
                <a:ext cx="123825" cy="123450"/>
              </a:xfrm>
              <a:custGeom>
                <a:avLst/>
                <a:gdLst/>
                <a:ahLst/>
                <a:cxnLst/>
                <a:rect l="l" t="t" r="r" b="b"/>
                <a:pathLst>
                  <a:path w="4953" h="4938" extrusionOk="0">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64"/>
              <p:cNvSpPr/>
              <p:nvPr/>
            </p:nvSpPr>
            <p:spPr>
              <a:xfrm>
                <a:off x="1188675" y="3268975"/>
                <a:ext cx="123825" cy="123425"/>
              </a:xfrm>
              <a:custGeom>
                <a:avLst/>
                <a:gdLst/>
                <a:ahLst/>
                <a:cxnLst/>
                <a:rect l="l" t="t" r="r" b="b"/>
                <a:pathLst>
                  <a:path w="4953" h="4937" extrusionOk="0">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64"/>
              <p:cNvSpPr/>
              <p:nvPr/>
            </p:nvSpPr>
            <p:spPr>
              <a:xfrm>
                <a:off x="1265625" y="3192800"/>
                <a:ext cx="123425" cy="123425"/>
              </a:xfrm>
              <a:custGeom>
                <a:avLst/>
                <a:gdLst/>
                <a:ahLst/>
                <a:cxnLst/>
                <a:rect l="l" t="t" r="r" b="b"/>
                <a:pathLst>
                  <a:path w="4937" h="4937" extrusionOk="0">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64"/>
              <p:cNvSpPr/>
              <p:nvPr/>
            </p:nvSpPr>
            <p:spPr>
              <a:xfrm>
                <a:off x="1341800" y="3116225"/>
                <a:ext cx="123450" cy="123450"/>
              </a:xfrm>
              <a:custGeom>
                <a:avLst/>
                <a:gdLst/>
                <a:ahLst/>
                <a:cxnLst/>
                <a:rect l="l" t="t" r="r" b="b"/>
                <a:pathLst>
                  <a:path w="4938" h="4938" extrusionOk="0">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64"/>
              <p:cNvSpPr/>
              <p:nvPr/>
            </p:nvSpPr>
            <p:spPr>
              <a:xfrm>
                <a:off x="1418375" y="3039275"/>
                <a:ext cx="123425" cy="123825"/>
              </a:xfrm>
              <a:custGeom>
                <a:avLst/>
                <a:gdLst/>
                <a:ahLst/>
                <a:cxnLst/>
                <a:rect l="l" t="t" r="r" b="b"/>
                <a:pathLst>
                  <a:path w="4937" h="4953" extrusionOk="0">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6" name="Google Shape;2446;p64"/>
            <p:cNvGrpSpPr/>
            <p:nvPr/>
          </p:nvGrpSpPr>
          <p:grpSpPr>
            <a:xfrm>
              <a:off x="7728436" y="3524084"/>
              <a:ext cx="134004" cy="134004"/>
              <a:chOff x="8356813" y="1074288"/>
              <a:chExt cx="351900" cy="351900"/>
            </a:xfrm>
          </p:grpSpPr>
          <p:sp>
            <p:nvSpPr>
              <p:cNvPr id="2447" name="Google Shape;2447;p6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6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49" name="Google Shape;2449;p64"/>
            <p:cNvGrpSpPr/>
            <p:nvPr/>
          </p:nvGrpSpPr>
          <p:grpSpPr>
            <a:xfrm>
              <a:off x="7344361" y="3150259"/>
              <a:ext cx="134004" cy="134004"/>
              <a:chOff x="8356813" y="1074288"/>
              <a:chExt cx="351900" cy="351900"/>
            </a:xfrm>
          </p:grpSpPr>
          <p:sp>
            <p:nvSpPr>
              <p:cNvPr id="2450" name="Google Shape;2450;p6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6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52" name="Google Shape;2452;p64"/>
            <p:cNvGrpSpPr/>
            <p:nvPr/>
          </p:nvGrpSpPr>
          <p:grpSpPr>
            <a:xfrm>
              <a:off x="8337811" y="2464059"/>
              <a:ext cx="134004" cy="134004"/>
              <a:chOff x="8356813" y="1074288"/>
              <a:chExt cx="351900" cy="351900"/>
            </a:xfrm>
          </p:grpSpPr>
          <p:sp>
            <p:nvSpPr>
              <p:cNvPr id="2453" name="Google Shape;2453;p64"/>
              <p:cNvSpPr/>
              <p:nvPr/>
            </p:nvSpPr>
            <p:spPr>
              <a:xfrm>
                <a:off x="8356813" y="1074288"/>
                <a:ext cx="351900" cy="351900"/>
              </a:xfrm>
              <a:prstGeom prst="ellipse">
                <a:avLst/>
              </a:pr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64"/>
              <p:cNvSpPr/>
              <p:nvPr/>
            </p:nvSpPr>
            <p:spPr>
              <a:xfrm>
                <a:off x="8406497" y="1123972"/>
                <a:ext cx="252600" cy="252600"/>
              </a:xfrm>
              <a:prstGeom prst="ellipse">
                <a:avLst/>
              </a:prstGeom>
              <a:gradFill>
                <a:gsLst>
                  <a:gs pos="0">
                    <a:srgbClr val="9900FF">
                      <a:alpha val="46666"/>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55" name="Google Shape;2455;p64"/>
            <p:cNvSpPr/>
            <p:nvPr/>
          </p:nvSpPr>
          <p:spPr>
            <a:xfrm>
              <a:off x="8430775" y="2842975"/>
              <a:ext cx="480893" cy="475828"/>
            </a:xfrm>
            <a:custGeom>
              <a:avLst/>
              <a:gdLst/>
              <a:ahLst/>
              <a:cxnLst/>
              <a:rect l="l" t="t" r="r" b="b"/>
              <a:pathLst>
                <a:path w="36171" h="35790" extrusionOk="0">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56" name="Google Shape;2456;p64"/>
            <p:cNvGrpSpPr/>
            <p:nvPr/>
          </p:nvGrpSpPr>
          <p:grpSpPr>
            <a:xfrm>
              <a:off x="8337812" y="3492483"/>
              <a:ext cx="699928" cy="1651024"/>
              <a:chOff x="8337812" y="3492483"/>
              <a:chExt cx="699928" cy="1651024"/>
            </a:xfrm>
          </p:grpSpPr>
          <p:sp>
            <p:nvSpPr>
              <p:cNvPr id="2457" name="Google Shape;2457;p64"/>
              <p:cNvSpPr/>
              <p:nvPr/>
            </p:nvSpPr>
            <p:spPr>
              <a:xfrm>
                <a:off x="8337812" y="3492483"/>
                <a:ext cx="483116" cy="1013645"/>
              </a:xfrm>
              <a:custGeom>
                <a:avLst/>
                <a:gdLst/>
                <a:ahLst/>
                <a:cxnLst/>
                <a:rect l="l" t="t" r="r" b="b"/>
                <a:pathLst>
                  <a:path w="11779" h="24714" extrusionOk="0">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64"/>
              <p:cNvSpPr/>
              <p:nvPr/>
            </p:nvSpPr>
            <p:spPr>
              <a:xfrm>
                <a:off x="8698380" y="3916789"/>
                <a:ext cx="246869" cy="1226718"/>
              </a:xfrm>
              <a:custGeom>
                <a:avLst/>
                <a:gdLst/>
                <a:ahLst/>
                <a:cxnLst/>
                <a:rect l="l" t="t" r="r" b="b"/>
                <a:pathLst>
                  <a:path w="6019" h="29909" extrusionOk="0">
                    <a:moveTo>
                      <a:pt x="1" y="1"/>
                    </a:moveTo>
                    <a:lnTo>
                      <a:pt x="1" y="306"/>
                    </a:lnTo>
                    <a:lnTo>
                      <a:pt x="5699" y="306"/>
                    </a:lnTo>
                    <a:lnTo>
                      <a:pt x="5699"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64"/>
              <p:cNvSpPr/>
              <p:nvPr/>
            </p:nvSpPr>
            <p:spPr>
              <a:xfrm>
                <a:off x="8790871" y="3823684"/>
                <a:ext cx="246869" cy="1226718"/>
              </a:xfrm>
              <a:custGeom>
                <a:avLst/>
                <a:gdLst/>
                <a:ahLst/>
                <a:cxnLst/>
                <a:rect l="l" t="t" r="r" b="b"/>
                <a:pathLst>
                  <a:path w="6019" h="29909" extrusionOk="0">
                    <a:moveTo>
                      <a:pt x="1" y="1"/>
                    </a:moveTo>
                    <a:lnTo>
                      <a:pt x="1" y="305"/>
                    </a:lnTo>
                    <a:lnTo>
                      <a:pt x="5714" y="305"/>
                    </a:lnTo>
                    <a:lnTo>
                      <a:pt x="5714" y="29909"/>
                    </a:lnTo>
                    <a:lnTo>
                      <a:pt x="6019" y="29909"/>
                    </a:lnTo>
                    <a:lnTo>
                      <a:pt x="6019" y="1"/>
                    </a:lnTo>
                    <a:close/>
                  </a:path>
                </a:pathLst>
              </a:custGeom>
              <a:gradFill>
                <a:gsLst>
                  <a:gs pos="0">
                    <a:srgbClr val="0C0A9E">
                      <a:alpha val="37254"/>
                    </a:srgbClr>
                  </a:gs>
                  <a:gs pos="100000">
                    <a:srgbClr val="FFFFFF">
                      <a:alpha val="0"/>
                    </a:srgbClr>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0" name="Google Shape;2460;p64"/>
            <p:cNvGrpSpPr/>
            <p:nvPr/>
          </p:nvGrpSpPr>
          <p:grpSpPr>
            <a:xfrm>
              <a:off x="7945225" y="4302000"/>
              <a:ext cx="904666" cy="726121"/>
              <a:chOff x="7945225" y="4302000"/>
              <a:chExt cx="904666" cy="726121"/>
            </a:xfrm>
          </p:grpSpPr>
          <p:sp>
            <p:nvSpPr>
              <p:cNvPr id="2461" name="Google Shape;2461;p64"/>
              <p:cNvSpPr/>
              <p:nvPr/>
            </p:nvSpPr>
            <p:spPr>
              <a:xfrm>
                <a:off x="8176775" y="4445200"/>
                <a:ext cx="673116" cy="582921"/>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64"/>
              <p:cNvSpPr/>
              <p:nvPr/>
            </p:nvSpPr>
            <p:spPr>
              <a:xfrm>
                <a:off x="8164350" y="43020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64"/>
              <p:cNvSpPr/>
              <p:nvPr/>
            </p:nvSpPr>
            <p:spPr>
              <a:xfrm>
                <a:off x="7945225" y="4445200"/>
                <a:ext cx="480925" cy="416483"/>
              </a:xfrm>
              <a:custGeom>
                <a:avLst/>
                <a:gdLst/>
                <a:ahLst/>
                <a:cxnLst/>
                <a:rect l="l" t="t" r="r" b="b"/>
                <a:pathLst>
                  <a:path w="51285" h="44413" extrusionOk="0">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64" name="Google Shape;2464;p64"/>
            <p:cNvSpPr/>
            <p:nvPr/>
          </p:nvSpPr>
          <p:spPr>
            <a:xfrm rot="5400000">
              <a:off x="7687039" y="1023058"/>
              <a:ext cx="1421047" cy="2833357"/>
            </a:xfrm>
            <a:custGeom>
              <a:avLst/>
              <a:gdLst/>
              <a:ahLst/>
              <a:cxnLst/>
              <a:rect l="l" t="t" r="r" b="b"/>
              <a:pathLst>
                <a:path w="34647" h="69081" extrusionOk="0">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4816"/>
        <p:cNvGrpSpPr/>
        <p:nvPr/>
      </p:nvGrpSpPr>
      <p:grpSpPr>
        <a:xfrm>
          <a:off x="0" y="0"/>
          <a:ext cx="0" cy="0"/>
          <a:chOff x="0" y="0"/>
          <a:chExt cx="0" cy="0"/>
        </a:xfrm>
      </p:grpSpPr>
      <p:sp>
        <p:nvSpPr>
          <p:cNvPr id="2" name="CuadroTexto 1">
            <a:extLst>
              <a:ext uri="{FF2B5EF4-FFF2-40B4-BE49-F238E27FC236}">
                <a16:creationId xmlns:a16="http://schemas.microsoft.com/office/drawing/2014/main" id="{3202B3E8-0D97-BF11-4B4E-B5C625538451}"/>
              </a:ext>
            </a:extLst>
          </p:cNvPr>
          <p:cNvSpPr txBox="1"/>
          <p:nvPr/>
        </p:nvSpPr>
        <p:spPr>
          <a:xfrm>
            <a:off x="2743200" y="1977656"/>
            <a:ext cx="3753293" cy="307777"/>
          </a:xfrm>
          <a:prstGeom prst="rect">
            <a:avLst/>
          </a:prstGeom>
          <a:noFill/>
        </p:spPr>
        <p:txBody>
          <a:bodyPr wrap="square" rtlCol="0">
            <a:spAutoFit/>
          </a:bodyPr>
          <a:lstStyle/>
          <a:p>
            <a:pPr algn="ctr"/>
            <a:r>
              <a:rPr lang="es-ES" dirty="0">
                <a:solidFill>
                  <a:schemeClr val="tx2"/>
                </a:solidFill>
              </a:rPr>
              <a:t>Calidad de Software</a:t>
            </a:r>
            <a:endParaRPr lang="es-PE" dirty="0">
              <a:solidFill>
                <a:schemeClr val="tx2"/>
              </a:solidFill>
            </a:endParaRPr>
          </a:p>
        </p:txBody>
      </p:sp>
    </p:spTree>
  </p:cSld>
  <p:clrMapOvr>
    <a:masterClrMapping/>
  </p:clrMapOvr>
</p:sld>
</file>

<file path=ppt/theme/theme1.xml><?xml version="1.0" encoding="utf-8"?>
<a:theme xmlns:a="http://schemas.openxmlformats.org/drawingml/2006/main"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259</TotalTime>
  <Words>4532</Words>
  <Application>Microsoft Office PowerPoint</Application>
  <PresentationFormat>Presentación en pantalla (16:9)</PresentationFormat>
  <Paragraphs>231</Paragraphs>
  <Slides>38</Slides>
  <Notes>3</Notes>
  <HiddenSlides>0</HiddenSlides>
  <MMClips>0</MMClips>
  <ScaleCrop>false</ScaleCrop>
  <HeadingPairs>
    <vt:vector size="6" baseType="variant">
      <vt:variant>
        <vt:lpstr>Fuentes usadas</vt:lpstr>
      </vt:variant>
      <vt:variant>
        <vt:i4>10</vt:i4>
      </vt:variant>
      <vt:variant>
        <vt:lpstr>Tema</vt:lpstr>
      </vt:variant>
      <vt:variant>
        <vt:i4>2</vt:i4>
      </vt:variant>
      <vt:variant>
        <vt:lpstr>Títulos de diapositiva</vt:lpstr>
      </vt:variant>
      <vt:variant>
        <vt:i4>38</vt:i4>
      </vt:variant>
    </vt:vector>
  </HeadingPairs>
  <TitlesOfParts>
    <vt:vector size="50" baseType="lpstr">
      <vt:lpstr>Calibri</vt:lpstr>
      <vt:lpstr>Arial Black</vt:lpstr>
      <vt:lpstr>Roboto Condensed</vt:lpstr>
      <vt:lpstr>Wingdings 3</vt:lpstr>
      <vt:lpstr>Times New Roman</vt:lpstr>
      <vt:lpstr>IBM Plex Mono</vt:lpstr>
      <vt:lpstr>Proxima Nova</vt:lpstr>
      <vt:lpstr>Poppins</vt:lpstr>
      <vt:lpstr>Arial</vt:lpstr>
      <vt:lpstr>Oswald</vt:lpstr>
      <vt:lpstr>Introduction to Coding Workshop by Slidesgo</vt:lpstr>
      <vt:lpstr>Slidesgo Final Pages</vt:lpstr>
      <vt:lpstr>Calidad y Métodos Agiles Capítulo 3</vt:lpstr>
      <vt:lpstr>¿Qué es ágil? </vt:lpstr>
      <vt:lpstr>Algunos ejemplos de la vida real del modelo ágil:</vt:lpstr>
      <vt:lpstr>¿Cuáles son los 12 principios de Agile? </vt:lpstr>
      <vt:lpstr>Metodología ágil </vt:lpstr>
      <vt:lpstr>Ejemplos de Metodología ágil </vt:lpstr>
      <vt:lpstr>Scrum </vt:lpstr>
      <vt:lpstr>Metodología ágil scrum</vt:lpstr>
      <vt:lpstr>Ciclo de vida de Scrum: </vt:lpstr>
      <vt:lpstr>Cómo funciona Scrum </vt:lpstr>
      <vt:lpstr>Cómo funciona Scrum </vt:lpstr>
      <vt:lpstr>Introducción a los términos de Scrum</vt:lpstr>
      <vt:lpstr>¿Quién está en Scrum??/scrum Términos</vt:lpstr>
      <vt:lpstr>Presentación de PowerPoint</vt:lpstr>
      <vt:lpstr>Una introducción visual a Scrum </vt:lpstr>
      <vt:lpstr>Presentación de PowerPoint</vt:lpstr>
      <vt:lpstr>Características clave de la metodología Scrum </vt:lpstr>
      <vt:lpstr>¿Quién puede beneficiarse de Scrum? </vt:lpstr>
      <vt:lpstr>¿Cuáles son los beneficios de la metodología ágil Scrum? </vt:lpstr>
      <vt:lpstr>Beneficios de Scrum </vt:lpstr>
      <vt:lpstr>Desventajas de Scrum </vt:lpstr>
      <vt:lpstr>Mejores prácticas de Scrum </vt:lpstr>
      <vt:lpstr>Rol del ingeniero de pruebas en el equipo Scrum</vt:lpstr>
      <vt:lpstr>Scrum en pruebas de software </vt:lpstr>
      <vt:lpstr>Pruebas Scrum </vt:lpstr>
      <vt:lpstr>Rol del ingeniero de pruebas en el equipo Scrum</vt:lpstr>
      <vt:lpstr>El rol del tester en un equipo ágil </vt:lpstr>
      <vt:lpstr>¿Cuál es el rol de un tester de control de calidad en un equipo Scrum? </vt:lpstr>
      <vt:lpstr>¿Cuál es el rol de un tester de control de calidad en un equipo Scrum?</vt:lpstr>
      <vt:lpstr>¿Cuál es el rol de un tester de control de calidad en un equipo Scrum?</vt:lpstr>
      <vt:lpstr>¿Cuáles son las distintas actividades de prueba en el proceso Scrum? </vt:lpstr>
      <vt:lpstr>Reunión de revisión y retrospección </vt:lpstr>
      <vt:lpstr>Presentación de PowerPoint</vt:lpstr>
      <vt:lpstr>Control de Lectura </vt:lpstr>
      <vt:lpstr>Referencias</vt:lpstr>
      <vt:lpstr>Trabajo Parcial 2:  Aplicación de norma ISO 9000 2015</vt:lpstr>
      <vt:lpstr>Thanks!</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Calidad y Métodos Agiles Capítulo 3</dc:title>
  <dc:creator>LENOVO</dc:creator>
  <cp:lastModifiedBy>JESUS MARTIN SILVA FERNANDEZ</cp:lastModifiedBy>
  <cp:revision>46</cp:revision>
  <dcterms:modified xsi:type="dcterms:W3CDTF">2026-09-08T03:34:58Z</dcterms:modified>
</cp:coreProperties>
</file>