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Proxima Nova"/>
      <p:regular r:id="rId48"/>
      <p:bold r:id="rId49"/>
      <p:italic r:id="rId50"/>
      <p:boldItalic r:id="rId51"/>
    </p:embeddedFont>
    <p:embeddedFont>
      <p:font typeface="Poppins"/>
      <p:regular r:id="rId52"/>
      <p:bold r:id="rId53"/>
      <p:italic r:id="rId54"/>
      <p:boldItalic r:id="rId55"/>
    </p:embeddedFont>
    <p:embeddedFont>
      <p:font typeface="Roboto Condensed"/>
      <p:regular r:id="rId56"/>
      <p:bold r:id="rId57"/>
      <p:italic r:id="rId58"/>
      <p:boldItalic r:id="rId59"/>
    </p:embeddedFont>
    <p:embeddedFont>
      <p:font typeface="Palatino Linotype"/>
      <p:regular r:id="rId60"/>
      <p:bold r:id="rId61"/>
      <p:italic r:id="rId62"/>
      <p:boldItalic r:id="rId63"/>
    </p:embeddedFont>
    <p:embeddedFont>
      <p:font typeface="Noto Sans Symbols"/>
      <p:regular r:id="rId64"/>
      <p:bold r:id="rId65"/>
    </p:embeddedFont>
    <p:embeddedFont>
      <p:font typeface="Arial Black"/>
      <p:regular r:id="rId66"/>
    </p:embeddedFont>
    <p:embeddedFont>
      <p:font typeface="Oswald"/>
      <p:regular r:id="rId67"/>
      <p:bold r:id="rId68"/>
    </p:embeddedFont>
    <p:embeddedFont>
      <p:font typeface="IBM Plex Mono"/>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3" roundtripDataSignature="AMtx7mgIsccbXWlaM3rYkE9yg/UVM7Zv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63AD9A-016F-4C48-BA4E-4A51AB7C9AD3}">
  <a:tblStyle styleId="{FF63AD9A-016F-4C48-BA4E-4A51AB7C9AD3}"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D06D686-26C9-4579-90C2-B125D3EE7CB5}"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roximaNova-regular.fntdata"/><Relationship Id="rId47" Type="http://schemas.openxmlformats.org/officeDocument/2006/relationships/slide" Target="slides/slide41.xml"/><Relationship Id="rId49" Type="http://schemas.openxmlformats.org/officeDocument/2006/relationships/font" Target="fonts/ProximaNova-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IBMPlexMono-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IBMPlexMono-italic.fntdata"/><Relationship Id="rId70" Type="http://schemas.openxmlformats.org/officeDocument/2006/relationships/font" Target="fonts/IBMPlexMono-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alatinoLinotype-italic.fntdata"/><Relationship Id="rId61" Type="http://schemas.openxmlformats.org/officeDocument/2006/relationships/font" Target="fonts/PalatinoLinotype-bold.fntdata"/><Relationship Id="rId20" Type="http://schemas.openxmlformats.org/officeDocument/2006/relationships/slide" Target="slides/slide14.xml"/><Relationship Id="rId64" Type="http://schemas.openxmlformats.org/officeDocument/2006/relationships/font" Target="fonts/NotoSansSymbols-regular.fntdata"/><Relationship Id="rId63" Type="http://schemas.openxmlformats.org/officeDocument/2006/relationships/font" Target="fonts/PalatinoLinotype-boldItalic.fntdata"/><Relationship Id="rId22" Type="http://schemas.openxmlformats.org/officeDocument/2006/relationships/slide" Target="slides/slide16.xml"/><Relationship Id="rId66" Type="http://schemas.openxmlformats.org/officeDocument/2006/relationships/font" Target="fonts/ArialBlack-regular.fntdata"/><Relationship Id="rId21" Type="http://schemas.openxmlformats.org/officeDocument/2006/relationships/slide" Target="slides/slide15.xml"/><Relationship Id="rId65" Type="http://schemas.openxmlformats.org/officeDocument/2006/relationships/font" Target="fonts/NotoSansSymbols-bold.fntdata"/><Relationship Id="rId24" Type="http://schemas.openxmlformats.org/officeDocument/2006/relationships/slide" Target="slides/slide18.xml"/><Relationship Id="rId68" Type="http://schemas.openxmlformats.org/officeDocument/2006/relationships/font" Target="fonts/Oswald-bold.fntdata"/><Relationship Id="rId23" Type="http://schemas.openxmlformats.org/officeDocument/2006/relationships/slide" Target="slides/slide17.xml"/><Relationship Id="rId67" Type="http://schemas.openxmlformats.org/officeDocument/2006/relationships/font" Target="fonts/Oswald-regular.fntdata"/><Relationship Id="rId60" Type="http://schemas.openxmlformats.org/officeDocument/2006/relationships/font" Target="fonts/PalatinoLinotype-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IBMPlexMono-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roximaNova-boldItalic.fntdata"/><Relationship Id="rId50" Type="http://schemas.openxmlformats.org/officeDocument/2006/relationships/font" Target="fonts/ProximaNova-italic.fntdata"/><Relationship Id="rId53" Type="http://schemas.openxmlformats.org/officeDocument/2006/relationships/font" Target="fonts/Poppins-bold.fntdata"/><Relationship Id="rId52" Type="http://schemas.openxmlformats.org/officeDocument/2006/relationships/font" Target="fonts/Poppins-regular.fntdata"/><Relationship Id="rId11" Type="http://schemas.openxmlformats.org/officeDocument/2006/relationships/slide" Target="slides/slide5.xml"/><Relationship Id="rId55" Type="http://schemas.openxmlformats.org/officeDocument/2006/relationships/font" Target="fonts/Poppins-boldItalic.fntdata"/><Relationship Id="rId10" Type="http://schemas.openxmlformats.org/officeDocument/2006/relationships/slide" Target="slides/slide4.xml"/><Relationship Id="rId54" Type="http://schemas.openxmlformats.org/officeDocument/2006/relationships/font" Target="fonts/Poppins-italic.fntdata"/><Relationship Id="rId13" Type="http://schemas.openxmlformats.org/officeDocument/2006/relationships/slide" Target="slides/slide7.xml"/><Relationship Id="rId57" Type="http://schemas.openxmlformats.org/officeDocument/2006/relationships/font" Target="fonts/RobotoCondensed-bold.fntdata"/><Relationship Id="rId12" Type="http://schemas.openxmlformats.org/officeDocument/2006/relationships/slide" Target="slides/slide6.xml"/><Relationship Id="rId56" Type="http://schemas.openxmlformats.org/officeDocument/2006/relationships/font" Target="fonts/RobotoCondensed-regular.fntdata"/><Relationship Id="rId15" Type="http://schemas.openxmlformats.org/officeDocument/2006/relationships/slide" Target="slides/slide9.xml"/><Relationship Id="rId59" Type="http://schemas.openxmlformats.org/officeDocument/2006/relationships/font" Target="fonts/RobotoCondensed-boldItalic.fntdata"/><Relationship Id="rId14" Type="http://schemas.openxmlformats.org/officeDocument/2006/relationships/slide" Target="slides/slide8.xml"/><Relationship Id="rId58" Type="http://schemas.openxmlformats.org/officeDocument/2006/relationships/font" Target="fonts/RobotoCondense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7" name="Google Shape;129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3" name="Google Shape;135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43"/>
          <p:cNvGrpSpPr/>
          <p:nvPr/>
        </p:nvGrpSpPr>
        <p:grpSpPr>
          <a:xfrm>
            <a:off x="-3255181" y="-2900775"/>
            <a:ext cx="10039931" cy="6871129"/>
            <a:chOff x="-3102781" y="-2727750"/>
            <a:chExt cx="10039931" cy="6871129"/>
          </a:xfrm>
        </p:grpSpPr>
        <p:grpSp>
          <p:nvGrpSpPr>
            <p:cNvPr id="10" name="Google Shape;10;p43"/>
            <p:cNvGrpSpPr/>
            <p:nvPr/>
          </p:nvGrpSpPr>
          <p:grpSpPr>
            <a:xfrm rot="-7778255">
              <a:off x="-2414440" y="-1445047"/>
              <a:ext cx="5355679" cy="4305725"/>
              <a:chOff x="7103825" y="-713112"/>
              <a:chExt cx="3785226" cy="3043150"/>
            </a:xfrm>
          </p:grpSpPr>
          <p:sp>
            <p:nvSpPr>
              <p:cNvPr id="11" name="Google Shape;11;p43"/>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 name="Google Shape;12;p43"/>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13" name="Google Shape;13;p43"/>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3"/>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3"/>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sm" w="sm" type="none"/>
              <a:tailEnd len="sm" w="sm" type="none"/>
            </a:ln>
          </p:spPr>
        </p:sp>
        <p:sp>
          <p:nvSpPr>
            <p:cNvPr id="16" name="Google Shape;16;p43"/>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43"/>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 name="Google Shape;18;p43"/>
            <p:cNvGrpSpPr/>
            <p:nvPr/>
          </p:nvGrpSpPr>
          <p:grpSpPr>
            <a:xfrm flipH="1">
              <a:off x="4446909" y="391151"/>
              <a:ext cx="134044" cy="134013"/>
              <a:chOff x="1101075" y="2142375"/>
              <a:chExt cx="439200" cy="439100"/>
            </a:xfrm>
          </p:grpSpPr>
          <p:sp>
            <p:nvSpPr>
              <p:cNvPr id="19" name="Google Shape;19;p4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43"/>
            <p:cNvGrpSpPr/>
            <p:nvPr/>
          </p:nvGrpSpPr>
          <p:grpSpPr>
            <a:xfrm flipH="1">
              <a:off x="1373609" y="694563"/>
              <a:ext cx="134044" cy="134013"/>
              <a:chOff x="1101075" y="2142375"/>
              <a:chExt cx="439200" cy="439100"/>
            </a:xfrm>
          </p:grpSpPr>
          <p:sp>
            <p:nvSpPr>
              <p:cNvPr id="22" name="Google Shape;22;p4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43"/>
            <p:cNvGrpSpPr/>
            <p:nvPr/>
          </p:nvGrpSpPr>
          <p:grpSpPr>
            <a:xfrm flipH="1">
              <a:off x="1086834" y="957463"/>
              <a:ext cx="134044" cy="134013"/>
              <a:chOff x="1101075" y="2142375"/>
              <a:chExt cx="439200" cy="439100"/>
            </a:xfrm>
          </p:grpSpPr>
          <p:sp>
            <p:nvSpPr>
              <p:cNvPr id="25" name="Google Shape;25;p4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4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 name="Google Shape;27;p43"/>
            <p:cNvGrpSpPr/>
            <p:nvPr/>
          </p:nvGrpSpPr>
          <p:grpSpPr>
            <a:xfrm flipH="1">
              <a:off x="277709" y="957463"/>
              <a:ext cx="134044" cy="134013"/>
              <a:chOff x="1101075" y="2142375"/>
              <a:chExt cx="439200" cy="439100"/>
            </a:xfrm>
          </p:grpSpPr>
          <p:sp>
            <p:nvSpPr>
              <p:cNvPr id="28" name="Google Shape;28;p4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43"/>
            <p:cNvGrpSpPr/>
            <p:nvPr/>
          </p:nvGrpSpPr>
          <p:grpSpPr>
            <a:xfrm flipH="1">
              <a:off x="277709" y="640813"/>
              <a:ext cx="134044" cy="134013"/>
              <a:chOff x="1101075" y="2142375"/>
              <a:chExt cx="439200" cy="439100"/>
            </a:xfrm>
          </p:grpSpPr>
          <p:sp>
            <p:nvSpPr>
              <p:cNvPr id="31" name="Google Shape;31;p4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3" name="Google Shape;33;p43"/>
          <p:cNvGrpSpPr/>
          <p:nvPr/>
        </p:nvGrpSpPr>
        <p:grpSpPr>
          <a:xfrm>
            <a:off x="6385735" y="3039700"/>
            <a:ext cx="3920501" cy="3213899"/>
            <a:chOff x="6309535" y="2842975"/>
            <a:chExt cx="3920501" cy="3213899"/>
          </a:xfrm>
        </p:grpSpPr>
        <p:pic>
          <p:nvPicPr>
            <p:cNvPr id="34" name="Google Shape;34;p43"/>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35" name="Google Shape;35;p43"/>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43"/>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43"/>
            <p:cNvGrpSpPr/>
            <p:nvPr/>
          </p:nvGrpSpPr>
          <p:grpSpPr>
            <a:xfrm>
              <a:off x="7280400" y="3719575"/>
              <a:ext cx="582050" cy="582425"/>
              <a:chOff x="959750" y="3039275"/>
              <a:chExt cx="582050" cy="582425"/>
            </a:xfrm>
          </p:grpSpPr>
          <p:sp>
            <p:nvSpPr>
              <p:cNvPr id="38" name="Google Shape;38;p43"/>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3"/>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43"/>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3"/>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3"/>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3"/>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3"/>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43"/>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43"/>
            <p:cNvGrpSpPr/>
            <p:nvPr/>
          </p:nvGrpSpPr>
          <p:grpSpPr>
            <a:xfrm>
              <a:off x="8337812" y="3492483"/>
              <a:ext cx="699928" cy="1651024"/>
              <a:chOff x="8337812" y="3492483"/>
              <a:chExt cx="699928" cy="1651024"/>
            </a:xfrm>
          </p:grpSpPr>
          <p:sp>
            <p:nvSpPr>
              <p:cNvPr id="47" name="Google Shape;47;p43"/>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43"/>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3"/>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43"/>
            <p:cNvGrpSpPr/>
            <p:nvPr/>
          </p:nvGrpSpPr>
          <p:grpSpPr>
            <a:xfrm>
              <a:off x="7945225" y="4302000"/>
              <a:ext cx="904666" cy="726121"/>
              <a:chOff x="7945225" y="4302000"/>
              <a:chExt cx="904666" cy="726121"/>
            </a:xfrm>
          </p:grpSpPr>
          <p:sp>
            <p:nvSpPr>
              <p:cNvPr id="51" name="Google Shape;51;p43"/>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3"/>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3"/>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 name="Google Shape;54;p43"/>
          <p:cNvSpPr txBox="1"/>
          <p:nvPr>
            <p:ph type="ctrTitle"/>
          </p:nvPr>
        </p:nvSpPr>
        <p:spPr>
          <a:xfrm>
            <a:off x="1096850" y="816324"/>
            <a:ext cx="6974700" cy="2326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rgbClr val="191919"/>
              </a:buClr>
              <a:buSzPts val="5200"/>
              <a:buNone/>
              <a:defRPr sz="4500"/>
            </a:lvl1pPr>
            <a:lvl2pPr lvl="1" algn="ctr">
              <a:lnSpc>
                <a:spcPct val="100000"/>
              </a:lnSpc>
              <a:spcBef>
                <a:spcPts val="0"/>
              </a:spcBef>
              <a:spcAft>
                <a:spcPts val="0"/>
              </a:spcAft>
              <a:buClr>
                <a:schemeClr val="dk1"/>
              </a:buClr>
              <a:buSzPts val="5200"/>
              <a:buNone/>
              <a:defRPr sz="5200">
                <a:solidFill>
                  <a:schemeClr val="dk1"/>
                </a:solidFill>
              </a:defRPr>
            </a:lvl2pPr>
            <a:lvl3pPr lvl="2" algn="ctr">
              <a:lnSpc>
                <a:spcPct val="100000"/>
              </a:lnSpc>
              <a:spcBef>
                <a:spcPts val="0"/>
              </a:spcBef>
              <a:spcAft>
                <a:spcPts val="0"/>
              </a:spcAft>
              <a:buClr>
                <a:schemeClr val="dk1"/>
              </a:buClr>
              <a:buSzPts val="5200"/>
              <a:buNone/>
              <a:defRPr sz="5200">
                <a:solidFill>
                  <a:schemeClr val="dk1"/>
                </a:solidFill>
              </a:defRPr>
            </a:lvl3pPr>
            <a:lvl4pPr lvl="3" algn="ctr">
              <a:lnSpc>
                <a:spcPct val="100000"/>
              </a:lnSpc>
              <a:spcBef>
                <a:spcPts val="0"/>
              </a:spcBef>
              <a:spcAft>
                <a:spcPts val="0"/>
              </a:spcAft>
              <a:buClr>
                <a:schemeClr val="dk1"/>
              </a:buClr>
              <a:buSzPts val="5200"/>
              <a:buNone/>
              <a:defRPr sz="5200">
                <a:solidFill>
                  <a:schemeClr val="dk1"/>
                </a:solidFill>
              </a:defRPr>
            </a:lvl4pPr>
            <a:lvl5pPr lvl="4" algn="ctr">
              <a:lnSpc>
                <a:spcPct val="100000"/>
              </a:lnSpc>
              <a:spcBef>
                <a:spcPts val="0"/>
              </a:spcBef>
              <a:spcAft>
                <a:spcPts val="0"/>
              </a:spcAft>
              <a:buClr>
                <a:schemeClr val="dk1"/>
              </a:buClr>
              <a:buSzPts val="5200"/>
              <a:buNone/>
              <a:defRPr sz="5200">
                <a:solidFill>
                  <a:schemeClr val="dk1"/>
                </a:solidFill>
              </a:defRPr>
            </a:lvl5pPr>
            <a:lvl6pPr lvl="5" algn="ctr">
              <a:lnSpc>
                <a:spcPct val="100000"/>
              </a:lnSpc>
              <a:spcBef>
                <a:spcPts val="0"/>
              </a:spcBef>
              <a:spcAft>
                <a:spcPts val="0"/>
              </a:spcAft>
              <a:buClr>
                <a:schemeClr val="dk1"/>
              </a:buClr>
              <a:buSzPts val="5200"/>
              <a:buNone/>
              <a:defRPr sz="5200">
                <a:solidFill>
                  <a:schemeClr val="dk1"/>
                </a:solidFill>
              </a:defRPr>
            </a:lvl6pPr>
            <a:lvl7pPr lvl="6" algn="ctr">
              <a:lnSpc>
                <a:spcPct val="100000"/>
              </a:lnSpc>
              <a:spcBef>
                <a:spcPts val="0"/>
              </a:spcBef>
              <a:spcAft>
                <a:spcPts val="0"/>
              </a:spcAft>
              <a:buClr>
                <a:schemeClr val="dk1"/>
              </a:buClr>
              <a:buSzPts val="5200"/>
              <a:buNone/>
              <a:defRPr sz="5200">
                <a:solidFill>
                  <a:schemeClr val="dk1"/>
                </a:solidFill>
              </a:defRPr>
            </a:lvl7pPr>
            <a:lvl8pPr lvl="7" algn="ctr">
              <a:lnSpc>
                <a:spcPct val="100000"/>
              </a:lnSpc>
              <a:spcBef>
                <a:spcPts val="0"/>
              </a:spcBef>
              <a:spcAft>
                <a:spcPts val="0"/>
              </a:spcAft>
              <a:buClr>
                <a:schemeClr val="dk1"/>
              </a:buClr>
              <a:buSzPts val="5200"/>
              <a:buNone/>
              <a:defRPr sz="5200">
                <a:solidFill>
                  <a:schemeClr val="dk1"/>
                </a:solidFill>
              </a:defRPr>
            </a:lvl8pPr>
            <a:lvl9pPr lvl="8" algn="ctr">
              <a:lnSpc>
                <a:spcPct val="100000"/>
              </a:lnSpc>
              <a:spcBef>
                <a:spcPts val="0"/>
              </a:spcBef>
              <a:spcAft>
                <a:spcPts val="0"/>
              </a:spcAft>
              <a:buClr>
                <a:schemeClr val="dk1"/>
              </a:buClr>
              <a:buSzPts val="5200"/>
              <a:buNone/>
              <a:defRPr sz="5200">
                <a:solidFill>
                  <a:schemeClr val="dk1"/>
                </a:solidFill>
              </a:defRPr>
            </a:lvl9pPr>
          </a:lstStyle>
          <a:p/>
        </p:txBody>
      </p:sp>
      <p:sp>
        <p:nvSpPr>
          <p:cNvPr id="55" name="Google Shape;55;p43"/>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43"/>
          <p:cNvGrpSpPr/>
          <p:nvPr/>
        </p:nvGrpSpPr>
        <p:grpSpPr>
          <a:xfrm>
            <a:off x="-309885" y="3617406"/>
            <a:ext cx="1448824" cy="2238805"/>
            <a:chOff x="-309885" y="3617406"/>
            <a:chExt cx="1448824" cy="2238805"/>
          </a:xfrm>
        </p:grpSpPr>
        <p:grpSp>
          <p:nvGrpSpPr>
            <p:cNvPr id="57" name="Google Shape;57;p43"/>
            <p:cNvGrpSpPr/>
            <p:nvPr/>
          </p:nvGrpSpPr>
          <p:grpSpPr>
            <a:xfrm>
              <a:off x="-277007" y="3870159"/>
              <a:ext cx="981772" cy="1986052"/>
              <a:chOff x="-293545" y="3454371"/>
              <a:chExt cx="981772" cy="1986052"/>
            </a:xfrm>
          </p:grpSpPr>
          <p:sp>
            <p:nvSpPr>
              <p:cNvPr id="58" name="Google Shape;58;p43"/>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3"/>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43"/>
            <p:cNvGrpSpPr/>
            <p:nvPr/>
          </p:nvGrpSpPr>
          <p:grpSpPr>
            <a:xfrm>
              <a:off x="363249" y="4906873"/>
              <a:ext cx="699940" cy="478601"/>
              <a:chOff x="39723" y="4349021"/>
              <a:chExt cx="1061964" cy="726143"/>
            </a:xfrm>
          </p:grpSpPr>
          <p:grpSp>
            <p:nvGrpSpPr>
              <p:cNvPr id="61" name="Google Shape;61;p43"/>
              <p:cNvGrpSpPr/>
              <p:nvPr/>
            </p:nvGrpSpPr>
            <p:grpSpPr>
              <a:xfrm rot="2700000">
                <a:off x="140502" y="4460924"/>
                <a:ext cx="524584" cy="502337"/>
                <a:chOff x="1189791" y="-1767331"/>
                <a:chExt cx="904284" cy="865933"/>
              </a:xfrm>
            </p:grpSpPr>
            <p:sp>
              <p:nvSpPr>
                <p:cNvPr id="62" name="Google Shape;62;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43"/>
                <p:cNvGrpSpPr/>
                <p:nvPr/>
              </p:nvGrpSpPr>
              <p:grpSpPr>
                <a:xfrm>
                  <a:off x="1232795" y="-1740829"/>
                  <a:ext cx="717622" cy="717393"/>
                  <a:chOff x="1483457" y="3953671"/>
                  <a:chExt cx="717622" cy="717393"/>
                </a:xfrm>
              </p:grpSpPr>
              <p:sp>
                <p:nvSpPr>
                  <p:cNvPr id="64" name="Google Shape;64;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9" name="Google Shape;69;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43"/>
            <p:cNvGrpSpPr/>
            <p:nvPr/>
          </p:nvGrpSpPr>
          <p:grpSpPr>
            <a:xfrm rot="-5400000">
              <a:off x="-461872" y="3769394"/>
              <a:ext cx="1351491" cy="1047516"/>
              <a:chOff x="-2460210" y="2758494"/>
              <a:chExt cx="1351491" cy="1047516"/>
            </a:xfrm>
          </p:grpSpPr>
          <p:sp>
            <p:nvSpPr>
              <p:cNvPr id="71" name="Google Shape;71;p43"/>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srgbClr>
                  </a:gs>
                  <a:gs pos="100000">
                    <a:srgbClr val="FFFFFF">
                      <a:alpha val="46667"/>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43"/>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srgbClr>
                  </a:gs>
                  <a:gs pos="100000">
                    <a:srgbClr val="FFFFFF">
                      <a:alpha val="46667"/>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3"/>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srgbClr>
                  </a:gs>
                  <a:gs pos="100000">
                    <a:srgbClr val="FFFFFF">
                      <a:alpha val="46667"/>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43"/>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srgbClr>
                  </a:gs>
                  <a:gs pos="100000">
                    <a:srgbClr val="FFFFFF">
                      <a:alpha val="46667"/>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 name="Google Shape;75;p43"/>
            <p:cNvGrpSpPr/>
            <p:nvPr/>
          </p:nvGrpSpPr>
          <p:grpSpPr>
            <a:xfrm>
              <a:off x="438999" y="4567398"/>
              <a:ext cx="699940" cy="478601"/>
              <a:chOff x="39723" y="4349021"/>
              <a:chExt cx="1061964" cy="726143"/>
            </a:xfrm>
          </p:grpSpPr>
          <p:grpSp>
            <p:nvGrpSpPr>
              <p:cNvPr id="76" name="Google Shape;76;p43"/>
              <p:cNvGrpSpPr/>
              <p:nvPr/>
            </p:nvGrpSpPr>
            <p:grpSpPr>
              <a:xfrm rot="2700000">
                <a:off x="140502" y="4460924"/>
                <a:ext cx="524584" cy="502337"/>
                <a:chOff x="1189791" y="-1767331"/>
                <a:chExt cx="904284" cy="865933"/>
              </a:xfrm>
            </p:grpSpPr>
            <p:sp>
              <p:nvSpPr>
                <p:cNvPr id="77" name="Google Shape;77;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 name="Google Shape;78;p43"/>
                <p:cNvGrpSpPr/>
                <p:nvPr/>
              </p:nvGrpSpPr>
              <p:grpSpPr>
                <a:xfrm>
                  <a:off x="1232795" y="-1740829"/>
                  <a:ext cx="717622" cy="717393"/>
                  <a:chOff x="1483457" y="3953671"/>
                  <a:chExt cx="717622" cy="717393"/>
                </a:xfrm>
              </p:grpSpPr>
              <p:sp>
                <p:nvSpPr>
                  <p:cNvPr id="79" name="Google Shape;79;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4" name="Google Shape;84;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43"/>
            <p:cNvGrpSpPr/>
            <p:nvPr/>
          </p:nvGrpSpPr>
          <p:grpSpPr>
            <a:xfrm>
              <a:off x="-65076" y="4623886"/>
              <a:ext cx="699940" cy="478601"/>
              <a:chOff x="39723" y="4349021"/>
              <a:chExt cx="1061964" cy="726143"/>
            </a:xfrm>
          </p:grpSpPr>
          <p:grpSp>
            <p:nvGrpSpPr>
              <p:cNvPr id="86" name="Google Shape;86;p43"/>
              <p:cNvGrpSpPr/>
              <p:nvPr/>
            </p:nvGrpSpPr>
            <p:grpSpPr>
              <a:xfrm rot="2700000">
                <a:off x="140502" y="4460924"/>
                <a:ext cx="524584" cy="502337"/>
                <a:chOff x="1189791" y="-1767331"/>
                <a:chExt cx="904284" cy="865933"/>
              </a:xfrm>
            </p:grpSpPr>
            <p:sp>
              <p:nvSpPr>
                <p:cNvPr id="87" name="Google Shape;87;p4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 name="Google Shape;88;p43"/>
                <p:cNvGrpSpPr/>
                <p:nvPr/>
              </p:nvGrpSpPr>
              <p:grpSpPr>
                <a:xfrm>
                  <a:off x="1232795" y="-1740829"/>
                  <a:ext cx="717622" cy="717393"/>
                  <a:chOff x="1483457" y="3953671"/>
                  <a:chExt cx="717622" cy="717393"/>
                </a:xfrm>
              </p:grpSpPr>
              <p:sp>
                <p:nvSpPr>
                  <p:cNvPr id="89" name="Google Shape;89;p4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4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4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4" name="Google Shape;94;p4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 name="Shape 95"/>
        <p:cNvGrpSpPr/>
        <p:nvPr/>
      </p:nvGrpSpPr>
      <p:grpSpPr>
        <a:xfrm>
          <a:off x="0" y="0"/>
          <a:ext cx="0" cy="0"/>
          <a:chOff x="0" y="0"/>
          <a:chExt cx="0" cy="0"/>
        </a:xfrm>
      </p:grpSpPr>
      <p:grpSp>
        <p:nvGrpSpPr>
          <p:cNvPr id="96" name="Google Shape;96;p44"/>
          <p:cNvGrpSpPr/>
          <p:nvPr/>
        </p:nvGrpSpPr>
        <p:grpSpPr>
          <a:xfrm>
            <a:off x="7365150" y="-1147799"/>
            <a:ext cx="3733124" cy="6537004"/>
            <a:chOff x="7212750" y="-1147799"/>
            <a:chExt cx="3733124" cy="6537004"/>
          </a:xfrm>
        </p:grpSpPr>
        <p:pic>
          <p:nvPicPr>
            <p:cNvPr id="97" name="Google Shape;97;p44"/>
            <p:cNvPicPr preferRelativeResize="0"/>
            <p:nvPr/>
          </p:nvPicPr>
          <p:blipFill rotWithShape="1">
            <a:blip r:embed="rId2">
              <a:alphaModFix/>
            </a:blip>
            <a:srcRect b="26177" l="16960" r="7121" t="24718"/>
            <a:stretch/>
          </p:blipFill>
          <p:spPr>
            <a:xfrm>
              <a:off x="7212750" y="-1147799"/>
              <a:ext cx="3733124" cy="2849200"/>
            </a:xfrm>
            <a:prstGeom prst="rect">
              <a:avLst/>
            </a:prstGeom>
            <a:noFill/>
            <a:ln>
              <a:noFill/>
            </a:ln>
          </p:spPr>
        </p:pic>
        <p:grpSp>
          <p:nvGrpSpPr>
            <p:cNvPr id="98" name="Google Shape;98;p44"/>
            <p:cNvGrpSpPr/>
            <p:nvPr/>
          </p:nvGrpSpPr>
          <p:grpSpPr>
            <a:xfrm>
              <a:off x="7392021" y="539499"/>
              <a:ext cx="1518472" cy="3030657"/>
              <a:chOff x="7785196" y="342199"/>
              <a:chExt cx="1518472" cy="3030657"/>
            </a:xfrm>
          </p:grpSpPr>
          <p:sp>
            <p:nvSpPr>
              <p:cNvPr id="99" name="Google Shape;99;p44"/>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44"/>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1" name="Google Shape;101;p44"/>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2" name="Google Shape;102;p44"/>
            <p:cNvGrpSpPr/>
            <p:nvPr/>
          </p:nvGrpSpPr>
          <p:grpSpPr>
            <a:xfrm>
              <a:off x="7740801" y="270000"/>
              <a:ext cx="3153315" cy="5119205"/>
              <a:chOff x="7740801" y="270000"/>
              <a:chExt cx="3153315" cy="5119205"/>
            </a:xfrm>
          </p:grpSpPr>
          <p:sp>
            <p:nvSpPr>
              <p:cNvPr id="103" name="Google Shape;103;p44"/>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4" name="Google Shape;104;p44"/>
              <p:cNvGrpSpPr/>
              <p:nvPr/>
            </p:nvGrpSpPr>
            <p:grpSpPr>
              <a:xfrm>
                <a:off x="8192886" y="4736397"/>
                <a:ext cx="134004" cy="134004"/>
                <a:chOff x="8356813" y="1074288"/>
                <a:chExt cx="351900" cy="351900"/>
              </a:xfrm>
            </p:grpSpPr>
            <p:sp>
              <p:nvSpPr>
                <p:cNvPr id="105" name="Google Shape;105;p4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 name="Google Shape;107;p44"/>
              <p:cNvGrpSpPr/>
              <p:nvPr/>
            </p:nvGrpSpPr>
            <p:grpSpPr>
              <a:xfrm>
                <a:off x="8788211" y="3794722"/>
                <a:ext cx="134004" cy="134004"/>
                <a:chOff x="8356813" y="1074288"/>
                <a:chExt cx="351900" cy="351900"/>
              </a:xfrm>
            </p:grpSpPr>
            <p:sp>
              <p:nvSpPr>
                <p:cNvPr id="108" name="Google Shape;108;p4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4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 name="Google Shape;110;p44"/>
              <p:cNvGrpSpPr/>
              <p:nvPr/>
            </p:nvGrpSpPr>
            <p:grpSpPr>
              <a:xfrm>
                <a:off x="8654186" y="2424672"/>
                <a:ext cx="134004" cy="134004"/>
                <a:chOff x="8356813" y="1074288"/>
                <a:chExt cx="351900" cy="351900"/>
              </a:xfrm>
            </p:grpSpPr>
            <p:sp>
              <p:nvSpPr>
                <p:cNvPr id="111" name="Google Shape;111;p4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113" name="Google Shape;113;p44"/>
          <p:cNvGrpSpPr/>
          <p:nvPr/>
        </p:nvGrpSpPr>
        <p:grpSpPr>
          <a:xfrm rot="-2529045">
            <a:off x="105741" y="3680210"/>
            <a:ext cx="591691" cy="2260270"/>
            <a:chOff x="-132364" y="1829399"/>
            <a:chExt cx="591677" cy="2260214"/>
          </a:xfrm>
        </p:grpSpPr>
        <p:sp>
          <p:nvSpPr>
            <p:cNvPr id="114" name="Google Shape;114;p44"/>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4"/>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 name="Google Shape;116;p44"/>
          <p:cNvGrpSpPr/>
          <p:nvPr/>
        </p:nvGrpSpPr>
        <p:grpSpPr>
          <a:xfrm>
            <a:off x="-520148" y="-573164"/>
            <a:ext cx="1502291" cy="2806842"/>
            <a:chOff x="-367748" y="-573164"/>
            <a:chExt cx="1502291" cy="2806842"/>
          </a:xfrm>
        </p:grpSpPr>
        <p:grpSp>
          <p:nvGrpSpPr>
            <p:cNvPr id="117" name="Google Shape;117;p44"/>
            <p:cNvGrpSpPr/>
            <p:nvPr/>
          </p:nvGrpSpPr>
          <p:grpSpPr>
            <a:xfrm rot="10800000">
              <a:off x="-191449" y="1507557"/>
              <a:ext cx="904666" cy="726121"/>
              <a:chOff x="7945225" y="4302000"/>
              <a:chExt cx="904666" cy="726121"/>
            </a:xfrm>
          </p:grpSpPr>
          <p:sp>
            <p:nvSpPr>
              <p:cNvPr id="118" name="Google Shape;118;p4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4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 name="Google Shape;121;p44"/>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44"/>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3" name="Google Shape;123;p44"/>
            <p:cNvGrpSpPr/>
            <p:nvPr/>
          </p:nvGrpSpPr>
          <p:grpSpPr>
            <a:xfrm rot="10800000">
              <a:off x="-367748" y="-467133"/>
              <a:ext cx="699928" cy="1651024"/>
              <a:chOff x="8337812" y="3492483"/>
              <a:chExt cx="699928" cy="1651024"/>
            </a:xfrm>
          </p:grpSpPr>
          <p:sp>
            <p:nvSpPr>
              <p:cNvPr id="124" name="Google Shape;124;p4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4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27" name="Shape 127"/>
        <p:cNvGrpSpPr/>
        <p:nvPr/>
      </p:nvGrpSpPr>
      <p:grpSpPr>
        <a:xfrm>
          <a:off x="0" y="0"/>
          <a:ext cx="0" cy="0"/>
          <a:chOff x="0" y="0"/>
          <a:chExt cx="0" cy="0"/>
        </a:xfrm>
      </p:grpSpPr>
      <p:sp>
        <p:nvSpPr>
          <p:cNvPr id="128" name="Google Shape;128;p45"/>
          <p:cNvSpPr txBox="1"/>
          <p:nvPr>
            <p:ph type="title"/>
          </p:nvPr>
        </p:nvSpPr>
        <p:spPr>
          <a:xfrm>
            <a:off x="1157288" y="685275"/>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7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9" name="Google Shape;129;p45"/>
          <p:cNvSpPr txBox="1"/>
          <p:nvPr>
            <p:ph idx="1" type="subTitle"/>
          </p:nvPr>
        </p:nvSpPr>
        <p:spPr>
          <a:xfrm>
            <a:off x="1157250" y="2203275"/>
            <a:ext cx="4448100" cy="10071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0" name="Google Shape;130;p45"/>
          <p:cNvSpPr txBox="1"/>
          <p:nvPr>
            <p:ph idx="2" type="subTitle"/>
          </p:nvPr>
        </p:nvSpPr>
        <p:spPr>
          <a:xfrm>
            <a:off x="1157250" y="1800075"/>
            <a:ext cx="4448100" cy="38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500"/>
              <a:buFont typeface="IBM Plex Mono"/>
              <a:buNone/>
              <a:defRPr b="1" sz="2000">
                <a:latin typeface="IBM Plex Mono"/>
                <a:ea typeface="IBM Plex Mono"/>
                <a:cs typeface="IBM Plex Mono"/>
                <a:sym typeface="IBM Plex Mono"/>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grpSp>
        <p:nvGrpSpPr>
          <p:cNvPr id="131" name="Google Shape;131;p45"/>
          <p:cNvGrpSpPr/>
          <p:nvPr/>
        </p:nvGrpSpPr>
        <p:grpSpPr>
          <a:xfrm>
            <a:off x="-291585" y="-494819"/>
            <a:ext cx="1448824" cy="2238805"/>
            <a:chOff x="-308635" y="-494819"/>
            <a:chExt cx="1448824" cy="2238805"/>
          </a:xfrm>
        </p:grpSpPr>
        <p:grpSp>
          <p:nvGrpSpPr>
            <p:cNvPr id="132" name="Google Shape;132;p45"/>
            <p:cNvGrpSpPr/>
            <p:nvPr/>
          </p:nvGrpSpPr>
          <p:grpSpPr>
            <a:xfrm>
              <a:off x="-275757" y="-242066"/>
              <a:ext cx="981772" cy="1986052"/>
              <a:chOff x="-293545" y="3454371"/>
              <a:chExt cx="981772" cy="1986052"/>
            </a:xfrm>
          </p:grpSpPr>
          <p:sp>
            <p:nvSpPr>
              <p:cNvPr id="133" name="Google Shape;133;p4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 name="Google Shape;135;p45"/>
            <p:cNvGrpSpPr/>
            <p:nvPr/>
          </p:nvGrpSpPr>
          <p:grpSpPr>
            <a:xfrm>
              <a:off x="364499" y="794648"/>
              <a:ext cx="699940" cy="478601"/>
              <a:chOff x="39723" y="4349021"/>
              <a:chExt cx="1061964" cy="726143"/>
            </a:xfrm>
          </p:grpSpPr>
          <p:grpSp>
            <p:nvGrpSpPr>
              <p:cNvPr id="136" name="Google Shape;136;p45"/>
              <p:cNvGrpSpPr/>
              <p:nvPr/>
            </p:nvGrpSpPr>
            <p:grpSpPr>
              <a:xfrm rot="2700000">
                <a:off x="140502" y="4460924"/>
                <a:ext cx="524584" cy="502337"/>
                <a:chOff x="1189791" y="-1767331"/>
                <a:chExt cx="904284" cy="865933"/>
              </a:xfrm>
            </p:grpSpPr>
            <p:sp>
              <p:nvSpPr>
                <p:cNvPr id="137" name="Google Shape;137;p4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8" name="Google Shape;138;p45"/>
                <p:cNvGrpSpPr/>
                <p:nvPr/>
              </p:nvGrpSpPr>
              <p:grpSpPr>
                <a:xfrm>
                  <a:off x="1232795" y="-1740829"/>
                  <a:ext cx="717622" cy="717393"/>
                  <a:chOff x="1483457" y="3953671"/>
                  <a:chExt cx="717622" cy="717393"/>
                </a:xfrm>
              </p:grpSpPr>
              <p:sp>
                <p:nvSpPr>
                  <p:cNvPr id="139" name="Google Shape;139;p4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4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4" name="Google Shape;144;p4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p45"/>
            <p:cNvGrpSpPr/>
            <p:nvPr/>
          </p:nvGrpSpPr>
          <p:grpSpPr>
            <a:xfrm rot="-5400000">
              <a:off x="-460622" y="-342831"/>
              <a:ext cx="1351491" cy="1047516"/>
              <a:chOff x="-2460210" y="2758494"/>
              <a:chExt cx="1351491" cy="1047516"/>
            </a:xfrm>
          </p:grpSpPr>
          <p:sp>
            <p:nvSpPr>
              <p:cNvPr id="146" name="Google Shape;146;p4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4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45"/>
            <p:cNvGrpSpPr/>
            <p:nvPr/>
          </p:nvGrpSpPr>
          <p:grpSpPr>
            <a:xfrm>
              <a:off x="440249" y="455173"/>
              <a:ext cx="699940" cy="478601"/>
              <a:chOff x="39723" y="4349021"/>
              <a:chExt cx="1061964" cy="726143"/>
            </a:xfrm>
          </p:grpSpPr>
          <p:grpSp>
            <p:nvGrpSpPr>
              <p:cNvPr id="151" name="Google Shape;151;p45"/>
              <p:cNvGrpSpPr/>
              <p:nvPr/>
            </p:nvGrpSpPr>
            <p:grpSpPr>
              <a:xfrm rot="2700000">
                <a:off x="140502" y="4460924"/>
                <a:ext cx="524584" cy="502337"/>
                <a:chOff x="1189791" y="-1767331"/>
                <a:chExt cx="904284" cy="865933"/>
              </a:xfrm>
            </p:grpSpPr>
            <p:sp>
              <p:nvSpPr>
                <p:cNvPr id="152" name="Google Shape;152;p4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3" name="Google Shape;153;p45"/>
                <p:cNvGrpSpPr/>
                <p:nvPr/>
              </p:nvGrpSpPr>
              <p:grpSpPr>
                <a:xfrm>
                  <a:off x="1232795" y="-1740829"/>
                  <a:ext cx="717622" cy="717393"/>
                  <a:chOff x="1483457" y="3953671"/>
                  <a:chExt cx="717622" cy="717393"/>
                </a:xfrm>
              </p:grpSpPr>
              <p:sp>
                <p:nvSpPr>
                  <p:cNvPr id="154" name="Google Shape;154;p4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4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59" name="Google Shape;159;p4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0" name="Google Shape;160;p45"/>
            <p:cNvGrpSpPr/>
            <p:nvPr/>
          </p:nvGrpSpPr>
          <p:grpSpPr>
            <a:xfrm>
              <a:off x="-63826" y="511661"/>
              <a:ext cx="699940" cy="478601"/>
              <a:chOff x="39723" y="4349021"/>
              <a:chExt cx="1061964" cy="726143"/>
            </a:xfrm>
          </p:grpSpPr>
          <p:grpSp>
            <p:nvGrpSpPr>
              <p:cNvPr id="161" name="Google Shape;161;p45"/>
              <p:cNvGrpSpPr/>
              <p:nvPr/>
            </p:nvGrpSpPr>
            <p:grpSpPr>
              <a:xfrm rot="2700000">
                <a:off x="140502" y="4460924"/>
                <a:ext cx="524584" cy="502337"/>
                <a:chOff x="1189791" y="-1767331"/>
                <a:chExt cx="904284" cy="865933"/>
              </a:xfrm>
            </p:grpSpPr>
            <p:sp>
              <p:nvSpPr>
                <p:cNvPr id="162" name="Google Shape;162;p4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3" name="Google Shape;163;p45"/>
                <p:cNvGrpSpPr/>
                <p:nvPr/>
              </p:nvGrpSpPr>
              <p:grpSpPr>
                <a:xfrm>
                  <a:off x="1232795" y="-1740829"/>
                  <a:ext cx="717622" cy="717393"/>
                  <a:chOff x="1483457" y="3953671"/>
                  <a:chExt cx="717622" cy="717393"/>
                </a:xfrm>
              </p:grpSpPr>
              <p:sp>
                <p:nvSpPr>
                  <p:cNvPr id="164" name="Google Shape;164;p4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4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srgbClr>
                      </a:gs>
                      <a:gs pos="100000">
                        <a:srgbClr val="FFFFFF">
                          <a:alpha val="46667"/>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9" name="Google Shape;169;p4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70" name="Google Shape;170;p45"/>
          <p:cNvGrpSpPr/>
          <p:nvPr/>
        </p:nvGrpSpPr>
        <p:grpSpPr>
          <a:xfrm>
            <a:off x="2659712" y="4275400"/>
            <a:ext cx="4952059" cy="2992224"/>
            <a:chOff x="2659712" y="4275400"/>
            <a:chExt cx="4952059" cy="2992224"/>
          </a:xfrm>
        </p:grpSpPr>
        <p:pic>
          <p:nvPicPr>
            <p:cNvPr id="171" name="Google Shape;171;p45"/>
            <p:cNvPicPr preferRelativeResize="0"/>
            <p:nvPr/>
          </p:nvPicPr>
          <p:blipFill rotWithShape="1">
            <a:blip r:embed="rId2">
              <a:alphaModFix/>
            </a:blip>
            <a:srcRect b="26177" l="16960" r="7121" t="24718"/>
            <a:stretch/>
          </p:blipFill>
          <p:spPr>
            <a:xfrm rot="10800000">
              <a:off x="2659712" y="4275400"/>
              <a:ext cx="3549051" cy="2992224"/>
            </a:xfrm>
            <a:prstGeom prst="rect">
              <a:avLst/>
            </a:prstGeom>
            <a:noFill/>
            <a:ln>
              <a:noFill/>
            </a:ln>
          </p:spPr>
        </p:pic>
        <p:grpSp>
          <p:nvGrpSpPr>
            <p:cNvPr id="172" name="Google Shape;172;p45"/>
            <p:cNvGrpSpPr/>
            <p:nvPr/>
          </p:nvGrpSpPr>
          <p:grpSpPr>
            <a:xfrm rot="-5400000">
              <a:off x="3258038" y="4413859"/>
              <a:ext cx="906953" cy="1517787"/>
              <a:chOff x="79748" y="2808602"/>
              <a:chExt cx="906953" cy="1517787"/>
            </a:xfrm>
          </p:grpSpPr>
          <p:sp>
            <p:nvSpPr>
              <p:cNvPr id="173" name="Google Shape;173;p45"/>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3"/>
                    </a:srgbClr>
                  </a:gs>
                  <a:gs pos="22000">
                    <a:srgbClr val="F5F8FF">
                      <a:alpha val="31373"/>
                    </a:srgbClr>
                  </a:gs>
                  <a:gs pos="45000">
                    <a:srgbClr val="FFFFFF">
                      <a:alpha val="31373"/>
                    </a:srgbClr>
                  </a:gs>
                  <a:gs pos="100000">
                    <a:srgbClr val="0C0A9E">
                      <a:alpha val="3137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45"/>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45"/>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3"/>
                    </a:srgbClr>
                  </a:gs>
                  <a:gs pos="22000">
                    <a:srgbClr val="F5F8FF">
                      <a:alpha val="31373"/>
                    </a:srgbClr>
                  </a:gs>
                  <a:gs pos="45000">
                    <a:srgbClr val="FFFFFF">
                      <a:alpha val="31373"/>
                    </a:srgbClr>
                  </a:gs>
                  <a:gs pos="100000">
                    <a:srgbClr val="0C0A9E">
                      <a:alpha val="3137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5"/>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7" name="Google Shape;177;p45"/>
            <p:cNvGrpSpPr/>
            <p:nvPr/>
          </p:nvGrpSpPr>
          <p:grpSpPr>
            <a:xfrm rot="5400000">
              <a:off x="5484569" y="3756062"/>
              <a:ext cx="1421047" cy="2833357"/>
              <a:chOff x="334358" y="2186737"/>
              <a:chExt cx="1421047" cy="2833357"/>
            </a:xfrm>
          </p:grpSpPr>
          <p:sp>
            <p:nvSpPr>
              <p:cNvPr id="178" name="Google Shape;178;p45"/>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9" name="Google Shape;179;p45"/>
              <p:cNvGrpSpPr/>
              <p:nvPr/>
            </p:nvGrpSpPr>
            <p:grpSpPr>
              <a:xfrm rot="5400000">
                <a:off x="1046250" y="3181856"/>
                <a:ext cx="161977" cy="161940"/>
                <a:chOff x="1101075" y="2142375"/>
                <a:chExt cx="439200" cy="439100"/>
              </a:xfrm>
            </p:grpSpPr>
            <p:sp>
              <p:nvSpPr>
                <p:cNvPr id="180" name="Google Shape;180;p4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2" name="Google Shape;182;p45"/>
              <p:cNvGrpSpPr/>
              <p:nvPr/>
            </p:nvGrpSpPr>
            <p:grpSpPr>
              <a:xfrm rot="-5400000">
                <a:off x="628029" y="4564272"/>
                <a:ext cx="161977" cy="161940"/>
                <a:chOff x="1101075" y="2142375"/>
                <a:chExt cx="439200" cy="439100"/>
              </a:xfrm>
            </p:grpSpPr>
            <p:sp>
              <p:nvSpPr>
                <p:cNvPr id="183" name="Google Shape;183;p4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85" name="Shape 18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86" name="Shape 186"/>
        <p:cNvGrpSpPr/>
        <p:nvPr/>
      </p:nvGrpSpPr>
      <p:grpSpPr>
        <a:xfrm>
          <a:off x="0" y="0"/>
          <a:ext cx="0" cy="0"/>
          <a:chOff x="0" y="0"/>
          <a:chExt cx="0" cy="0"/>
        </a:xfrm>
      </p:grpSpPr>
      <p:grpSp>
        <p:nvGrpSpPr>
          <p:cNvPr id="187" name="Google Shape;187;p49"/>
          <p:cNvGrpSpPr/>
          <p:nvPr/>
        </p:nvGrpSpPr>
        <p:grpSpPr>
          <a:xfrm>
            <a:off x="-623241" y="3925887"/>
            <a:ext cx="2833357" cy="1517787"/>
            <a:chOff x="-623241" y="3849687"/>
            <a:chExt cx="2833357" cy="1517787"/>
          </a:xfrm>
        </p:grpSpPr>
        <p:grpSp>
          <p:nvGrpSpPr>
            <p:cNvPr id="188" name="Google Shape;188;p49"/>
            <p:cNvGrpSpPr/>
            <p:nvPr/>
          </p:nvGrpSpPr>
          <p:grpSpPr>
            <a:xfrm rot="5400000">
              <a:off x="-879113" y="4155104"/>
              <a:ext cx="1517787" cy="906953"/>
              <a:chOff x="-55500" y="4835979"/>
              <a:chExt cx="1517787" cy="906953"/>
            </a:xfrm>
          </p:grpSpPr>
          <p:sp>
            <p:nvSpPr>
              <p:cNvPr id="189" name="Google Shape;189;p4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3"/>
                    </a:srgbClr>
                  </a:gs>
                  <a:gs pos="22000">
                    <a:srgbClr val="F5F8FF">
                      <a:alpha val="31373"/>
                    </a:srgbClr>
                  </a:gs>
                  <a:gs pos="45000">
                    <a:srgbClr val="FFFFFF">
                      <a:alpha val="31373"/>
                    </a:srgbClr>
                  </a:gs>
                  <a:gs pos="100000">
                    <a:srgbClr val="0C0A9E">
                      <a:alpha val="3137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4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4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3"/>
                    </a:srgbClr>
                  </a:gs>
                  <a:gs pos="22000">
                    <a:srgbClr val="F5F8FF">
                      <a:alpha val="31373"/>
                    </a:srgbClr>
                  </a:gs>
                  <a:gs pos="45000">
                    <a:srgbClr val="FFFFFF">
                      <a:alpha val="31373"/>
                    </a:srgbClr>
                  </a:gs>
                  <a:gs pos="100000">
                    <a:srgbClr val="0C0A9E">
                      <a:alpha val="3137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 name="Google Shape;193;p49"/>
            <p:cNvGrpSpPr/>
            <p:nvPr/>
          </p:nvGrpSpPr>
          <p:grpSpPr>
            <a:xfrm>
              <a:off x="-623241" y="3946425"/>
              <a:ext cx="2833357" cy="1421047"/>
              <a:chOff x="-677366" y="4067275"/>
              <a:chExt cx="2833357" cy="1421047"/>
            </a:xfrm>
          </p:grpSpPr>
          <p:sp>
            <p:nvSpPr>
              <p:cNvPr id="194" name="Google Shape;194;p4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 name="Google Shape;195;p49"/>
              <p:cNvGrpSpPr/>
              <p:nvPr/>
            </p:nvGrpSpPr>
            <p:grpSpPr>
              <a:xfrm>
                <a:off x="317735" y="4614472"/>
                <a:ext cx="161977" cy="161940"/>
                <a:chOff x="1101075" y="2142375"/>
                <a:chExt cx="439200" cy="439100"/>
              </a:xfrm>
            </p:grpSpPr>
            <p:sp>
              <p:nvSpPr>
                <p:cNvPr id="196" name="Google Shape;196;p4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49"/>
              <p:cNvGrpSpPr/>
              <p:nvPr/>
            </p:nvGrpSpPr>
            <p:grpSpPr>
              <a:xfrm rot="10800000">
                <a:off x="1700151" y="5032693"/>
                <a:ext cx="161977" cy="161940"/>
                <a:chOff x="1101075" y="2142375"/>
                <a:chExt cx="439200" cy="439100"/>
              </a:xfrm>
            </p:grpSpPr>
            <p:sp>
              <p:nvSpPr>
                <p:cNvPr id="199" name="Google Shape;199;p4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01" name="Google Shape;201;p49"/>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 name="Google Shape;202;p49"/>
          <p:cNvGrpSpPr/>
          <p:nvPr/>
        </p:nvGrpSpPr>
        <p:grpSpPr>
          <a:xfrm>
            <a:off x="6323926" y="-1678249"/>
            <a:ext cx="4189198" cy="3065874"/>
            <a:chOff x="6171526" y="-1678249"/>
            <a:chExt cx="4189198" cy="3065874"/>
          </a:xfrm>
        </p:grpSpPr>
        <p:sp>
          <p:nvSpPr>
            <p:cNvPr id="203" name="Google Shape;203;p49"/>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p49"/>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205" name="Google Shape;205;p49"/>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6" name="Google Shape;206;p49"/>
            <p:cNvGrpSpPr/>
            <p:nvPr/>
          </p:nvGrpSpPr>
          <p:grpSpPr>
            <a:xfrm rot="-2700000">
              <a:off x="8302147" y="61289"/>
              <a:ext cx="582044" cy="582419"/>
              <a:chOff x="959750" y="3039275"/>
              <a:chExt cx="582050" cy="582425"/>
            </a:xfrm>
          </p:grpSpPr>
          <p:sp>
            <p:nvSpPr>
              <p:cNvPr id="207" name="Google Shape;207;p4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4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4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4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4" name="Google Shape;214;p49"/>
            <p:cNvGrpSpPr/>
            <p:nvPr/>
          </p:nvGrpSpPr>
          <p:grpSpPr>
            <a:xfrm rot="-2700000">
              <a:off x="8551447" y="61289"/>
              <a:ext cx="582044" cy="582419"/>
              <a:chOff x="959750" y="3039275"/>
              <a:chExt cx="582050" cy="582425"/>
            </a:xfrm>
          </p:grpSpPr>
          <p:sp>
            <p:nvSpPr>
              <p:cNvPr id="215" name="Google Shape;215;p4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4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4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7255"/>
                    </a:srgbClr>
                  </a:gs>
                  <a:gs pos="100000">
                    <a:srgbClr val="FFFFFF">
                      <a:alpha val="37255"/>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22" name="Google Shape;222;p49"/>
          <p:cNvGrpSpPr/>
          <p:nvPr/>
        </p:nvGrpSpPr>
        <p:grpSpPr>
          <a:xfrm rot="2700000">
            <a:off x="8945322" y="2352177"/>
            <a:ext cx="439196" cy="439096"/>
            <a:chOff x="1101075" y="2142375"/>
            <a:chExt cx="439200" cy="439100"/>
          </a:xfrm>
        </p:grpSpPr>
        <p:sp>
          <p:nvSpPr>
            <p:cNvPr id="223" name="Google Shape;223;p4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4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225" name="Shape 225"/>
        <p:cNvGrpSpPr/>
        <p:nvPr/>
      </p:nvGrpSpPr>
      <p:grpSpPr>
        <a:xfrm>
          <a:off x="0" y="0"/>
          <a:ext cx="0" cy="0"/>
          <a:chOff x="0" y="0"/>
          <a:chExt cx="0" cy="0"/>
        </a:xfrm>
      </p:grpSpPr>
      <p:grpSp>
        <p:nvGrpSpPr>
          <p:cNvPr id="226" name="Google Shape;226;p50"/>
          <p:cNvGrpSpPr/>
          <p:nvPr/>
        </p:nvGrpSpPr>
        <p:grpSpPr>
          <a:xfrm>
            <a:off x="8332551" y="-7"/>
            <a:ext cx="2386151" cy="3293872"/>
            <a:chOff x="8256352" y="-7"/>
            <a:chExt cx="2386151" cy="3293872"/>
          </a:xfrm>
        </p:grpSpPr>
        <p:pic>
          <p:nvPicPr>
            <p:cNvPr id="227" name="Google Shape;227;p50"/>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228" name="Google Shape;228;p50"/>
            <p:cNvGrpSpPr/>
            <p:nvPr/>
          </p:nvGrpSpPr>
          <p:grpSpPr>
            <a:xfrm rot="10800000">
              <a:off x="8452443" y="-7"/>
              <a:ext cx="325155" cy="1788670"/>
              <a:chOff x="8869019" y="-622132"/>
              <a:chExt cx="325155" cy="1788670"/>
            </a:xfrm>
          </p:grpSpPr>
          <p:sp>
            <p:nvSpPr>
              <p:cNvPr id="229" name="Google Shape;229;p50"/>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0" name="Google Shape;230;p50"/>
              <p:cNvGrpSpPr/>
              <p:nvPr/>
            </p:nvGrpSpPr>
            <p:grpSpPr>
              <a:xfrm rot="1800062">
                <a:off x="9035610" y="1007995"/>
                <a:ext cx="134040" cy="134009"/>
                <a:chOff x="1101075" y="2142375"/>
                <a:chExt cx="439200" cy="439100"/>
              </a:xfrm>
            </p:grpSpPr>
            <p:sp>
              <p:nvSpPr>
                <p:cNvPr id="231" name="Google Shape;231;p5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5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233" name="Google Shape;233;p50"/>
          <p:cNvGrpSpPr/>
          <p:nvPr/>
        </p:nvGrpSpPr>
        <p:grpSpPr>
          <a:xfrm>
            <a:off x="-213525" y="171225"/>
            <a:ext cx="439200" cy="439100"/>
            <a:chOff x="1101075" y="2142375"/>
            <a:chExt cx="439200" cy="439100"/>
          </a:xfrm>
        </p:grpSpPr>
        <p:sp>
          <p:nvSpPr>
            <p:cNvPr id="234" name="Google Shape;234;p5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5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 name="Google Shape;236;p50"/>
          <p:cNvGrpSpPr/>
          <p:nvPr/>
        </p:nvGrpSpPr>
        <p:grpSpPr>
          <a:xfrm>
            <a:off x="-1262974" y="3161327"/>
            <a:ext cx="4822591" cy="2934500"/>
            <a:chOff x="-1186774" y="3161328"/>
            <a:chExt cx="4822591" cy="2934500"/>
          </a:xfrm>
        </p:grpSpPr>
        <p:pic>
          <p:nvPicPr>
            <p:cNvPr id="237" name="Google Shape;237;p50"/>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238" name="Google Shape;238;p50"/>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9" name="Google Shape;239;p50"/>
            <p:cNvGrpSpPr/>
            <p:nvPr/>
          </p:nvGrpSpPr>
          <p:grpSpPr>
            <a:xfrm>
              <a:off x="58899" y="4608583"/>
              <a:ext cx="604346" cy="657081"/>
              <a:chOff x="58899" y="4608583"/>
              <a:chExt cx="604346" cy="657081"/>
            </a:xfrm>
          </p:grpSpPr>
          <p:grpSp>
            <p:nvGrpSpPr>
              <p:cNvPr id="240" name="Google Shape;240;p50"/>
              <p:cNvGrpSpPr/>
              <p:nvPr/>
            </p:nvGrpSpPr>
            <p:grpSpPr>
              <a:xfrm rot="10800000">
                <a:off x="58899" y="4608583"/>
                <a:ext cx="328346" cy="328531"/>
                <a:chOff x="3678700" y="407275"/>
                <a:chExt cx="708100" cy="708500"/>
              </a:xfrm>
            </p:grpSpPr>
            <p:sp>
              <p:nvSpPr>
                <p:cNvPr id="241" name="Google Shape;241;p5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5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5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5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5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8" name="Google Shape;248;p50"/>
              <p:cNvGrpSpPr/>
              <p:nvPr/>
            </p:nvGrpSpPr>
            <p:grpSpPr>
              <a:xfrm rot="10800000">
                <a:off x="334899" y="4608583"/>
                <a:ext cx="328346" cy="328531"/>
                <a:chOff x="3678700" y="407275"/>
                <a:chExt cx="708100" cy="708500"/>
              </a:xfrm>
            </p:grpSpPr>
            <p:sp>
              <p:nvSpPr>
                <p:cNvPr id="249" name="Google Shape;249;p5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5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5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5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5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5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5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50"/>
              <p:cNvGrpSpPr/>
              <p:nvPr/>
            </p:nvGrpSpPr>
            <p:grpSpPr>
              <a:xfrm rot="10800000">
                <a:off x="282574" y="4937133"/>
                <a:ext cx="328346" cy="328531"/>
                <a:chOff x="3678700" y="407275"/>
                <a:chExt cx="708100" cy="708500"/>
              </a:xfrm>
            </p:grpSpPr>
            <p:sp>
              <p:nvSpPr>
                <p:cNvPr id="257" name="Google Shape;257;p5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5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5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5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5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6667"/>
                      </a:srgbClr>
                    </a:gs>
                    <a:gs pos="100000">
                      <a:srgbClr val="FFFFFF">
                        <a:alpha val="46667"/>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4" name="Google Shape;264;p50"/>
            <p:cNvGrpSpPr/>
            <p:nvPr/>
          </p:nvGrpSpPr>
          <p:grpSpPr>
            <a:xfrm>
              <a:off x="-923150" y="4796551"/>
              <a:ext cx="4558967" cy="134100"/>
              <a:chOff x="796100" y="3019701"/>
              <a:chExt cx="4558967" cy="134100"/>
            </a:xfrm>
          </p:grpSpPr>
          <p:sp>
            <p:nvSpPr>
              <p:cNvPr id="265" name="Google Shape;265;p50"/>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6" name="Google Shape;266;p50"/>
              <p:cNvCxnSpPr/>
              <p:nvPr/>
            </p:nvCxnSpPr>
            <p:spPr>
              <a:xfrm>
                <a:off x="796100" y="3086750"/>
                <a:ext cx="4462800" cy="0"/>
              </a:xfrm>
              <a:prstGeom prst="straightConnector1">
                <a:avLst/>
              </a:prstGeom>
              <a:noFill/>
              <a:ln cap="flat" cmpd="sng" w="9525">
                <a:solidFill>
                  <a:schemeClr val="lt1"/>
                </a:solidFill>
                <a:prstDash val="solid"/>
                <a:round/>
                <a:headEnd len="sm" w="sm" type="none"/>
                <a:tailEnd len="sm" w="sm" type="none"/>
              </a:ln>
            </p:spPr>
          </p:cxnSp>
          <p:sp>
            <p:nvSpPr>
              <p:cNvPr id="267" name="Google Shape;267;p50"/>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268" name="Shape 268"/>
        <p:cNvGrpSpPr/>
        <p:nvPr/>
      </p:nvGrpSpPr>
      <p:grpSpPr>
        <a:xfrm>
          <a:off x="0" y="0"/>
          <a:ext cx="0" cy="0"/>
          <a:chOff x="0" y="0"/>
          <a:chExt cx="0" cy="0"/>
        </a:xfrm>
      </p:grpSpPr>
      <p:sp>
        <p:nvSpPr>
          <p:cNvPr id="269" name="Google Shape;269;p51"/>
          <p:cNvSpPr txBox="1"/>
          <p:nvPr>
            <p:ph idx="1" type="body"/>
          </p:nvPr>
        </p:nvSpPr>
        <p:spPr>
          <a:xfrm>
            <a:off x="2822775" y="2161800"/>
            <a:ext cx="3498300" cy="819900"/>
          </a:xfrm>
          <a:prstGeom prst="rect">
            <a:avLst/>
          </a:prstGeom>
          <a:noFill/>
          <a:ln>
            <a:noFill/>
          </a:ln>
        </p:spPr>
        <p:txBody>
          <a:bodyPr anchorCtr="0" anchor="ctr" bIns="91425" lIns="91425" spcFirstLastPara="1" rIns="91425" wrap="square" tIns="91425">
            <a:noAutofit/>
          </a:bodyPr>
          <a:lstStyle>
            <a:lvl1pPr indent="-381000" lvl="0" marL="457200" algn="ctr">
              <a:lnSpc>
                <a:spcPct val="115000"/>
              </a:lnSpc>
              <a:spcBef>
                <a:spcPts val="600"/>
              </a:spcBef>
              <a:spcAft>
                <a:spcPts val="0"/>
              </a:spcAft>
              <a:buClr>
                <a:srgbClr val="3796BF"/>
              </a:buClr>
              <a:buSzPts val="2400"/>
              <a:buFont typeface="Oswald"/>
              <a:buChar char="»"/>
              <a:defRPr sz="2400">
                <a:solidFill>
                  <a:srgbClr val="3796BF"/>
                </a:solidFill>
                <a:latin typeface="Oswald"/>
                <a:ea typeface="Oswald"/>
                <a:cs typeface="Oswald"/>
                <a:sym typeface="Oswald"/>
              </a:defRPr>
            </a:lvl1pPr>
            <a:lvl2pPr indent="-381000" lvl="1" marL="9144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2pPr>
            <a:lvl3pPr indent="-381000" lvl="2" marL="13716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3pPr>
            <a:lvl4pPr indent="-381000" lvl="3" marL="18288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4pPr>
            <a:lvl5pPr indent="-381000" lvl="4" marL="22860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5pPr>
            <a:lvl6pPr indent="-381000" lvl="5" marL="27432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6pPr>
            <a:lvl7pPr indent="-381000" lvl="6" marL="32004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7pPr>
            <a:lvl8pPr indent="-381000" lvl="7" marL="36576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8pPr>
            <a:lvl9pPr indent="-381000" lvl="8" marL="4114800" algn="ctr">
              <a:lnSpc>
                <a:spcPct val="115000"/>
              </a:lnSpc>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9pPr>
          </a:lstStyle>
          <a:p/>
        </p:txBody>
      </p:sp>
      <p:grpSp>
        <p:nvGrpSpPr>
          <p:cNvPr id="270" name="Google Shape;270;p51"/>
          <p:cNvGrpSpPr/>
          <p:nvPr/>
        </p:nvGrpSpPr>
        <p:grpSpPr>
          <a:xfrm>
            <a:off x="5609677" y="2185857"/>
            <a:ext cx="3534593" cy="3432795"/>
            <a:chOff x="6172210" y="2656118"/>
            <a:chExt cx="2971744" cy="2886157"/>
          </a:xfrm>
        </p:grpSpPr>
        <p:sp>
          <p:nvSpPr>
            <p:cNvPr id="271" name="Google Shape;271;p51"/>
            <p:cNvSpPr/>
            <p:nvPr/>
          </p:nvSpPr>
          <p:spPr>
            <a:xfrm flipH="1" rot="9208626">
              <a:off x="6704904" y="4110434"/>
              <a:ext cx="484232" cy="1204006"/>
            </a:xfrm>
            <a:prstGeom prst="flowChartManualInput">
              <a:avLst/>
            </a:prstGeom>
            <a:solidFill>
              <a:srgbClr val="81D1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51"/>
            <p:cNvSpPr/>
            <p:nvPr/>
          </p:nvSpPr>
          <p:spPr>
            <a:xfrm flipH="1" rot="9208633">
              <a:off x="7804300" y="3279013"/>
              <a:ext cx="877624" cy="2182136"/>
            </a:xfrm>
            <a:prstGeom prst="flowChartManualInput">
              <a:avLst/>
            </a:prstGeom>
            <a:solidFill>
              <a:srgbClr val="3796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51"/>
            <p:cNvSpPr/>
            <p:nvPr/>
          </p:nvSpPr>
          <p:spPr>
            <a:xfrm flipH="1" rot="9208606">
              <a:off x="7481789" y="4276913"/>
              <a:ext cx="408796" cy="1016449"/>
            </a:xfrm>
            <a:prstGeom prst="flowChartManualInput">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51"/>
            <p:cNvSpPr/>
            <p:nvPr/>
          </p:nvSpPr>
          <p:spPr>
            <a:xfrm flipH="1" rot="9208678">
              <a:off x="6287617" y="4657701"/>
              <a:ext cx="229660" cy="571018"/>
            </a:xfrm>
            <a:prstGeom prst="flowChartManualInput">
              <a:avLst/>
            </a:prstGeom>
            <a:solidFill>
              <a:srgbClr val="4BB5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51"/>
            <p:cNvSpPr/>
            <p:nvPr/>
          </p:nvSpPr>
          <p:spPr>
            <a:xfrm>
              <a:off x="8289303" y="2656118"/>
              <a:ext cx="854651" cy="1929080"/>
            </a:xfrm>
            <a:custGeom>
              <a:rect b="b" l="l" r="r" t="t"/>
              <a:pathLst>
                <a:path extrusionOk="0" h="84860" w="37596">
                  <a:moveTo>
                    <a:pt x="19066" y="0"/>
                  </a:moveTo>
                  <a:lnTo>
                    <a:pt x="0" y="9130"/>
                  </a:lnTo>
                  <a:lnTo>
                    <a:pt x="37596" y="84860"/>
                  </a:lnTo>
                  <a:lnTo>
                    <a:pt x="37596" y="37328"/>
                  </a:lnTo>
                  <a:close/>
                </a:path>
              </a:pathLst>
            </a:custGeom>
            <a:solidFill>
              <a:srgbClr val="4BB5D9"/>
            </a:solidFill>
            <a:ln>
              <a:noFill/>
            </a:ln>
          </p:spPr>
        </p:sp>
      </p:grpSp>
      <p:grpSp>
        <p:nvGrpSpPr>
          <p:cNvPr id="276" name="Google Shape;276;p51"/>
          <p:cNvGrpSpPr/>
          <p:nvPr/>
        </p:nvGrpSpPr>
        <p:grpSpPr>
          <a:xfrm>
            <a:off x="-22" y="-324555"/>
            <a:ext cx="3068565" cy="1910899"/>
            <a:chOff x="-32" y="-215971"/>
            <a:chExt cx="2163551" cy="1347316"/>
          </a:xfrm>
        </p:grpSpPr>
        <p:sp>
          <p:nvSpPr>
            <p:cNvPr id="277" name="Google Shape;277;p51"/>
            <p:cNvSpPr/>
            <p:nvPr/>
          </p:nvSpPr>
          <p:spPr>
            <a:xfrm flipH="1" rot="-1591408">
              <a:off x="1362169" y="-63166"/>
              <a:ext cx="205103" cy="509980"/>
            </a:xfrm>
            <a:prstGeom prst="flowChartManualInput">
              <a:avLst/>
            </a:prstGeom>
            <a:solidFill>
              <a:srgbClr val="4BB5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51"/>
            <p:cNvSpPr/>
            <p:nvPr/>
          </p:nvSpPr>
          <p:spPr>
            <a:xfrm flipH="1" rot="-1591371">
              <a:off x="239463" y="-151890"/>
              <a:ext cx="434754" cy="1080980"/>
            </a:xfrm>
            <a:prstGeom prst="flowChartManualInput">
              <a:avLst/>
            </a:prstGeom>
            <a:solidFill>
              <a:srgbClr val="FF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51"/>
            <p:cNvSpPr/>
            <p:nvPr/>
          </p:nvSpPr>
          <p:spPr>
            <a:xfrm flipH="1" rot="-1591339">
              <a:off x="892401" y="-169347"/>
              <a:ext cx="504374" cy="1254067"/>
            </a:xfrm>
            <a:prstGeom prst="flowChartManualInput">
              <a:avLst/>
            </a:prstGeom>
            <a:solidFill>
              <a:srgbClr val="3796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1"/>
            <p:cNvSpPr/>
            <p:nvPr/>
          </p:nvSpPr>
          <p:spPr>
            <a:xfrm flipH="1" rot="-1591322">
              <a:off x="1818452" y="-76292"/>
              <a:ext cx="229660" cy="571018"/>
            </a:xfrm>
            <a:prstGeom prst="flowChartManualInput">
              <a:avLst/>
            </a:prstGeom>
            <a:solidFill>
              <a:srgbClr val="81D1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51"/>
            <p:cNvSpPr/>
            <p:nvPr/>
          </p:nvSpPr>
          <p:spPr>
            <a:xfrm rot="10800000">
              <a:off x="-32" y="70725"/>
              <a:ext cx="380284" cy="858147"/>
            </a:xfrm>
            <a:custGeom>
              <a:rect b="b" l="l" r="r" t="t"/>
              <a:pathLst>
                <a:path extrusionOk="0" h="84860" w="37596">
                  <a:moveTo>
                    <a:pt x="19066" y="0"/>
                  </a:moveTo>
                  <a:lnTo>
                    <a:pt x="0" y="9130"/>
                  </a:lnTo>
                  <a:lnTo>
                    <a:pt x="37596" y="84860"/>
                  </a:lnTo>
                  <a:lnTo>
                    <a:pt x="37596" y="37328"/>
                  </a:lnTo>
                  <a:close/>
                </a:path>
              </a:pathLst>
            </a:custGeom>
            <a:solidFill>
              <a:srgbClr val="81D1EC"/>
            </a:solidFill>
            <a:ln>
              <a:noFill/>
            </a:ln>
          </p:spPr>
        </p:sp>
      </p:grpSp>
      <p:sp>
        <p:nvSpPr>
          <p:cNvPr id="282" name="Google Shape;282;p51"/>
          <p:cNvSpPr txBox="1"/>
          <p:nvPr>
            <p:ph idx="12" type="sldNum"/>
          </p:nvPr>
        </p:nvSpPr>
        <p:spPr>
          <a:xfrm>
            <a:off x="8556784" y="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4BB5D9"/>
                </a:solidFill>
                <a:latin typeface="Roboto Condensed"/>
                <a:ea typeface="Roboto Condensed"/>
                <a:cs typeface="Roboto Condensed"/>
                <a:sym typeface="Roboto Condense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283" name="Shape 283"/>
        <p:cNvGrpSpPr/>
        <p:nvPr/>
      </p:nvGrpSpPr>
      <p:grpSpPr>
        <a:xfrm>
          <a:off x="0" y="0"/>
          <a:ext cx="0" cy="0"/>
          <a:chOff x="0" y="0"/>
          <a:chExt cx="0" cy="0"/>
        </a:xfrm>
      </p:grpSpPr>
      <p:sp>
        <p:nvSpPr>
          <p:cNvPr id="284" name="Google Shape;284;p52"/>
          <p:cNvSpPr txBox="1"/>
          <p:nvPr>
            <p:ph type="title"/>
          </p:nvPr>
        </p:nvSpPr>
        <p:spPr>
          <a:xfrm>
            <a:off x="685800" y="456840"/>
            <a:ext cx="7772400" cy="857250"/>
          </a:xfrm>
          <a:prstGeom prst="rect">
            <a:avLst/>
          </a:prstGeom>
          <a:noFill/>
          <a:ln>
            <a:noFill/>
          </a:ln>
        </p:spPr>
        <p:txBody>
          <a:bodyPr anchorCtr="0" anchor="ctr" bIns="46800" lIns="90000" spcFirstLastPara="1" rIns="90000" wrap="square" tIns="4680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5" name="Google Shape;285;p52"/>
          <p:cNvSpPr txBox="1"/>
          <p:nvPr>
            <p:ph idx="1" type="subTitle"/>
          </p:nvPr>
        </p:nvSpPr>
        <p:spPr>
          <a:xfrm>
            <a:off x="685800" y="1485810"/>
            <a:ext cx="7772400" cy="3086100"/>
          </a:xfrm>
          <a:prstGeom prst="rect">
            <a:avLst/>
          </a:prstGeom>
          <a:noFill/>
          <a:ln>
            <a:noFill/>
          </a:ln>
        </p:spPr>
        <p:txBody>
          <a:bodyPr anchorCtr="0" anchor="ctr" bIns="0" lIns="0" spcFirstLastPara="1" rIns="0" wrap="square" tIns="0">
            <a:noAutofit/>
          </a:bodyPr>
          <a:lstStyle>
            <a:lvl1pPr lvl="0" algn="ctr">
              <a:lnSpc>
                <a:spcPct val="115000"/>
              </a:lnSpc>
              <a:spcBef>
                <a:spcPts val="599"/>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6" name="Shape 286"/>
        <p:cNvGrpSpPr/>
        <p:nvPr/>
      </p:nvGrpSpPr>
      <p:grpSpPr>
        <a:xfrm>
          <a:off x="0" y="0"/>
          <a:ext cx="0" cy="0"/>
          <a:chOff x="0" y="0"/>
          <a:chExt cx="0" cy="0"/>
        </a:xfrm>
      </p:grpSpPr>
      <p:sp>
        <p:nvSpPr>
          <p:cNvPr id="287" name="Google Shape;287;p53"/>
          <p:cNvSpPr txBox="1"/>
          <p:nvPr>
            <p:ph type="title"/>
          </p:nvPr>
        </p:nvSpPr>
        <p:spPr>
          <a:xfrm>
            <a:off x="685800" y="456840"/>
            <a:ext cx="7772400" cy="857250"/>
          </a:xfrm>
          <a:prstGeom prst="rect">
            <a:avLst/>
          </a:prstGeom>
          <a:noFill/>
          <a:ln>
            <a:noFill/>
          </a:ln>
        </p:spPr>
        <p:txBody>
          <a:bodyPr anchorCtr="0" anchor="ctr" bIns="46800" lIns="90000" spcFirstLastPara="1" rIns="90000" wrap="square" tIns="4680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8" name="Google Shape;288;p53"/>
          <p:cNvSpPr txBox="1"/>
          <p:nvPr>
            <p:ph idx="1" type="body"/>
          </p:nvPr>
        </p:nvSpPr>
        <p:spPr>
          <a:xfrm>
            <a:off x="685800" y="1485810"/>
            <a:ext cx="3792600" cy="3086100"/>
          </a:xfrm>
          <a:prstGeom prst="rect">
            <a:avLst/>
          </a:prstGeom>
          <a:noFill/>
          <a:ln>
            <a:noFill/>
          </a:ln>
        </p:spPr>
        <p:txBody>
          <a:bodyPr anchorCtr="0" anchor="t" bIns="46800" lIns="90000" spcFirstLastPara="1" rIns="90000" wrap="square" tIns="46800">
            <a:norm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9" name="Google Shape;289;p53"/>
          <p:cNvSpPr txBox="1"/>
          <p:nvPr>
            <p:ph idx="2" type="body"/>
          </p:nvPr>
        </p:nvSpPr>
        <p:spPr>
          <a:xfrm>
            <a:off x="4668480" y="1485810"/>
            <a:ext cx="3792600" cy="3086100"/>
          </a:xfrm>
          <a:prstGeom prst="rect">
            <a:avLst/>
          </a:prstGeom>
          <a:noFill/>
          <a:ln>
            <a:noFill/>
          </a:ln>
        </p:spPr>
        <p:txBody>
          <a:bodyPr anchorCtr="0" anchor="t" bIns="46800" lIns="90000" spcFirstLastPara="1" rIns="90000" wrap="square" tIns="46800">
            <a:norm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90" name="Shape 290"/>
        <p:cNvGrpSpPr/>
        <p:nvPr/>
      </p:nvGrpSpPr>
      <p:grpSpPr>
        <a:xfrm>
          <a:off x="0" y="0"/>
          <a:ext cx="0" cy="0"/>
          <a:chOff x="0" y="0"/>
          <a:chExt cx="0" cy="0"/>
        </a:xfrm>
      </p:grpSpPr>
      <p:sp>
        <p:nvSpPr>
          <p:cNvPr id="291" name="Google Shape;291;p54"/>
          <p:cNvSpPr txBox="1"/>
          <p:nvPr>
            <p:ph type="title"/>
          </p:nvPr>
        </p:nvSpPr>
        <p:spPr>
          <a:xfrm>
            <a:off x="685800" y="456840"/>
            <a:ext cx="7772400" cy="857250"/>
          </a:xfrm>
          <a:prstGeom prst="rect">
            <a:avLst/>
          </a:prstGeom>
          <a:noFill/>
          <a:ln>
            <a:noFill/>
          </a:ln>
        </p:spPr>
        <p:txBody>
          <a:bodyPr anchorCtr="0" anchor="ctr" bIns="46800" lIns="90000" spcFirstLastPara="1" rIns="90000" wrap="square" tIns="4680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92" name="Google Shape;292;p54"/>
          <p:cNvSpPr txBox="1"/>
          <p:nvPr>
            <p:ph idx="1" type="body"/>
          </p:nvPr>
        </p:nvSpPr>
        <p:spPr>
          <a:xfrm>
            <a:off x="685800" y="1485810"/>
            <a:ext cx="7772400" cy="3086100"/>
          </a:xfrm>
          <a:prstGeom prst="rect">
            <a:avLst/>
          </a:prstGeom>
          <a:noFill/>
          <a:ln>
            <a:noFill/>
          </a:ln>
        </p:spPr>
        <p:txBody>
          <a:bodyPr anchorCtr="0" anchor="t" bIns="46800" lIns="90000" spcFirstLastPara="1" rIns="90000" wrap="square" tIns="46800">
            <a:norm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3" name="Shape 293"/>
        <p:cNvGrpSpPr/>
        <p:nvPr/>
      </p:nvGrpSpPr>
      <p:grpSpPr>
        <a:xfrm>
          <a:off x="0" y="0"/>
          <a:ext cx="0" cy="0"/>
          <a:chOff x="0" y="0"/>
          <a:chExt cx="0" cy="0"/>
        </a:xfrm>
      </p:grpSpPr>
      <p:sp>
        <p:nvSpPr>
          <p:cNvPr id="294" name="Google Shape;294;p55"/>
          <p:cNvSpPr txBox="1"/>
          <p:nvPr>
            <p:ph type="title"/>
          </p:nvPr>
        </p:nvSpPr>
        <p:spPr>
          <a:xfrm>
            <a:off x="685800" y="456840"/>
            <a:ext cx="7772400" cy="857250"/>
          </a:xfrm>
          <a:prstGeom prst="rect">
            <a:avLst/>
          </a:prstGeom>
          <a:noFill/>
          <a:ln>
            <a:noFill/>
          </a:ln>
        </p:spPr>
        <p:txBody>
          <a:bodyPr anchorCtr="0" anchor="ctr" bIns="46800" lIns="90000" spcFirstLastPara="1" rIns="90000" wrap="square" tIns="4680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95" name="Shape 295"/>
        <p:cNvGrpSpPr/>
        <p:nvPr/>
      </p:nvGrpSpPr>
      <p:grpSpPr>
        <a:xfrm>
          <a:off x="0" y="0"/>
          <a:ext cx="0" cy="0"/>
          <a:chOff x="0" y="0"/>
          <a:chExt cx="0" cy="0"/>
        </a:xfrm>
      </p:grpSpPr>
      <p:sp>
        <p:nvSpPr>
          <p:cNvPr id="296" name="Google Shape;296;p5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97" name="Google Shape;297;p56"/>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8" name="Google Shape;298;p5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99" name="Google Shape;299;p5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00" name="Google Shape;300;p5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301" name="Shape 301"/>
        <p:cNvGrpSpPr/>
        <p:nvPr/>
      </p:nvGrpSpPr>
      <p:grpSpPr>
        <a:xfrm>
          <a:off x="0" y="0"/>
          <a:ext cx="0" cy="0"/>
          <a:chOff x="0" y="0"/>
          <a:chExt cx="0" cy="0"/>
        </a:xfrm>
      </p:grpSpPr>
      <p:sp>
        <p:nvSpPr>
          <p:cNvPr id="302" name="Google Shape;302;p57"/>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SzPts val="1400"/>
              <a:buNone/>
              <a:defRPr b="0" i="0" sz="14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03" name="Google Shape;303;p57"/>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4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04" name="Google Shape;304;p57"/>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1pPr>
            <a:lvl2pPr indent="0" lvl="1"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2pPr>
            <a:lvl3pPr indent="0" lvl="2"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3pPr>
            <a:lvl4pPr indent="0" lvl="3"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4pPr>
            <a:lvl5pPr indent="0" lvl="4"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5pPr>
            <a:lvl6pPr indent="0" lvl="5"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6pPr>
            <a:lvl7pPr indent="0" lvl="6"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7pPr>
            <a:lvl8pPr indent="0" lvl="7"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8pPr>
            <a:lvl9pPr indent="0" lvl="8" marL="66075" marR="0" rtl="0" algn="l">
              <a:lnSpc>
                <a:spcPct val="118750"/>
              </a:lnSpc>
              <a:spcBef>
                <a:spcPts val="0"/>
              </a:spcBef>
              <a:spcAft>
                <a:spcPts val="0"/>
              </a:spcAft>
              <a:buNone/>
              <a:defRPr b="0" i="0" sz="816" u="none" cap="none" strike="noStrike">
                <a:solidFill>
                  <a:schemeClr val="dk1"/>
                </a:solidFill>
                <a:latin typeface="Arial"/>
                <a:ea typeface="Arial"/>
                <a:cs typeface="Arial"/>
                <a:sym typeface="Arial"/>
              </a:defRPr>
            </a:lvl9pPr>
          </a:lstStyle>
          <a:p>
            <a:pPr indent="0" lvl="0" marL="66075" rtl="0" algn="l">
              <a:spcBef>
                <a:spcPts val="0"/>
              </a:spcBef>
              <a:spcAft>
                <a:spcPts val="0"/>
              </a:spcAft>
              <a:buNone/>
            </a:pPr>
            <a:r>
              <a:rPr lang="en-US"/>
              <a:t>Medición del software	</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8" name="Shape 30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1pPr>
            <a:lvl2pPr lvl="1"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2pPr>
            <a:lvl3pPr lvl="2"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3pPr>
            <a:lvl4pPr lvl="3"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4pPr>
            <a:lvl5pPr lvl="4"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5pPr>
            <a:lvl6pPr lvl="5"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6pPr>
            <a:lvl7pPr lvl="6"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7pPr>
            <a:lvl8pPr lvl="7"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8pPr>
            <a:lvl9pPr lvl="8"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9pPr>
          </a:lstStyle>
          <a:p/>
        </p:txBody>
      </p:sp>
      <p:sp>
        <p:nvSpPr>
          <p:cNvPr id="7" name="Google Shape;7;p42"/>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05" name="Shape 305"/>
        <p:cNvGrpSpPr/>
        <p:nvPr/>
      </p:nvGrpSpPr>
      <p:grpSpPr>
        <a:xfrm>
          <a:off x="0" y="0"/>
          <a:ext cx="0" cy="0"/>
          <a:chOff x="0" y="0"/>
          <a:chExt cx="0" cy="0"/>
        </a:xfrm>
      </p:grpSpPr>
      <p:sp>
        <p:nvSpPr>
          <p:cNvPr id="306" name="Google Shape;306;p46"/>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1pPr>
            <a:lvl2pPr lvl="1"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2pPr>
            <a:lvl3pPr lvl="2"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3pPr>
            <a:lvl4pPr lvl="3"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4pPr>
            <a:lvl5pPr lvl="4"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5pPr>
            <a:lvl6pPr lvl="5"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6pPr>
            <a:lvl7pPr lvl="6"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7pPr>
            <a:lvl8pPr lvl="7"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8pPr>
            <a:lvl9pPr lvl="8" marR="0" rtl="0" algn="ctr">
              <a:lnSpc>
                <a:spcPct val="100000"/>
              </a:lnSpc>
              <a:spcBef>
                <a:spcPts val="0"/>
              </a:spcBef>
              <a:spcAft>
                <a:spcPts val="0"/>
              </a:spcAft>
              <a:buClr>
                <a:srgbClr val="FFFFFF"/>
              </a:buClr>
              <a:buSzPts val="2400"/>
              <a:buFont typeface="Arial"/>
              <a:buNone/>
              <a:defRPr b="0" i="0" sz="2400" u="none" cap="none" strike="noStrike">
                <a:solidFill>
                  <a:srgbClr val="FFFFFF"/>
                </a:solidFill>
                <a:latin typeface="Arial"/>
                <a:ea typeface="Arial"/>
                <a:cs typeface="Arial"/>
                <a:sym typeface="Arial"/>
              </a:defRPr>
            </a:lvl9pPr>
          </a:lstStyle>
          <a:p/>
        </p:txBody>
      </p:sp>
      <p:sp>
        <p:nvSpPr>
          <p:cNvPr id="307" name="Google Shape;307;p46"/>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1pPr>
            <a:lvl2pPr indent="-298450" lvl="1" marL="914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2pPr>
            <a:lvl3pPr indent="-298450" lvl="2" marL="1371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3pPr>
            <a:lvl4pPr indent="-298450" lvl="3" marL="1828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4pPr>
            <a:lvl5pPr indent="-298450" lvl="4" marL="22860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5pPr>
            <a:lvl6pPr indent="-298450" lvl="5" marL="2743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6pPr>
            <a:lvl7pPr indent="-298450" lvl="6" marL="3200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7pPr>
            <a:lvl8pPr indent="-298450" lvl="7" marL="3657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8pPr>
            <a:lvl9pPr indent="-298450" lvl="8" marL="4114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6.png"/><Relationship Id="rId8"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www.mphasis.com/content/dam/mphasis-com/global/en/downloads/WhitePapers/Whitepaper_Software-Testing-Metrics.pdf" TargetMode="External"/><Relationship Id="rId4" Type="http://schemas.openxmlformats.org/officeDocument/2006/relationships/hyperlink" Target="https://www.academia.edu/92208514/A_study_on_software_quality_factors_and_metrics_to_enhance_software_quality_assuranc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www.scielo.cl/pdf/ingeniare/v29n2/0718-3305-ingeniare-29-02-346.pdf" TargetMode="External"/><Relationship Id="rId4" Type="http://schemas.openxmlformats.org/officeDocument/2006/relationships/hyperlink" Target="https://github.com/JuanJFarina/pymetric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1"/>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US" sz="1200"/>
              <a:t>M en C JESUS MARTÍN SILVA FERNÁNDEZ</a:t>
            </a:r>
            <a:endParaRPr/>
          </a:p>
          <a:p>
            <a:pPr indent="0" lvl="0" marL="0" rtl="0" algn="l">
              <a:lnSpc>
                <a:spcPct val="115000"/>
              </a:lnSpc>
              <a:spcBef>
                <a:spcPts val="0"/>
              </a:spcBef>
              <a:spcAft>
                <a:spcPts val="0"/>
              </a:spcAft>
              <a:buSzPts val="1400"/>
              <a:buNone/>
            </a:pPr>
            <a:r>
              <a:rPr lang="en-US"/>
              <a:t>jsilvaf@unsa.edu.pe </a:t>
            </a:r>
            <a:endParaRPr/>
          </a:p>
        </p:txBody>
      </p:sp>
      <p:sp>
        <p:nvSpPr>
          <p:cNvPr id="314" name="Google Shape;314;p1"/>
          <p:cNvSpPr txBox="1"/>
          <p:nvPr>
            <p:ph type="ctrTitle"/>
          </p:nvPr>
        </p:nvSpPr>
        <p:spPr>
          <a:xfrm>
            <a:off x="1096850" y="816324"/>
            <a:ext cx="6974700" cy="2326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3600">
                <a:solidFill>
                  <a:schemeClr val="dk2"/>
                </a:solidFill>
              </a:rPr>
              <a:t>Métricas de Software</a:t>
            </a:r>
            <a:br>
              <a:rPr lang="en-US">
                <a:solidFill>
                  <a:schemeClr val="dk2"/>
                </a:solidFill>
              </a:rPr>
            </a:br>
            <a:r>
              <a:rPr lang="en-US" sz="2800">
                <a:solidFill>
                  <a:schemeClr val="dk1"/>
                </a:solidFill>
              </a:rPr>
              <a:t>Capítulo 4</a:t>
            </a:r>
            <a:endParaRPr sz="2800">
              <a:solidFill>
                <a:schemeClr val="dk1"/>
              </a:solidFill>
            </a:endParaRPr>
          </a:p>
        </p:txBody>
      </p:sp>
      <p:grpSp>
        <p:nvGrpSpPr>
          <p:cNvPr id="315" name="Google Shape;315;p1"/>
          <p:cNvGrpSpPr/>
          <p:nvPr/>
        </p:nvGrpSpPr>
        <p:grpSpPr>
          <a:xfrm>
            <a:off x="1096850" y="3242811"/>
            <a:ext cx="3936684" cy="134070"/>
            <a:chOff x="1096850" y="3242811"/>
            <a:chExt cx="3936684" cy="134070"/>
          </a:xfrm>
        </p:grpSpPr>
        <p:cxnSp>
          <p:nvCxnSpPr>
            <p:cNvPr id="316" name="Google Shape;316;p1"/>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317" name="Google Shape;317;p1"/>
            <p:cNvGrpSpPr/>
            <p:nvPr/>
          </p:nvGrpSpPr>
          <p:grpSpPr>
            <a:xfrm>
              <a:off x="4899464" y="3242811"/>
              <a:ext cx="134070" cy="134070"/>
              <a:chOff x="8382514" y="1084976"/>
              <a:chExt cx="265800" cy="265800"/>
            </a:xfrm>
          </p:grpSpPr>
          <p:sp>
            <p:nvSpPr>
              <p:cNvPr id="318" name="Google Shape;318;p1"/>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20" name="Google Shape;320;p1"/>
          <p:cNvGrpSpPr/>
          <p:nvPr/>
        </p:nvGrpSpPr>
        <p:grpSpPr>
          <a:xfrm>
            <a:off x="8017432" y="-313900"/>
            <a:ext cx="134070" cy="1891363"/>
            <a:chOff x="8017432" y="-313900"/>
            <a:chExt cx="134070" cy="1891363"/>
          </a:xfrm>
        </p:grpSpPr>
        <p:sp>
          <p:nvSpPr>
            <p:cNvPr id="321" name="Google Shape;321;p1"/>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2" name="Google Shape;322;p1"/>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323" name="Google Shape;323;p1"/>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4" name="Google Shape;324;p1"/>
          <p:cNvGrpSpPr/>
          <p:nvPr/>
        </p:nvGrpSpPr>
        <p:grpSpPr>
          <a:xfrm>
            <a:off x="6309526" y="957475"/>
            <a:ext cx="3504715" cy="5119205"/>
            <a:chOff x="6309526" y="836950"/>
            <a:chExt cx="3504715" cy="5119205"/>
          </a:xfrm>
        </p:grpSpPr>
        <p:sp>
          <p:nvSpPr>
            <p:cNvPr id="325" name="Google Shape;325;p1"/>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6" name="Google Shape;326;p1"/>
            <p:cNvGrpSpPr/>
            <p:nvPr/>
          </p:nvGrpSpPr>
          <p:grpSpPr>
            <a:xfrm>
              <a:off x="7728436" y="3524084"/>
              <a:ext cx="134004" cy="134004"/>
              <a:chOff x="8356813" y="1074288"/>
              <a:chExt cx="351900" cy="351900"/>
            </a:xfrm>
          </p:grpSpPr>
          <p:sp>
            <p:nvSpPr>
              <p:cNvPr id="327" name="Google Shape;327;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9" name="Google Shape;329;p1"/>
            <p:cNvGrpSpPr/>
            <p:nvPr/>
          </p:nvGrpSpPr>
          <p:grpSpPr>
            <a:xfrm>
              <a:off x="7344361" y="3150259"/>
              <a:ext cx="134004" cy="134004"/>
              <a:chOff x="8356813" y="1074288"/>
              <a:chExt cx="351900" cy="351900"/>
            </a:xfrm>
          </p:grpSpPr>
          <p:sp>
            <p:nvSpPr>
              <p:cNvPr id="330" name="Google Shape;330;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2" name="Google Shape;332;p1"/>
            <p:cNvGrpSpPr/>
            <p:nvPr/>
          </p:nvGrpSpPr>
          <p:grpSpPr>
            <a:xfrm>
              <a:off x="8337811" y="2464059"/>
              <a:ext cx="134004" cy="134004"/>
              <a:chOff x="8356813" y="1074288"/>
              <a:chExt cx="351900" cy="351900"/>
            </a:xfrm>
          </p:grpSpPr>
          <p:sp>
            <p:nvSpPr>
              <p:cNvPr id="333" name="Google Shape;333;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5" name="Google Shape;335;p1"/>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6" name="Google Shape;336;p1"/>
          <p:cNvSpPr txBox="1"/>
          <p:nvPr/>
        </p:nvSpPr>
        <p:spPr>
          <a:xfrm>
            <a:off x="4065224" y="473725"/>
            <a:ext cx="3952174"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1400" u="none" cap="none" strike="noStrike">
                <a:solidFill>
                  <a:schemeClr val="lt2"/>
                </a:solidFill>
                <a:latin typeface="Arial Black"/>
                <a:ea typeface="Arial Black"/>
                <a:cs typeface="Arial Black"/>
                <a:sym typeface="Arial Black"/>
              </a:rPr>
              <a:t>CALIDAD DE SOFTWARE</a:t>
            </a:r>
            <a:endParaRPr b="0" i="0" sz="1400" u="none" cap="none" strike="noStrike">
              <a:solidFill>
                <a:schemeClr val="lt2"/>
              </a:solidFill>
              <a:latin typeface="Arial Black"/>
              <a:ea typeface="Arial Black"/>
              <a:cs typeface="Arial Black"/>
              <a:sym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
          <p:cNvSpPr/>
          <p:nvPr/>
        </p:nvSpPr>
        <p:spPr>
          <a:xfrm>
            <a:off x="7666803" y="4688083"/>
            <a:ext cx="533524" cy="356392"/>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39475" lIns="75950" spcFirstLastPara="1" rIns="75950" wrap="square" tIns="39475">
            <a:noAutofit/>
          </a:bodyPr>
          <a:lstStyle/>
          <a:p>
            <a:pPr indent="0" lvl="0" marL="0" marR="0" rtl="0" algn="l">
              <a:lnSpc>
                <a:spcPct val="100000"/>
              </a:lnSpc>
              <a:spcBef>
                <a:spcPts val="0"/>
              </a:spcBef>
              <a:spcAft>
                <a:spcPts val="0"/>
              </a:spcAft>
              <a:buNone/>
            </a:pPr>
            <a:fld id="{00000000-1234-1234-1234-123412341234}" type="slidenum">
              <a:rPr b="0" i="0" lang="en-US" sz="1013" u="none" cap="none" strike="noStrike">
                <a:solidFill>
                  <a:srgbClr val="FFFFFF"/>
                </a:solidFill>
                <a:latin typeface="Arial"/>
                <a:ea typeface="Arial"/>
                <a:cs typeface="Arial"/>
                <a:sym typeface="Arial"/>
              </a:rPr>
              <a:t>‹#›</a:t>
            </a:fld>
            <a:endParaRPr b="1" i="0" sz="1013" u="none" cap="none" strike="noStrike">
              <a:solidFill>
                <a:srgbClr val="FFFFFF"/>
              </a:solidFill>
              <a:latin typeface="Arial"/>
              <a:ea typeface="Arial"/>
              <a:cs typeface="Arial"/>
              <a:sym typeface="Arial"/>
            </a:endParaRPr>
          </a:p>
        </p:txBody>
      </p:sp>
      <p:sp>
        <p:nvSpPr>
          <p:cNvPr id="342" name="Google Shape;342;p2"/>
          <p:cNvSpPr txBox="1"/>
          <p:nvPr/>
        </p:nvSpPr>
        <p:spPr>
          <a:xfrm>
            <a:off x="2105211" y="205996"/>
            <a:ext cx="4941173" cy="506483"/>
          </a:xfrm>
          <a:prstGeom prst="rect">
            <a:avLst/>
          </a:prstGeom>
          <a:noFill/>
          <a:ln>
            <a:noFill/>
          </a:ln>
        </p:spPr>
        <p:txBody>
          <a:bodyPr anchorCtr="0" anchor="t" bIns="21550" lIns="53450" spcFirstLastPara="1" rIns="53450" wrap="square" tIns="21550">
            <a:noAutofit/>
          </a:bodyPr>
          <a:lstStyle/>
          <a:p>
            <a:pPr indent="0" lvl="0" marL="0" marR="0" rtl="0" algn="ctr">
              <a:lnSpc>
                <a:spcPct val="100000"/>
              </a:lnSpc>
              <a:spcBef>
                <a:spcPts val="0"/>
              </a:spcBef>
              <a:spcAft>
                <a:spcPts val="0"/>
              </a:spcAft>
              <a:buNone/>
            </a:pPr>
            <a:r>
              <a:rPr b="1" i="0" lang="en-US" sz="3038" u="none" cap="none" strike="noStrike">
                <a:solidFill>
                  <a:srgbClr val="FF0000"/>
                </a:solidFill>
                <a:latin typeface="Palatino"/>
                <a:ea typeface="Palatino"/>
                <a:cs typeface="Palatino"/>
                <a:sym typeface="Palatino"/>
              </a:rPr>
              <a:t>Un buen gerente mide</a:t>
            </a:r>
            <a:endParaRPr b="1" i="0" sz="3038" u="none" cap="none" strike="noStrike">
              <a:solidFill>
                <a:srgbClr val="FF0000"/>
              </a:solidFill>
              <a:latin typeface="Palatino"/>
              <a:ea typeface="Palatino"/>
              <a:cs typeface="Palatino"/>
              <a:sym typeface="Palatino"/>
            </a:endParaRPr>
          </a:p>
        </p:txBody>
      </p:sp>
      <p:sp>
        <p:nvSpPr>
          <p:cNvPr id="343" name="Google Shape;343;p2"/>
          <p:cNvSpPr/>
          <p:nvPr/>
        </p:nvSpPr>
        <p:spPr>
          <a:xfrm>
            <a:off x="2728365" y="1185845"/>
            <a:ext cx="2304544" cy="1671972"/>
          </a:xfrm>
          <a:prstGeom prst="ellipse">
            <a:avLst/>
          </a:prstGeom>
          <a:solidFill>
            <a:srgbClr val="D7FA7E"/>
          </a:solidFill>
          <a:ln>
            <a:noFill/>
          </a:ln>
          <a:effectLst>
            <a:outerShdw dir="2700000" dist="53966">
              <a:srgbClr val="000514">
                <a:alpha val="7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
          <p:cNvSpPr/>
          <p:nvPr/>
        </p:nvSpPr>
        <p:spPr>
          <a:xfrm>
            <a:off x="2728365" y="1185845"/>
            <a:ext cx="2304544" cy="1671972"/>
          </a:xfrm>
          <a:prstGeom prst="ellipse">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
          <p:cNvSpPr/>
          <p:nvPr/>
        </p:nvSpPr>
        <p:spPr>
          <a:xfrm>
            <a:off x="3907526" y="2654251"/>
            <a:ext cx="1725749" cy="1671972"/>
          </a:xfrm>
          <a:prstGeom prst="rect">
            <a:avLst/>
          </a:prstGeom>
          <a:solidFill>
            <a:srgbClr val="FFCC00"/>
          </a:solidFill>
          <a:ln>
            <a:noFill/>
          </a:ln>
          <a:effectLst>
            <a:outerShdw dir="2700000" dist="53966">
              <a:srgbClr val="000514">
                <a:alpha val="7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
          <p:cNvSpPr/>
          <p:nvPr/>
        </p:nvSpPr>
        <p:spPr>
          <a:xfrm>
            <a:off x="3907526" y="2654251"/>
            <a:ext cx="1725749" cy="16719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
          <p:cNvSpPr/>
          <p:nvPr/>
        </p:nvSpPr>
        <p:spPr>
          <a:xfrm>
            <a:off x="3027637" y="1789858"/>
            <a:ext cx="1292721" cy="387224"/>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rgbClr val="003399"/>
                </a:solidFill>
                <a:latin typeface="Arial"/>
                <a:ea typeface="Arial"/>
                <a:cs typeface="Arial"/>
                <a:sym typeface="Arial"/>
              </a:rPr>
              <a:t>medición</a:t>
            </a:r>
            <a:endParaRPr b="1" i="0" sz="2026" u="none" cap="none" strike="noStrike">
              <a:solidFill>
                <a:srgbClr val="FFFFFF"/>
              </a:solidFill>
              <a:latin typeface="Arial"/>
              <a:ea typeface="Arial"/>
              <a:cs typeface="Arial"/>
              <a:sym typeface="Arial"/>
            </a:endParaRPr>
          </a:p>
        </p:txBody>
      </p:sp>
      <p:sp>
        <p:nvSpPr>
          <p:cNvPr id="348" name="Google Shape;348;p2"/>
          <p:cNvSpPr/>
          <p:nvPr/>
        </p:nvSpPr>
        <p:spPr>
          <a:xfrm>
            <a:off x="3927275" y="2743881"/>
            <a:ext cx="2172128" cy="698976"/>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rgbClr val="003399"/>
                </a:solidFill>
                <a:latin typeface="Arial"/>
                <a:ea typeface="Arial"/>
                <a:cs typeface="Arial"/>
                <a:sym typeface="Arial"/>
              </a:rPr>
              <a:t>¿Qué hacemos?</a:t>
            </a:r>
            <a:endParaRPr b="1" i="0" sz="2026"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26" u="none" cap="none" strike="noStrike">
              <a:solidFill>
                <a:srgbClr val="FFFFFF"/>
              </a:solidFill>
              <a:latin typeface="Arial"/>
              <a:ea typeface="Arial"/>
              <a:cs typeface="Arial"/>
              <a:sym typeface="Arial"/>
            </a:endParaRPr>
          </a:p>
        </p:txBody>
      </p:sp>
      <p:sp>
        <p:nvSpPr>
          <p:cNvPr id="349" name="Google Shape;349;p2"/>
          <p:cNvSpPr/>
          <p:nvPr/>
        </p:nvSpPr>
        <p:spPr>
          <a:xfrm>
            <a:off x="3949151" y="3001224"/>
            <a:ext cx="2142889" cy="698976"/>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rgbClr val="003399"/>
                </a:solidFill>
                <a:latin typeface="Arial"/>
                <a:ea typeface="Arial"/>
                <a:cs typeface="Arial"/>
                <a:sym typeface="Arial"/>
              </a:rPr>
              <a:t>utilizar como un</a:t>
            </a:r>
            <a:endParaRPr b="1" i="0" sz="2026"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26" u="none" cap="none" strike="noStrike">
              <a:solidFill>
                <a:srgbClr val="FFFFFF"/>
              </a:solidFill>
              <a:latin typeface="Arial"/>
              <a:ea typeface="Arial"/>
              <a:cs typeface="Arial"/>
              <a:sym typeface="Arial"/>
            </a:endParaRPr>
          </a:p>
        </p:txBody>
      </p:sp>
      <p:sp>
        <p:nvSpPr>
          <p:cNvPr id="350" name="Google Shape;350;p2"/>
          <p:cNvSpPr/>
          <p:nvPr/>
        </p:nvSpPr>
        <p:spPr>
          <a:xfrm>
            <a:off x="3959785" y="3279836"/>
            <a:ext cx="1062145" cy="698976"/>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rgbClr val="003399"/>
                </a:solidFill>
                <a:latin typeface="Arial"/>
                <a:ea typeface="Arial"/>
                <a:cs typeface="Arial"/>
                <a:sym typeface="Arial"/>
              </a:rPr>
              <a:t>¿base?</a:t>
            </a:r>
            <a:endParaRPr b="1" i="0" sz="2026"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26" u="none" cap="none" strike="noStrike">
              <a:solidFill>
                <a:srgbClr val="FFFFFF"/>
              </a:solidFill>
              <a:latin typeface="Arial"/>
              <a:ea typeface="Arial"/>
              <a:cs typeface="Arial"/>
              <a:sym typeface="Arial"/>
            </a:endParaRPr>
          </a:p>
        </p:txBody>
      </p:sp>
      <p:sp>
        <p:nvSpPr>
          <p:cNvPr id="351" name="Google Shape;351;p2"/>
          <p:cNvSpPr/>
          <p:nvPr/>
        </p:nvSpPr>
        <p:spPr>
          <a:xfrm>
            <a:off x="3904488" y="3537179"/>
            <a:ext cx="1484953" cy="698976"/>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rgbClr val="003399"/>
                </a:solidFill>
                <a:latin typeface="Arial"/>
                <a:ea typeface="Arial"/>
                <a:cs typeface="Arial"/>
                <a:sym typeface="Arial"/>
              </a:rPr>
              <a:t>•¿tamaño?</a:t>
            </a:r>
            <a:endParaRPr b="1" i="0" sz="2026"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26" u="none" cap="none" strike="noStrike">
              <a:solidFill>
                <a:srgbClr val="FFFFFF"/>
              </a:solidFill>
              <a:latin typeface="Arial"/>
              <a:ea typeface="Arial"/>
              <a:cs typeface="Arial"/>
              <a:sym typeface="Arial"/>
            </a:endParaRPr>
          </a:p>
        </p:txBody>
      </p:sp>
      <p:sp>
        <p:nvSpPr>
          <p:cNvPr id="352" name="Google Shape;352;p2"/>
          <p:cNvSpPr/>
          <p:nvPr/>
        </p:nvSpPr>
        <p:spPr>
          <a:xfrm>
            <a:off x="3904184" y="3805157"/>
            <a:ext cx="1499252" cy="387224"/>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rgbClr val="003399"/>
                </a:solidFill>
                <a:latin typeface="Arial"/>
                <a:ea typeface="Arial"/>
                <a:cs typeface="Arial"/>
                <a:sym typeface="Arial"/>
              </a:rPr>
              <a:t>•¿función?</a:t>
            </a:r>
            <a:endParaRPr b="1" i="0" sz="2026" u="none" cap="none" strike="noStrike">
              <a:solidFill>
                <a:srgbClr val="FFFFFF"/>
              </a:solidFill>
              <a:latin typeface="Arial"/>
              <a:ea typeface="Arial"/>
              <a:cs typeface="Arial"/>
              <a:sym typeface="Arial"/>
            </a:endParaRPr>
          </a:p>
        </p:txBody>
      </p:sp>
      <p:sp>
        <p:nvSpPr>
          <p:cNvPr id="353" name="Google Shape;353;p2"/>
          <p:cNvSpPr/>
          <p:nvPr/>
        </p:nvSpPr>
        <p:spPr>
          <a:xfrm>
            <a:off x="5534835" y="1554087"/>
            <a:ext cx="2834745" cy="387224"/>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chemeClr val="dk1"/>
                </a:solidFill>
                <a:latin typeface="Arial"/>
                <a:ea typeface="Arial"/>
                <a:cs typeface="Arial"/>
                <a:sym typeface="Arial"/>
              </a:rPr>
              <a:t>métricas del proyecto</a:t>
            </a:r>
            <a:endParaRPr/>
          </a:p>
        </p:txBody>
      </p:sp>
      <p:sp>
        <p:nvSpPr>
          <p:cNvPr id="354" name="Google Shape;354;p2"/>
          <p:cNvSpPr/>
          <p:nvPr/>
        </p:nvSpPr>
        <p:spPr>
          <a:xfrm>
            <a:off x="5079698" y="1061276"/>
            <a:ext cx="2676305" cy="387224"/>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chemeClr val="dk1"/>
                </a:solidFill>
                <a:latin typeface="Arial"/>
                <a:ea typeface="Arial"/>
                <a:cs typeface="Arial"/>
                <a:sym typeface="Arial"/>
              </a:rPr>
              <a:t>métricas de proceso</a:t>
            </a:r>
            <a:endParaRPr/>
          </a:p>
        </p:txBody>
      </p:sp>
      <p:sp>
        <p:nvSpPr>
          <p:cNvPr id="355" name="Google Shape;355;p2"/>
          <p:cNvSpPr/>
          <p:nvPr/>
        </p:nvSpPr>
        <p:spPr>
          <a:xfrm>
            <a:off x="1912584" y="868344"/>
            <a:ext cx="1163006" cy="387224"/>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chemeClr val="dk1"/>
                </a:solidFill>
                <a:latin typeface="Arial"/>
                <a:ea typeface="Arial"/>
                <a:cs typeface="Arial"/>
                <a:sym typeface="Arial"/>
              </a:rPr>
              <a:t>proceso</a:t>
            </a:r>
            <a:endParaRPr/>
          </a:p>
        </p:txBody>
      </p:sp>
      <p:sp>
        <p:nvSpPr>
          <p:cNvPr id="356" name="Google Shape;356;p2"/>
          <p:cNvSpPr/>
          <p:nvPr/>
        </p:nvSpPr>
        <p:spPr>
          <a:xfrm>
            <a:off x="1932573" y="2567587"/>
            <a:ext cx="1278294" cy="387224"/>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chemeClr val="dk1"/>
                </a:solidFill>
                <a:latin typeface="Arial"/>
                <a:ea typeface="Arial"/>
                <a:cs typeface="Arial"/>
                <a:sym typeface="Arial"/>
              </a:rPr>
              <a:t>producto</a:t>
            </a:r>
            <a:endParaRPr b="1" i="0" sz="2026" u="none" cap="none" strike="noStrike">
              <a:solidFill>
                <a:schemeClr val="dk1"/>
              </a:solidFill>
              <a:latin typeface="Arial"/>
              <a:ea typeface="Arial"/>
              <a:cs typeface="Arial"/>
              <a:sym typeface="Arial"/>
            </a:endParaRPr>
          </a:p>
        </p:txBody>
      </p:sp>
      <p:sp>
        <p:nvSpPr>
          <p:cNvPr id="357" name="Google Shape;357;p2"/>
          <p:cNvSpPr/>
          <p:nvPr/>
        </p:nvSpPr>
        <p:spPr>
          <a:xfrm>
            <a:off x="3028548" y="1079809"/>
            <a:ext cx="589428" cy="418069"/>
          </a:xfrm>
          <a:custGeom>
            <a:rect b="b" l="l" r="r" t="t"/>
            <a:pathLst>
              <a:path extrusionOk="0" h="21601" w="21600">
                <a:moveTo>
                  <a:pt x="0" y="-1"/>
                </a:moveTo>
                <a:cubicBezTo>
                  <a:pt x="11929" y="-1"/>
                  <a:pt x="21600" y="9670"/>
                  <a:pt x="21600" y="21600"/>
                </a:cubicBezTo>
                <a:moveTo>
                  <a:pt x="0" y="-1"/>
                </a:moveTo>
                <a:cubicBezTo>
                  <a:pt x="11929" y="-1"/>
                  <a:pt x="21600" y="9670"/>
                  <a:pt x="21600" y="21600"/>
                </a:cubicBezTo>
                <a:lnTo>
                  <a:pt x="0" y="21600"/>
                </a:lnTo>
                <a:close/>
              </a:path>
            </a:pathLst>
          </a:custGeom>
          <a:noFill/>
          <a:ln cap="rnd" cmpd="sng" w="50750">
            <a:solidFill>
              <a:srgbClr val="FE9B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8" name="Google Shape;358;p2"/>
          <p:cNvCxnSpPr/>
          <p:nvPr/>
        </p:nvCxnSpPr>
        <p:spPr>
          <a:xfrm flipH="1" rot="10800000">
            <a:off x="4582634" y="1249650"/>
            <a:ext cx="407435" cy="278611"/>
          </a:xfrm>
          <a:prstGeom prst="straightConnector1">
            <a:avLst/>
          </a:prstGeom>
          <a:noFill/>
          <a:ln cap="flat" cmpd="sng" w="50750">
            <a:solidFill>
              <a:srgbClr val="FE9B03"/>
            </a:solidFill>
            <a:prstDash val="solid"/>
            <a:miter lim="8000"/>
            <a:headEnd len="sm" w="sm" type="none"/>
            <a:tailEnd len="med" w="med" type="triangle"/>
          </a:ln>
        </p:spPr>
      </p:cxnSp>
      <p:cxnSp>
        <p:nvCxnSpPr>
          <p:cNvPr id="359" name="Google Shape;359;p2"/>
          <p:cNvCxnSpPr/>
          <p:nvPr/>
        </p:nvCxnSpPr>
        <p:spPr>
          <a:xfrm flipH="1" rot="10800000">
            <a:off x="4904389" y="1753398"/>
            <a:ext cx="578794" cy="107252"/>
          </a:xfrm>
          <a:prstGeom prst="straightConnector1">
            <a:avLst/>
          </a:prstGeom>
          <a:noFill/>
          <a:ln cap="flat" cmpd="sng" w="50750">
            <a:solidFill>
              <a:srgbClr val="FE9B03"/>
            </a:solidFill>
            <a:prstDash val="solid"/>
            <a:miter lim="8000"/>
            <a:headEnd len="sm" w="sm" type="none"/>
            <a:tailEnd len="med" w="med" type="triangle"/>
          </a:ln>
        </p:spPr>
      </p:cxnSp>
      <p:sp>
        <p:nvSpPr>
          <p:cNvPr id="360" name="Google Shape;360;p2"/>
          <p:cNvSpPr/>
          <p:nvPr/>
        </p:nvSpPr>
        <p:spPr>
          <a:xfrm>
            <a:off x="3006976" y="2375336"/>
            <a:ext cx="471847" cy="385863"/>
          </a:xfrm>
          <a:custGeom>
            <a:rect b="b" l="l" r="r" t="t"/>
            <a:pathLst>
              <a:path extrusionOk="0" h="21599" w="21600">
                <a:moveTo>
                  <a:pt x="21600" y="0"/>
                </a:moveTo>
                <a:cubicBezTo>
                  <a:pt x="21600" y="11929"/>
                  <a:pt x="11929" y="21599"/>
                  <a:pt x="0" y="21599"/>
                </a:cubicBezTo>
                <a:moveTo>
                  <a:pt x="21600" y="0"/>
                </a:moveTo>
                <a:cubicBezTo>
                  <a:pt x="21600" y="11929"/>
                  <a:pt x="11929" y="21599"/>
                  <a:pt x="0" y="21599"/>
                </a:cubicBezTo>
                <a:lnTo>
                  <a:pt x="0" y="0"/>
                </a:lnTo>
                <a:close/>
              </a:path>
            </a:pathLst>
          </a:custGeom>
          <a:noFill/>
          <a:ln cap="rnd" cmpd="sng" w="50750">
            <a:solidFill>
              <a:srgbClr val="FE9B0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
          <p:cNvSpPr/>
          <p:nvPr/>
        </p:nvSpPr>
        <p:spPr>
          <a:xfrm>
            <a:off x="3800274" y="2257451"/>
            <a:ext cx="1866422" cy="401966"/>
          </a:xfrm>
          <a:custGeom>
            <a:rect b="b" l="l" r="r" t="t"/>
            <a:pathLst>
              <a:path extrusionOk="0" h="299" w="1392">
                <a:moveTo>
                  <a:pt x="0" y="0"/>
                </a:moveTo>
                <a:lnTo>
                  <a:pt x="1392" y="299"/>
                </a:lnTo>
                <a:lnTo>
                  <a:pt x="96" y="299"/>
                </a:lnTo>
                <a:lnTo>
                  <a:pt x="0" y="0"/>
                </a:lnTo>
              </a:path>
            </a:pathLst>
          </a:custGeom>
          <a:solidFill>
            <a:srgbClr val="FFFFFF"/>
          </a:solidFill>
          <a:ln>
            <a:noFill/>
          </a:ln>
        </p:spPr>
      </p:sp>
      <p:sp>
        <p:nvSpPr>
          <p:cNvPr id="362" name="Google Shape;362;p2"/>
          <p:cNvSpPr/>
          <p:nvPr/>
        </p:nvSpPr>
        <p:spPr>
          <a:xfrm>
            <a:off x="3800274" y="2257450"/>
            <a:ext cx="130039" cy="2059354"/>
          </a:xfrm>
          <a:custGeom>
            <a:rect b="b" l="l" r="r" t="t"/>
            <a:pathLst>
              <a:path extrusionOk="0" h="1536" w="96">
                <a:moveTo>
                  <a:pt x="0" y="0"/>
                </a:moveTo>
                <a:lnTo>
                  <a:pt x="48" y="1536"/>
                </a:lnTo>
                <a:lnTo>
                  <a:pt x="96" y="299"/>
                </a:lnTo>
                <a:lnTo>
                  <a:pt x="0" y="0"/>
                </a:lnTo>
              </a:path>
            </a:pathLst>
          </a:custGeom>
          <a:solidFill>
            <a:srgbClr val="FFFFFF"/>
          </a:solidFill>
          <a:ln>
            <a:noFill/>
          </a:ln>
        </p:spPr>
      </p:sp>
      <p:sp>
        <p:nvSpPr>
          <p:cNvPr id="363" name="Google Shape;363;p2"/>
          <p:cNvSpPr/>
          <p:nvPr/>
        </p:nvSpPr>
        <p:spPr>
          <a:xfrm>
            <a:off x="5358006" y="2111613"/>
            <a:ext cx="2863599" cy="387224"/>
          </a:xfrm>
          <a:prstGeom prst="rect">
            <a:avLst/>
          </a:prstGeom>
          <a:noFill/>
          <a:ln>
            <a:noFill/>
          </a:ln>
        </p:spPr>
        <p:txBody>
          <a:bodyPr anchorCtr="0" anchor="t" bIns="37350" lIns="76250" spcFirstLastPara="1" rIns="76250" wrap="square" tIns="37350">
            <a:spAutoFit/>
          </a:bodyPr>
          <a:lstStyle/>
          <a:p>
            <a:pPr indent="0" lvl="0" marL="0" marR="0" rtl="0" algn="l">
              <a:lnSpc>
                <a:spcPct val="100000"/>
              </a:lnSpc>
              <a:spcBef>
                <a:spcPts val="0"/>
              </a:spcBef>
              <a:spcAft>
                <a:spcPts val="0"/>
              </a:spcAft>
              <a:buNone/>
            </a:pPr>
            <a:r>
              <a:rPr b="1" i="0" lang="en-US" sz="2026" u="none" cap="none" strike="noStrike">
                <a:solidFill>
                  <a:schemeClr val="dk1"/>
                </a:solidFill>
                <a:latin typeface="Arial"/>
                <a:ea typeface="Arial"/>
                <a:cs typeface="Arial"/>
                <a:sym typeface="Arial"/>
              </a:rPr>
              <a:t>métricas del producto</a:t>
            </a:r>
            <a:endParaRPr/>
          </a:p>
        </p:txBody>
      </p:sp>
      <p:cxnSp>
        <p:nvCxnSpPr>
          <p:cNvPr id="364" name="Google Shape;364;p2"/>
          <p:cNvCxnSpPr/>
          <p:nvPr/>
        </p:nvCxnSpPr>
        <p:spPr>
          <a:xfrm>
            <a:off x="4839977" y="2257451"/>
            <a:ext cx="482177" cy="32206"/>
          </a:xfrm>
          <a:prstGeom prst="straightConnector1">
            <a:avLst/>
          </a:prstGeom>
          <a:noFill/>
          <a:ln cap="flat" cmpd="sng" w="50750">
            <a:solidFill>
              <a:srgbClr val="FE9B03"/>
            </a:solidFill>
            <a:prstDash val="solid"/>
            <a:miter lim="8000"/>
            <a:headEnd len="sm" w="sm"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
          <p:cNvSpPr txBox="1"/>
          <p:nvPr>
            <p:ph idx="4294967295" type="title"/>
          </p:nvPr>
        </p:nvSpPr>
        <p:spPr>
          <a:xfrm>
            <a:off x="1834937" y="241293"/>
            <a:ext cx="5248275" cy="608012"/>
          </a:xfrm>
          <a:prstGeom prst="rect">
            <a:avLst/>
          </a:prstGeom>
          <a:noFill/>
          <a:ln>
            <a:noFill/>
          </a:ln>
        </p:spPr>
        <p:txBody>
          <a:bodyPr anchorCtr="0" anchor="t" bIns="0" lIns="0" spcFirstLastPara="1" rIns="0" wrap="square" tIns="133000">
            <a:spAutoFit/>
          </a:bodyPr>
          <a:lstStyle/>
          <a:p>
            <a:pPr indent="0" lvl="0" marL="8637" rtl="0" algn="ctr">
              <a:lnSpc>
                <a:spcPct val="100000"/>
              </a:lnSpc>
              <a:spcBef>
                <a:spcPts val="68"/>
              </a:spcBef>
              <a:spcAft>
                <a:spcPts val="0"/>
              </a:spcAft>
              <a:buSzPts val="3000"/>
              <a:buNone/>
            </a:pPr>
            <a:r>
              <a:rPr lang="en-US">
                <a:solidFill>
                  <a:srgbClr val="FF0000"/>
                </a:solidFill>
              </a:rPr>
              <a:t>Contenidos</a:t>
            </a:r>
            <a:endParaRPr/>
          </a:p>
        </p:txBody>
      </p:sp>
      <p:sp>
        <p:nvSpPr>
          <p:cNvPr id="370" name="Google Shape;370;p3"/>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66075" marR="0" rtl="0" algn="l">
              <a:lnSpc>
                <a:spcPct val="80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371" name="Google Shape;371;p3"/>
          <p:cNvSpPr/>
          <p:nvPr/>
        </p:nvSpPr>
        <p:spPr>
          <a:xfrm>
            <a:off x="1462674" y="820369"/>
            <a:ext cx="6218841" cy="583016"/>
          </a:xfrm>
          <a:custGeom>
            <a:rect b="b" l="l" r="r" t="t"/>
            <a:pathLst>
              <a:path extrusionOk="0" h="857250" w="9144000">
                <a:moveTo>
                  <a:pt x="9144000" y="857250"/>
                </a:moveTo>
                <a:lnTo>
                  <a:pt x="9144000" y="0"/>
                </a:lnTo>
                <a:lnTo>
                  <a:pt x="0" y="0"/>
                </a:lnTo>
                <a:lnTo>
                  <a:pt x="0" y="857250"/>
                </a:lnTo>
                <a:lnTo>
                  <a:pt x="9144000" y="85725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372" name="Google Shape;372;p3"/>
          <p:cNvSpPr/>
          <p:nvPr/>
        </p:nvSpPr>
        <p:spPr>
          <a:xfrm>
            <a:off x="1462674" y="3151917"/>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373" name="Google Shape;373;p3"/>
          <p:cNvSpPr txBox="1"/>
          <p:nvPr/>
        </p:nvSpPr>
        <p:spPr>
          <a:xfrm>
            <a:off x="1834937" y="1067222"/>
            <a:ext cx="4500886" cy="2729667"/>
          </a:xfrm>
          <a:prstGeom prst="rect">
            <a:avLst/>
          </a:prstGeom>
          <a:noFill/>
          <a:ln>
            <a:noFill/>
          </a:ln>
        </p:spPr>
        <p:txBody>
          <a:bodyPr anchorCtr="0" anchor="t" bIns="0" lIns="0" spcFirstLastPara="1" rIns="0" wrap="square" tIns="58300">
            <a:spAutoFit/>
          </a:bodyPr>
          <a:lstStyle/>
          <a:p>
            <a:pPr indent="-427113" lvl="0" marL="435750" marR="0" rtl="0" algn="l">
              <a:lnSpc>
                <a:spcPct val="100000"/>
              </a:lnSpc>
              <a:spcBef>
                <a:spcPts val="0"/>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Conceptos básicos</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1"/>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Medidas y modelos</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1"/>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Alcance de las métricas del software</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1"/>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Clasificación de las métricas de software</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4"/>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Recogida de datos métricos</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1"/>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Medición de atributos internos del producto</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1"/>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Medición de atributos externos del producto</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1"/>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Medición de recursos</a:t>
            </a:r>
            <a:endParaRPr b="0" i="0" sz="1632" u="none" cap="none" strike="noStrike">
              <a:solidFill>
                <a:srgbClr val="000000"/>
              </a:solidFill>
              <a:latin typeface="Arial"/>
              <a:ea typeface="Arial"/>
              <a:cs typeface="Arial"/>
              <a:sym typeface="Arial"/>
            </a:endParaRPr>
          </a:p>
          <a:p>
            <a:pPr indent="-427113" lvl="0" marL="435750" marR="0" rtl="0" algn="l">
              <a:lnSpc>
                <a:spcPct val="100000"/>
              </a:lnSpc>
              <a:spcBef>
                <a:spcPts val="391"/>
              </a:spcBef>
              <a:spcAft>
                <a:spcPts val="0"/>
              </a:spcAft>
              <a:buClr>
                <a:srgbClr val="00007C"/>
              </a:buClr>
              <a:buSzPts val="1632"/>
              <a:buFont typeface="Arial"/>
              <a:buAutoNum type="arabicPeriod"/>
            </a:pPr>
            <a:r>
              <a:rPr b="0" i="0" lang="en-US" sz="1632" u="none" cap="none" strike="noStrike">
                <a:solidFill>
                  <a:srgbClr val="000000"/>
                </a:solidFill>
                <a:latin typeface="Arial"/>
                <a:ea typeface="Arial"/>
                <a:cs typeface="Arial"/>
                <a:sym typeface="Arial"/>
              </a:rPr>
              <a:t>Métricas para sistemas orientados a objetos</a:t>
            </a:r>
            <a:endParaRPr b="0" i="0" sz="1632" u="none" cap="none" strike="noStrike">
              <a:solidFill>
                <a:srgbClr val="000000"/>
              </a:solidFill>
              <a:latin typeface="Arial"/>
              <a:ea typeface="Arial"/>
              <a:cs typeface="Arial"/>
              <a:sym typeface="Arial"/>
            </a:endParaRPr>
          </a:p>
        </p:txBody>
      </p:sp>
      <p:sp>
        <p:nvSpPr>
          <p:cNvPr id="374" name="Google Shape;374;p3"/>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
          <p:cNvSpPr txBox="1"/>
          <p:nvPr>
            <p:ph idx="4294967295" type="title"/>
          </p:nvPr>
        </p:nvSpPr>
        <p:spPr>
          <a:xfrm>
            <a:off x="2222205" y="114446"/>
            <a:ext cx="5248275" cy="608012"/>
          </a:xfrm>
          <a:prstGeom prst="rect">
            <a:avLst/>
          </a:prstGeom>
          <a:noFill/>
          <a:ln>
            <a:noFill/>
          </a:ln>
        </p:spPr>
        <p:txBody>
          <a:bodyPr anchorCtr="0" anchor="t" bIns="0" lIns="0" spcFirstLastPara="1" rIns="0" wrap="square" tIns="133000">
            <a:spAutoFit/>
          </a:bodyPr>
          <a:lstStyle/>
          <a:p>
            <a:pPr indent="0" lvl="0" marL="8637" rtl="0" algn="l">
              <a:lnSpc>
                <a:spcPct val="100000"/>
              </a:lnSpc>
              <a:spcBef>
                <a:spcPts val="68"/>
              </a:spcBef>
              <a:spcAft>
                <a:spcPts val="0"/>
              </a:spcAft>
              <a:buSzPts val="3000"/>
              <a:buNone/>
            </a:pPr>
            <a:r>
              <a:rPr lang="en-US">
                <a:solidFill>
                  <a:srgbClr val="FF0000"/>
                </a:solidFill>
              </a:rPr>
              <a:t>Conceptos básicos (I)</a:t>
            </a:r>
            <a:endParaRPr/>
          </a:p>
        </p:txBody>
      </p:sp>
      <p:sp>
        <p:nvSpPr>
          <p:cNvPr id="380" name="Google Shape;380;p4"/>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66075" marR="0" rtl="0" algn="l">
              <a:lnSpc>
                <a:spcPct val="80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381" name="Google Shape;381;p4"/>
          <p:cNvSpPr/>
          <p:nvPr/>
        </p:nvSpPr>
        <p:spPr>
          <a:xfrm>
            <a:off x="1462674" y="820369"/>
            <a:ext cx="6218841" cy="583016"/>
          </a:xfrm>
          <a:custGeom>
            <a:rect b="b" l="l" r="r" t="t"/>
            <a:pathLst>
              <a:path extrusionOk="0" h="857250" w="9144000">
                <a:moveTo>
                  <a:pt x="9144000" y="857250"/>
                </a:moveTo>
                <a:lnTo>
                  <a:pt x="9144000" y="0"/>
                </a:lnTo>
                <a:lnTo>
                  <a:pt x="0" y="0"/>
                </a:lnTo>
                <a:lnTo>
                  <a:pt x="0" y="857250"/>
                </a:lnTo>
                <a:lnTo>
                  <a:pt x="9144000" y="85725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382" name="Google Shape;382;p4"/>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383" name="Google Shape;383;p4"/>
          <p:cNvSpPr txBox="1"/>
          <p:nvPr/>
        </p:nvSpPr>
        <p:spPr>
          <a:xfrm>
            <a:off x="1785187" y="1079142"/>
            <a:ext cx="5450123" cy="3141759"/>
          </a:xfrm>
          <a:prstGeom prst="rect">
            <a:avLst/>
          </a:prstGeom>
          <a:noFill/>
          <a:ln>
            <a:noFill/>
          </a:ln>
        </p:spPr>
        <p:txBody>
          <a:bodyPr anchorCtr="0" anchor="t" bIns="0" lIns="0" spcFirstLastPara="1" rIns="0" wrap="square" tIns="8625">
            <a:spAutoFit/>
          </a:bodyPr>
          <a:lstStyle/>
          <a:p>
            <a:pPr indent="-232774" lvl="0" marL="241412" marR="0" rtl="0" algn="l">
              <a:lnSpc>
                <a:spcPct val="100000"/>
              </a:lnSpc>
              <a:spcBef>
                <a:spcPts val="0"/>
              </a:spcBef>
              <a:spcAft>
                <a:spcPts val="0"/>
              </a:spcAft>
              <a:buClr>
                <a:srgbClr val="00007C"/>
              </a:buClr>
              <a:buSzPts val="1224"/>
              <a:buFont typeface="Noto Sans Symbols"/>
              <a:buChar char="■"/>
            </a:pPr>
            <a:r>
              <a:rPr b="1" i="0" lang="en-US" sz="1632" u="none" cap="none" strike="noStrike">
                <a:solidFill>
                  <a:srgbClr val="3333CC"/>
                </a:solidFill>
                <a:latin typeface="Arial"/>
                <a:ea typeface="Arial"/>
                <a:cs typeface="Arial"/>
                <a:sym typeface="Arial"/>
              </a:rPr>
              <a:t>Medida</a:t>
            </a:r>
            <a:endParaRPr b="0" i="0" sz="1632" u="none" cap="none" strike="noStrike">
              <a:solidFill>
                <a:srgbClr val="000000"/>
              </a:solidFill>
              <a:latin typeface="Arial"/>
              <a:ea typeface="Arial"/>
              <a:cs typeface="Arial"/>
              <a:sym typeface="Arial"/>
            </a:endParaRPr>
          </a:p>
          <a:p>
            <a:pPr indent="0" lvl="0" marL="241412" marR="3455" rtl="0" algn="l">
              <a:lnSpc>
                <a:spcPct val="121000"/>
              </a:lnSpc>
              <a:spcBef>
                <a:spcPts val="741"/>
              </a:spcBef>
              <a:spcAft>
                <a:spcPts val="0"/>
              </a:spcAft>
              <a:buNone/>
            </a:pPr>
            <a:r>
              <a:rPr b="0" i="1" lang="en-US" sz="1360" u="none" cap="none" strike="noStrike">
                <a:solidFill>
                  <a:srgbClr val="000000"/>
                </a:solidFill>
                <a:latin typeface="Arial"/>
                <a:ea typeface="Arial"/>
                <a:cs typeface="Arial"/>
                <a:sym typeface="Arial"/>
              </a:rPr>
              <a:t>Una medida proporciona una indicación cuantitativa de extensión, cantidad, dimensiones, capacidad y tamaño de algunos atributos de un proceso o producto.</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809"/>
              </a:spcBef>
              <a:spcAft>
                <a:spcPts val="0"/>
              </a:spcAft>
              <a:buClr>
                <a:srgbClr val="00007C"/>
              </a:buClr>
              <a:buSzPts val="1224"/>
              <a:buFont typeface="Noto Sans Symbols"/>
              <a:buChar char="■"/>
            </a:pPr>
            <a:r>
              <a:rPr b="1" i="0" lang="en-US" sz="1632" u="none" cap="none" strike="noStrike">
                <a:solidFill>
                  <a:srgbClr val="3333CC"/>
                </a:solidFill>
                <a:latin typeface="Arial"/>
                <a:ea typeface="Arial"/>
                <a:cs typeface="Arial"/>
                <a:sym typeface="Arial"/>
              </a:rPr>
              <a:t>Métrica</a:t>
            </a:r>
            <a:endParaRPr b="0" i="0" sz="1632" u="none" cap="none" strike="noStrike">
              <a:solidFill>
                <a:srgbClr val="000000"/>
              </a:solidFill>
              <a:latin typeface="Arial"/>
              <a:ea typeface="Arial"/>
              <a:cs typeface="Arial"/>
              <a:sym typeface="Arial"/>
            </a:endParaRPr>
          </a:p>
          <a:p>
            <a:pPr indent="0" lvl="0" marL="241412" marR="303168" rtl="0" algn="l">
              <a:lnSpc>
                <a:spcPct val="115500"/>
              </a:lnSpc>
              <a:spcBef>
                <a:spcPts val="830"/>
              </a:spcBef>
              <a:spcAft>
                <a:spcPts val="0"/>
              </a:spcAft>
              <a:buNone/>
            </a:pPr>
            <a:r>
              <a:rPr b="0" i="1" lang="en-US" sz="1360" u="none" cap="none" strike="noStrike">
                <a:solidFill>
                  <a:srgbClr val="000000"/>
                </a:solidFill>
                <a:latin typeface="Arial"/>
                <a:ea typeface="Arial"/>
                <a:cs typeface="Arial"/>
                <a:sym typeface="Arial"/>
              </a:rPr>
              <a:t>Medida cuantitativa del grado en que un sistema, componente o proceso posee un atributo dado </a:t>
            </a:r>
            <a:r>
              <a:rPr b="0" i="0" lang="en-US" sz="1360" u="none" cap="none" strike="noStrike">
                <a:solidFill>
                  <a:srgbClr val="000000"/>
                </a:solidFill>
                <a:latin typeface="Arial"/>
                <a:ea typeface="Arial"/>
                <a:cs typeface="Arial"/>
                <a:sym typeface="Arial"/>
              </a:rPr>
              <a:t>(IEEE, 1993).</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721"/>
              </a:spcBef>
              <a:spcAft>
                <a:spcPts val="0"/>
              </a:spcAft>
              <a:buClr>
                <a:srgbClr val="00007C"/>
              </a:buClr>
              <a:buSzPts val="1224"/>
              <a:buFont typeface="Noto Sans Symbols"/>
              <a:buChar char="■"/>
            </a:pPr>
            <a:r>
              <a:rPr b="1" i="0" lang="en-US" sz="1632" u="none" cap="none" strike="noStrike">
                <a:solidFill>
                  <a:srgbClr val="3333CC"/>
                </a:solidFill>
                <a:latin typeface="Arial"/>
                <a:ea typeface="Arial"/>
                <a:cs typeface="Arial"/>
                <a:sym typeface="Arial"/>
              </a:rPr>
              <a:t>Indicador</a:t>
            </a:r>
            <a:endParaRPr b="0" i="0" sz="1632" u="none" cap="none" strike="noStrike">
              <a:solidFill>
                <a:srgbClr val="000000"/>
              </a:solidFill>
              <a:latin typeface="Arial"/>
              <a:ea typeface="Arial"/>
              <a:cs typeface="Arial"/>
              <a:sym typeface="Arial"/>
            </a:endParaRPr>
          </a:p>
          <a:p>
            <a:pPr indent="0" lvl="0" marL="241412" marR="200385" rtl="0" algn="l">
              <a:lnSpc>
                <a:spcPct val="110000"/>
              </a:lnSpc>
              <a:spcBef>
                <a:spcPts val="585"/>
              </a:spcBef>
              <a:spcAft>
                <a:spcPts val="0"/>
              </a:spcAft>
              <a:buNone/>
            </a:pPr>
            <a:r>
              <a:rPr b="0" i="1" lang="en-US" sz="1360" u="none" cap="none" strike="noStrike">
                <a:solidFill>
                  <a:srgbClr val="000000"/>
                </a:solidFill>
                <a:latin typeface="Arial"/>
                <a:ea typeface="Arial"/>
                <a:cs typeface="Arial"/>
                <a:sym typeface="Arial"/>
              </a:rPr>
              <a:t>Métrica o combinación de métricas que proporcionan una visión profunda, del proceso de software, del proyecto de software o del producto en sí </a:t>
            </a:r>
            <a:r>
              <a:rPr b="0" i="0" lang="en-US" sz="1360" u="none" cap="none" strike="noStrike">
                <a:solidFill>
                  <a:srgbClr val="000000"/>
                </a:solidFill>
                <a:latin typeface="Arial"/>
                <a:ea typeface="Arial"/>
                <a:cs typeface="Arial"/>
                <a:sym typeface="Arial"/>
              </a:rPr>
              <a:t>(Ragland, 1995).</a:t>
            </a:r>
            <a:endParaRPr b="0" i="0" sz="136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
          <p:cNvSpPr txBox="1"/>
          <p:nvPr>
            <p:ph idx="4294967295" type="title"/>
          </p:nvPr>
        </p:nvSpPr>
        <p:spPr>
          <a:xfrm>
            <a:off x="1462674" y="277482"/>
            <a:ext cx="5869172" cy="483210"/>
          </a:xfrm>
          <a:prstGeom prst="rect">
            <a:avLst/>
          </a:prstGeom>
          <a:noFill/>
          <a:ln>
            <a:noFill/>
          </a:ln>
        </p:spPr>
        <p:txBody>
          <a:bodyPr anchorCtr="0" anchor="t" bIns="0" lIns="0" spcFirstLastPara="1" rIns="0" wrap="square" tIns="8625">
            <a:spAutoFit/>
          </a:bodyPr>
          <a:lstStyle/>
          <a:p>
            <a:pPr indent="0" lvl="0" marL="8637" rtl="0" algn="l">
              <a:lnSpc>
                <a:spcPct val="100000"/>
              </a:lnSpc>
              <a:spcBef>
                <a:spcPts val="68"/>
              </a:spcBef>
              <a:spcAft>
                <a:spcPts val="0"/>
              </a:spcAft>
              <a:buSzPts val="3000"/>
              <a:buNone/>
            </a:pPr>
            <a:r>
              <a:rPr lang="en-US">
                <a:solidFill>
                  <a:srgbClr val="FF0000"/>
                </a:solidFill>
              </a:rPr>
              <a:t>Conceptos básicos (II)</a:t>
            </a:r>
            <a:endParaRPr/>
          </a:p>
        </p:txBody>
      </p:sp>
      <p:sp>
        <p:nvSpPr>
          <p:cNvPr id="389" name="Google Shape;389;p5"/>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66075" marR="0" rtl="0" algn="l">
              <a:lnSpc>
                <a:spcPct val="80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390" name="Google Shape;390;p5"/>
          <p:cNvSpPr/>
          <p:nvPr/>
        </p:nvSpPr>
        <p:spPr>
          <a:xfrm>
            <a:off x="1462674" y="820369"/>
            <a:ext cx="6218841" cy="583016"/>
          </a:xfrm>
          <a:custGeom>
            <a:rect b="b" l="l" r="r" t="t"/>
            <a:pathLst>
              <a:path extrusionOk="0" h="857250" w="9144000">
                <a:moveTo>
                  <a:pt x="9144000" y="857250"/>
                </a:moveTo>
                <a:lnTo>
                  <a:pt x="9144000" y="0"/>
                </a:lnTo>
                <a:lnTo>
                  <a:pt x="0" y="0"/>
                </a:lnTo>
                <a:lnTo>
                  <a:pt x="0" y="857250"/>
                </a:lnTo>
                <a:lnTo>
                  <a:pt x="9144000" y="85725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391" name="Google Shape;391;p5"/>
          <p:cNvSpPr/>
          <p:nvPr/>
        </p:nvSpPr>
        <p:spPr>
          <a:xfrm>
            <a:off x="1462674" y="1985883"/>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392" name="Google Shape;392;p5"/>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393" name="Google Shape;393;p5"/>
          <p:cNvSpPr txBox="1"/>
          <p:nvPr/>
        </p:nvSpPr>
        <p:spPr>
          <a:xfrm>
            <a:off x="1736472" y="939724"/>
            <a:ext cx="5663464" cy="3600299"/>
          </a:xfrm>
          <a:prstGeom prst="rect">
            <a:avLst/>
          </a:prstGeom>
          <a:noFill/>
          <a:ln>
            <a:noFill/>
          </a:ln>
        </p:spPr>
        <p:txBody>
          <a:bodyPr anchorCtr="0" anchor="t" bIns="0" lIns="0" spcFirstLastPara="1" rIns="0" wrap="square" tIns="123075">
            <a:spAutoFit/>
          </a:bodyPr>
          <a:lstStyle/>
          <a:p>
            <a:pPr indent="-232774" lvl="0" marL="241412" marR="0" rtl="0" algn="l">
              <a:lnSpc>
                <a:spcPct val="100000"/>
              </a:lnSpc>
              <a:spcBef>
                <a:spcPts val="0"/>
              </a:spcBef>
              <a:spcAft>
                <a:spcPts val="0"/>
              </a:spcAft>
              <a:buClr>
                <a:srgbClr val="00007C"/>
              </a:buClr>
              <a:buSzPts val="1224"/>
              <a:buFont typeface="Noto Sans Symbols"/>
              <a:buChar char="■"/>
            </a:pPr>
            <a:r>
              <a:rPr b="1" i="0" lang="en-US" sz="1632" u="none" cap="none" strike="noStrike">
                <a:solidFill>
                  <a:srgbClr val="000000"/>
                </a:solidFill>
                <a:latin typeface="Arial"/>
                <a:ea typeface="Arial"/>
                <a:cs typeface="Arial"/>
                <a:sym typeface="Arial"/>
              </a:rPr>
              <a:t>Tipos de indicadores</a:t>
            </a:r>
            <a:endParaRPr b="0" i="0" sz="1632" u="none" cap="none" strike="noStrike">
              <a:solidFill>
                <a:srgbClr val="000000"/>
              </a:solidFill>
              <a:latin typeface="Arial"/>
              <a:ea typeface="Arial"/>
              <a:cs typeface="Arial"/>
              <a:sym typeface="Arial"/>
            </a:endParaRPr>
          </a:p>
          <a:p>
            <a:pPr indent="-194339" lvl="1" marL="513486" marR="3455" rtl="0" algn="l">
              <a:lnSpc>
                <a:spcPct val="110000"/>
              </a:lnSpc>
              <a:spcBef>
                <a:spcPts val="585"/>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Los </a:t>
            </a:r>
            <a:r>
              <a:rPr b="1" i="1" lang="en-US" sz="1360" u="none" cap="none" strike="noStrike">
                <a:solidFill>
                  <a:srgbClr val="3333CC"/>
                </a:solidFill>
                <a:latin typeface="Arial"/>
                <a:ea typeface="Arial"/>
                <a:cs typeface="Arial"/>
                <a:sym typeface="Arial"/>
              </a:rPr>
              <a:t>indicadores de proceso </a:t>
            </a:r>
            <a:r>
              <a:rPr b="0" i="0" lang="en-US" sz="1360" u="none" cap="none" strike="noStrike">
                <a:solidFill>
                  <a:srgbClr val="000000"/>
                </a:solidFill>
                <a:latin typeface="Arial"/>
                <a:ea typeface="Arial"/>
                <a:cs typeface="Arial"/>
                <a:sym typeface="Arial"/>
              </a:rPr>
              <a:t>permiten tener una visión más profunda de la eficacia de un proceso ya existente. Se recopilan de todos los proyectos de la organización durante un largo periodo de tiempo con objeto de obtener mejoras de los procesos de software a largo plazo.</a:t>
            </a:r>
            <a:endParaRPr b="0" i="0" sz="1360" u="none" cap="none" strike="noStrike">
              <a:solidFill>
                <a:srgbClr val="000000"/>
              </a:solidFill>
              <a:latin typeface="Arial"/>
              <a:ea typeface="Arial"/>
              <a:cs typeface="Arial"/>
              <a:sym typeface="Arial"/>
            </a:endParaRPr>
          </a:p>
          <a:p>
            <a:pPr indent="-193907" lvl="1" marL="513486" marR="0" rtl="0" algn="l">
              <a:lnSpc>
                <a:spcPct val="100000"/>
              </a:lnSpc>
              <a:spcBef>
                <a:spcPts val="653"/>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Los </a:t>
            </a:r>
            <a:r>
              <a:rPr b="1" i="1" lang="en-US" sz="1360" u="none" cap="none" strike="noStrike">
                <a:solidFill>
                  <a:srgbClr val="3333CC"/>
                </a:solidFill>
                <a:latin typeface="Arial"/>
                <a:ea typeface="Arial"/>
                <a:cs typeface="Arial"/>
                <a:sym typeface="Arial"/>
              </a:rPr>
              <a:t>indicadores de proyecto </a:t>
            </a:r>
            <a:r>
              <a:rPr b="0" i="0" lang="en-US" sz="1360" u="none" cap="none" strike="noStrike">
                <a:solidFill>
                  <a:srgbClr val="000000"/>
                </a:solidFill>
                <a:latin typeface="Arial"/>
                <a:ea typeface="Arial"/>
                <a:cs typeface="Arial"/>
                <a:sym typeface="Arial"/>
              </a:rPr>
              <a:t>permiten:</a:t>
            </a:r>
            <a:endParaRPr b="0" i="0" sz="1360" u="none" cap="none" strike="noStrike">
              <a:solidFill>
                <a:srgbClr val="000000"/>
              </a:solidFill>
              <a:latin typeface="Arial"/>
              <a:ea typeface="Arial"/>
              <a:cs typeface="Arial"/>
              <a:sym typeface="Arial"/>
            </a:endParaRPr>
          </a:p>
          <a:p>
            <a:pPr indent="-155039" lvl="2" marL="785560" marR="0" rtl="0" algn="l">
              <a:lnSpc>
                <a:spcPct val="100000"/>
              </a:lnSpc>
              <a:spcBef>
                <a:spcPts val="459"/>
              </a:spcBef>
              <a:spcAft>
                <a:spcPts val="0"/>
              </a:spcAft>
              <a:buClr>
                <a:srgbClr val="00007C"/>
              </a:buClr>
              <a:buSzPts val="782"/>
              <a:buFont typeface="Noto Sans Symbols"/>
              <a:buChar char="■"/>
            </a:pPr>
            <a:r>
              <a:rPr b="0" i="0" lang="en-US" sz="1224" u="none" cap="none" strike="noStrike">
                <a:solidFill>
                  <a:srgbClr val="000000"/>
                </a:solidFill>
                <a:latin typeface="Arial"/>
                <a:ea typeface="Arial"/>
                <a:cs typeface="Arial"/>
                <a:sym typeface="Arial"/>
              </a:rPr>
              <a:t>Evaluar el estado del proyecto en curso.</a:t>
            </a:r>
            <a:endParaRPr b="0" i="0" sz="1224" u="none" cap="none" strike="noStrike">
              <a:solidFill>
                <a:srgbClr val="000000"/>
              </a:solidFill>
              <a:latin typeface="Arial"/>
              <a:ea typeface="Arial"/>
              <a:cs typeface="Arial"/>
              <a:sym typeface="Arial"/>
            </a:endParaRPr>
          </a:p>
          <a:p>
            <a:pPr indent="-155039" lvl="2" marL="785560" marR="0" rtl="0" algn="l">
              <a:lnSpc>
                <a:spcPct val="100000"/>
              </a:lnSpc>
              <a:spcBef>
                <a:spcPts val="442"/>
              </a:spcBef>
              <a:spcAft>
                <a:spcPts val="0"/>
              </a:spcAft>
              <a:buClr>
                <a:srgbClr val="00007C"/>
              </a:buClr>
              <a:buSzPts val="782"/>
              <a:buFont typeface="Noto Sans Symbols"/>
              <a:buChar char="■"/>
            </a:pPr>
            <a:r>
              <a:rPr b="0" i="0" lang="en-US" sz="1224" u="none" cap="none" strike="noStrike">
                <a:solidFill>
                  <a:srgbClr val="000000"/>
                </a:solidFill>
                <a:latin typeface="Arial"/>
                <a:ea typeface="Arial"/>
                <a:cs typeface="Arial"/>
                <a:sym typeface="Arial"/>
              </a:rPr>
              <a:t>Seguir la pista de los riesgos potenciales.</a:t>
            </a:r>
            <a:endParaRPr b="0" i="0" sz="1224" u="none" cap="none" strike="noStrike">
              <a:solidFill>
                <a:srgbClr val="000000"/>
              </a:solidFill>
              <a:latin typeface="Arial"/>
              <a:ea typeface="Arial"/>
              <a:cs typeface="Arial"/>
              <a:sym typeface="Arial"/>
            </a:endParaRPr>
          </a:p>
          <a:p>
            <a:pPr indent="-155039" lvl="2" marL="785560" marR="0" rtl="0" algn="l">
              <a:lnSpc>
                <a:spcPct val="100000"/>
              </a:lnSpc>
              <a:spcBef>
                <a:spcPts val="439"/>
              </a:spcBef>
              <a:spcAft>
                <a:spcPts val="0"/>
              </a:spcAft>
              <a:buClr>
                <a:srgbClr val="00007C"/>
              </a:buClr>
              <a:buSzPts val="782"/>
              <a:buFont typeface="Noto Sans Symbols"/>
              <a:buChar char="■"/>
            </a:pPr>
            <a:r>
              <a:rPr b="0" i="0" lang="en-US" sz="1224" u="none" cap="none" strike="noStrike">
                <a:solidFill>
                  <a:srgbClr val="000000"/>
                </a:solidFill>
                <a:latin typeface="Arial"/>
                <a:ea typeface="Arial"/>
                <a:cs typeface="Arial"/>
                <a:sym typeface="Arial"/>
              </a:rPr>
              <a:t>Detectar áreas de problemas antes de que sean críticas.</a:t>
            </a:r>
            <a:endParaRPr b="0" i="0" sz="1224" u="none" cap="none" strike="noStrike">
              <a:solidFill>
                <a:srgbClr val="000000"/>
              </a:solidFill>
              <a:latin typeface="Arial"/>
              <a:ea typeface="Arial"/>
              <a:cs typeface="Arial"/>
              <a:sym typeface="Arial"/>
            </a:endParaRPr>
          </a:p>
          <a:p>
            <a:pPr indent="-155039" lvl="2" marL="785560" marR="0" rtl="0" algn="l">
              <a:lnSpc>
                <a:spcPct val="100000"/>
              </a:lnSpc>
              <a:spcBef>
                <a:spcPts val="442"/>
              </a:spcBef>
              <a:spcAft>
                <a:spcPts val="0"/>
              </a:spcAft>
              <a:buClr>
                <a:srgbClr val="00007C"/>
              </a:buClr>
              <a:buSzPts val="782"/>
              <a:buFont typeface="Noto Sans Symbols"/>
              <a:buChar char="■"/>
            </a:pPr>
            <a:r>
              <a:rPr b="0" i="0" lang="en-US" sz="1224" u="none" cap="none" strike="noStrike">
                <a:solidFill>
                  <a:srgbClr val="000000"/>
                </a:solidFill>
                <a:latin typeface="Arial"/>
                <a:ea typeface="Arial"/>
                <a:cs typeface="Arial"/>
                <a:sym typeface="Arial"/>
              </a:rPr>
              <a:t>Ajustar el flujo y las tareas del trabajo.</a:t>
            </a:r>
            <a:endParaRPr b="0" i="0" sz="1224" u="none" cap="none" strike="noStrike">
              <a:solidFill>
                <a:srgbClr val="000000"/>
              </a:solidFill>
              <a:latin typeface="Arial"/>
              <a:ea typeface="Arial"/>
              <a:cs typeface="Arial"/>
              <a:sym typeface="Arial"/>
            </a:endParaRPr>
          </a:p>
          <a:p>
            <a:pPr indent="-155471" lvl="2" marL="785992" marR="89828" rtl="0" algn="l">
              <a:lnSpc>
                <a:spcPct val="110000"/>
              </a:lnSpc>
              <a:spcBef>
                <a:spcPts val="292"/>
              </a:spcBef>
              <a:spcAft>
                <a:spcPts val="0"/>
              </a:spcAft>
              <a:buClr>
                <a:srgbClr val="00007C"/>
              </a:buClr>
              <a:buSzPts val="782"/>
              <a:buFont typeface="Noto Sans Symbols"/>
              <a:buChar char="■"/>
            </a:pPr>
            <a:r>
              <a:rPr b="0" i="0" lang="en-US" sz="1224" u="none" cap="none" strike="noStrike">
                <a:solidFill>
                  <a:srgbClr val="000000"/>
                </a:solidFill>
                <a:latin typeface="Arial"/>
                <a:ea typeface="Arial"/>
                <a:cs typeface="Arial"/>
                <a:sym typeface="Arial"/>
              </a:rPr>
              <a:t>Evaluar la habilidad del equipo del proyecto en controlar la calidad de los productos.</a:t>
            </a:r>
            <a:endParaRPr b="0" i="0" sz="1224" u="none" cap="none" strike="noStrike">
              <a:solidFill>
                <a:srgbClr val="000000"/>
              </a:solidFill>
              <a:latin typeface="Arial"/>
              <a:ea typeface="Arial"/>
              <a:cs typeface="Arial"/>
              <a:sym typeface="Arial"/>
            </a:endParaRPr>
          </a:p>
          <a:p>
            <a:pPr indent="-193907" lvl="1" marL="513486" marR="0" rtl="0" algn="l">
              <a:lnSpc>
                <a:spcPct val="100000"/>
              </a:lnSpc>
              <a:spcBef>
                <a:spcPts val="473"/>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Los </a:t>
            </a:r>
            <a:r>
              <a:rPr b="1" i="1" lang="en-US" sz="1360" u="none" cap="none" strike="noStrike">
                <a:solidFill>
                  <a:srgbClr val="3333CC"/>
                </a:solidFill>
                <a:latin typeface="Arial"/>
                <a:ea typeface="Arial"/>
                <a:cs typeface="Arial"/>
                <a:sym typeface="Arial"/>
              </a:rPr>
              <a:t>indicadores de producto </a:t>
            </a:r>
            <a:r>
              <a:rPr b="0" i="0" lang="en-US" sz="1360" u="none" cap="none" strike="noStrike">
                <a:solidFill>
                  <a:srgbClr val="000000"/>
                </a:solidFill>
                <a:latin typeface="Arial"/>
                <a:ea typeface="Arial"/>
                <a:cs typeface="Arial"/>
                <a:sym typeface="Arial"/>
              </a:rPr>
              <a:t>permiten evaluar su calidad.</a:t>
            </a:r>
            <a:endParaRPr b="0" i="0" sz="136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
          <p:cNvSpPr txBox="1"/>
          <p:nvPr>
            <p:ph idx="4294967295" type="title"/>
          </p:nvPr>
        </p:nvSpPr>
        <p:spPr>
          <a:xfrm>
            <a:off x="2569591" y="233504"/>
            <a:ext cx="5660009" cy="483210"/>
          </a:xfrm>
          <a:prstGeom prst="rect">
            <a:avLst/>
          </a:prstGeom>
          <a:noFill/>
          <a:ln>
            <a:noFill/>
          </a:ln>
        </p:spPr>
        <p:txBody>
          <a:bodyPr anchorCtr="0" anchor="t" bIns="0" lIns="0" spcFirstLastPara="1" rIns="0" wrap="square" tIns="8625">
            <a:spAutoFit/>
          </a:bodyPr>
          <a:lstStyle/>
          <a:p>
            <a:pPr indent="0" lvl="0" marL="8637" rtl="0" algn="l">
              <a:lnSpc>
                <a:spcPct val="100000"/>
              </a:lnSpc>
              <a:spcBef>
                <a:spcPts val="68"/>
              </a:spcBef>
              <a:spcAft>
                <a:spcPts val="0"/>
              </a:spcAft>
              <a:buSzPts val="3000"/>
              <a:buNone/>
            </a:pPr>
            <a:r>
              <a:rPr lang="en-US">
                <a:solidFill>
                  <a:srgbClr val="FF0000"/>
                </a:solidFill>
              </a:rPr>
              <a:t>Medidas y modelos (I)</a:t>
            </a:r>
            <a:endParaRPr/>
          </a:p>
        </p:txBody>
      </p:sp>
      <p:sp>
        <p:nvSpPr>
          <p:cNvPr id="399" name="Google Shape;399;p6"/>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66075" marR="0" rtl="0" algn="l">
              <a:lnSpc>
                <a:spcPct val="80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400" name="Google Shape;400;p6"/>
          <p:cNvSpPr/>
          <p:nvPr/>
        </p:nvSpPr>
        <p:spPr>
          <a:xfrm>
            <a:off x="1462674" y="820369"/>
            <a:ext cx="6218841" cy="583016"/>
          </a:xfrm>
          <a:custGeom>
            <a:rect b="b" l="l" r="r" t="t"/>
            <a:pathLst>
              <a:path extrusionOk="0" h="857250" w="9144000">
                <a:moveTo>
                  <a:pt x="9144000" y="857250"/>
                </a:moveTo>
                <a:lnTo>
                  <a:pt x="9144000" y="0"/>
                </a:lnTo>
                <a:lnTo>
                  <a:pt x="0" y="0"/>
                </a:lnTo>
                <a:lnTo>
                  <a:pt x="0" y="857250"/>
                </a:lnTo>
                <a:lnTo>
                  <a:pt x="9144000" y="85725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01" name="Google Shape;401;p6"/>
          <p:cNvSpPr/>
          <p:nvPr/>
        </p:nvSpPr>
        <p:spPr>
          <a:xfrm>
            <a:off x="1462674" y="1985883"/>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02" name="Google Shape;402;p6"/>
          <p:cNvSpPr txBox="1"/>
          <p:nvPr/>
        </p:nvSpPr>
        <p:spPr>
          <a:xfrm>
            <a:off x="1736472" y="999851"/>
            <a:ext cx="5660009" cy="2109185"/>
          </a:xfrm>
          <a:prstGeom prst="rect">
            <a:avLst/>
          </a:prstGeom>
          <a:noFill/>
          <a:ln>
            <a:noFill/>
          </a:ln>
        </p:spPr>
        <p:txBody>
          <a:bodyPr anchorCtr="0" anchor="t" bIns="0" lIns="0" spcFirstLastPara="1" rIns="0" wrap="square" tIns="31950">
            <a:spAutoFit/>
          </a:bodyPr>
          <a:lstStyle/>
          <a:p>
            <a:pPr indent="-233206" lvl="0" marL="241412" marR="3455" rtl="0" algn="l">
              <a:lnSpc>
                <a:spcPct val="108014"/>
              </a:lnSpc>
              <a:spcBef>
                <a:spcPts val="0"/>
              </a:spcBef>
              <a:spcAft>
                <a:spcPts val="0"/>
              </a:spcAft>
              <a:buClr>
                <a:srgbClr val="00007C"/>
              </a:buClr>
              <a:buSzPts val="1020"/>
              <a:buFont typeface="Noto Sans Symbols"/>
              <a:buChar char="■"/>
            </a:pPr>
            <a:r>
              <a:rPr b="0" i="1" lang="en-US" sz="1360" u="none" cap="none" strike="noStrike">
                <a:solidFill>
                  <a:srgbClr val="323232"/>
                </a:solidFill>
                <a:latin typeface="Arial"/>
                <a:ea typeface="Arial"/>
                <a:cs typeface="Arial"/>
                <a:sym typeface="Arial"/>
              </a:rPr>
              <a:t>Un </a:t>
            </a:r>
            <a:r>
              <a:rPr b="1" i="1" lang="en-US" sz="1360" u="none" cap="none" strike="noStrike">
                <a:solidFill>
                  <a:srgbClr val="DA1430"/>
                </a:solidFill>
                <a:latin typeface="Arial"/>
                <a:ea typeface="Arial"/>
                <a:cs typeface="Arial"/>
                <a:sym typeface="Arial"/>
              </a:rPr>
              <a:t>modelo </a:t>
            </a:r>
            <a:r>
              <a:rPr b="0" i="1" lang="en-US" sz="1360" u="none" cap="none" strike="noStrike">
                <a:solidFill>
                  <a:srgbClr val="323232"/>
                </a:solidFill>
                <a:latin typeface="Arial"/>
                <a:ea typeface="Arial"/>
                <a:cs typeface="Arial"/>
                <a:sym typeface="Arial"/>
              </a:rPr>
              <a:t>es una abstracción de la realidad que permite observar los detalles de una entidad o concepto desde una perspectiva particular</a:t>
            </a:r>
            <a:r>
              <a:rPr b="0" i="0" lang="en-US" sz="1360" u="none" cap="none" strike="noStrike">
                <a:solidFill>
                  <a:srgbClr val="323232"/>
                </a:solidFill>
                <a:latin typeface="Arial"/>
                <a:ea typeface="Arial"/>
                <a:cs typeface="Arial"/>
                <a:sym typeface="Arial"/>
              </a:rPr>
              <a:t>.</a:t>
            </a:r>
            <a:endParaRPr b="0" i="0" sz="1360" u="none" cap="none" strike="noStrike">
              <a:solidFill>
                <a:srgbClr val="000000"/>
              </a:solidFill>
              <a:latin typeface="Arial"/>
              <a:ea typeface="Arial"/>
              <a:cs typeface="Arial"/>
              <a:sym typeface="Arial"/>
            </a:endParaRPr>
          </a:p>
          <a:p>
            <a:pPr indent="0" lvl="0" marL="241844" marR="51824" rtl="0" algn="l">
              <a:lnSpc>
                <a:spcPct val="101099"/>
              </a:lnSpc>
              <a:spcBef>
                <a:spcPts val="425"/>
              </a:spcBef>
              <a:spcAft>
                <a:spcPts val="0"/>
              </a:spcAft>
              <a:buNone/>
            </a:pPr>
            <a:r>
              <a:rPr b="0" i="0" lang="en-US" sz="1224" u="none" cap="none" strike="noStrike">
                <a:solidFill>
                  <a:srgbClr val="323232"/>
                </a:solidFill>
                <a:latin typeface="Arial"/>
                <a:ea typeface="Arial"/>
                <a:cs typeface="Arial"/>
                <a:sym typeface="Arial"/>
              </a:rPr>
              <a:t>Los modelos son necesarios para asociar las entidades o atributos del mundo real con los elementos de un sistema numérico. La interpretación de las medidas requiere el uso de modelos:</a:t>
            </a:r>
            <a:endParaRPr b="0" i="0" sz="1224" u="none" cap="none" strike="noStrike">
              <a:solidFill>
                <a:srgbClr val="000000"/>
              </a:solidFill>
              <a:latin typeface="Arial"/>
              <a:ea typeface="Arial"/>
              <a:cs typeface="Arial"/>
              <a:sym typeface="Arial"/>
            </a:endParaRPr>
          </a:p>
          <a:p>
            <a:pPr indent="-193907" lvl="1" marL="513486" marR="0" rtl="0" algn="l">
              <a:lnSpc>
                <a:spcPct val="100000"/>
              </a:lnSpc>
              <a:spcBef>
                <a:spcPts val="292"/>
              </a:spcBef>
              <a:spcAft>
                <a:spcPts val="0"/>
              </a:spcAft>
              <a:buClr>
                <a:srgbClr val="9A9ACC"/>
              </a:buClr>
              <a:buSzPts val="952"/>
              <a:buFont typeface="Noto Sans Symbols"/>
              <a:buChar char="◻"/>
            </a:pPr>
            <a:r>
              <a:rPr b="1" i="0" lang="en-US" sz="1224" u="none" cap="none" strike="noStrike">
                <a:solidFill>
                  <a:srgbClr val="3333CC"/>
                </a:solidFill>
                <a:latin typeface="Arial"/>
                <a:ea typeface="Arial"/>
                <a:cs typeface="Arial"/>
                <a:sym typeface="Arial"/>
              </a:rPr>
              <a:t>Modelos empíricos</a:t>
            </a:r>
            <a:r>
              <a:rPr b="1" i="0" lang="en-US" sz="1224" u="none" cap="none" strike="noStrike">
                <a:solidFill>
                  <a:srgbClr val="323232"/>
                </a:solidFill>
                <a:latin typeface="Arial"/>
                <a:ea typeface="Arial"/>
                <a:cs typeface="Arial"/>
                <a:sym typeface="Arial"/>
              </a:rPr>
              <a:t>. </a:t>
            </a:r>
            <a:r>
              <a:rPr b="0" i="1" lang="en-US" sz="1224" u="none" cap="none" strike="noStrike">
                <a:solidFill>
                  <a:srgbClr val="323232"/>
                </a:solidFill>
                <a:latin typeface="Arial"/>
                <a:ea typeface="Arial"/>
                <a:cs typeface="Arial"/>
                <a:sym typeface="Arial"/>
              </a:rPr>
              <a:t>Contexto empírico del mundo real</a:t>
            </a:r>
            <a:endParaRPr b="0" i="0" sz="1224" u="none" cap="none" strike="noStrike">
              <a:solidFill>
                <a:srgbClr val="000000"/>
              </a:solidFill>
              <a:latin typeface="Arial"/>
              <a:ea typeface="Arial"/>
              <a:cs typeface="Arial"/>
              <a:sym typeface="Arial"/>
            </a:endParaRPr>
          </a:p>
          <a:p>
            <a:pPr indent="-193907" lvl="1" marL="513486" marR="0" rtl="0" algn="l">
              <a:lnSpc>
                <a:spcPct val="100000"/>
              </a:lnSpc>
              <a:spcBef>
                <a:spcPts val="292"/>
              </a:spcBef>
              <a:spcAft>
                <a:spcPts val="0"/>
              </a:spcAft>
              <a:buClr>
                <a:srgbClr val="9A9ACC"/>
              </a:buClr>
              <a:buSzPts val="952"/>
              <a:buFont typeface="Noto Sans Symbols"/>
              <a:buChar char="◻"/>
            </a:pPr>
            <a:r>
              <a:rPr b="1" i="0" lang="en-US" sz="1224" u="none" cap="none" strike="noStrike">
                <a:solidFill>
                  <a:srgbClr val="3333CC"/>
                </a:solidFill>
                <a:latin typeface="Arial"/>
                <a:ea typeface="Arial"/>
                <a:cs typeface="Arial"/>
                <a:sym typeface="Arial"/>
              </a:rPr>
              <a:t>Modelos numéricos</a:t>
            </a:r>
            <a:r>
              <a:rPr b="1" i="0" lang="en-US" sz="1224" u="none" cap="none" strike="noStrike">
                <a:solidFill>
                  <a:srgbClr val="323232"/>
                </a:solidFill>
                <a:latin typeface="Arial"/>
                <a:ea typeface="Arial"/>
                <a:cs typeface="Arial"/>
                <a:sym typeface="Arial"/>
              </a:rPr>
              <a:t>. </a:t>
            </a:r>
            <a:r>
              <a:rPr b="0" i="1" lang="en-US" sz="1224" u="none" cap="none" strike="noStrike">
                <a:solidFill>
                  <a:srgbClr val="323232"/>
                </a:solidFill>
                <a:latin typeface="Arial"/>
                <a:ea typeface="Arial"/>
                <a:cs typeface="Arial"/>
                <a:sym typeface="Arial"/>
              </a:rPr>
              <a:t>Formalización de las medidas del contexto empírico</a:t>
            </a:r>
            <a:endParaRPr b="0" i="0" sz="1224" u="none" cap="none" strike="noStrike">
              <a:solidFill>
                <a:srgbClr val="000000"/>
              </a:solidFill>
              <a:latin typeface="Arial"/>
              <a:ea typeface="Arial"/>
              <a:cs typeface="Arial"/>
              <a:sym typeface="Arial"/>
            </a:endParaRPr>
          </a:p>
          <a:p>
            <a:pPr indent="-233206" lvl="0" marL="241412" marR="50960" rtl="0" algn="l">
              <a:lnSpc>
                <a:spcPct val="100000"/>
              </a:lnSpc>
              <a:spcBef>
                <a:spcPts val="408"/>
              </a:spcBef>
              <a:spcAft>
                <a:spcPts val="0"/>
              </a:spcAft>
              <a:buClr>
                <a:srgbClr val="00007C"/>
              </a:buClr>
              <a:buSzPts val="918"/>
              <a:buFont typeface="Noto Sans Symbols"/>
              <a:buChar char="■"/>
            </a:pPr>
            <a:r>
              <a:rPr b="1" i="0" lang="en-US" sz="1224" u="none" cap="none" strike="noStrike">
                <a:solidFill>
                  <a:srgbClr val="DA1430"/>
                </a:solidFill>
                <a:latin typeface="Arial"/>
                <a:ea typeface="Arial"/>
                <a:cs typeface="Arial"/>
                <a:sym typeface="Arial"/>
              </a:rPr>
              <a:t>Medición</a:t>
            </a:r>
            <a:r>
              <a:rPr b="0" i="0" lang="en-US" sz="1224" u="none" cap="none" strike="noStrike">
                <a:solidFill>
                  <a:srgbClr val="000000"/>
                </a:solidFill>
                <a:latin typeface="Arial"/>
                <a:ea typeface="Arial"/>
                <a:cs typeface="Arial"/>
                <a:sym typeface="Arial"/>
              </a:rPr>
              <a:t>: proceso por el cual se asignan números o símbolos a atributos de entidades del mundo real de tal forma que los describa de acuerdo con reglas claramente definidas [Fenton y Pfleeger, 1997]</a:t>
            </a:r>
            <a:endParaRPr b="0" i="0" sz="1224" u="none" cap="none" strike="noStrike">
              <a:solidFill>
                <a:srgbClr val="000000"/>
              </a:solidFill>
              <a:latin typeface="Arial"/>
              <a:ea typeface="Arial"/>
              <a:cs typeface="Arial"/>
              <a:sym typeface="Arial"/>
            </a:endParaRPr>
          </a:p>
        </p:txBody>
      </p:sp>
      <p:sp>
        <p:nvSpPr>
          <p:cNvPr id="403" name="Google Shape;403;p6"/>
          <p:cNvSpPr/>
          <p:nvPr/>
        </p:nvSpPr>
        <p:spPr>
          <a:xfrm>
            <a:off x="1928050" y="3332780"/>
            <a:ext cx="1743867" cy="381768"/>
          </a:xfrm>
          <a:custGeom>
            <a:rect b="b" l="l" r="r" t="t"/>
            <a:pathLst>
              <a:path extrusionOk="0" h="561339" w="2564129">
                <a:moveTo>
                  <a:pt x="2564129" y="560831"/>
                </a:moveTo>
                <a:lnTo>
                  <a:pt x="2564129" y="0"/>
                </a:lnTo>
                <a:lnTo>
                  <a:pt x="0" y="0"/>
                </a:lnTo>
                <a:lnTo>
                  <a:pt x="0" y="560831"/>
                </a:lnTo>
                <a:lnTo>
                  <a:pt x="2564129" y="560831"/>
                </a:lnTo>
                <a:close/>
              </a:path>
            </a:pathLst>
          </a:custGeom>
          <a:solidFill>
            <a:srgbClr val="0027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04" name="Google Shape;404;p6"/>
          <p:cNvSpPr txBox="1"/>
          <p:nvPr/>
        </p:nvSpPr>
        <p:spPr>
          <a:xfrm>
            <a:off x="1928050" y="3332780"/>
            <a:ext cx="1743867" cy="272950"/>
          </a:xfrm>
          <a:prstGeom prst="rect">
            <a:avLst/>
          </a:prstGeom>
          <a:noFill/>
          <a:ln>
            <a:noFill/>
          </a:ln>
        </p:spPr>
        <p:txBody>
          <a:bodyPr anchorCtr="0" anchor="t" bIns="0" lIns="0" spcFirstLastPara="1" rIns="0" wrap="square" tIns="104500">
            <a:spAutoFit/>
          </a:bodyPr>
          <a:lstStyle/>
          <a:p>
            <a:pPr indent="0" lvl="0" marL="232343" marR="0" rtl="0" algn="l">
              <a:lnSpc>
                <a:spcPct val="100000"/>
              </a:lnSpc>
              <a:spcBef>
                <a:spcPts val="0"/>
              </a:spcBef>
              <a:spcAft>
                <a:spcPts val="0"/>
              </a:spcAft>
              <a:buNone/>
            </a:pPr>
            <a:r>
              <a:rPr b="1" i="0" lang="en-US" sz="1088" u="none" cap="none" strike="noStrike">
                <a:solidFill>
                  <a:srgbClr val="DDDDDD"/>
                </a:solidFill>
                <a:latin typeface="Verdana"/>
                <a:ea typeface="Verdana"/>
                <a:cs typeface="Verdana"/>
                <a:sym typeface="Verdana"/>
              </a:rPr>
              <a:t>Modelo empírico</a:t>
            </a:r>
            <a:endParaRPr b="0" i="0" sz="1088" u="none" cap="none" strike="noStrike">
              <a:solidFill>
                <a:srgbClr val="000000"/>
              </a:solidFill>
              <a:latin typeface="Verdana"/>
              <a:ea typeface="Verdana"/>
              <a:cs typeface="Verdana"/>
              <a:sym typeface="Verdana"/>
            </a:endParaRPr>
          </a:p>
        </p:txBody>
      </p:sp>
      <p:sp>
        <p:nvSpPr>
          <p:cNvPr id="405" name="Google Shape;405;p6"/>
          <p:cNvSpPr txBox="1"/>
          <p:nvPr/>
        </p:nvSpPr>
        <p:spPr>
          <a:xfrm>
            <a:off x="4300189" y="3325698"/>
            <a:ext cx="446979"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07C"/>
                </a:solidFill>
                <a:latin typeface="Verdana"/>
                <a:ea typeface="Verdana"/>
                <a:cs typeface="Verdana"/>
                <a:sym typeface="Verdana"/>
              </a:rPr>
              <a:t>Medida</a:t>
            </a:r>
            <a:endParaRPr b="0" i="0" sz="952" u="none" cap="none" strike="noStrike">
              <a:solidFill>
                <a:srgbClr val="000000"/>
              </a:solidFill>
              <a:latin typeface="Verdana"/>
              <a:ea typeface="Verdana"/>
              <a:cs typeface="Verdana"/>
              <a:sym typeface="Verdana"/>
            </a:endParaRPr>
          </a:p>
        </p:txBody>
      </p:sp>
      <p:sp>
        <p:nvSpPr>
          <p:cNvPr id="406" name="Google Shape;406;p6"/>
          <p:cNvSpPr/>
          <p:nvPr/>
        </p:nvSpPr>
        <p:spPr>
          <a:xfrm>
            <a:off x="5357215" y="3332780"/>
            <a:ext cx="1743867" cy="381768"/>
          </a:xfrm>
          <a:custGeom>
            <a:rect b="b" l="l" r="r" t="t"/>
            <a:pathLst>
              <a:path extrusionOk="0" h="561339" w="2564129">
                <a:moveTo>
                  <a:pt x="2564130" y="560831"/>
                </a:moveTo>
                <a:lnTo>
                  <a:pt x="2564130" y="0"/>
                </a:lnTo>
                <a:lnTo>
                  <a:pt x="0" y="0"/>
                </a:lnTo>
                <a:lnTo>
                  <a:pt x="0" y="560831"/>
                </a:lnTo>
                <a:lnTo>
                  <a:pt x="2564130" y="560831"/>
                </a:lnTo>
                <a:close/>
              </a:path>
            </a:pathLst>
          </a:custGeom>
          <a:solidFill>
            <a:srgbClr val="0027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07" name="Google Shape;407;p6"/>
          <p:cNvSpPr txBox="1"/>
          <p:nvPr/>
        </p:nvSpPr>
        <p:spPr>
          <a:xfrm>
            <a:off x="5357215" y="3332780"/>
            <a:ext cx="1743867" cy="273386"/>
          </a:xfrm>
          <a:prstGeom prst="rect">
            <a:avLst/>
          </a:prstGeom>
          <a:noFill/>
          <a:ln>
            <a:noFill/>
          </a:ln>
        </p:spPr>
        <p:txBody>
          <a:bodyPr anchorCtr="0" anchor="t" bIns="0" lIns="0" spcFirstLastPara="1" rIns="0" wrap="square" tIns="104925">
            <a:spAutoFit/>
          </a:bodyPr>
          <a:lstStyle/>
          <a:p>
            <a:pPr indent="0" lvl="0" marL="204703" marR="0" rtl="0" algn="l">
              <a:lnSpc>
                <a:spcPct val="100000"/>
              </a:lnSpc>
              <a:spcBef>
                <a:spcPts val="0"/>
              </a:spcBef>
              <a:spcAft>
                <a:spcPts val="0"/>
              </a:spcAft>
              <a:buNone/>
            </a:pPr>
            <a:r>
              <a:rPr b="1" i="0" lang="en-US" sz="1088" u="none" cap="none" strike="noStrike">
                <a:solidFill>
                  <a:srgbClr val="DDDDDD"/>
                </a:solidFill>
                <a:latin typeface="Verdana"/>
                <a:ea typeface="Verdana"/>
                <a:cs typeface="Verdana"/>
                <a:sym typeface="Verdana"/>
              </a:rPr>
              <a:t>Modelo numérico</a:t>
            </a:r>
            <a:endParaRPr b="0" i="0" sz="1088" u="none" cap="none" strike="noStrike">
              <a:solidFill>
                <a:srgbClr val="000000"/>
              </a:solidFill>
              <a:latin typeface="Verdana"/>
              <a:ea typeface="Verdana"/>
              <a:cs typeface="Verdana"/>
              <a:sym typeface="Verdana"/>
            </a:endParaRPr>
          </a:p>
        </p:txBody>
      </p:sp>
      <p:sp>
        <p:nvSpPr>
          <p:cNvPr id="408" name="Google Shape;408;p6"/>
          <p:cNvSpPr/>
          <p:nvPr/>
        </p:nvSpPr>
        <p:spPr>
          <a:xfrm>
            <a:off x="2774850" y="3498107"/>
            <a:ext cx="3479528" cy="649092"/>
          </a:xfrm>
          <a:custGeom>
            <a:rect b="b" l="l" r="r" t="t"/>
            <a:pathLst>
              <a:path extrusionOk="0" h="954404" w="5116195">
                <a:moveTo>
                  <a:pt x="76200" y="393954"/>
                </a:moveTo>
                <a:lnTo>
                  <a:pt x="53721" y="348996"/>
                </a:lnTo>
                <a:lnTo>
                  <a:pt x="38100" y="317754"/>
                </a:lnTo>
                <a:lnTo>
                  <a:pt x="22479" y="348996"/>
                </a:lnTo>
                <a:lnTo>
                  <a:pt x="0" y="393954"/>
                </a:lnTo>
                <a:lnTo>
                  <a:pt x="31242" y="393954"/>
                </a:lnTo>
                <a:lnTo>
                  <a:pt x="31242" y="954024"/>
                </a:lnTo>
                <a:lnTo>
                  <a:pt x="44196" y="954024"/>
                </a:lnTo>
                <a:lnTo>
                  <a:pt x="44196" y="393954"/>
                </a:lnTo>
                <a:lnTo>
                  <a:pt x="76200" y="393954"/>
                </a:lnTo>
                <a:close/>
              </a:path>
              <a:path extrusionOk="0" h="954404" w="5116195">
                <a:moveTo>
                  <a:pt x="3797033" y="38100"/>
                </a:moveTo>
                <a:lnTo>
                  <a:pt x="3720833" y="0"/>
                </a:lnTo>
                <a:lnTo>
                  <a:pt x="3720833" y="32004"/>
                </a:lnTo>
                <a:lnTo>
                  <a:pt x="1319022" y="32004"/>
                </a:lnTo>
                <a:lnTo>
                  <a:pt x="1319022" y="44196"/>
                </a:lnTo>
                <a:lnTo>
                  <a:pt x="3720833" y="44196"/>
                </a:lnTo>
                <a:lnTo>
                  <a:pt x="3720833" y="76200"/>
                </a:lnTo>
                <a:lnTo>
                  <a:pt x="3733800" y="69710"/>
                </a:lnTo>
                <a:lnTo>
                  <a:pt x="3797033" y="38100"/>
                </a:lnTo>
                <a:close/>
              </a:path>
              <a:path extrusionOk="0" h="954404" w="5116195">
                <a:moveTo>
                  <a:pt x="5116068" y="877824"/>
                </a:moveTo>
                <a:lnTo>
                  <a:pt x="5084813" y="877824"/>
                </a:lnTo>
                <a:lnTo>
                  <a:pt x="5084813" y="348996"/>
                </a:lnTo>
                <a:lnTo>
                  <a:pt x="5084813" y="317754"/>
                </a:lnTo>
                <a:lnTo>
                  <a:pt x="5071859" y="317754"/>
                </a:lnTo>
                <a:lnTo>
                  <a:pt x="5071859" y="348996"/>
                </a:lnTo>
                <a:lnTo>
                  <a:pt x="5071859" y="877824"/>
                </a:lnTo>
                <a:lnTo>
                  <a:pt x="5039868" y="877824"/>
                </a:lnTo>
                <a:lnTo>
                  <a:pt x="5071859" y="941806"/>
                </a:lnTo>
                <a:lnTo>
                  <a:pt x="5077968" y="954024"/>
                </a:lnTo>
                <a:lnTo>
                  <a:pt x="5084813" y="940333"/>
                </a:lnTo>
                <a:lnTo>
                  <a:pt x="5116068" y="87782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09" name="Google Shape;409;p6"/>
          <p:cNvSpPr txBox="1"/>
          <p:nvPr/>
        </p:nvSpPr>
        <p:spPr>
          <a:xfrm>
            <a:off x="4083566" y="4157985"/>
            <a:ext cx="880139"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07C"/>
                </a:solidFill>
                <a:latin typeface="Verdana"/>
                <a:ea typeface="Verdana"/>
                <a:cs typeface="Verdana"/>
                <a:sym typeface="Verdana"/>
              </a:rPr>
              <a:t>Interpretación</a:t>
            </a:r>
            <a:endParaRPr b="0" i="0" sz="952" u="none" cap="none" strike="noStrike">
              <a:solidFill>
                <a:srgbClr val="000000"/>
              </a:solidFill>
              <a:latin typeface="Verdana"/>
              <a:ea typeface="Verdana"/>
              <a:cs typeface="Verdana"/>
              <a:sym typeface="Verdana"/>
            </a:endParaRPr>
          </a:p>
        </p:txBody>
      </p:sp>
      <p:sp>
        <p:nvSpPr>
          <p:cNvPr id="410" name="Google Shape;410;p6"/>
          <p:cNvSpPr/>
          <p:nvPr/>
        </p:nvSpPr>
        <p:spPr>
          <a:xfrm>
            <a:off x="3709230" y="4311212"/>
            <a:ext cx="14683" cy="7342"/>
          </a:xfrm>
          <a:custGeom>
            <a:rect b="b" l="l" r="r" t="t"/>
            <a:pathLst>
              <a:path extrusionOk="0" h="10795" w="21589">
                <a:moveTo>
                  <a:pt x="21336" y="10668"/>
                </a:moveTo>
                <a:lnTo>
                  <a:pt x="21336" y="0"/>
                </a:lnTo>
                <a:lnTo>
                  <a:pt x="0" y="10668"/>
                </a:lnTo>
                <a:lnTo>
                  <a:pt x="21336" y="1066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11" name="Google Shape;411;p6"/>
          <p:cNvSpPr txBox="1"/>
          <p:nvPr/>
        </p:nvSpPr>
        <p:spPr>
          <a:xfrm>
            <a:off x="2803521" y="3726605"/>
            <a:ext cx="3411725" cy="379906"/>
          </a:xfrm>
          <a:prstGeom prst="rect">
            <a:avLst/>
          </a:prstGeom>
          <a:noFill/>
          <a:ln>
            <a:noFill/>
          </a:ln>
        </p:spPr>
        <p:txBody>
          <a:bodyPr anchorCtr="0" anchor="t" bIns="0" lIns="0" spcFirstLastPara="1" rIns="0" wrap="square" tIns="47925">
            <a:spAutoFit/>
          </a:bodyPr>
          <a:lstStyle/>
          <a:p>
            <a:pPr indent="0" lvl="0" marL="1901927" marR="0" rtl="0" algn="l">
              <a:lnSpc>
                <a:spcPct val="100000"/>
              </a:lnSpc>
              <a:spcBef>
                <a:spcPts val="0"/>
              </a:spcBef>
              <a:spcAft>
                <a:spcPts val="0"/>
              </a:spcAft>
              <a:buNone/>
            </a:pPr>
            <a:r>
              <a:rPr b="0" i="0" lang="en-US" sz="952" u="none" cap="none" strike="noStrike">
                <a:solidFill>
                  <a:srgbClr val="00007C"/>
                </a:solidFill>
                <a:latin typeface="Verdana"/>
                <a:ea typeface="Verdana"/>
                <a:cs typeface="Verdana"/>
                <a:sym typeface="Verdana"/>
              </a:rPr>
              <a:t>Matemáticas/ estadística</a:t>
            </a:r>
            <a:endParaRPr b="0" i="0" sz="952" u="none" cap="none" strike="noStrike">
              <a:solidFill>
                <a:srgbClr val="000000"/>
              </a:solidFill>
              <a:latin typeface="Verdana"/>
              <a:ea typeface="Verdana"/>
              <a:cs typeface="Verdana"/>
              <a:sym typeface="Verdana"/>
            </a:endParaRPr>
          </a:p>
          <a:p>
            <a:pPr indent="0" lvl="0" marL="8637" marR="0" rtl="0" algn="l">
              <a:lnSpc>
                <a:spcPct val="100000"/>
              </a:lnSpc>
              <a:spcBef>
                <a:spcPts val="309"/>
              </a:spcBef>
              <a:spcAft>
                <a:spcPts val="0"/>
              </a:spcAft>
              <a:buNone/>
            </a:pPr>
            <a:r>
              <a:rPr b="0" i="0" lang="en-US" sz="952" u="none" cap="none" strike="noStrike">
                <a:solidFill>
                  <a:srgbClr val="00007C"/>
                </a:solidFill>
                <a:latin typeface="Verdana"/>
                <a:ea typeface="Verdana"/>
                <a:cs typeface="Verdana"/>
                <a:sym typeface="Verdana"/>
              </a:rPr>
              <a:t>Comprensión/ refinamiento</a:t>
            </a:r>
            <a:endParaRPr b="0" i="0" sz="952" u="none" cap="none" strike="noStrike">
              <a:solidFill>
                <a:srgbClr val="000000"/>
              </a:solidFill>
              <a:latin typeface="Verdana"/>
              <a:ea typeface="Verdana"/>
              <a:cs typeface="Verdana"/>
              <a:sym typeface="Verdana"/>
            </a:endParaRPr>
          </a:p>
        </p:txBody>
      </p:sp>
      <p:sp>
        <p:nvSpPr>
          <p:cNvPr id="412" name="Google Shape;412;p6"/>
          <p:cNvSpPr txBox="1"/>
          <p:nvPr/>
        </p:nvSpPr>
        <p:spPr>
          <a:xfrm>
            <a:off x="1928050" y="4146930"/>
            <a:ext cx="1743867" cy="272950"/>
          </a:xfrm>
          <a:prstGeom prst="rect">
            <a:avLst/>
          </a:prstGeom>
          <a:solidFill>
            <a:srgbClr val="00279F"/>
          </a:solidFill>
          <a:ln>
            <a:noFill/>
          </a:ln>
        </p:spPr>
        <p:txBody>
          <a:bodyPr anchorCtr="0" anchor="t" bIns="0" lIns="0" spcFirstLastPara="1" rIns="0" wrap="square" tIns="104500">
            <a:spAutoFit/>
          </a:bodyPr>
          <a:lstStyle/>
          <a:p>
            <a:pPr indent="0" lvl="0" marL="123513" marR="0" rtl="0" algn="l">
              <a:lnSpc>
                <a:spcPct val="100000"/>
              </a:lnSpc>
              <a:spcBef>
                <a:spcPts val="0"/>
              </a:spcBef>
              <a:spcAft>
                <a:spcPts val="0"/>
              </a:spcAft>
              <a:buNone/>
            </a:pPr>
            <a:r>
              <a:rPr b="1" i="0" lang="en-US" sz="1088" u="none" cap="none" strike="noStrike">
                <a:solidFill>
                  <a:srgbClr val="DDDDDD"/>
                </a:solidFill>
                <a:latin typeface="Verdana"/>
                <a:ea typeface="Verdana"/>
                <a:cs typeface="Verdana"/>
                <a:sym typeface="Verdana"/>
              </a:rPr>
              <a:t>Resultado empírico</a:t>
            </a:r>
            <a:endParaRPr b="0" i="0" sz="1088" u="none" cap="none" strike="noStrike">
              <a:solidFill>
                <a:srgbClr val="000000"/>
              </a:solidFill>
              <a:latin typeface="Verdana"/>
              <a:ea typeface="Verdana"/>
              <a:cs typeface="Verdana"/>
              <a:sym typeface="Verdana"/>
            </a:endParaRPr>
          </a:p>
        </p:txBody>
      </p:sp>
      <p:sp>
        <p:nvSpPr>
          <p:cNvPr id="413" name="Google Shape;413;p6"/>
          <p:cNvSpPr txBox="1"/>
          <p:nvPr/>
        </p:nvSpPr>
        <p:spPr>
          <a:xfrm>
            <a:off x="5357215" y="4146930"/>
            <a:ext cx="1743867" cy="272950"/>
          </a:xfrm>
          <a:prstGeom prst="rect">
            <a:avLst/>
          </a:prstGeom>
          <a:solidFill>
            <a:srgbClr val="00279F"/>
          </a:solidFill>
          <a:ln>
            <a:noFill/>
          </a:ln>
        </p:spPr>
        <p:txBody>
          <a:bodyPr anchorCtr="0" anchor="t" bIns="0" lIns="0" spcFirstLastPara="1" rIns="0" wrap="square" tIns="104500">
            <a:spAutoFit/>
          </a:bodyPr>
          <a:lstStyle/>
          <a:p>
            <a:pPr indent="0" lvl="0" marL="95874" marR="0" rtl="0" algn="l">
              <a:lnSpc>
                <a:spcPct val="100000"/>
              </a:lnSpc>
              <a:spcBef>
                <a:spcPts val="0"/>
              </a:spcBef>
              <a:spcAft>
                <a:spcPts val="0"/>
              </a:spcAft>
              <a:buNone/>
            </a:pPr>
            <a:r>
              <a:rPr b="1" i="0" lang="en-US" sz="1088" u="none" cap="none" strike="noStrike">
                <a:solidFill>
                  <a:srgbClr val="DDDDDD"/>
                </a:solidFill>
                <a:latin typeface="Verdana"/>
                <a:ea typeface="Verdana"/>
                <a:cs typeface="Verdana"/>
                <a:sym typeface="Verdana"/>
              </a:rPr>
              <a:t>Resultado numérico</a:t>
            </a:r>
            <a:endParaRPr b="0" i="0" sz="1088" u="none" cap="none" strike="noStrike">
              <a:solidFill>
                <a:srgbClr val="000000"/>
              </a:solidFill>
              <a:latin typeface="Verdana"/>
              <a:ea typeface="Verdana"/>
              <a:cs typeface="Verdana"/>
              <a:sym typeface="Verdana"/>
            </a:endParaRPr>
          </a:p>
        </p:txBody>
      </p:sp>
      <p:sp>
        <p:nvSpPr>
          <p:cNvPr id="414" name="Google Shape;414;p6"/>
          <p:cNvSpPr/>
          <p:nvPr/>
        </p:nvSpPr>
        <p:spPr>
          <a:xfrm>
            <a:off x="3671918" y="4318467"/>
            <a:ext cx="1685565" cy="44914"/>
          </a:xfrm>
          <a:custGeom>
            <a:rect b="b" l="l" r="r" t="t"/>
            <a:pathLst>
              <a:path extrusionOk="0" h="66039" w="2478404">
                <a:moveTo>
                  <a:pt x="76200" y="21336"/>
                </a:moveTo>
                <a:lnTo>
                  <a:pt x="76200" y="0"/>
                </a:lnTo>
                <a:lnTo>
                  <a:pt x="54863" y="0"/>
                </a:lnTo>
                <a:lnTo>
                  <a:pt x="0" y="27431"/>
                </a:lnTo>
                <a:lnTo>
                  <a:pt x="63246" y="59054"/>
                </a:lnTo>
                <a:lnTo>
                  <a:pt x="63246" y="21336"/>
                </a:lnTo>
                <a:lnTo>
                  <a:pt x="76200" y="21336"/>
                </a:lnTo>
                <a:close/>
              </a:path>
              <a:path extrusionOk="0" h="66039" w="2478404">
                <a:moveTo>
                  <a:pt x="2478024" y="33527"/>
                </a:moveTo>
                <a:lnTo>
                  <a:pt x="2478024" y="21336"/>
                </a:lnTo>
                <a:lnTo>
                  <a:pt x="63246" y="21336"/>
                </a:lnTo>
                <a:lnTo>
                  <a:pt x="63246" y="33527"/>
                </a:lnTo>
                <a:lnTo>
                  <a:pt x="2478024" y="33527"/>
                </a:lnTo>
                <a:close/>
              </a:path>
              <a:path extrusionOk="0" h="66039" w="2478404">
                <a:moveTo>
                  <a:pt x="76200" y="65531"/>
                </a:moveTo>
                <a:lnTo>
                  <a:pt x="76200" y="33527"/>
                </a:lnTo>
                <a:lnTo>
                  <a:pt x="63246" y="33527"/>
                </a:lnTo>
                <a:lnTo>
                  <a:pt x="63246" y="59054"/>
                </a:lnTo>
                <a:lnTo>
                  <a:pt x="76200" y="6553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
          <p:cNvSpPr txBox="1"/>
          <p:nvPr>
            <p:ph idx="4294967295" type="title"/>
          </p:nvPr>
        </p:nvSpPr>
        <p:spPr>
          <a:xfrm>
            <a:off x="1947862" y="186501"/>
            <a:ext cx="5248275" cy="608012"/>
          </a:xfrm>
          <a:prstGeom prst="rect">
            <a:avLst/>
          </a:prstGeom>
          <a:noFill/>
          <a:ln>
            <a:noFill/>
          </a:ln>
        </p:spPr>
        <p:txBody>
          <a:bodyPr anchorCtr="0" anchor="t" bIns="0" lIns="0" spcFirstLastPara="1" rIns="0" wrap="square" tIns="133000">
            <a:spAutoFit/>
          </a:bodyPr>
          <a:lstStyle/>
          <a:p>
            <a:pPr indent="0" lvl="0" marL="8637" rtl="0" algn="l">
              <a:lnSpc>
                <a:spcPct val="100000"/>
              </a:lnSpc>
              <a:spcBef>
                <a:spcPts val="68"/>
              </a:spcBef>
              <a:spcAft>
                <a:spcPts val="0"/>
              </a:spcAft>
              <a:buSzPts val="3000"/>
              <a:buNone/>
            </a:pPr>
            <a:r>
              <a:rPr lang="en-US">
                <a:solidFill>
                  <a:srgbClr val="FF0000"/>
                </a:solidFill>
              </a:rPr>
              <a:t>Medidas y modelos (II)</a:t>
            </a:r>
            <a:endParaRPr/>
          </a:p>
        </p:txBody>
      </p:sp>
      <p:sp>
        <p:nvSpPr>
          <p:cNvPr id="420" name="Google Shape;420;p7"/>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66075" marR="0" rtl="0" algn="l">
              <a:lnSpc>
                <a:spcPct val="80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421" name="Google Shape;421;p7"/>
          <p:cNvSpPr/>
          <p:nvPr/>
        </p:nvSpPr>
        <p:spPr>
          <a:xfrm>
            <a:off x="1462674" y="820369"/>
            <a:ext cx="6218841" cy="583016"/>
          </a:xfrm>
          <a:custGeom>
            <a:rect b="b" l="l" r="r" t="t"/>
            <a:pathLst>
              <a:path extrusionOk="0" h="857250" w="9144000">
                <a:moveTo>
                  <a:pt x="9144000" y="857250"/>
                </a:moveTo>
                <a:lnTo>
                  <a:pt x="9144000" y="0"/>
                </a:lnTo>
                <a:lnTo>
                  <a:pt x="0" y="0"/>
                </a:lnTo>
                <a:lnTo>
                  <a:pt x="0" y="857250"/>
                </a:lnTo>
                <a:lnTo>
                  <a:pt x="9144000" y="85725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22" name="Google Shape;422;p7"/>
          <p:cNvSpPr txBox="1"/>
          <p:nvPr/>
        </p:nvSpPr>
        <p:spPr>
          <a:xfrm>
            <a:off x="1834937" y="1068258"/>
            <a:ext cx="3932553" cy="259880"/>
          </a:xfrm>
          <a:prstGeom prst="rect">
            <a:avLst/>
          </a:prstGeom>
          <a:noFill/>
          <a:ln>
            <a:noFill/>
          </a:ln>
        </p:spPr>
        <p:txBody>
          <a:bodyPr anchorCtr="0" anchor="t" bIns="0" lIns="0" spcFirstLastPara="1" rIns="0" wrap="square" tIns="8625">
            <a:spAutoFit/>
          </a:bodyPr>
          <a:lstStyle/>
          <a:p>
            <a:pPr indent="-232774" lvl="0" marL="241412" marR="0" rtl="0" algn="l">
              <a:lnSpc>
                <a:spcPct val="100000"/>
              </a:lnSpc>
              <a:spcBef>
                <a:spcPts val="0"/>
              </a:spcBef>
              <a:spcAft>
                <a:spcPts val="0"/>
              </a:spcAft>
              <a:buClr>
                <a:srgbClr val="00007C"/>
              </a:buClr>
              <a:buSzPts val="1224"/>
              <a:buFont typeface="Noto Sans Symbols"/>
              <a:buChar char="■"/>
            </a:pPr>
            <a:r>
              <a:rPr b="1" i="0" lang="en-US" sz="1632" u="none" cap="none" strike="noStrike">
                <a:solidFill>
                  <a:srgbClr val="000000"/>
                </a:solidFill>
                <a:latin typeface="Arial"/>
                <a:ea typeface="Arial"/>
                <a:cs typeface="Arial"/>
                <a:sym typeface="Arial"/>
              </a:rPr>
              <a:t>Elementos implicados en la medición</a:t>
            </a:r>
            <a:endParaRPr b="0" i="0" sz="1632" u="none" cap="none" strike="noStrike">
              <a:solidFill>
                <a:srgbClr val="000000"/>
              </a:solidFill>
              <a:latin typeface="Arial"/>
              <a:ea typeface="Arial"/>
              <a:cs typeface="Arial"/>
              <a:sym typeface="Arial"/>
            </a:endParaRPr>
          </a:p>
        </p:txBody>
      </p:sp>
      <p:grpSp>
        <p:nvGrpSpPr>
          <p:cNvPr id="423" name="Google Shape;423;p7"/>
          <p:cNvGrpSpPr/>
          <p:nvPr/>
        </p:nvGrpSpPr>
        <p:grpSpPr>
          <a:xfrm>
            <a:off x="1734654" y="1524661"/>
            <a:ext cx="5675124" cy="462094"/>
            <a:chOff x="1174750" y="2241816"/>
            <a:chExt cx="8344534" cy="679450"/>
          </a:xfrm>
        </p:grpSpPr>
        <p:sp>
          <p:nvSpPr>
            <p:cNvPr id="424" name="Google Shape;424;p7"/>
            <p:cNvSpPr/>
            <p:nvPr/>
          </p:nvSpPr>
          <p:spPr>
            <a:xfrm>
              <a:off x="1174750" y="2241816"/>
              <a:ext cx="8344534" cy="679450"/>
            </a:xfrm>
            <a:custGeom>
              <a:rect b="b" l="l" r="r" t="t"/>
              <a:pathLst>
                <a:path extrusionOk="0" h="679450" w="8344534">
                  <a:moveTo>
                    <a:pt x="8344040" y="0"/>
                  </a:moveTo>
                  <a:lnTo>
                    <a:pt x="8343900" y="0"/>
                  </a:lnTo>
                  <a:lnTo>
                    <a:pt x="7620" y="0"/>
                  </a:lnTo>
                  <a:lnTo>
                    <a:pt x="139" y="0"/>
                  </a:lnTo>
                  <a:lnTo>
                    <a:pt x="0" y="0"/>
                  </a:lnTo>
                  <a:lnTo>
                    <a:pt x="0" y="678942"/>
                  </a:lnTo>
                  <a:lnTo>
                    <a:pt x="139" y="678942"/>
                  </a:lnTo>
                  <a:lnTo>
                    <a:pt x="6997" y="678942"/>
                  </a:lnTo>
                  <a:lnTo>
                    <a:pt x="7620" y="678942"/>
                  </a:lnTo>
                  <a:lnTo>
                    <a:pt x="13081" y="678942"/>
                  </a:lnTo>
                  <a:lnTo>
                    <a:pt x="13081" y="12192"/>
                  </a:lnTo>
                  <a:lnTo>
                    <a:pt x="8331848" y="12192"/>
                  </a:lnTo>
                  <a:lnTo>
                    <a:pt x="8331848" y="678942"/>
                  </a:lnTo>
                  <a:lnTo>
                    <a:pt x="8337944" y="678942"/>
                  </a:lnTo>
                  <a:lnTo>
                    <a:pt x="8344040" y="678942"/>
                  </a:lnTo>
                  <a:lnTo>
                    <a:pt x="8344040" y="6096"/>
                  </a:lnTo>
                  <a:lnTo>
                    <a:pt x="834404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25" name="Google Shape;425;p7"/>
            <p:cNvSpPr/>
            <p:nvPr/>
          </p:nvSpPr>
          <p:spPr>
            <a:xfrm>
              <a:off x="4890020" y="2379726"/>
              <a:ext cx="0" cy="495300"/>
            </a:xfrm>
            <a:custGeom>
              <a:rect b="b" l="l" r="r" t="t"/>
              <a:pathLst>
                <a:path extrusionOk="0" h="495300" w="120000">
                  <a:moveTo>
                    <a:pt x="0" y="0"/>
                  </a:moveTo>
                  <a:lnTo>
                    <a:pt x="0" y="495300"/>
                  </a:lnTo>
                </a:path>
              </a:pathLst>
            </a:custGeom>
            <a:noFill/>
            <a:ln cap="flat" cmpd="sng" w="1295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26" name="Google Shape;426;p7"/>
            <p:cNvSpPr/>
            <p:nvPr/>
          </p:nvSpPr>
          <p:spPr>
            <a:xfrm>
              <a:off x="1435493" y="2795790"/>
              <a:ext cx="7620000" cy="125095"/>
            </a:xfrm>
            <a:custGeom>
              <a:rect b="b" l="l" r="r" t="t"/>
              <a:pathLst>
                <a:path extrusionOk="0" h="125094" w="7620000">
                  <a:moveTo>
                    <a:pt x="3460991" y="117348"/>
                  </a:moveTo>
                  <a:lnTo>
                    <a:pt x="3448037" y="117348"/>
                  </a:lnTo>
                  <a:lnTo>
                    <a:pt x="3448037" y="124968"/>
                  </a:lnTo>
                  <a:lnTo>
                    <a:pt x="3460991" y="124968"/>
                  </a:lnTo>
                  <a:lnTo>
                    <a:pt x="3460991" y="117348"/>
                  </a:lnTo>
                  <a:close/>
                </a:path>
                <a:path extrusionOk="0" h="125094" w="7620000">
                  <a:moveTo>
                    <a:pt x="7620000" y="0"/>
                  </a:moveTo>
                  <a:lnTo>
                    <a:pt x="0" y="0"/>
                  </a:lnTo>
                  <a:lnTo>
                    <a:pt x="0" y="12954"/>
                  </a:lnTo>
                  <a:lnTo>
                    <a:pt x="7620000" y="12954"/>
                  </a:lnTo>
                  <a:lnTo>
                    <a:pt x="762000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27" name="Google Shape;427;p7"/>
          <p:cNvSpPr txBox="1"/>
          <p:nvPr/>
        </p:nvSpPr>
        <p:spPr>
          <a:xfrm>
            <a:off x="2398778" y="1707762"/>
            <a:ext cx="754035"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1088" u="none" cap="none" strike="noStrike">
                <a:solidFill>
                  <a:srgbClr val="DA1430"/>
                </a:solidFill>
                <a:latin typeface="Arial"/>
                <a:ea typeface="Arial"/>
                <a:cs typeface="Arial"/>
                <a:sym typeface="Arial"/>
              </a:rPr>
              <a:t>Mundo real</a:t>
            </a:r>
            <a:endParaRPr b="0" i="0" sz="1088" u="none" cap="none" strike="noStrike">
              <a:solidFill>
                <a:srgbClr val="000000"/>
              </a:solidFill>
              <a:latin typeface="Arial"/>
              <a:ea typeface="Arial"/>
              <a:cs typeface="Arial"/>
              <a:sym typeface="Arial"/>
            </a:endParaRPr>
          </a:p>
        </p:txBody>
      </p:sp>
      <p:sp>
        <p:nvSpPr>
          <p:cNvPr id="428" name="Google Shape;428;p7"/>
          <p:cNvSpPr txBox="1"/>
          <p:nvPr/>
        </p:nvSpPr>
        <p:spPr>
          <a:xfrm>
            <a:off x="5143571" y="1707762"/>
            <a:ext cx="930667"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1088" u="none" cap="none" strike="noStrike">
                <a:solidFill>
                  <a:srgbClr val="DA1430"/>
                </a:solidFill>
                <a:latin typeface="Arial"/>
                <a:ea typeface="Arial"/>
                <a:cs typeface="Arial"/>
                <a:sym typeface="Arial"/>
              </a:rPr>
              <a:t>Mundo formal</a:t>
            </a:r>
            <a:endParaRPr b="0" i="0" sz="1088" u="none" cap="none" strike="noStrike">
              <a:solidFill>
                <a:srgbClr val="000000"/>
              </a:solidFill>
              <a:latin typeface="Arial"/>
              <a:ea typeface="Arial"/>
              <a:cs typeface="Arial"/>
              <a:sym typeface="Arial"/>
            </a:endParaRPr>
          </a:p>
        </p:txBody>
      </p:sp>
      <p:grpSp>
        <p:nvGrpSpPr>
          <p:cNvPr id="429" name="Google Shape;429;p7"/>
          <p:cNvGrpSpPr/>
          <p:nvPr/>
        </p:nvGrpSpPr>
        <p:grpSpPr>
          <a:xfrm>
            <a:off x="1734748" y="1986410"/>
            <a:ext cx="5674693" cy="583016"/>
            <a:chOff x="1174889" y="2920758"/>
            <a:chExt cx="8343900" cy="857250"/>
          </a:xfrm>
        </p:grpSpPr>
        <p:sp>
          <p:nvSpPr>
            <p:cNvPr id="430" name="Google Shape;430;p7"/>
            <p:cNvSpPr/>
            <p:nvPr/>
          </p:nvSpPr>
          <p:spPr>
            <a:xfrm>
              <a:off x="1174889" y="2920758"/>
              <a:ext cx="8343900" cy="857250"/>
            </a:xfrm>
            <a:custGeom>
              <a:rect b="b" l="l" r="r" t="t"/>
              <a:pathLst>
                <a:path extrusionOk="0" h="857250" w="8343900">
                  <a:moveTo>
                    <a:pt x="12941" y="0"/>
                  </a:moveTo>
                  <a:lnTo>
                    <a:pt x="6858" y="0"/>
                  </a:lnTo>
                  <a:lnTo>
                    <a:pt x="0" y="0"/>
                  </a:lnTo>
                  <a:lnTo>
                    <a:pt x="0" y="857250"/>
                  </a:lnTo>
                  <a:lnTo>
                    <a:pt x="6858" y="857250"/>
                  </a:lnTo>
                  <a:lnTo>
                    <a:pt x="12941" y="857250"/>
                  </a:lnTo>
                  <a:lnTo>
                    <a:pt x="12941" y="0"/>
                  </a:lnTo>
                  <a:close/>
                </a:path>
                <a:path extrusionOk="0" h="857250" w="8343900">
                  <a:moveTo>
                    <a:pt x="8343900" y="0"/>
                  </a:moveTo>
                  <a:lnTo>
                    <a:pt x="8337804" y="0"/>
                  </a:lnTo>
                  <a:lnTo>
                    <a:pt x="8331708" y="0"/>
                  </a:lnTo>
                  <a:lnTo>
                    <a:pt x="8331708" y="857250"/>
                  </a:lnTo>
                  <a:lnTo>
                    <a:pt x="8337804" y="857250"/>
                  </a:lnTo>
                  <a:lnTo>
                    <a:pt x="8343900" y="857250"/>
                  </a:lnTo>
                  <a:lnTo>
                    <a:pt x="834390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31" name="Google Shape;431;p7"/>
            <p:cNvSpPr/>
            <p:nvPr/>
          </p:nvSpPr>
          <p:spPr>
            <a:xfrm>
              <a:off x="1689239" y="3118103"/>
              <a:ext cx="2032635" cy="422275"/>
            </a:xfrm>
            <a:custGeom>
              <a:rect b="b" l="l" r="r" t="t"/>
              <a:pathLst>
                <a:path extrusionOk="0" h="422275" w="2032635">
                  <a:moveTo>
                    <a:pt x="2032253" y="422148"/>
                  </a:moveTo>
                  <a:lnTo>
                    <a:pt x="2032253" y="0"/>
                  </a:lnTo>
                  <a:lnTo>
                    <a:pt x="0" y="0"/>
                  </a:lnTo>
                  <a:lnTo>
                    <a:pt x="0" y="422148"/>
                  </a:lnTo>
                  <a:lnTo>
                    <a:pt x="2032253" y="422148"/>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32" name="Google Shape;432;p7"/>
            <p:cNvSpPr/>
            <p:nvPr/>
          </p:nvSpPr>
          <p:spPr>
            <a:xfrm>
              <a:off x="1683143" y="3111245"/>
              <a:ext cx="2044700" cy="435609"/>
            </a:xfrm>
            <a:custGeom>
              <a:rect b="b" l="l" r="r" t="t"/>
              <a:pathLst>
                <a:path extrusionOk="0" h="435610" w="2044700">
                  <a:moveTo>
                    <a:pt x="2044445" y="435101"/>
                  </a:moveTo>
                  <a:lnTo>
                    <a:pt x="2044445" y="0"/>
                  </a:lnTo>
                  <a:lnTo>
                    <a:pt x="0" y="0"/>
                  </a:lnTo>
                  <a:lnTo>
                    <a:pt x="0" y="435101"/>
                  </a:lnTo>
                  <a:lnTo>
                    <a:pt x="6095" y="435101"/>
                  </a:lnTo>
                  <a:lnTo>
                    <a:pt x="6095" y="12953"/>
                  </a:lnTo>
                  <a:lnTo>
                    <a:pt x="12953" y="6857"/>
                  </a:lnTo>
                  <a:lnTo>
                    <a:pt x="12953" y="12953"/>
                  </a:lnTo>
                  <a:lnTo>
                    <a:pt x="2032253" y="12953"/>
                  </a:lnTo>
                  <a:lnTo>
                    <a:pt x="2032253" y="6857"/>
                  </a:lnTo>
                  <a:lnTo>
                    <a:pt x="2038349" y="12953"/>
                  </a:lnTo>
                  <a:lnTo>
                    <a:pt x="2038349" y="435101"/>
                  </a:lnTo>
                  <a:lnTo>
                    <a:pt x="2044445" y="435101"/>
                  </a:lnTo>
                  <a:close/>
                </a:path>
                <a:path extrusionOk="0" h="435610" w="2044700">
                  <a:moveTo>
                    <a:pt x="12953" y="12953"/>
                  </a:moveTo>
                  <a:lnTo>
                    <a:pt x="12953" y="6857"/>
                  </a:lnTo>
                  <a:lnTo>
                    <a:pt x="6095" y="12953"/>
                  </a:lnTo>
                  <a:lnTo>
                    <a:pt x="12953" y="12953"/>
                  </a:lnTo>
                  <a:close/>
                </a:path>
                <a:path extrusionOk="0" h="435610" w="2044700">
                  <a:moveTo>
                    <a:pt x="12953" y="422909"/>
                  </a:moveTo>
                  <a:lnTo>
                    <a:pt x="12953" y="12953"/>
                  </a:lnTo>
                  <a:lnTo>
                    <a:pt x="6095" y="12953"/>
                  </a:lnTo>
                  <a:lnTo>
                    <a:pt x="6095" y="422909"/>
                  </a:lnTo>
                  <a:lnTo>
                    <a:pt x="12953" y="422909"/>
                  </a:lnTo>
                  <a:close/>
                </a:path>
                <a:path extrusionOk="0" h="435610" w="2044700">
                  <a:moveTo>
                    <a:pt x="2038349" y="422909"/>
                  </a:moveTo>
                  <a:lnTo>
                    <a:pt x="6095" y="422909"/>
                  </a:lnTo>
                  <a:lnTo>
                    <a:pt x="12953" y="429005"/>
                  </a:lnTo>
                  <a:lnTo>
                    <a:pt x="12953" y="435101"/>
                  </a:lnTo>
                  <a:lnTo>
                    <a:pt x="2032253" y="435101"/>
                  </a:lnTo>
                  <a:lnTo>
                    <a:pt x="2032253" y="429005"/>
                  </a:lnTo>
                  <a:lnTo>
                    <a:pt x="2038349" y="422909"/>
                  </a:lnTo>
                  <a:close/>
                </a:path>
                <a:path extrusionOk="0" h="435610" w="2044700">
                  <a:moveTo>
                    <a:pt x="12953" y="435101"/>
                  </a:moveTo>
                  <a:lnTo>
                    <a:pt x="12953" y="429005"/>
                  </a:lnTo>
                  <a:lnTo>
                    <a:pt x="6095" y="422909"/>
                  </a:lnTo>
                  <a:lnTo>
                    <a:pt x="6095" y="435101"/>
                  </a:lnTo>
                  <a:lnTo>
                    <a:pt x="12953" y="435101"/>
                  </a:lnTo>
                  <a:close/>
                </a:path>
                <a:path extrusionOk="0" h="435610" w="2044700">
                  <a:moveTo>
                    <a:pt x="2038349" y="12953"/>
                  </a:moveTo>
                  <a:lnTo>
                    <a:pt x="2032253" y="6857"/>
                  </a:lnTo>
                  <a:lnTo>
                    <a:pt x="2032253" y="12953"/>
                  </a:lnTo>
                  <a:lnTo>
                    <a:pt x="2038349" y="12953"/>
                  </a:lnTo>
                  <a:close/>
                </a:path>
                <a:path extrusionOk="0" h="435610" w="2044700">
                  <a:moveTo>
                    <a:pt x="2038349" y="422909"/>
                  </a:moveTo>
                  <a:lnTo>
                    <a:pt x="2038349" y="12953"/>
                  </a:lnTo>
                  <a:lnTo>
                    <a:pt x="2032253" y="12953"/>
                  </a:lnTo>
                  <a:lnTo>
                    <a:pt x="2032253" y="422909"/>
                  </a:lnTo>
                  <a:lnTo>
                    <a:pt x="2038349" y="422909"/>
                  </a:lnTo>
                  <a:close/>
                </a:path>
                <a:path extrusionOk="0" h="435610" w="2044700">
                  <a:moveTo>
                    <a:pt x="2038349" y="435101"/>
                  </a:moveTo>
                  <a:lnTo>
                    <a:pt x="2038349" y="422909"/>
                  </a:lnTo>
                  <a:lnTo>
                    <a:pt x="2032253" y="429005"/>
                  </a:lnTo>
                  <a:lnTo>
                    <a:pt x="2032253" y="435101"/>
                  </a:lnTo>
                  <a:lnTo>
                    <a:pt x="2038349" y="43510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33" name="Google Shape;433;p7"/>
          <p:cNvSpPr txBox="1"/>
          <p:nvPr/>
        </p:nvSpPr>
        <p:spPr>
          <a:xfrm>
            <a:off x="2261273" y="2159665"/>
            <a:ext cx="1028700"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1088" u="none" cap="none" strike="noStrike">
                <a:solidFill>
                  <a:srgbClr val="CECECE"/>
                </a:solidFill>
                <a:latin typeface="Arial"/>
                <a:ea typeface="Arial"/>
                <a:cs typeface="Arial"/>
                <a:sym typeface="Arial"/>
              </a:rPr>
              <a:t>Entidad medida</a:t>
            </a:r>
            <a:endParaRPr b="0" i="0" sz="1088" u="none" cap="none" strike="noStrike">
              <a:solidFill>
                <a:srgbClr val="000000"/>
              </a:solidFill>
              <a:latin typeface="Arial"/>
              <a:ea typeface="Arial"/>
              <a:cs typeface="Arial"/>
              <a:sym typeface="Arial"/>
            </a:endParaRPr>
          </a:p>
        </p:txBody>
      </p:sp>
      <p:grpSp>
        <p:nvGrpSpPr>
          <p:cNvPr id="434" name="Google Shape;434;p7"/>
          <p:cNvGrpSpPr/>
          <p:nvPr/>
        </p:nvGrpSpPr>
        <p:grpSpPr>
          <a:xfrm>
            <a:off x="4878891" y="2367824"/>
            <a:ext cx="1390602" cy="201939"/>
            <a:chOff x="5797943" y="3481578"/>
            <a:chExt cx="2044700" cy="296926"/>
          </a:xfrm>
        </p:grpSpPr>
        <p:sp>
          <p:nvSpPr>
            <p:cNvPr id="435" name="Google Shape;435;p7"/>
            <p:cNvSpPr/>
            <p:nvPr/>
          </p:nvSpPr>
          <p:spPr>
            <a:xfrm>
              <a:off x="5804039" y="3487674"/>
              <a:ext cx="2032635" cy="290830"/>
            </a:xfrm>
            <a:custGeom>
              <a:rect b="b" l="l" r="r" t="t"/>
              <a:pathLst>
                <a:path extrusionOk="0" h="290829" w="2032634">
                  <a:moveTo>
                    <a:pt x="2032254" y="290322"/>
                  </a:moveTo>
                  <a:lnTo>
                    <a:pt x="2032254" y="0"/>
                  </a:lnTo>
                  <a:lnTo>
                    <a:pt x="0" y="0"/>
                  </a:lnTo>
                  <a:lnTo>
                    <a:pt x="0" y="290322"/>
                  </a:lnTo>
                  <a:lnTo>
                    <a:pt x="2032254" y="290322"/>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36" name="Google Shape;436;p7"/>
            <p:cNvSpPr/>
            <p:nvPr/>
          </p:nvSpPr>
          <p:spPr>
            <a:xfrm>
              <a:off x="5797943" y="3481578"/>
              <a:ext cx="2044700" cy="296545"/>
            </a:xfrm>
            <a:custGeom>
              <a:rect b="b" l="l" r="r" t="t"/>
              <a:pathLst>
                <a:path extrusionOk="0" h="296545" w="2044700">
                  <a:moveTo>
                    <a:pt x="2044446" y="296418"/>
                  </a:moveTo>
                  <a:lnTo>
                    <a:pt x="2044446" y="0"/>
                  </a:lnTo>
                  <a:lnTo>
                    <a:pt x="0" y="0"/>
                  </a:lnTo>
                  <a:lnTo>
                    <a:pt x="0" y="296418"/>
                  </a:lnTo>
                  <a:lnTo>
                    <a:pt x="6096" y="296418"/>
                  </a:lnTo>
                  <a:lnTo>
                    <a:pt x="6096" y="12954"/>
                  </a:lnTo>
                  <a:lnTo>
                    <a:pt x="12953" y="6096"/>
                  </a:lnTo>
                  <a:lnTo>
                    <a:pt x="12953" y="12954"/>
                  </a:lnTo>
                  <a:lnTo>
                    <a:pt x="2032254" y="12954"/>
                  </a:lnTo>
                  <a:lnTo>
                    <a:pt x="2032254" y="6096"/>
                  </a:lnTo>
                  <a:lnTo>
                    <a:pt x="2038350" y="12954"/>
                  </a:lnTo>
                  <a:lnTo>
                    <a:pt x="2038350" y="296418"/>
                  </a:lnTo>
                  <a:lnTo>
                    <a:pt x="2044446" y="296418"/>
                  </a:lnTo>
                  <a:close/>
                </a:path>
                <a:path extrusionOk="0" h="296545" w="2044700">
                  <a:moveTo>
                    <a:pt x="12953" y="12954"/>
                  </a:moveTo>
                  <a:lnTo>
                    <a:pt x="12953" y="6096"/>
                  </a:lnTo>
                  <a:lnTo>
                    <a:pt x="6096" y="12954"/>
                  </a:lnTo>
                  <a:lnTo>
                    <a:pt x="12953" y="12954"/>
                  </a:lnTo>
                  <a:close/>
                </a:path>
                <a:path extrusionOk="0" h="296545" w="2044700">
                  <a:moveTo>
                    <a:pt x="12953" y="296418"/>
                  </a:moveTo>
                  <a:lnTo>
                    <a:pt x="12953" y="12954"/>
                  </a:lnTo>
                  <a:lnTo>
                    <a:pt x="6096" y="12954"/>
                  </a:lnTo>
                  <a:lnTo>
                    <a:pt x="6096" y="296418"/>
                  </a:lnTo>
                  <a:lnTo>
                    <a:pt x="12953" y="296418"/>
                  </a:lnTo>
                  <a:close/>
                </a:path>
                <a:path extrusionOk="0" h="296545" w="2044700">
                  <a:moveTo>
                    <a:pt x="2038350" y="12954"/>
                  </a:moveTo>
                  <a:lnTo>
                    <a:pt x="2032254" y="6096"/>
                  </a:lnTo>
                  <a:lnTo>
                    <a:pt x="2032254" y="12954"/>
                  </a:lnTo>
                  <a:lnTo>
                    <a:pt x="2038350" y="12954"/>
                  </a:lnTo>
                  <a:close/>
                </a:path>
                <a:path extrusionOk="0" h="296545" w="2044700">
                  <a:moveTo>
                    <a:pt x="2038350" y="296418"/>
                  </a:moveTo>
                  <a:lnTo>
                    <a:pt x="2038350" y="12954"/>
                  </a:lnTo>
                  <a:lnTo>
                    <a:pt x="2032254" y="12954"/>
                  </a:lnTo>
                  <a:lnTo>
                    <a:pt x="2032254" y="296418"/>
                  </a:lnTo>
                  <a:lnTo>
                    <a:pt x="2038350" y="29641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37" name="Google Shape;437;p7"/>
          <p:cNvSpPr txBox="1"/>
          <p:nvPr/>
        </p:nvSpPr>
        <p:spPr>
          <a:xfrm>
            <a:off x="5396260" y="2411528"/>
            <a:ext cx="355424"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1088" u="none" cap="none" strike="noStrike">
                <a:solidFill>
                  <a:srgbClr val="CECECE"/>
                </a:solidFill>
                <a:latin typeface="Arial"/>
                <a:ea typeface="Arial"/>
                <a:cs typeface="Arial"/>
                <a:sym typeface="Arial"/>
              </a:rPr>
              <a:t>Valor</a:t>
            </a:r>
            <a:endParaRPr b="0" i="0" sz="1088" u="none" cap="none" strike="noStrike">
              <a:solidFill>
                <a:srgbClr val="000000"/>
              </a:solidFill>
              <a:latin typeface="Arial"/>
              <a:ea typeface="Arial"/>
              <a:cs typeface="Arial"/>
              <a:sym typeface="Arial"/>
            </a:endParaRPr>
          </a:p>
        </p:txBody>
      </p:sp>
      <p:sp>
        <p:nvSpPr>
          <p:cNvPr id="438" name="Google Shape;438;p7"/>
          <p:cNvSpPr/>
          <p:nvPr/>
        </p:nvSpPr>
        <p:spPr>
          <a:xfrm>
            <a:off x="2771222" y="2247083"/>
            <a:ext cx="2807548" cy="322602"/>
          </a:xfrm>
          <a:custGeom>
            <a:rect b="b" l="l" r="r" t="t"/>
            <a:pathLst>
              <a:path extrusionOk="0" h="474345" w="4128134">
                <a:moveTo>
                  <a:pt x="12954" y="236220"/>
                </a:moveTo>
                <a:lnTo>
                  <a:pt x="0" y="236220"/>
                </a:lnTo>
                <a:lnTo>
                  <a:pt x="0" y="473964"/>
                </a:lnTo>
                <a:lnTo>
                  <a:pt x="12954" y="473964"/>
                </a:lnTo>
                <a:lnTo>
                  <a:pt x="12954" y="236220"/>
                </a:lnTo>
                <a:close/>
              </a:path>
              <a:path extrusionOk="0" h="474345" w="4128134">
                <a:moveTo>
                  <a:pt x="3105150" y="388620"/>
                </a:moveTo>
                <a:lnTo>
                  <a:pt x="2070100" y="388620"/>
                </a:lnTo>
                <a:lnTo>
                  <a:pt x="2063750" y="388620"/>
                </a:lnTo>
                <a:lnTo>
                  <a:pt x="2057400" y="388620"/>
                </a:lnTo>
                <a:lnTo>
                  <a:pt x="2057400" y="473964"/>
                </a:lnTo>
                <a:lnTo>
                  <a:pt x="2063750" y="473964"/>
                </a:lnTo>
                <a:lnTo>
                  <a:pt x="2063750" y="398564"/>
                </a:lnTo>
                <a:lnTo>
                  <a:pt x="2066925" y="398564"/>
                </a:lnTo>
                <a:lnTo>
                  <a:pt x="2064258" y="401574"/>
                </a:lnTo>
                <a:lnTo>
                  <a:pt x="2064258" y="473202"/>
                </a:lnTo>
                <a:lnTo>
                  <a:pt x="2070354" y="473202"/>
                </a:lnTo>
                <a:lnTo>
                  <a:pt x="2070354" y="401574"/>
                </a:lnTo>
                <a:lnTo>
                  <a:pt x="3105150" y="401574"/>
                </a:lnTo>
                <a:lnTo>
                  <a:pt x="3105150" y="388620"/>
                </a:lnTo>
                <a:close/>
              </a:path>
              <a:path extrusionOk="0" h="474345" w="4128134">
                <a:moveTo>
                  <a:pt x="4127741" y="19050"/>
                </a:moveTo>
                <a:lnTo>
                  <a:pt x="1073645" y="19050"/>
                </a:lnTo>
                <a:lnTo>
                  <a:pt x="1073645" y="0"/>
                </a:lnTo>
                <a:lnTo>
                  <a:pt x="1022591" y="25146"/>
                </a:lnTo>
                <a:lnTo>
                  <a:pt x="1060691" y="43903"/>
                </a:lnTo>
                <a:lnTo>
                  <a:pt x="1073645" y="50292"/>
                </a:lnTo>
                <a:lnTo>
                  <a:pt x="1073645" y="31242"/>
                </a:lnTo>
                <a:lnTo>
                  <a:pt x="4114787" y="31242"/>
                </a:lnTo>
                <a:lnTo>
                  <a:pt x="4114787" y="183642"/>
                </a:lnTo>
                <a:lnTo>
                  <a:pt x="4121645" y="183642"/>
                </a:lnTo>
                <a:lnTo>
                  <a:pt x="4127741" y="183642"/>
                </a:lnTo>
                <a:lnTo>
                  <a:pt x="4127741" y="1905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39" name="Google Shape;439;p7"/>
          <p:cNvSpPr txBox="1"/>
          <p:nvPr/>
        </p:nvSpPr>
        <p:spPr>
          <a:xfrm>
            <a:off x="4070092" y="2097476"/>
            <a:ext cx="699188"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7C"/>
                </a:solidFill>
                <a:latin typeface="Arial"/>
                <a:ea typeface="Arial"/>
                <a:cs typeface="Arial"/>
                <a:sym typeface="Arial"/>
              </a:rPr>
              <a:t>Se aplica a</a:t>
            </a:r>
            <a:endParaRPr b="0" i="0" sz="1088" u="none" cap="none" strike="noStrike">
              <a:solidFill>
                <a:srgbClr val="000000"/>
              </a:solidFill>
              <a:latin typeface="Arial"/>
              <a:ea typeface="Arial"/>
              <a:cs typeface="Arial"/>
              <a:sym typeface="Arial"/>
            </a:endParaRPr>
          </a:p>
        </p:txBody>
      </p:sp>
      <p:grpSp>
        <p:nvGrpSpPr>
          <p:cNvPr id="440" name="Google Shape;440;p7"/>
          <p:cNvGrpSpPr/>
          <p:nvPr/>
        </p:nvGrpSpPr>
        <p:grpSpPr>
          <a:xfrm>
            <a:off x="4257007" y="1986401"/>
            <a:ext cx="9069" cy="573688"/>
            <a:chOff x="4883543" y="2920745"/>
            <a:chExt cx="13335" cy="843534"/>
          </a:xfrm>
        </p:grpSpPr>
        <p:sp>
          <p:nvSpPr>
            <p:cNvPr id="441" name="Google Shape;441;p7"/>
            <p:cNvSpPr/>
            <p:nvPr/>
          </p:nvSpPr>
          <p:spPr>
            <a:xfrm>
              <a:off x="4883543" y="2920745"/>
              <a:ext cx="13335" cy="43815"/>
            </a:xfrm>
            <a:custGeom>
              <a:rect b="b" l="l" r="r" t="t"/>
              <a:pathLst>
                <a:path extrusionOk="0" h="43814" w="13335">
                  <a:moveTo>
                    <a:pt x="12953" y="43433"/>
                  </a:moveTo>
                  <a:lnTo>
                    <a:pt x="12953" y="0"/>
                  </a:lnTo>
                  <a:lnTo>
                    <a:pt x="0" y="0"/>
                  </a:lnTo>
                  <a:lnTo>
                    <a:pt x="0" y="43433"/>
                  </a:lnTo>
                  <a:lnTo>
                    <a:pt x="12953" y="4343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42" name="Google Shape;442;p7"/>
            <p:cNvSpPr/>
            <p:nvPr/>
          </p:nvSpPr>
          <p:spPr>
            <a:xfrm>
              <a:off x="4890020" y="3002279"/>
              <a:ext cx="0" cy="762000"/>
            </a:xfrm>
            <a:custGeom>
              <a:rect b="b" l="l" r="r" t="t"/>
              <a:pathLst>
                <a:path extrusionOk="0" h="762000" w="120000">
                  <a:moveTo>
                    <a:pt x="0" y="0"/>
                  </a:moveTo>
                  <a:lnTo>
                    <a:pt x="0" y="762000"/>
                  </a:lnTo>
                </a:path>
              </a:pathLst>
            </a:custGeom>
            <a:noFill/>
            <a:ln cap="flat" cmpd="sng" w="1295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43" name="Google Shape;443;p7"/>
          <p:cNvSpPr txBox="1"/>
          <p:nvPr/>
        </p:nvSpPr>
        <p:spPr>
          <a:xfrm>
            <a:off x="2596054" y="2410492"/>
            <a:ext cx="53983"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1088" u="none" cap="none" strike="noStrike">
                <a:solidFill>
                  <a:srgbClr val="00007C"/>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p:txBody>
      </p:sp>
      <p:grpSp>
        <p:nvGrpSpPr>
          <p:cNvPr id="444" name="Google Shape;444;p7"/>
          <p:cNvGrpSpPr/>
          <p:nvPr/>
        </p:nvGrpSpPr>
        <p:grpSpPr>
          <a:xfrm>
            <a:off x="1462674" y="2568900"/>
            <a:ext cx="6218841" cy="583879"/>
            <a:chOff x="774839" y="3777234"/>
            <a:chExt cx="9144000" cy="858519"/>
          </a:xfrm>
        </p:grpSpPr>
        <p:sp>
          <p:nvSpPr>
            <p:cNvPr id="445" name="Google Shape;445;p7"/>
            <p:cNvSpPr/>
            <p:nvPr/>
          </p:nvSpPr>
          <p:spPr>
            <a:xfrm>
              <a:off x="774839" y="3777234"/>
              <a:ext cx="9144000" cy="85851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46" name="Google Shape;446;p7"/>
            <p:cNvSpPr/>
            <p:nvPr/>
          </p:nvSpPr>
          <p:spPr>
            <a:xfrm>
              <a:off x="1174889" y="3778008"/>
              <a:ext cx="8343900" cy="857250"/>
            </a:xfrm>
            <a:custGeom>
              <a:rect b="b" l="l" r="r" t="t"/>
              <a:pathLst>
                <a:path extrusionOk="0" h="857250" w="8343900">
                  <a:moveTo>
                    <a:pt x="12941" y="0"/>
                  </a:moveTo>
                  <a:lnTo>
                    <a:pt x="6858" y="0"/>
                  </a:lnTo>
                  <a:lnTo>
                    <a:pt x="0" y="0"/>
                  </a:lnTo>
                  <a:lnTo>
                    <a:pt x="0" y="857250"/>
                  </a:lnTo>
                  <a:lnTo>
                    <a:pt x="6858" y="857250"/>
                  </a:lnTo>
                  <a:lnTo>
                    <a:pt x="12941" y="857250"/>
                  </a:lnTo>
                  <a:lnTo>
                    <a:pt x="12941" y="0"/>
                  </a:lnTo>
                  <a:close/>
                </a:path>
                <a:path extrusionOk="0" h="857250" w="8343900">
                  <a:moveTo>
                    <a:pt x="8343900" y="0"/>
                  </a:moveTo>
                  <a:lnTo>
                    <a:pt x="8337804" y="0"/>
                  </a:lnTo>
                  <a:lnTo>
                    <a:pt x="8331708" y="0"/>
                  </a:lnTo>
                  <a:lnTo>
                    <a:pt x="8331708" y="857250"/>
                  </a:lnTo>
                  <a:lnTo>
                    <a:pt x="8337804" y="857250"/>
                  </a:lnTo>
                  <a:lnTo>
                    <a:pt x="8343900" y="857250"/>
                  </a:lnTo>
                  <a:lnTo>
                    <a:pt x="834390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47" name="Google Shape;447;p7"/>
            <p:cNvSpPr/>
            <p:nvPr/>
          </p:nvSpPr>
          <p:spPr>
            <a:xfrm>
              <a:off x="1689239" y="4067556"/>
              <a:ext cx="2032635" cy="422275"/>
            </a:xfrm>
            <a:custGeom>
              <a:rect b="b" l="l" r="r" t="t"/>
              <a:pathLst>
                <a:path extrusionOk="0" h="422275" w="2032635">
                  <a:moveTo>
                    <a:pt x="2032253" y="422148"/>
                  </a:moveTo>
                  <a:lnTo>
                    <a:pt x="2032253" y="0"/>
                  </a:lnTo>
                  <a:lnTo>
                    <a:pt x="0" y="0"/>
                  </a:lnTo>
                  <a:lnTo>
                    <a:pt x="0" y="422148"/>
                  </a:lnTo>
                  <a:lnTo>
                    <a:pt x="2032253" y="422148"/>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48" name="Google Shape;448;p7"/>
            <p:cNvSpPr/>
            <p:nvPr/>
          </p:nvSpPr>
          <p:spPr>
            <a:xfrm>
              <a:off x="1683143" y="4060698"/>
              <a:ext cx="2044700" cy="435609"/>
            </a:xfrm>
            <a:custGeom>
              <a:rect b="b" l="l" r="r" t="t"/>
              <a:pathLst>
                <a:path extrusionOk="0" h="435610" w="2044700">
                  <a:moveTo>
                    <a:pt x="2044445" y="435101"/>
                  </a:moveTo>
                  <a:lnTo>
                    <a:pt x="2044445" y="0"/>
                  </a:lnTo>
                  <a:lnTo>
                    <a:pt x="0" y="0"/>
                  </a:lnTo>
                  <a:lnTo>
                    <a:pt x="0" y="435101"/>
                  </a:lnTo>
                  <a:lnTo>
                    <a:pt x="6095" y="435101"/>
                  </a:lnTo>
                  <a:lnTo>
                    <a:pt x="6095" y="12953"/>
                  </a:lnTo>
                  <a:lnTo>
                    <a:pt x="12953" y="6857"/>
                  </a:lnTo>
                  <a:lnTo>
                    <a:pt x="12953" y="12953"/>
                  </a:lnTo>
                  <a:lnTo>
                    <a:pt x="2032253" y="12953"/>
                  </a:lnTo>
                  <a:lnTo>
                    <a:pt x="2032253" y="6857"/>
                  </a:lnTo>
                  <a:lnTo>
                    <a:pt x="2038349" y="12953"/>
                  </a:lnTo>
                  <a:lnTo>
                    <a:pt x="2038349" y="435101"/>
                  </a:lnTo>
                  <a:lnTo>
                    <a:pt x="2044445" y="435101"/>
                  </a:lnTo>
                  <a:close/>
                </a:path>
                <a:path extrusionOk="0" h="435610" w="2044700">
                  <a:moveTo>
                    <a:pt x="12953" y="12953"/>
                  </a:moveTo>
                  <a:lnTo>
                    <a:pt x="12953" y="6857"/>
                  </a:lnTo>
                  <a:lnTo>
                    <a:pt x="6095" y="12953"/>
                  </a:lnTo>
                  <a:lnTo>
                    <a:pt x="12953" y="12953"/>
                  </a:lnTo>
                  <a:close/>
                </a:path>
                <a:path extrusionOk="0" h="435610" w="2044700">
                  <a:moveTo>
                    <a:pt x="12953" y="422148"/>
                  </a:moveTo>
                  <a:lnTo>
                    <a:pt x="12953" y="12953"/>
                  </a:lnTo>
                  <a:lnTo>
                    <a:pt x="6095" y="12953"/>
                  </a:lnTo>
                  <a:lnTo>
                    <a:pt x="6095" y="422148"/>
                  </a:lnTo>
                  <a:lnTo>
                    <a:pt x="12953" y="422148"/>
                  </a:lnTo>
                  <a:close/>
                </a:path>
                <a:path extrusionOk="0" h="435610" w="2044700">
                  <a:moveTo>
                    <a:pt x="2038349" y="422148"/>
                  </a:moveTo>
                  <a:lnTo>
                    <a:pt x="6095" y="422148"/>
                  </a:lnTo>
                  <a:lnTo>
                    <a:pt x="12953" y="429005"/>
                  </a:lnTo>
                  <a:lnTo>
                    <a:pt x="12953" y="435101"/>
                  </a:lnTo>
                  <a:lnTo>
                    <a:pt x="2032253" y="435101"/>
                  </a:lnTo>
                  <a:lnTo>
                    <a:pt x="2032253" y="429005"/>
                  </a:lnTo>
                  <a:lnTo>
                    <a:pt x="2038349" y="422148"/>
                  </a:lnTo>
                  <a:close/>
                </a:path>
                <a:path extrusionOk="0" h="435610" w="2044700">
                  <a:moveTo>
                    <a:pt x="12953" y="435101"/>
                  </a:moveTo>
                  <a:lnTo>
                    <a:pt x="12953" y="429005"/>
                  </a:lnTo>
                  <a:lnTo>
                    <a:pt x="6095" y="422148"/>
                  </a:lnTo>
                  <a:lnTo>
                    <a:pt x="6095" y="435101"/>
                  </a:lnTo>
                  <a:lnTo>
                    <a:pt x="12953" y="435101"/>
                  </a:lnTo>
                  <a:close/>
                </a:path>
                <a:path extrusionOk="0" h="435610" w="2044700">
                  <a:moveTo>
                    <a:pt x="2038349" y="12953"/>
                  </a:moveTo>
                  <a:lnTo>
                    <a:pt x="2032253" y="6857"/>
                  </a:lnTo>
                  <a:lnTo>
                    <a:pt x="2032253" y="12953"/>
                  </a:lnTo>
                  <a:lnTo>
                    <a:pt x="2038349" y="12953"/>
                  </a:lnTo>
                  <a:close/>
                </a:path>
                <a:path extrusionOk="0" h="435610" w="2044700">
                  <a:moveTo>
                    <a:pt x="2038349" y="422148"/>
                  </a:moveTo>
                  <a:lnTo>
                    <a:pt x="2038349" y="12953"/>
                  </a:lnTo>
                  <a:lnTo>
                    <a:pt x="2032253" y="12953"/>
                  </a:lnTo>
                  <a:lnTo>
                    <a:pt x="2032253" y="422148"/>
                  </a:lnTo>
                  <a:lnTo>
                    <a:pt x="2038349" y="422148"/>
                  </a:lnTo>
                  <a:close/>
                </a:path>
                <a:path extrusionOk="0" h="435610" w="2044700">
                  <a:moveTo>
                    <a:pt x="2038349" y="435101"/>
                  </a:moveTo>
                  <a:lnTo>
                    <a:pt x="2038349" y="422148"/>
                  </a:lnTo>
                  <a:lnTo>
                    <a:pt x="2032253" y="429005"/>
                  </a:lnTo>
                  <a:lnTo>
                    <a:pt x="2032253" y="435101"/>
                  </a:lnTo>
                  <a:lnTo>
                    <a:pt x="2038349" y="43510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49" name="Google Shape;449;p7"/>
          <p:cNvSpPr txBox="1"/>
          <p:nvPr/>
        </p:nvSpPr>
        <p:spPr>
          <a:xfrm>
            <a:off x="2506398" y="2805388"/>
            <a:ext cx="538103"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1088" u="none" cap="none" strike="noStrike">
                <a:solidFill>
                  <a:srgbClr val="CECECE"/>
                </a:solidFill>
                <a:latin typeface="Arial"/>
                <a:ea typeface="Arial"/>
                <a:cs typeface="Arial"/>
                <a:sym typeface="Arial"/>
              </a:rPr>
              <a:t>Atributo</a:t>
            </a:r>
            <a:endParaRPr b="0" i="0" sz="1088" u="none" cap="none" strike="noStrike">
              <a:solidFill>
                <a:srgbClr val="000000"/>
              </a:solidFill>
              <a:latin typeface="Arial"/>
              <a:ea typeface="Arial"/>
              <a:cs typeface="Arial"/>
              <a:sym typeface="Arial"/>
            </a:endParaRPr>
          </a:p>
        </p:txBody>
      </p:sp>
      <p:grpSp>
        <p:nvGrpSpPr>
          <p:cNvPr id="450" name="Google Shape;450;p7"/>
          <p:cNvGrpSpPr/>
          <p:nvPr/>
        </p:nvGrpSpPr>
        <p:grpSpPr>
          <a:xfrm>
            <a:off x="2758266" y="2568900"/>
            <a:ext cx="3511227" cy="583880"/>
            <a:chOff x="2679839" y="3777234"/>
            <a:chExt cx="5162804" cy="858520"/>
          </a:xfrm>
        </p:grpSpPr>
        <p:sp>
          <p:nvSpPr>
            <p:cNvPr id="451" name="Google Shape;451;p7"/>
            <p:cNvSpPr/>
            <p:nvPr/>
          </p:nvSpPr>
          <p:spPr>
            <a:xfrm>
              <a:off x="5804039" y="3777234"/>
              <a:ext cx="2032635" cy="132715"/>
            </a:xfrm>
            <a:custGeom>
              <a:rect b="b" l="l" r="r" t="t"/>
              <a:pathLst>
                <a:path extrusionOk="0" h="132714" w="2032634">
                  <a:moveTo>
                    <a:pt x="2032254" y="132587"/>
                  </a:moveTo>
                  <a:lnTo>
                    <a:pt x="2032254" y="0"/>
                  </a:lnTo>
                  <a:lnTo>
                    <a:pt x="0" y="0"/>
                  </a:lnTo>
                  <a:lnTo>
                    <a:pt x="0" y="132588"/>
                  </a:lnTo>
                  <a:lnTo>
                    <a:pt x="2032254" y="132587"/>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52" name="Google Shape;452;p7"/>
            <p:cNvSpPr/>
            <p:nvPr/>
          </p:nvSpPr>
          <p:spPr>
            <a:xfrm>
              <a:off x="5797943" y="3777996"/>
              <a:ext cx="2044700" cy="139065"/>
            </a:xfrm>
            <a:custGeom>
              <a:rect b="b" l="l" r="r" t="t"/>
              <a:pathLst>
                <a:path extrusionOk="0" h="139064" w="2044700">
                  <a:moveTo>
                    <a:pt x="12953" y="125730"/>
                  </a:moveTo>
                  <a:lnTo>
                    <a:pt x="12953" y="0"/>
                  </a:lnTo>
                  <a:lnTo>
                    <a:pt x="0" y="0"/>
                  </a:lnTo>
                  <a:lnTo>
                    <a:pt x="0" y="138684"/>
                  </a:lnTo>
                  <a:lnTo>
                    <a:pt x="6096" y="138684"/>
                  </a:lnTo>
                  <a:lnTo>
                    <a:pt x="6096" y="125730"/>
                  </a:lnTo>
                  <a:lnTo>
                    <a:pt x="12953" y="125730"/>
                  </a:lnTo>
                  <a:close/>
                </a:path>
                <a:path extrusionOk="0" h="139064" w="2044700">
                  <a:moveTo>
                    <a:pt x="2038350" y="125729"/>
                  </a:moveTo>
                  <a:lnTo>
                    <a:pt x="6096" y="125730"/>
                  </a:lnTo>
                  <a:lnTo>
                    <a:pt x="12953" y="131826"/>
                  </a:lnTo>
                  <a:lnTo>
                    <a:pt x="12953" y="138684"/>
                  </a:lnTo>
                  <a:lnTo>
                    <a:pt x="2032254" y="138683"/>
                  </a:lnTo>
                  <a:lnTo>
                    <a:pt x="2032254" y="131825"/>
                  </a:lnTo>
                  <a:lnTo>
                    <a:pt x="2038350" y="125729"/>
                  </a:lnTo>
                  <a:close/>
                </a:path>
                <a:path extrusionOk="0" h="139064" w="2044700">
                  <a:moveTo>
                    <a:pt x="12953" y="138684"/>
                  </a:moveTo>
                  <a:lnTo>
                    <a:pt x="12953" y="131826"/>
                  </a:lnTo>
                  <a:lnTo>
                    <a:pt x="6096" y="125730"/>
                  </a:lnTo>
                  <a:lnTo>
                    <a:pt x="6096" y="138684"/>
                  </a:lnTo>
                  <a:lnTo>
                    <a:pt x="12953" y="138684"/>
                  </a:lnTo>
                  <a:close/>
                </a:path>
                <a:path extrusionOk="0" h="139064" w="2044700">
                  <a:moveTo>
                    <a:pt x="2044446" y="138683"/>
                  </a:moveTo>
                  <a:lnTo>
                    <a:pt x="2044446" y="0"/>
                  </a:lnTo>
                  <a:lnTo>
                    <a:pt x="2032254" y="0"/>
                  </a:lnTo>
                  <a:lnTo>
                    <a:pt x="2032254" y="125729"/>
                  </a:lnTo>
                  <a:lnTo>
                    <a:pt x="2038350" y="125729"/>
                  </a:lnTo>
                  <a:lnTo>
                    <a:pt x="2038350" y="138683"/>
                  </a:lnTo>
                  <a:lnTo>
                    <a:pt x="2044446" y="138683"/>
                  </a:lnTo>
                  <a:close/>
                </a:path>
                <a:path extrusionOk="0" h="139064" w="2044700">
                  <a:moveTo>
                    <a:pt x="2038350" y="138683"/>
                  </a:moveTo>
                  <a:lnTo>
                    <a:pt x="2038350" y="125729"/>
                  </a:lnTo>
                  <a:lnTo>
                    <a:pt x="2032254" y="131825"/>
                  </a:lnTo>
                  <a:lnTo>
                    <a:pt x="2032254" y="138683"/>
                  </a:lnTo>
                  <a:lnTo>
                    <a:pt x="2038350" y="138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53" name="Google Shape;453;p7"/>
            <p:cNvSpPr/>
            <p:nvPr/>
          </p:nvSpPr>
          <p:spPr>
            <a:xfrm>
              <a:off x="5804039" y="4489704"/>
              <a:ext cx="2032635" cy="146050"/>
            </a:xfrm>
            <a:custGeom>
              <a:rect b="b" l="l" r="r" t="t"/>
              <a:pathLst>
                <a:path extrusionOk="0" h="146050" w="2032634">
                  <a:moveTo>
                    <a:pt x="2032254" y="145541"/>
                  </a:moveTo>
                  <a:lnTo>
                    <a:pt x="2032254" y="0"/>
                  </a:lnTo>
                  <a:lnTo>
                    <a:pt x="0" y="0"/>
                  </a:lnTo>
                  <a:lnTo>
                    <a:pt x="0" y="145542"/>
                  </a:lnTo>
                  <a:lnTo>
                    <a:pt x="2032254" y="145541"/>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54" name="Google Shape;454;p7"/>
            <p:cNvSpPr/>
            <p:nvPr/>
          </p:nvSpPr>
          <p:spPr>
            <a:xfrm>
              <a:off x="2679839" y="3778008"/>
              <a:ext cx="5162550" cy="857250"/>
            </a:xfrm>
            <a:custGeom>
              <a:rect b="b" l="l" r="r" t="t"/>
              <a:pathLst>
                <a:path extrusionOk="0" h="857250" w="5162550">
                  <a:moveTo>
                    <a:pt x="51054" y="762000"/>
                  </a:moveTo>
                  <a:lnTo>
                    <a:pt x="25908" y="711708"/>
                  </a:lnTo>
                  <a:lnTo>
                    <a:pt x="0" y="762000"/>
                  </a:lnTo>
                  <a:lnTo>
                    <a:pt x="19050" y="762000"/>
                  </a:lnTo>
                  <a:lnTo>
                    <a:pt x="19050" y="857250"/>
                  </a:lnTo>
                  <a:lnTo>
                    <a:pt x="32004" y="857250"/>
                  </a:lnTo>
                  <a:lnTo>
                    <a:pt x="32004" y="762000"/>
                  </a:lnTo>
                  <a:lnTo>
                    <a:pt x="51054" y="762000"/>
                  </a:lnTo>
                  <a:close/>
                </a:path>
                <a:path extrusionOk="0" h="857250" w="5162550">
                  <a:moveTo>
                    <a:pt x="51054" y="238506"/>
                  </a:moveTo>
                  <a:lnTo>
                    <a:pt x="32004" y="238506"/>
                  </a:lnTo>
                  <a:lnTo>
                    <a:pt x="32004" y="0"/>
                  </a:lnTo>
                  <a:lnTo>
                    <a:pt x="19050" y="0"/>
                  </a:lnTo>
                  <a:lnTo>
                    <a:pt x="19050" y="238506"/>
                  </a:lnTo>
                  <a:lnTo>
                    <a:pt x="0" y="238506"/>
                  </a:lnTo>
                  <a:lnTo>
                    <a:pt x="19050" y="276034"/>
                  </a:lnTo>
                  <a:lnTo>
                    <a:pt x="25908" y="289560"/>
                  </a:lnTo>
                  <a:lnTo>
                    <a:pt x="32004" y="277177"/>
                  </a:lnTo>
                  <a:lnTo>
                    <a:pt x="51054" y="238506"/>
                  </a:lnTo>
                  <a:close/>
                </a:path>
                <a:path extrusionOk="0" h="857250" w="5162550">
                  <a:moveTo>
                    <a:pt x="2089404" y="0"/>
                  </a:moveTo>
                  <a:lnTo>
                    <a:pt x="2076450" y="0"/>
                  </a:lnTo>
                  <a:lnTo>
                    <a:pt x="2076450" y="493776"/>
                  </a:lnTo>
                  <a:lnTo>
                    <a:pt x="1092708" y="493776"/>
                  </a:lnTo>
                  <a:lnTo>
                    <a:pt x="1092708" y="474726"/>
                  </a:lnTo>
                  <a:lnTo>
                    <a:pt x="1041654" y="500634"/>
                  </a:lnTo>
                  <a:lnTo>
                    <a:pt x="1079754" y="519391"/>
                  </a:lnTo>
                  <a:lnTo>
                    <a:pt x="1092708" y="525780"/>
                  </a:lnTo>
                  <a:lnTo>
                    <a:pt x="1092708" y="506730"/>
                  </a:lnTo>
                  <a:lnTo>
                    <a:pt x="2076450" y="506730"/>
                  </a:lnTo>
                  <a:lnTo>
                    <a:pt x="2083308" y="506730"/>
                  </a:lnTo>
                  <a:lnTo>
                    <a:pt x="2089404" y="506730"/>
                  </a:lnTo>
                  <a:lnTo>
                    <a:pt x="2089404" y="0"/>
                  </a:lnTo>
                  <a:close/>
                </a:path>
                <a:path extrusionOk="0" h="857250" w="5162550">
                  <a:moveTo>
                    <a:pt x="5162550" y="704850"/>
                  </a:moveTo>
                  <a:lnTo>
                    <a:pt x="4144060" y="704850"/>
                  </a:lnTo>
                  <a:lnTo>
                    <a:pt x="4146804" y="699300"/>
                  </a:lnTo>
                  <a:lnTo>
                    <a:pt x="4165854" y="660654"/>
                  </a:lnTo>
                  <a:lnTo>
                    <a:pt x="4146804" y="660654"/>
                  </a:lnTo>
                  <a:lnTo>
                    <a:pt x="4146804" y="131826"/>
                  </a:lnTo>
                  <a:lnTo>
                    <a:pt x="4133850" y="131826"/>
                  </a:lnTo>
                  <a:lnTo>
                    <a:pt x="4133850" y="660654"/>
                  </a:lnTo>
                  <a:lnTo>
                    <a:pt x="4114787" y="660654"/>
                  </a:lnTo>
                  <a:lnTo>
                    <a:pt x="4133850" y="698207"/>
                  </a:lnTo>
                  <a:lnTo>
                    <a:pt x="4137215" y="704850"/>
                  </a:lnTo>
                  <a:lnTo>
                    <a:pt x="3118091" y="704850"/>
                  </a:lnTo>
                  <a:lnTo>
                    <a:pt x="3118091" y="857250"/>
                  </a:lnTo>
                  <a:lnTo>
                    <a:pt x="3124187" y="857250"/>
                  </a:lnTo>
                  <a:lnTo>
                    <a:pt x="3131045" y="857250"/>
                  </a:lnTo>
                  <a:lnTo>
                    <a:pt x="3131045" y="717804"/>
                  </a:lnTo>
                  <a:lnTo>
                    <a:pt x="5150358" y="717804"/>
                  </a:lnTo>
                  <a:lnTo>
                    <a:pt x="5150358" y="857250"/>
                  </a:lnTo>
                  <a:lnTo>
                    <a:pt x="5156454" y="857250"/>
                  </a:lnTo>
                  <a:lnTo>
                    <a:pt x="5162550" y="857250"/>
                  </a:lnTo>
                  <a:lnTo>
                    <a:pt x="5162550" y="70485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55" name="Google Shape;455;p7"/>
          <p:cNvSpPr txBox="1"/>
          <p:nvPr/>
        </p:nvSpPr>
        <p:spPr>
          <a:xfrm>
            <a:off x="3679862" y="2626595"/>
            <a:ext cx="316556"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7C"/>
                </a:solidFill>
                <a:latin typeface="Arial"/>
                <a:ea typeface="Arial"/>
                <a:cs typeface="Arial"/>
                <a:sym typeface="Arial"/>
              </a:rPr>
              <a:t>Mide</a:t>
            </a:r>
            <a:endParaRPr b="0" i="0" sz="1088" u="none" cap="none" strike="noStrike">
              <a:solidFill>
                <a:srgbClr val="000000"/>
              </a:solidFill>
              <a:latin typeface="Arial"/>
              <a:ea typeface="Arial"/>
              <a:cs typeface="Arial"/>
              <a:sym typeface="Arial"/>
            </a:endParaRPr>
          </a:p>
        </p:txBody>
      </p:sp>
      <p:sp>
        <p:nvSpPr>
          <p:cNvPr id="456" name="Google Shape;456;p7"/>
          <p:cNvSpPr txBox="1"/>
          <p:nvPr/>
        </p:nvSpPr>
        <p:spPr>
          <a:xfrm>
            <a:off x="5627394" y="2784142"/>
            <a:ext cx="906914"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7C"/>
                </a:solidFill>
                <a:latin typeface="Arial"/>
                <a:ea typeface="Arial"/>
                <a:cs typeface="Arial"/>
                <a:sym typeface="Arial"/>
              </a:rPr>
              <a:t>Se expresa en</a:t>
            </a:r>
            <a:endParaRPr b="0" i="0" sz="1088" u="none" cap="none" strike="noStrike">
              <a:solidFill>
                <a:srgbClr val="000000"/>
              </a:solidFill>
              <a:latin typeface="Arial"/>
              <a:ea typeface="Arial"/>
              <a:cs typeface="Arial"/>
              <a:sym typeface="Arial"/>
            </a:endParaRPr>
          </a:p>
        </p:txBody>
      </p:sp>
      <p:sp>
        <p:nvSpPr>
          <p:cNvPr id="457" name="Google Shape;457;p7"/>
          <p:cNvSpPr/>
          <p:nvPr/>
        </p:nvSpPr>
        <p:spPr>
          <a:xfrm>
            <a:off x="4261412" y="2586001"/>
            <a:ext cx="0" cy="566605"/>
          </a:xfrm>
          <a:custGeom>
            <a:rect b="b" l="l" r="r" t="t"/>
            <a:pathLst>
              <a:path extrusionOk="0" h="833120" w="120000">
                <a:moveTo>
                  <a:pt x="0" y="0"/>
                </a:moveTo>
                <a:lnTo>
                  <a:pt x="0" y="832866"/>
                </a:lnTo>
              </a:path>
            </a:pathLst>
          </a:custGeom>
          <a:noFill/>
          <a:ln cap="flat" cmpd="sng" w="1295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58" name="Google Shape;458;p7"/>
          <p:cNvSpPr txBox="1"/>
          <p:nvPr/>
        </p:nvSpPr>
        <p:spPr>
          <a:xfrm>
            <a:off x="2155553" y="2533832"/>
            <a:ext cx="520396" cy="176139"/>
          </a:xfrm>
          <a:prstGeom prst="rect">
            <a:avLst/>
          </a:prstGeom>
          <a:noFill/>
          <a:ln>
            <a:noFill/>
          </a:ln>
        </p:spPr>
        <p:txBody>
          <a:bodyPr anchorCtr="0" anchor="t" bIns="0" lIns="0" spcFirstLastPara="1" rIns="0" wrap="square" tIns="8625">
            <a:spAutoFit/>
          </a:bodyPr>
          <a:lstStyle/>
          <a:p>
            <a:pPr indent="0" lvl="0" marL="25912" marR="0" rtl="0" algn="l">
              <a:lnSpc>
                <a:spcPct val="100000"/>
              </a:lnSpc>
              <a:spcBef>
                <a:spcPts val="0"/>
              </a:spcBef>
              <a:spcAft>
                <a:spcPts val="0"/>
              </a:spcAft>
              <a:buNone/>
            </a:pPr>
            <a:r>
              <a:rPr b="0" i="0" lang="en-US" sz="1088" u="none" cap="none" strike="noStrike">
                <a:solidFill>
                  <a:srgbClr val="00007C"/>
                </a:solidFill>
                <a:latin typeface="Arial"/>
                <a:ea typeface="Arial"/>
                <a:cs typeface="Arial"/>
                <a:sym typeface="Arial"/>
              </a:rPr>
              <a:t>Posee </a:t>
            </a:r>
            <a:r>
              <a:rPr b="1" baseline="-25000" i="0" lang="en-US" sz="1632" u="none" cap="none" strike="noStrike">
                <a:solidFill>
                  <a:srgbClr val="00007C"/>
                </a:solidFill>
                <a:latin typeface="Arial"/>
                <a:ea typeface="Arial"/>
                <a:cs typeface="Arial"/>
                <a:sym typeface="Arial"/>
              </a:rPr>
              <a:t>*</a:t>
            </a:r>
            <a:endParaRPr b="0" baseline="-25000" i="0" sz="1632" u="none" cap="none" strike="noStrike">
              <a:solidFill>
                <a:srgbClr val="000000"/>
              </a:solidFill>
              <a:latin typeface="Arial"/>
              <a:ea typeface="Arial"/>
              <a:cs typeface="Arial"/>
              <a:sym typeface="Arial"/>
            </a:endParaRPr>
          </a:p>
        </p:txBody>
      </p:sp>
      <p:sp>
        <p:nvSpPr>
          <p:cNvPr id="459" name="Google Shape;459;p7"/>
          <p:cNvSpPr txBox="1"/>
          <p:nvPr/>
        </p:nvSpPr>
        <p:spPr>
          <a:xfrm>
            <a:off x="3495368" y="2996106"/>
            <a:ext cx="631384"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7C"/>
                </a:solidFill>
                <a:latin typeface="Arial"/>
                <a:ea typeface="Arial"/>
                <a:cs typeface="Arial"/>
                <a:sym typeface="Arial"/>
              </a:rPr>
              <a:t>Cuantifica</a:t>
            </a:r>
            <a:endParaRPr b="0" i="0" sz="1088" u="none" cap="none" strike="noStrike">
              <a:solidFill>
                <a:srgbClr val="000000"/>
              </a:solidFill>
              <a:latin typeface="Arial"/>
              <a:ea typeface="Arial"/>
              <a:cs typeface="Arial"/>
              <a:sym typeface="Arial"/>
            </a:endParaRPr>
          </a:p>
        </p:txBody>
      </p:sp>
      <p:grpSp>
        <p:nvGrpSpPr>
          <p:cNvPr id="460" name="Google Shape;460;p7"/>
          <p:cNvGrpSpPr/>
          <p:nvPr/>
        </p:nvGrpSpPr>
        <p:grpSpPr>
          <a:xfrm>
            <a:off x="1462674" y="3151917"/>
            <a:ext cx="6218841" cy="583879"/>
            <a:chOff x="774839" y="4634484"/>
            <a:chExt cx="9144000" cy="858519"/>
          </a:xfrm>
        </p:grpSpPr>
        <p:sp>
          <p:nvSpPr>
            <p:cNvPr id="461" name="Google Shape;461;p7"/>
            <p:cNvSpPr/>
            <p:nvPr/>
          </p:nvSpPr>
          <p:spPr>
            <a:xfrm>
              <a:off x="774839" y="4634484"/>
              <a:ext cx="9144000" cy="85851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62" name="Google Shape;462;p7"/>
            <p:cNvSpPr/>
            <p:nvPr/>
          </p:nvSpPr>
          <p:spPr>
            <a:xfrm>
              <a:off x="1174889" y="4635258"/>
              <a:ext cx="8343900" cy="857250"/>
            </a:xfrm>
            <a:custGeom>
              <a:rect b="b" l="l" r="r" t="t"/>
              <a:pathLst>
                <a:path extrusionOk="0" h="857250" w="8343900">
                  <a:moveTo>
                    <a:pt x="12941" y="0"/>
                  </a:moveTo>
                  <a:lnTo>
                    <a:pt x="6858" y="0"/>
                  </a:lnTo>
                  <a:lnTo>
                    <a:pt x="0" y="0"/>
                  </a:lnTo>
                  <a:lnTo>
                    <a:pt x="0" y="857250"/>
                  </a:lnTo>
                  <a:lnTo>
                    <a:pt x="6858" y="857250"/>
                  </a:lnTo>
                  <a:lnTo>
                    <a:pt x="12941" y="857250"/>
                  </a:lnTo>
                  <a:lnTo>
                    <a:pt x="12941" y="0"/>
                  </a:lnTo>
                  <a:close/>
                </a:path>
                <a:path extrusionOk="0" h="857250" w="8343900">
                  <a:moveTo>
                    <a:pt x="8343900" y="0"/>
                  </a:moveTo>
                  <a:lnTo>
                    <a:pt x="8337804" y="0"/>
                  </a:lnTo>
                  <a:lnTo>
                    <a:pt x="8331708" y="0"/>
                  </a:lnTo>
                  <a:lnTo>
                    <a:pt x="8331708" y="857250"/>
                  </a:lnTo>
                  <a:lnTo>
                    <a:pt x="8337804" y="857250"/>
                  </a:lnTo>
                  <a:lnTo>
                    <a:pt x="8343900" y="857250"/>
                  </a:lnTo>
                  <a:lnTo>
                    <a:pt x="834390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63" name="Google Shape;463;p7"/>
            <p:cNvSpPr/>
            <p:nvPr/>
          </p:nvSpPr>
          <p:spPr>
            <a:xfrm>
              <a:off x="5804039" y="4634484"/>
              <a:ext cx="2032635" cy="277495"/>
            </a:xfrm>
            <a:custGeom>
              <a:rect b="b" l="l" r="r" t="t"/>
              <a:pathLst>
                <a:path extrusionOk="0" h="277495" w="2032634">
                  <a:moveTo>
                    <a:pt x="2032254" y="277367"/>
                  </a:moveTo>
                  <a:lnTo>
                    <a:pt x="2032254" y="0"/>
                  </a:lnTo>
                  <a:lnTo>
                    <a:pt x="0" y="0"/>
                  </a:lnTo>
                  <a:lnTo>
                    <a:pt x="0" y="277368"/>
                  </a:lnTo>
                  <a:lnTo>
                    <a:pt x="2032254" y="277367"/>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64" name="Google Shape;464;p7"/>
            <p:cNvSpPr/>
            <p:nvPr/>
          </p:nvSpPr>
          <p:spPr>
            <a:xfrm>
              <a:off x="5797943" y="4635246"/>
              <a:ext cx="2044700" cy="283210"/>
            </a:xfrm>
            <a:custGeom>
              <a:rect b="b" l="l" r="r" t="t"/>
              <a:pathLst>
                <a:path extrusionOk="0" h="283210" w="2044700">
                  <a:moveTo>
                    <a:pt x="12953" y="270510"/>
                  </a:moveTo>
                  <a:lnTo>
                    <a:pt x="12953" y="0"/>
                  </a:lnTo>
                  <a:lnTo>
                    <a:pt x="0" y="0"/>
                  </a:lnTo>
                  <a:lnTo>
                    <a:pt x="0" y="282702"/>
                  </a:lnTo>
                  <a:lnTo>
                    <a:pt x="6096" y="282702"/>
                  </a:lnTo>
                  <a:lnTo>
                    <a:pt x="6096" y="270510"/>
                  </a:lnTo>
                  <a:lnTo>
                    <a:pt x="12953" y="270510"/>
                  </a:lnTo>
                  <a:close/>
                </a:path>
                <a:path extrusionOk="0" h="283210" w="2044700">
                  <a:moveTo>
                    <a:pt x="2038350" y="270509"/>
                  </a:moveTo>
                  <a:lnTo>
                    <a:pt x="6096" y="270510"/>
                  </a:lnTo>
                  <a:lnTo>
                    <a:pt x="12953" y="276606"/>
                  </a:lnTo>
                  <a:lnTo>
                    <a:pt x="12953" y="282702"/>
                  </a:lnTo>
                  <a:lnTo>
                    <a:pt x="2032254" y="282701"/>
                  </a:lnTo>
                  <a:lnTo>
                    <a:pt x="2032254" y="276605"/>
                  </a:lnTo>
                  <a:lnTo>
                    <a:pt x="2038350" y="270509"/>
                  </a:lnTo>
                  <a:close/>
                </a:path>
                <a:path extrusionOk="0" h="283210" w="2044700">
                  <a:moveTo>
                    <a:pt x="12953" y="282702"/>
                  </a:moveTo>
                  <a:lnTo>
                    <a:pt x="12953" y="276606"/>
                  </a:lnTo>
                  <a:lnTo>
                    <a:pt x="6096" y="270510"/>
                  </a:lnTo>
                  <a:lnTo>
                    <a:pt x="6096" y="282702"/>
                  </a:lnTo>
                  <a:lnTo>
                    <a:pt x="12953" y="282702"/>
                  </a:lnTo>
                  <a:close/>
                </a:path>
                <a:path extrusionOk="0" h="283210" w="2044700">
                  <a:moveTo>
                    <a:pt x="2044446" y="282701"/>
                  </a:moveTo>
                  <a:lnTo>
                    <a:pt x="2044446" y="0"/>
                  </a:lnTo>
                  <a:lnTo>
                    <a:pt x="2032254" y="0"/>
                  </a:lnTo>
                  <a:lnTo>
                    <a:pt x="2032254" y="270509"/>
                  </a:lnTo>
                  <a:lnTo>
                    <a:pt x="2038350" y="270509"/>
                  </a:lnTo>
                  <a:lnTo>
                    <a:pt x="2038350" y="282701"/>
                  </a:lnTo>
                  <a:lnTo>
                    <a:pt x="2044446" y="282701"/>
                  </a:lnTo>
                  <a:close/>
                </a:path>
                <a:path extrusionOk="0" h="283210" w="2044700">
                  <a:moveTo>
                    <a:pt x="2038350" y="282701"/>
                  </a:moveTo>
                  <a:lnTo>
                    <a:pt x="2038350" y="270509"/>
                  </a:lnTo>
                  <a:lnTo>
                    <a:pt x="2032254" y="276605"/>
                  </a:lnTo>
                  <a:lnTo>
                    <a:pt x="2032254" y="282701"/>
                  </a:lnTo>
                  <a:lnTo>
                    <a:pt x="2038350" y="28270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65" name="Google Shape;465;p7"/>
          <p:cNvSpPr txBox="1"/>
          <p:nvPr/>
        </p:nvSpPr>
        <p:spPr>
          <a:xfrm>
            <a:off x="5330962" y="3092491"/>
            <a:ext cx="485847"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1088" u="none" cap="none" strike="noStrike">
                <a:solidFill>
                  <a:srgbClr val="CECECE"/>
                </a:solidFill>
                <a:latin typeface="Arial"/>
                <a:ea typeface="Arial"/>
                <a:cs typeface="Arial"/>
                <a:sym typeface="Arial"/>
              </a:rPr>
              <a:t>Unidad</a:t>
            </a:r>
            <a:endParaRPr b="0" i="0" sz="1088" u="none" cap="none" strike="noStrike">
              <a:solidFill>
                <a:srgbClr val="000000"/>
              </a:solidFill>
              <a:latin typeface="Arial"/>
              <a:ea typeface="Arial"/>
              <a:cs typeface="Arial"/>
              <a:sym typeface="Arial"/>
            </a:endParaRPr>
          </a:p>
        </p:txBody>
      </p:sp>
      <p:grpSp>
        <p:nvGrpSpPr>
          <p:cNvPr id="466" name="Google Shape;466;p7"/>
          <p:cNvGrpSpPr/>
          <p:nvPr/>
        </p:nvGrpSpPr>
        <p:grpSpPr>
          <a:xfrm>
            <a:off x="2771222" y="3152434"/>
            <a:ext cx="3498098" cy="583276"/>
            <a:chOff x="2698889" y="4635245"/>
            <a:chExt cx="5143500" cy="857631"/>
          </a:xfrm>
        </p:grpSpPr>
        <p:sp>
          <p:nvSpPr>
            <p:cNvPr id="467" name="Google Shape;467;p7"/>
            <p:cNvSpPr/>
            <p:nvPr/>
          </p:nvSpPr>
          <p:spPr>
            <a:xfrm>
              <a:off x="5804039" y="5440679"/>
              <a:ext cx="2032635" cy="52069"/>
            </a:xfrm>
            <a:custGeom>
              <a:rect b="b" l="l" r="r" t="t"/>
              <a:pathLst>
                <a:path extrusionOk="0" h="52070" w="2032634">
                  <a:moveTo>
                    <a:pt x="2032254" y="51815"/>
                  </a:moveTo>
                  <a:lnTo>
                    <a:pt x="2032254" y="0"/>
                  </a:lnTo>
                  <a:lnTo>
                    <a:pt x="0" y="0"/>
                  </a:lnTo>
                  <a:lnTo>
                    <a:pt x="0" y="51816"/>
                  </a:lnTo>
                  <a:lnTo>
                    <a:pt x="2032254" y="51815"/>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68" name="Google Shape;468;p7"/>
            <p:cNvSpPr/>
            <p:nvPr/>
          </p:nvSpPr>
          <p:spPr>
            <a:xfrm>
              <a:off x="2698889" y="4635258"/>
              <a:ext cx="5143500" cy="857250"/>
            </a:xfrm>
            <a:custGeom>
              <a:rect b="b" l="l" r="r" t="t"/>
              <a:pathLst>
                <a:path extrusionOk="0" h="857250" w="5143500">
                  <a:moveTo>
                    <a:pt x="3105150" y="59436"/>
                  </a:moveTo>
                  <a:lnTo>
                    <a:pt x="12700" y="59436"/>
                  </a:lnTo>
                  <a:lnTo>
                    <a:pt x="12700" y="62103"/>
                  </a:lnTo>
                  <a:lnTo>
                    <a:pt x="12700" y="65278"/>
                  </a:lnTo>
                  <a:lnTo>
                    <a:pt x="9525" y="62103"/>
                  </a:lnTo>
                  <a:lnTo>
                    <a:pt x="12700" y="62103"/>
                  </a:lnTo>
                  <a:lnTo>
                    <a:pt x="12700" y="59436"/>
                  </a:lnTo>
                  <a:lnTo>
                    <a:pt x="12700" y="0"/>
                  </a:lnTo>
                  <a:lnTo>
                    <a:pt x="6350" y="0"/>
                  </a:lnTo>
                  <a:lnTo>
                    <a:pt x="0" y="0"/>
                  </a:lnTo>
                  <a:lnTo>
                    <a:pt x="0" y="71628"/>
                  </a:lnTo>
                  <a:lnTo>
                    <a:pt x="6350" y="71628"/>
                  </a:lnTo>
                  <a:lnTo>
                    <a:pt x="6350" y="62103"/>
                  </a:lnTo>
                  <a:lnTo>
                    <a:pt x="6858" y="62103"/>
                  </a:lnTo>
                  <a:lnTo>
                    <a:pt x="6858" y="71628"/>
                  </a:lnTo>
                  <a:lnTo>
                    <a:pt x="12700" y="71628"/>
                  </a:lnTo>
                  <a:lnTo>
                    <a:pt x="12954" y="71628"/>
                  </a:lnTo>
                  <a:lnTo>
                    <a:pt x="3105150" y="71628"/>
                  </a:lnTo>
                  <a:lnTo>
                    <a:pt x="3105150" y="59436"/>
                  </a:lnTo>
                  <a:close/>
                </a:path>
                <a:path extrusionOk="0" h="857250" w="5143500">
                  <a:moveTo>
                    <a:pt x="5143500" y="798576"/>
                  </a:moveTo>
                  <a:lnTo>
                    <a:pt x="4127741" y="798576"/>
                  </a:lnTo>
                  <a:lnTo>
                    <a:pt x="4127741" y="327660"/>
                  </a:lnTo>
                  <a:lnTo>
                    <a:pt x="4146804" y="327660"/>
                  </a:lnTo>
                  <a:lnTo>
                    <a:pt x="4121645" y="276606"/>
                  </a:lnTo>
                  <a:lnTo>
                    <a:pt x="4095737" y="327660"/>
                  </a:lnTo>
                  <a:lnTo>
                    <a:pt x="4114787" y="327660"/>
                  </a:lnTo>
                  <a:lnTo>
                    <a:pt x="4114787" y="798576"/>
                  </a:lnTo>
                  <a:lnTo>
                    <a:pt x="3099041" y="798576"/>
                  </a:lnTo>
                  <a:lnTo>
                    <a:pt x="3099041" y="857250"/>
                  </a:lnTo>
                  <a:lnTo>
                    <a:pt x="3105137" y="857250"/>
                  </a:lnTo>
                  <a:lnTo>
                    <a:pt x="3111995" y="857250"/>
                  </a:lnTo>
                  <a:lnTo>
                    <a:pt x="3111995" y="811530"/>
                  </a:lnTo>
                  <a:lnTo>
                    <a:pt x="5131308" y="811530"/>
                  </a:lnTo>
                  <a:lnTo>
                    <a:pt x="5131308" y="857250"/>
                  </a:lnTo>
                  <a:lnTo>
                    <a:pt x="5137404" y="857250"/>
                  </a:lnTo>
                  <a:lnTo>
                    <a:pt x="5143500" y="857250"/>
                  </a:lnTo>
                  <a:lnTo>
                    <a:pt x="5143500" y="79857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69" name="Google Shape;469;p7"/>
            <p:cNvSpPr/>
            <p:nvPr/>
          </p:nvSpPr>
          <p:spPr>
            <a:xfrm>
              <a:off x="4890020" y="4635245"/>
              <a:ext cx="0" cy="817880"/>
            </a:xfrm>
            <a:custGeom>
              <a:rect b="b" l="l" r="r" t="t"/>
              <a:pathLst>
                <a:path extrusionOk="0" h="817879" w="120000">
                  <a:moveTo>
                    <a:pt x="0" y="0"/>
                  </a:moveTo>
                  <a:lnTo>
                    <a:pt x="0" y="817626"/>
                  </a:lnTo>
                </a:path>
              </a:pathLst>
            </a:custGeom>
            <a:noFill/>
            <a:ln cap="flat" cmpd="sng" w="1295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70" name="Google Shape;470;p7"/>
            <p:cNvSpPr/>
            <p:nvPr/>
          </p:nvSpPr>
          <p:spPr>
            <a:xfrm>
              <a:off x="4883543" y="5490971"/>
              <a:ext cx="13335" cy="1905"/>
            </a:xfrm>
            <a:custGeom>
              <a:rect b="b" l="l" r="r" t="t"/>
              <a:pathLst>
                <a:path extrusionOk="0" h="1904" w="13335">
                  <a:moveTo>
                    <a:pt x="12953" y="1524"/>
                  </a:moveTo>
                  <a:lnTo>
                    <a:pt x="12953" y="0"/>
                  </a:lnTo>
                  <a:lnTo>
                    <a:pt x="0" y="0"/>
                  </a:lnTo>
                  <a:lnTo>
                    <a:pt x="0" y="1524"/>
                  </a:lnTo>
                  <a:lnTo>
                    <a:pt x="12953" y="152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71" name="Google Shape;471;p7"/>
          <p:cNvSpPr txBox="1"/>
          <p:nvPr/>
        </p:nvSpPr>
        <p:spPr>
          <a:xfrm>
            <a:off x="5696837" y="3466658"/>
            <a:ext cx="762240"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7C"/>
                </a:solidFill>
                <a:latin typeface="Arial"/>
                <a:ea typeface="Arial"/>
                <a:cs typeface="Arial"/>
                <a:sym typeface="Arial"/>
              </a:rPr>
              <a:t>Pertenece a</a:t>
            </a:r>
            <a:endParaRPr b="0" i="0" sz="1088" u="none" cap="none" strike="noStrike">
              <a:solidFill>
                <a:srgbClr val="000000"/>
              </a:solidFill>
              <a:latin typeface="Arial"/>
              <a:ea typeface="Arial"/>
              <a:cs typeface="Arial"/>
              <a:sym typeface="Arial"/>
            </a:endParaRPr>
          </a:p>
        </p:txBody>
      </p:sp>
      <p:sp>
        <p:nvSpPr>
          <p:cNvPr id="472" name="Google Shape;472;p7"/>
          <p:cNvSpPr txBox="1"/>
          <p:nvPr/>
        </p:nvSpPr>
        <p:spPr>
          <a:xfrm>
            <a:off x="2596054" y="3059324"/>
            <a:ext cx="53983"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1088" u="none" cap="none" strike="noStrike">
                <a:solidFill>
                  <a:srgbClr val="00007C"/>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p:txBody>
      </p:sp>
      <p:sp>
        <p:nvSpPr>
          <p:cNvPr id="473" name="Google Shape;473;p7"/>
          <p:cNvSpPr txBox="1"/>
          <p:nvPr/>
        </p:nvSpPr>
        <p:spPr>
          <a:xfrm>
            <a:off x="4698195" y="3108038"/>
            <a:ext cx="71258"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1088" u="none" cap="none" strike="noStrike">
                <a:solidFill>
                  <a:srgbClr val="00007C"/>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p:txBody>
      </p:sp>
      <p:grpSp>
        <p:nvGrpSpPr>
          <p:cNvPr id="474" name="Google Shape;474;p7"/>
          <p:cNvGrpSpPr/>
          <p:nvPr/>
        </p:nvGrpSpPr>
        <p:grpSpPr>
          <a:xfrm>
            <a:off x="1734748" y="3734933"/>
            <a:ext cx="5674693" cy="583542"/>
            <a:chOff x="1174889" y="5491734"/>
            <a:chExt cx="8343900" cy="858024"/>
          </a:xfrm>
        </p:grpSpPr>
        <p:sp>
          <p:nvSpPr>
            <p:cNvPr id="475" name="Google Shape;475;p7"/>
            <p:cNvSpPr/>
            <p:nvPr/>
          </p:nvSpPr>
          <p:spPr>
            <a:xfrm>
              <a:off x="1174889" y="5492508"/>
              <a:ext cx="8343900" cy="857250"/>
            </a:xfrm>
            <a:custGeom>
              <a:rect b="b" l="l" r="r" t="t"/>
              <a:pathLst>
                <a:path extrusionOk="0" h="857250" w="8343900">
                  <a:moveTo>
                    <a:pt x="12941" y="0"/>
                  </a:moveTo>
                  <a:lnTo>
                    <a:pt x="6858" y="0"/>
                  </a:lnTo>
                  <a:lnTo>
                    <a:pt x="0" y="0"/>
                  </a:lnTo>
                  <a:lnTo>
                    <a:pt x="0" y="857250"/>
                  </a:lnTo>
                  <a:lnTo>
                    <a:pt x="6858" y="857250"/>
                  </a:lnTo>
                  <a:lnTo>
                    <a:pt x="12941" y="857250"/>
                  </a:lnTo>
                  <a:lnTo>
                    <a:pt x="12941" y="0"/>
                  </a:lnTo>
                  <a:close/>
                </a:path>
                <a:path extrusionOk="0" h="857250" w="8343900">
                  <a:moveTo>
                    <a:pt x="8343900" y="0"/>
                  </a:moveTo>
                  <a:lnTo>
                    <a:pt x="8337804" y="0"/>
                  </a:lnTo>
                  <a:lnTo>
                    <a:pt x="8331708" y="0"/>
                  </a:lnTo>
                  <a:lnTo>
                    <a:pt x="8331708" y="857250"/>
                  </a:lnTo>
                  <a:lnTo>
                    <a:pt x="8337804" y="857250"/>
                  </a:lnTo>
                  <a:lnTo>
                    <a:pt x="8343900" y="857250"/>
                  </a:lnTo>
                  <a:lnTo>
                    <a:pt x="834390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76" name="Google Shape;476;p7"/>
            <p:cNvSpPr/>
            <p:nvPr/>
          </p:nvSpPr>
          <p:spPr>
            <a:xfrm>
              <a:off x="5804039" y="5491734"/>
              <a:ext cx="2032635" cy="369570"/>
            </a:xfrm>
            <a:custGeom>
              <a:rect b="b" l="l" r="r" t="t"/>
              <a:pathLst>
                <a:path extrusionOk="0" h="369570" w="2032634">
                  <a:moveTo>
                    <a:pt x="2032254" y="369570"/>
                  </a:moveTo>
                  <a:lnTo>
                    <a:pt x="2032254" y="0"/>
                  </a:lnTo>
                  <a:lnTo>
                    <a:pt x="0" y="0"/>
                  </a:lnTo>
                  <a:lnTo>
                    <a:pt x="0" y="369570"/>
                  </a:lnTo>
                  <a:lnTo>
                    <a:pt x="2032254" y="369570"/>
                  </a:lnTo>
                  <a:close/>
                </a:path>
              </a:pathLst>
            </a:custGeom>
            <a:solidFill>
              <a:srgbClr val="6666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77" name="Google Shape;477;p7"/>
            <p:cNvSpPr/>
            <p:nvPr/>
          </p:nvSpPr>
          <p:spPr>
            <a:xfrm>
              <a:off x="5797943" y="5492496"/>
              <a:ext cx="2044700" cy="375285"/>
            </a:xfrm>
            <a:custGeom>
              <a:rect b="b" l="l" r="r" t="t"/>
              <a:pathLst>
                <a:path extrusionOk="0" h="375285" w="2044700">
                  <a:moveTo>
                    <a:pt x="12953" y="361950"/>
                  </a:moveTo>
                  <a:lnTo>
                    <a:pt x="12953" y="0"/>
                  </a:lnTo>
                  <a:lnTo>
                    <a:pt x="0" y="0"/>
                  </a:lnTo>
                  <a:lnTo>
                    <a:pt x="0" y="374904"/>
                  </a:lnTo>
                  <a:lnTo>
                    <a:pt x="6096" y="374904"/>
                  </a:lnTo>
                  <a:lnTo>
                    <a:pt x="6096" y="361950"/>
                  </a:lnTo>
                  <a:lnTo>
                    <a:pt x="12953" y="361950"/>
                  </a:lnTo>
                  <a:close/>
                </a:path>
                <a:path extrusionOk="0" h="375285" w="2044700">
                  <a:moveTo>
                    <a:pt x="2038350" y="361950"/>
                  </a:moveTo>
                  <a:lnTo>
                    <a:pt x="6096" y="361950"/>
                  </a:lnTo>
                  <a:lnTo>
                    <a:pt x="12953" y="368808"/>
                  </a:lnTo>
                  <a:lnTo>
                    <a:pt x="12953" y="374904"/>
                  </a:lnTo>
                  <a:lnTo>
                    <a:pt x="2032254" y="374903"/>
                  </a:lnTo>
                  <a:lnTo>
                    <a:pt x="2032254" y="368807"/>
                  </a:lnTo>
                  <a:lnTo>
                    <a:pt x="2038350" y="361950"/>
                  </a:lnTo>
                  <a:close/>
                </a:path>
                <a:path extrusionOk="0" h="375285" w="2044700">
                  <a:moveTo>
                    <a:pt x="12953" y="374904"/>
                  </a:moveTo>
                  <a:lnTo>
                    <a:pt x="12953" y="368808"/>
                  </a:lnTo>
                  <a:lnTo>
                    <a:pt x="6096" y="361950"/>
                  </a:lnTo>
                  <a:lnTo>
                    <a:pt x="6096" y="374904"/>
                  </a:lnTo>
                  <a:lnTo>
                    <a:pt x="12953" y="374904"/>
                  </a:lnTo>
                  <a:close/>
                </a:path>
                <a:path extrusionOk="0" h="375285" w="2044700">
                  <a:moveTo>
                    <a:pt x="2044446" y="374903"/>
                  </a:moveTo>
                  <a:lnTo>
                    <a:pt x="2044446" y="0"/>
                  </a:lnTo>
                  <a:lnTo>
                    <a:pt x="2032254" y="0"/>
                  </a:lnTo>
                  <a:lnTo>
                    <a:pt x="2032254" y="361950"/>
                  </a:lnTo>
                  <a:lnTo>
                    <a:pt x="2038350" y="361950"/>
                  </a:lnTo>
                  <a:lnTo>
                    <a:pt x="2038350" y="374903"/>
                  </a:lnTo>
                  <a:lnTo>
                    <a:pt x="2044446" y="374903"/>
                  </a:lnTo>
                  <a:close/>
                </a:path>
                <a:path extrusionOk="0" h="375285" w="2044700">
                  <a:moveTo>
                    <a:pt x="2038350" y="374903"/>
                  </a:moveTo>
                  <a:lnTo>
                    <a:pt x="2038350" y="361950"/>
                  </a:lnTo>
                  <a:lnTo>
                    <a:pt x="2032254" y="368807"/>
                  </a:lnTo>
                  <a:lnTo>
                    <a:pt x="2032254" y="374903"/>
                  </a:lnTo>
                  <a:lnTo>
                    <a:pt x="2038350" y="37490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78" name="Google Shape;478;p7"/>
          <p:cNvSpPr txBox="1"/>
          <p:nvPr/>
        </p:nvSpPr>
        <p:spPr>
          <a:xfrm>
            <a:off x="4883037" y="3700210"/>
            <a:ext cx="1382397" cy="214951"/>
          </a:xfrm>
          <a:prstGeom prst="rect">
            <a:avLst/>
          </a:prstGeom>
          <a:noFill/>
          <a:ln>
            <a:noFill/>
          </a:ln>
        </p:spPr>
        <p:txBody>
          <a:bodyPr anchorCtr="0" anchor="t" bIns="0" lIns="0" spcFirstLastPara="1" rIns="0" wrap="square" tIns="47050">
            <a:spAutoFit/>
          </a:bodyPr>
          <a:lstStyle/>
          <a:p>
            <a:pPr indent="0" lvl="0" marL="216364" marR="0" rtl="0" algn="l">
              <a:lnSpc>
                <a:spcPct val="100000"/>
              </a:lnSpc>
              <a:spcBef>
                <a:spcPts val="0"/>
              </a:spcBef>
              <a:spcAft>
                <a:spcPts val="0"/>
              </a:spcAft>
              <a:buNone/>
            </a:pPr>
            <a:r>
              <a:rPr b="1" i="0" lang="en-US" sz="1088" u="none" cap="none" strike="noStrike">
                <a:solidFill>
                  <a:srgbClr val="CECECE"/>
                </a:solidFill>
                <a:latin typeface="Arial"/>
                <a:ea typeface="Arial"/>
                <a:cs typeface="Arial"/>
                <a:sym typeface="Arial"/>
              </a:rPr>
              <a:t>Tipo de escala</a:t>
            </a:r>
            <a:endParaRPr b="0" i="0" sz="1088" u="none" cap="none" strike="noStrike">
              <a:solidFill>
                <a:srgbClr val="000000"/>
              </a:solidFill>
              <a:latin typeface="Arial"/>
              <a:ea typeface="Arial"/>
              <a:cs typeface="Arial"/>
              <a:sym typeface="Arial"/>
            </a:endParaRPr>
          </a:p>
        </p:txBody>
      </p:sp>
      <p:grpSp>
        <p:nvGrpSpPr>
          <p:cNvPr id="479" name="Google Shape;479;p7"/>
          <p:cNvGrpSpPr/>
          <p:nvPr/>
        </p:nvGrpSpPr>
        <p:grpSpPr>
          <a:xfrm>
            <a:off x="1734654" y="3735451"/>
            <a:ext cx="5675124" cy="595980"/>
            <a:chOff x="1174750" y="5492496"/>
            <a:chExt cx="8344534" cy="876312"/>
          </a:xfrm>
        </p:grpSpPr>
        <p:sp>
          <p:nvSpPr>
            <p:cNvPr id="480" name="Google Shape;480;p7"/>
            <p:cNvSpPr/>
            <p:nvPr/>
          </p:nvSpPr>
          <p:spPr>
            <a:xfrm>
              <a:off x="4890020" y="5492496"/>
              <a:ext cx="0" cy="738505"/>
            </a:xfrm>
            <a:custGeom>
              <a:rect b="b" l="l" r="r" t="t"/>
              <a:pathLst>
                <a:path extrusionOk="0" h="738504" w="120000">
                  <a:moveTo>
                    <a:pt x="0" y="0"/>
                  </a:moveTo>
                  <a:lnTo>
                    <a:pt x="0" y="738377"/>
                  </a:lnTo>
                </a:path>
              </a:pathLst>
            </a:custGeom>
            <a:noFill/>
            <a:ln cap="flat" cmpd="sng" w="1295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81" name="Google Shape;481;p7"/>
            <p:cNvSpPr/>
            <p:nvPr/>
          </p:nvSpPr>
          <p:spPr>
            <a:xfrm>
              <a:off x="1174750" y="6349758"/>
              <a:ext cx="8344534" cy="19050"/>
            </a:xfrm>
            <a:custGeom>
              <a:rect b="b" l="l" r="r" t="t"/>
              <a:pathLst>
                <a:path extrusionOk="0" h="19050" w="8344534">
                  <a:moveTo>
                    <a:pt x="8344040" y="0"/>
                  </a:moveTo>
                  <a:lnTo>
                    <a:pt x="8337944" y="0"/>
                  </a:lnTo>
                  <a:lnTo>
                    <a:pt x="8331835" y="0"/>
                  </a:lnTo>
                  <a:lnTo>
                    <a:pt x="8331835" y="6858"/>
                  </a:lnTo>
                  <a:lnTo>
                    <a:pt x="13093" y="6858"/>
                  </a:lnTo>
                  <a:lnTo>
                    <a:pt x="13093" y="0"/>
                  </a:lnTo>
                  <a:lnTo>
                    <a:pt x="7620" y="0"/>
                  </a:lnTo>
                  <a:lnTo>
                    <a:pt x="139" y="0"/>
                  </a:lnTo>
                  <a:lnTo>
                    <a:pt x="0" y="0"/>
                  </a:lnTo>
                  <a:lnTo>
                    <a:pt x="0" y="19050"/>
                  </a:lnTo>
                  <a:lnTo>
                    <a:pt x="8344040" y="19050"/>
                  </a:lnTo>
                  <a:lnTo>
                    <a:pt x="8344040" y="12954"/>
                  </a:lnTo>
                  <a:lnTo>
                    <a:pt x="834404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482" name="Google Shape;482;p7"/>
          <p:cNvSpPr txBox="1"/>
          <p:nvPr/>
        </p:nvSpPr>
        <p:spPr>
          <a:xfrm>
            <a:off x="3210855" y="4454417"/>
            <a:ext cx="2376547"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104"/>
                </a:solidFill>
                <a:latin typeface="Arial"/>
                <a:ea typeface="Arial"/>
                <a:cs typeface="Arial"/>
                <a:sym typeface="Arial"/>
              </a:rPr>
              <a:t>Modelo estructural [Kitchenham et al., 1995]</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
          <p:cNvSpPr txBox="1"/>
          <p:nvPr>
            <p:ph idx="4294967295" type="title"/>
          </p:nvPr>
        </p:nvSpPr>
        <p:spPr>
          <a:xfrm>
            <a:off x="1736472" y="232118"/>
            <a:ext cx="5901070" cy="483210"/>
          </a:xfrm>
          <a:prstGeom prst="rect">
            <a:avLst/>
          </a:prstGeom>
          <a:noFill/>
          <a:ln>
            <a:noFill/>
          </a:ln>
        </p:spPr>
        <p:txBody>
          <a:bodyPr anchorCtr="0" anchor="t" bIns="0" lIns="0" spcFirstLastPara="1" rIns="0" wrap="square" tIns="8625">
            <a:spAutoFit/>
          </a:bodyPr>
          <a:lstStyle/>
          <a:p>
            <a:pPr indent="0" lvl="0" marL="8637" rtl="0" algn="l">
              <a:lnSpc>
                <a:spcPct val="100000"/>
              </a:lnSpc>
              <a:spcBef>
                <a:spcPts val="68"/>
              </a:spcBef>
              <a:spcAft>
                <a:spcPts val="0"/>
              </a:spcAft>
              <a:buSzPts val="3000"/>
              <a:buNone/>
            </a:pPr>
            <a:r>
              <a:rPr lang="en-US">
                <a:solidFill>
                  <a:srgbClr val="FF0000"/>
                </a:solidFill>
              </a:rPr>
              <a:t>Medidas y modelos (III)</a:t>
            </a:r>
            <a:endParaRPr/>
          </a:p>
        </p:txBody>
      </p:sp>
      <p:sp>
        <p:nvSpPr>
          <p:cNvPr id="488" name="Google Shape;488;p8"/>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66075" marR="0" rtl="0" algn="l">
              <a:lnSpc>
                <a:spcPct val="80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489" name="Google Shape;489;p8"/>
          <p:cNvSpPr/>
          <p:nvPr/>
        </p:nvSpPr>
        <p:spPr>
          <a:xfrm>
            <a:off x="1462674" y="820377"/>
            <a:ext cx="6218841" cy="1166033"/>
          </a:xfrm>
          <a:custGeom>
            <a:rect b="b" l="l" r="r" t="t"/>
            <a:pathLst>
              <a:path extrusionOk="0" h="1714500" w="9144000">
                <a:moveTo>
                  <a:pt x="9144000" y="0"/>
                </a:moveTo>
                <a:lnTo>
                  <a:pt x="0" y="0"/>
                </a:lnTo>
                <a:lnTo>
                  <a:pt x="0" y="856488"/>
                </a:lnTo>
                <a:lnTo>
                  <a:pt x="0" y="857250"/>
                </a:lnTo>
                <a:lnTo>
                  <a:pt x="0" y="1714500"/>
                </a:lnTo>
                <a:lnTo>
                  <a:pt x="9144000" y="1714500"/>
                </a:lnTo>
                <a:lnTo>
                  <a:pt x="9144000" y="857250"/>
                </a:lnTo>
                <a:lnTo>
                  <a:pt x="9144000" y="856488"/>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90" name="Google Shape;490;p8"/>
          <p:cNvSpPr/>
          <p:nvPr/>
        </p:nvSpPr>
        <p:spPr>
          <a:xfrm>
            <a:off x="1462674" y="3151917"/>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491" name="Google Shape;491;p8"/>
          <p:cNvSpPr txBox="1"/>
          <p:nvPr/>
        </p:nvSpPr>
        <p:spPr>
          <a:xfrm>
            <a:off x="1736472" y="978358"/>
            <a:ext cx="5720038" cy="3732542"/>
          </a:xfrm>
          <a:prstGeom prst="rect">
            <a:avLst/>
          </a:prstGeom>
          <a:noFill/>
          <a:ln>
            <a:noFill/>
          </a:ln>
        </p:spPr>
        <p:txBody>
          <a:bodyPr anchorCtr="0" anchor="t" bIns="0" lIns="0" spcFirstLastPara="1" rIns="0" wrap="square" tIns="50525">
            <a:spAutoFit/>
          </a:bodyPr>
          <a:lstStyle/>
          <a:p>
            <a:pPr indent="-232774" lvl="0" marL="241412" marR="0" rtl="0" algn="l">
              <a:lnSpc>
                <a:spcPct val="100000"/>
              </a:lnSpc>
              <a:spcBef>
                <a:spcPts val="0"/>
              </a:spcBef>
              <a:spcAft>
                <a:spcPts val="0"/>
              </a:spcAft>
              <a:buClr>
                <a:srgbClr val="00007C"/>
              </a:buClr>
              <a:buSzPts val="1020"/>
              <a:buFont typeface="Noto Sans Symbols"/>
              <a:buChar char="■"/>
            </a:pPr>
            <a:r>
              <a:rPr b="1" i="0" lang="en-US" sz="1360" u="none" cap="none" strike="noStrike">
                <a:solidFill>
                  <a:srgbClr val="3333CC"/>
                </a:solidFill>
                <a:latin typeface="Arial"/>
                <a:ea typeface="Arial"/>
                <a:cs typeface="Arial"/>
                <a:sym typeface="Arial"/>
              </a:rPr>
              <a:t>Atributo medible</a:t>
            </a:r>
            <a:endParaRPr b="0" i="0" sz="1360" u="none" cap="none" strike="noStrike">
              <a:solidFill>
                <a:srgbClr val="000000"/>
              </a:solidFill>
              <a:latin typeface="Arial"/>
              <a:ea typeface="Arial"/>
              <a:cs typeface="Arial"/>
              <a:sym typeface="Arial"/>
            </a:endParaRPr>
          </a:p>
          <a:p>
            <a:pPr indent="-193907" lvl="1" marL="513054" marR="0" rtl="0" algn="l">
              <a:lnSpc>
                <a:spcPct val="100000"/>
              </a:lnSpc>
              <a:spcBef>
                <a:spcPts val="299"/>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Propiedad o característica distinguible de una entidad software</a:t>
            </a:r>
            <a:endParaRPr b="0" i="0" sz="1224" u="none" cap="none" strike="noStrike">
              <a:solidFill>
                <a:srgbClr val="000000"/>
              </a:solidFill>
              <a:latin typeface="Arial"/>
              <a:ea typeface="Arial"/>
              <a:cs typeface="Arial"/>
              <a:sym typeface="Arial"/>
            </a:endParaRPr>
          </a:p>
          <a:p>
            <a:pPr indent="-232774" lvl="0" marL="241412" marR="0" rtl="0" algn="l">
              <a:lnSpc>
                <a:spcPct val="100000"/>
              </a:lnSpc>
              <a:spcBef>
                <a:spcPts val="320"/>
              </a:spcBef>
              <a:spcAft>
                <a:spcPts val="0"/>
              </a:spcAft>
              <a:buClr>
                <a:srgbClr val="00007C"/>
              </a:buClr>
              <a:buSzPts val="1020"/>
              <a:buFont typeface="Noto Sans Symbols"/>
              <a:buChar char="■"/>
            </a:pPr>
            <a:r>
              <a:rPr b="1" i="0" lang="en-US" sz="1360" u="none" cap="none" strike="noStrike">
                <a:solidFill>
                  <a:srgbClr val="3333CC"/>
                </a:solidFill>
                <a:latin typeface="Arial"/>
                <a:ea typeface="Arial"/>
                <a:cs typeface="Arial"/>
                <a:sym typeface="Arial"/>
              </a:rPr>
              <a:t>Escala</a:t>
            </a:r>
            <a:endParaRPr b="0" i="0" sz="1360" u="none" cap="none" strike="noStrike">
              <a:solidFill>
                <a:srgbClr val="000000"/>
              </a:solidFill>
              <a:latin typeface="Arial"/>
              <a:ea typeface="Arial"/>
              <a:cs typeface="Arial"/>
              <a:sym typeface="Arial"/>
            </a:endParaRPr>
          </a:p>
          <a:p>
            <a:pPr indent="-194339" lvl="1" marL="513918" marR="555808" rtl="0" algn="l">
              <a:lnSpc>
                <a:spcPct val="100000"/>
              </a:lnSpc>
              <a:spcBef>
                <a:spcPts val="299"/>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Conjunto ordenado de valores, continuos o discretos, o conjunto de categorías</a:t>
            </a:r>
            <a:endParaRPr b="0" i="0" sz="1224" u="none" cap="none" strike="noStrike">
              <a:solidFill>
                <a:srgbClr val="000000"/>
              </a:solidFill>
              <a:latin typeface="Arial"/>
              <a:ea typeface="Arial"/>
              <a:cs typeface="Arial"/>
              <a:sym typeface="Arial"/>
            </a:endParaRPr>
          </a:p>
          <a:p>
            <a:pPr indent="-194339" lvl="1" marL="513918" marR="193043" rtl="0" algn="l">
              <a:lnSpc>
                <a:spcPct val="100000"/>
              </a:lnSpc>
              <a:spcBef>
                <a:spcPts val="295"/>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Define un intervalo de valores posibles que se pueden producir al aplicar un método de medida</a:t>
            </a:r>
            <a:endParaRPr b="0" i="0" sz="1224" u="none" cap="none" strike="noStrike">
              <a:solidFill>
                <a:srgbClr val="000000"/>
              </a:solidFill>
              <a:latin typeface="Arial"/>
              <a:ea typeface="Arial"/>
              <a:cs typeface="Arial"/>
              <a:sym typeface="Arial"/>
            </a:endParaRPr>
          </a:p>
          <a:p>
            <a:pPr indent="-232774" lvl="0" marL="241412" marR="0" rtl="0" algn="l">
              <a:lnSpc>
                <a:spcPct val="100000"/>
              </a:lnSpc>
              <a:spcBef>
                <a:spcPts val="320"/>
              </a:spcBef>
              <a:spcAft>
                <a:spcPts val="0"/>
              </a:spcAft>
              <a:buClr>
                <a:srgbClr val="00007C"/>
              </a:buClr>
              <a:buSzPts val="1020"/>
              <a:buFont typeface="Noto Sans Symbols"/>
              <a:buChar char="■"/>
            </a:pPr>
            <a:r>
              <a:rPr b="1" i="0" lang="en-US" sz="1360" u="none" cap="none" strike="noStrike">
                <a:solidFill>
                  <a:srgbClr val="3333CC"/>
                </a:solidFill>
                <a:latin typeface="Arial"/>
                <a:ea typeface="Arial"/>
                <a:cs typeface="Arial"/>
                <a:sym typeface="Arial"/>
              </a:rPr>
              <a:t>Tipos de escala</a:t>
            </a:r>
            <a:endParaRPr b="0" i="0" sz="1360" u="none" cap="none" strike="noStrike">
              <a:solidFill>
                <a:srgbClr val="000000"/>
              </a:solidFill>
              <a:latin typeface="Arial"/>
              <a:ea typeface="Arial"/>
              <a:cs typeface="Arial"/>
              <a:sym typeface="Arial"/>
            </a:endParaRPr>
          </a:p>
          <a:p>
            <a:pPr indent="-193907" lvl="1" marL="513486" marR="0" rtl="0" algn="l">
              <a:lnSpc>
                <a:spcPct val="100000"/>
              </a:lnSpc>
              <a:spcBef>
                <a:spcPts val="299"/>
              </a:spcBef>
              <a:spcAft>
                <a:spcPts val="0"/>
              </a:spcAft>
              <a:buClr>
                <a:srgbClr val="9A9ACC"/>
              </a:buClr>
              <a:buSzPts val="952"/>
              <a:buFont typeface="Noto Sans Symbols"/>
              <a:buChar char="◻"/>
            </a:pPr>
            <a:r>
              <a:rPr b="1" i="0" lang="en-US" sz="1224" u="none" cap="none" strike="noStrike">
                <a:solidFill>
                  <a:srgbClr val="DA1430"/>
                </a:solidFill>
                <a:latin typeface="Arial"/>
                <a:ea typeface="Arial"/>
                <a:cs typeface="Arial"/>
                <a:sym typeface="Arial"/>
              </a:rPr>
              <a:t>Nominal</a:t>
            </a:r>
            <a:r>
              <a:rPr b="0" i="0" lang="en-US" sz="1224" u="none" cap="none" strike="noStrike">
                <a:solidFill>
                  <a:srgbClr val="000000"/>
                </a:solidFill>
                <a:latin typeface="Arial"/>
                <a:ea typeface="Arial"/>
                <a:cs typeface="Arial"/>
                <a:sym typeface="Arial"/>
              </a:rPr>
              <a:t>: </a:t>
            </a:r>
            <a:r>
              <a:rPr b="0" i="0" lang="en-US" sz="1088" u="none" cap="none" strike="noStrike">
                <a:solidFill>
                  <a:srgbClr val="000000"/>
                </a:solidFill>
                <a:latin typeface="Arial"/>
                <a:ea typeface="Arial"/>
                <a:cs typeface="Arial"/>
                <a:sym typeface="Arial"/>
              </a:rPr>
              <a:t>clasifica las entidades medidas en categorías que no implican un orden</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295"/>
              </a:spcBef>
              <a:spcAft>
                <a:spcPts val="0"/>
              </a:spcAft>
              <a:buClr>
                <a:srgbClr val="9A9ACC"/>
              </a:buClr>
              <a:buSzPts val="952"/>
              <a:buFont typeface="Noto Sans Symbols"/>
              <a:buChar char="◻"/>
            </a:pPr>
            <a:r>
              <a:rPr b="1" i="0" lang="en-US" sz="1224" u="none" cap="none" strike="noStrike">
                <a:solidFill>
                  <a:srgbClr val="DA1430"/>
                </a:solidFill>
                <a:latin typeface="Arial"/>
                <a:ea typeface="Arial"/>
                <a:cs typeface="Arial"/>
                <a:sym typeface="Arial"/>
              </a:rPr>
              <a:t>Ordinal</a:t>
            </a:r>
            <a:r>
              <a:rPr b="0" i="0" lang="en-US" sz="1224" u="none" cap="none" strike="noStrike">
                <a:solidFill>
                  <a:srgbClr val="000000"/>
                </a:solidFill>
                <a:latin typeface="Arial"/>
                <a:ea typeface="Arial"/>
                <a:cs typeface="Arial"/>
                <a:sym typeface="Arial"/>
              </a:rPr>
              <a:t>: </a:t>
            </a:r>
            <a:r>
              <a:rPr b="0" i="0" lang="en-US" sz="1088" u="none" cap="none" strike="noStrike">
                <a:solidFill>
                  <a:srgbClr val="000000"/>
                </a:solidFill>
                <a:latin typeface="Arial"/>
                <a:ea typeface="Arial"/>
                <a:cs typeface="Arial"/>
                <a:sym typeface="Arial"/>
              </a:rPr>
              <a:t>clasifica las entidades medidas en categorías que implican un orden</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292"/>
              </a:spcBef>
              <a:spcAft>
                <a:spcPts val="0"/>
              </a:spcAft>
              <a:buClr>
                <a:srgbClr val="9A9ACC"/>
              </a:buClr>
              <a:buSzPts val="952"/>
              <a:buFont typeface="Noto Sans Symbols"/>
              <a:buChar char="◻"/>
            </a:pPr>
            <a:r>
              <a:rPr b="1" i="0" lang="en-US" sz="1224" u="none" cap="none" strike="noStrike">
                <a:solidFill>
                  <a:srgbClr val="DA1430"/>
                </a:solidFill>
                <a:latin typeface="Arial"/>
                <a:ea typeface="Arial"/>
                <a:cs typeface="Arial"/>
                <a:sym typeface="Arial"/>
              </a:rPr>
              <a:t>De intervalo</a:t>
            </a:r>
            <a:r>
              <a:rPr b="0" i="0" lang="en-US" sz="1224" u="none" cap="none" strike="noStrike">
                <a:solidFill>
                  <a:srgbClr val="000000"/>
                </a:solidFill>
                <a:latin typeface="Arial"/>
                <a:ea typeface="Arial"/>
                <a:cs typeface="Arial"/>
                <a:sym typeface="Arial"/>
              </a:rPr>
              <a:t>: </a:t>
            </a:r>
            <a:r>
              <a:rPr b="0" i="0" lang="en-US" sz="1088" u="none" cap="none" strike="noStrike">
                <a:solidFill>
                  <a:srgbClr val="000000"/>
                </a:solidFill>
                <a:latin typeface="Arial"/>
                <a:ea typeface="Arial"/>
                <a:cs typeface="Arial"/>
                <a:sym typeface="Arial"/>
              </a:rPr>
              <a:t>la diferencia entre dos valores consecutivos de la escala es igual</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292"/>
              </a:spcBef>
              <a:spcAft>
                <a:spcPts val="0"/>
              </a:spcAft>
              <a:buClr>
                <a:srgbClr val="9A9ACC"/>
              </a:buClr>
              <a:buSzPts val="952"/>
              <a:buFont typeface="Noto Sans Symbols"/>
              <a:buChar char="◻"/>
            </a:pPr>
            <a:r>
              <a:rPr b="1" i="0" lang="en-US" sz="1224" u="none" cap="none" strike="noStrike">
                <a:solidFill>
                  <a:srgbClr val="DA1430"/>
                </a:solidFill>
                <a:latin typeface="Arial"/>
                <a:ea typeface="Arial"/>
                <a:cs typeface="Arial"/>
                <a:sym typeface="Arial"/>
              </a:rPr>
              <a:t>Ratio</a:t>
            </a:r>
            <a:r>
              <a:rPr b="0" i="0" lang="en-US" sz="1224" u="none" cap="none" strike="noStrike">
                <a:solidFill>
                  <a:srgbClr val="000000"/>
                </a:solidFill>
                <a:latin typeface="Arial"/>
                <a:ea typeface="Arial"/>
                <a:cs typeface="Arial"/>
                <a:sym typeface="Arial"/>
              </a:rPr>
              <a:t>:</a:t>
            </a:r>
            <a:endParaRPr b="0" i="0" sz="1224" u="none" cap="none" strike="noStrike">
              <a:solidFill>
                <a:srgbClr val="000000"/>
              </a:solidFill>
              <a:latin typeface="Arial"/>
              <a:ea typeface="Arial"/>
              <a:cs typeface="Arial"/>
              <a:sym typeface="Arial"/>
            </a:endParaRPr>
          </a:p>
          <a:p>
            <a:pPr indent="-155039" lvl="2" marL="785560" marR="0" rtl="0" algn="l">
              <a:lnSpc>
                <a:spcPct val="100000"/>
              </a:lnSpc>
              <a:spcBef>
                <a:spcPts val="265"/>
              </a:spcBef>
              <a:spcAft>
                <a:spcPts val="0"/>
              </a:spcAft>
              <a:buClr>
                <a:srgbClr val="00007C"/>
              </a:buClr>
              <a:buSzPts val="680"/>
              <a:buFont typeface="Noto Sans Symbols"/>
              <a:buChar char="■"/>
            </a:pPr>
            <a:r>
              <a:rPr b="0" i="0" lang="en-US" sz="1088" u="none" cap="none" strike="noStrike">
                <a:solidFill>
                  <a:srgbClr val="000000"/>
                </a:solidFill>
                <a:latin typeface="Arial"/>
                <a:ea typeface="Arial"/>
                <a:cs typeface="Arial"/>
                <a:sym typeface="Arial"/>
              </a:rPr>
              <a:t>comienza con el valor 0 correspondiente a la ausencia del atributo medido</a:t>
            </a:r>
            <a:endParaRPr b="0" i="0" sz="1088" u="none" cap="none" strike="noStrike">
              <a:solidFill>
                <a:srgbClr val="000000"/>
              </a:solidFill>
              <a:latin typeface="Arial"/>
              <a:ea typeface="Arial"/>
              <a:cs typeface="Arial"/>
              <a:sym typeface="Arial"/>
            </a:endParaRPr>
          </a:p>
          <a:p>
            <a:pPr indent="-155039" lvl="2" marL="785560" marR="0" rtl="0" algn="l">
              <a:lnSpc>
                <a:spcPct val="100000"/>
              </a:lnSpc>
              <a:spcBef>
                <a:spcPts val="258"/>
              </a:spcBef>
              <a:spcAft>
                <a:spcPts val="0"/>
              </a:spcAft>
              <a:buClr>
                <a:srgbClr val="00007C"/>
              </a:buClr>
              <a:buSzPts val="680"/>
              <a:buFont typeface="Noto Sans Symbols"/>
              <a:buChar char="■"/>
            </a:pPr>
            <a:r>
              <a:rPr b="0" i="0" lang="en-US" sz="1088" u="none" cap="none" strike="noStrike">
                <a:solidFill>
                  <a:srgbClr val="000000"/>
                </a:solidFill>
                <a:latin typeface="Arial"/>
                <a:ea typeface="Arial"/>
                <a:cs typeface="Arial"/>
                <a:sym typeface="Arial"/>
              </a:rPr>
              <a:t>Crece a intervalos iguales (unidades)</a:t>
            </a:r>
            <a:endParaRPr b="0" i="0" sz="1088" u="none" cap="none" strike="noStrike">
              <a:solidFill>
                <a:srgbClr val="000000"/>
              </a:solidFill>
              <a:latin typeface="Arial"/>
              <a:ea typeface="Arial"/>
              <a:cs typeface="Arial"/>
              <a:sym typeface="Arial"/>
            </a:endParaRPr>
          </a:p>
          <a:p>
            <a:pPr indent="-155039" lvl="2" marL="785560" marR="0" rtl="0" algn="l">
              <a:lnSpc>
                <a:spcPct val="100000"/>
              </a:lnSpc>
              <a:spcBef>
                <a:spcPts val="262"/>
              </a:spcBef>
              <a:spcAft>
                <a:spcPts val="0"/>
              </a:spcAft>
              <a:buClr>
                <a:srgbClr val="00007C"/>
              </a:buClr>
              <a:buSzPts val="680"/>
              <a:buFont typeface="Noto Sans Symbols"/>
              <a:buChar char="■"/>
            </a:pPr>
            <a:r>
              <a:rPr b="0" i="0" lang="en-US" sz="1088" u="none" cap="none" strike="noStrike">
                <a:solidFill>
                  <a:srgbClr val="000000"/>
                </a:solidFill>
                <a:latin typeface="Arial"/>
                <a:ea typeface="Arial"/>
                <a:cs typeface="Arial"/>
                <a:sym typeface="Arial"/>
              </a:rPr>
              <a:t>Distancias iguales corresponden a cantidades iguales del atributo</a:t>
            </a:r>
            <a:endParaRPr b="0" i="0" sz="1088" u="none" cap="none" strike="noStrike">
              <a:solidFill>
                <a:srgbClr val="000000"/>
              </a:solidFill>
              <a:latin typeface="Arial"/>
              <a:ea typeface="Arial"/>
              <a:cs typeface="Arial"/>
              <a:sym typeface="Arial"/>
            </a:endParaRPr>
          </a:p>
          <a:p>
            <a:pPr indent="-193907" lvl="1" marL="513054" marR="3455" rtl="0" algn="l">
              <a:lnSpc>
                <a:spcPct val="100000"/>
              </a:lnSpc>
              <a:spcBef>
                <a:spcPts val="292"/>
              </a:spcBef>
              <a:spcAft>
                <a:spcPts val="0"/>
              </a:spcAft>
              <a:buClr>
                <a:srgbClr val="9A9ACC"/>
              </a:buClr>
              <a:buSzPts val="952"/>
              <a:buFont typeface="Noto Sans Symbols"/>
              <a:buChar char="◻"/>
            </a:pPr>
            <a:r>
              <a:rPr b="1" i="0" lang="en-US" sz="1224" u="none" cap="none" strike="noStrike">
                <a:solidFill>
                  <a:srgbClr val="DA1430"/>
                </a:solidFill>
                <a:latin typeface="Arial"/>
                <a:ea typeface="Arial"/>
                <a:cs typeface="Arial"/>
                <a:sym typeface="Arial"/>
              </a:rPr>
              <a:t>Absoluta</a:t>
            </a:r>
            <a:r>
              <a:rPr b="0" i="0" lang="en-US" sz="1224" u="none" cap="none" strike="noStrike">
                <a:solidFill>
                  <a:srgbClr val="000000"/>
                </a:solidFill>
                <a:latin typeface="Arial"/>
                <a:ea typeface="Arial"/>
                <a:cs typeface="Arial"/>
                <a:sym typeface="Arial"/>
              </a:rPr>
              <a:t>: </a:t>
            </a:r>
            <a:r>
              <a:rPr b="0" i="0" lang="en-US" sz="1088" u="none" cap="none" strike="noStrike">
                <a:solidFill>
                  <a:srgbClr val="000000"/>
                </a:solidFill>
                <a:latin typeface="Arial"/>
                <a:ea typeface="Arial"/>
                <a:cs typeface="Arial"/>
                <a:sym typeface="Arial"/>
              </a:rPr>
              <a:t>la medición se realiza mediante el recuento del número de elementos en 	una entidad</a:t>
            </a:r>
            <a:endParaRPr b="0" i="0" sz="1088"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9"/>
          <p:cNvSpPr txBox="1"/>
          <p:nvPr>
            <p:ph idx="4294967295" type="title"/>
          </p:nvPr>
        </p:nvSpPr>
        <p:spPr>
          <a:xfrm>
            <a:off x="778972" y="-100023"/>
            <a:ext cx="7315200" cy="1069975"/>
          </a:xfrm>
          <a:prstGeom prst="rect">
            <a:avLst/>
          </a:prstGeom>
          <a:noFill/>
          <a:ln>
            <a:noFill/>
          </a:ln>
        </p:spPr>
        <p:txBody>
          <a:bodyPr anchorCtr="0" anchor="t" bIns="0" lIns="0" spcFirstLastPara="1" rIns="0" wrap="square" tIns="133000">
            <a:spAutoFit/>
          </a:bodyPr>
          <a:lstStyle/>
          <a:p>
            <a:pPr indent="0" lvl="0" marL="8637" rtl="0" algn="ctr">
              <a:lnSpc>
                <a:spcPct val="100000"/>
              </a:lnSpc>
              <a:spcBef>
                <a:spcPts val="68"/>
              </a:spcBef>
              <a:spcAft>
                <a:spcPts val="0"/>
              </a:spcAft>
              <a:buSzPts val="3000"/>
              <a:buNone/>
            </a:pPr>
            <a:r>
              <a:rPr lang="en-US">
                <a:solidFill>
                  <a:srgbClr val="FF0000"/>
                </a:solidFill>
              </a:rPr>
              <a:t>Alcance de las métricas del software (III)</a:t>
            </a:r>
            <a:endParaRPr/>
          </a:p>
        </p:txBody>
      </p:sp>
      <p:sp>
        <p:nvSpPr>
          <p:cNvPr id="497" name="Google Shape;497;p9"/>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498" name="Google Shape;498;p9"/>
          <p:cNvSpPr txBox="1"/>
          <p:nvPr/>
        </p:nvSpPr>
        <p:spPr>
          <a:xfrm>
            <a:off x="3972145" y="1063505"/>
            <a:ext cx="774764" cy="157853"/>
          </a:xfrm>
          <a:prstGeom prst="rect">
            <a:avLst/>
          </a:prstGeom>
          <a:noFill/>
          <a:ln>
            <a:noFill/>
          </a:ln>
        </p:spPr>
        <p:txBody>
          <a:bodyPr anchorCtr="0" anchor="t" bIns="0" lIns="0" spcFirstLastPara="1" rIns="0" wrap="square" tIns="11225">
            <a:spAutoFit/>
          </a:bodyPr>
          <a:lstStyle/>
          <a:p>
            <a:pPr indent="0" lvl="0" marL="8637" marR="0" rtl="0" algn="l">
              <a:lnSpc>
                <a:spcPct val="100000"/>
              </a:lnSpc>
              <a:spcBef>
                <a:spcPts val="0"/>
              </a:spcBef>
              <a:spcAft>
                <a:spcPts val="0"/>
              </a:spcAft>
              <a:buNone/>
            </a:pPr>
            <a:r>
              <a:rPr b="1" i="0" lang="en-US" sz="952" u="none" cap="none" strike="noStrike">
                <a:solidFill>
                  <a:srgbClr val="081D58"/>
                </a:solidFill>
                <a:latin typeface="Times New Roman"/>
                <a:ea typeface="Times New Roman"/>
                <a:cs typeface="Times New Roman"/>
                <a:sym typeface="Times New Roman"/>
              </a:rPr>
              <a:t>Productividad</a:t>
            </a:r>
            <a:endParaRPr b="0" i="0" sz="952" u="none" cap="none" strike="noStrike">
              <a:solidFill>
                <a:srgbClr val="000000"/>
              </a:solidFill>
              <a:latin typeface="Times New Roman"/>
              <a:ea typeface="Times New Roman"/>
              <a:cs typeface="Times New Roman"/>
              <a:sym typeface="Times New Roman"/>
            </a:endParaRPr>
          </a:p>
        </p:txBody>
      </p:sp>
      <p:grpSp>
        <p:nvGrpSpPr>
          <p:cNvPr id="499" name="Google Shape;499;p9"/>
          <p:cNvGrpSpPr/>
          <p:nvPr/>
        </p:nvGrpSpPr>
        <p:grpSpPr>
          <a:xfrm>
            <a:off x="2485674" y="1257760"/>
            <a:ext cx="4100894" cy="728814"/>
            <a:chOff x="2279027" y="1849373"/>
            <a:chExt cx="6029833" cy="1071626"/>
          </a:xfrm>
        </p:grpSpPr>
        <p:sp>
          <p:nvSpPr>
            <p:cNvPr id="500" name="Google Shape;500;p9"/>
            <p:cNvSpPr/>
            <p:nvPr/>
          </p:nvSpPr>
          <p:spPr>
            <a:xfrm>
              <a:off x="4212969" y="1849373"/>
              <a:ext cx="821690" cy="214629"/>
            </a:xfrm>
            <a:custGeom>
              <a:rect b="b" l="l" r="r" t="t"/>
              <a:pathLst>
                <a:path extrusionOk="0" h="214630" w="821689">
                  <a:moveTo>
                    <a:pt x="821449" y="0"/>
                  </a:moveTo>
                  <a:lnTo>
                    <a:pt x="0" y="214122"/>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1" name="Google Shape;501;p9"/>
            <p:cNvSpPr/>
            <p:nvPr/>
          </p:nvSpPr>
          <p:spPr>
            <a:xfrm>
              <a:off x="5034419" y="1849373"/>
              <a:ext cx="889000" cy="214629"/>
            </a:xfrm>
            <a:custGeom>
              <a:rect b="b" l="l" r="r" t="t"/>
              <a:pathLst>
                <a:path extrusionOk="0" h="214630" w="889000">
                  <a:moveTo>
                    <a:pt x="0" y="0"/>
                  </a:moveTo>
                  <a:lnTo>
                    <a:pt x="888606" y="214122"/>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2" name="Google Shape;502;p9"/>
            <p:cNvSpPr/>
            <p:nvPr/>
          </p:nvSpPr>
          <p:spPr>
            <a:xfrm>
              <a:off x="8286635" y="2063495"/>
              <a:ext cx="22225" cy="857250"/>
            </a:xfrm>
            <a:custGeom>
              <a:rect b="b" l="l" r="r" t="t"/>
              <a:pathLst>
                <a:path extrusionOk="0" h="857250" w="22225">
                  <a:moveTo>
                    <a:pt x="0" y="857250"/>
                  </a:moveTo>
                  <a:lnTo>
                    <a:pt x="22098" y="857250"/>
                  </a:lnTo>
                  <a:lnTo>
                    <a:pt x="22098" y="0"/>
                  </a:lnTo>
                  <a:lnTo>
                    <a:pt x="0" y="0"/>
                  </a:lnTo>
                  <a:lnTo>
                    <a:pt x="0" y="857250"/>
                  </a:lnTo>
                  <a:close/>
                </a:path>
              </a:pathLst>
            </a:custGeom>
            <a:solidFill>
              <a:srgbClr val="CECEC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3" name="Google Shape;503;p9"/>
            <p:cNvSpPr/>
            <p:nvPr/>
          </p:nvSpPr>
          <p:spPr>
            <a:xfrm>
              <a:off x="2279027" y="2063495"/>
              <a:ext cx="6007735" cy="857250"/>
            </a:xfrm>
            <a:custGeom>
              <a:rect b="b" l="l" r="r" t="t"/>
              <a:pathLst>
                <a:path extrusionOk="0" h="857250" w="6007734">
                  <a:moveTo>
                    <a:pt x="0" y="0"/>
                  </a:moveTo>
                  <a:lnTo>
                    <a:pt x="0" y="857250"/>
                  </a:lnTo>
                </a:path>
                <a:path extrusionOk="0" h="857250" w="6007734">
                  <a:moveTo>
                    <a:pt x="6007608" y="857250"/>
                  </a:moveTo>
                  <a:lnTo>
                    <a:pt x="6007608" y="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4" name="Google Shape;504;p9"/>
            <p:cNvSpPr/>
            <p:nvPr/>
          </p:nvSpPr>
          <p:spPr>
            <a:xfrm>
              <a:off x="3748163" y="2063495"/>
              <a:ext cx="464820" cy="121285"/>
            </a:xfrm>
            <a:custGeom>
              <a:rect b="b" l="l" r="r" t="t"/>
              <a:pathLst>
                <a:path extrusionOk="0" h="121285" w="464820">
                  <a:moveTo>
                    <a:pt x="464806" y="0"/>
                  </a:moveTo>
                  <a:lnTo>
                    <a:pt x="0" y="121158"/>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5" name="Google Shape;505;p9"/>
            <p:cNvSpPr/>
            <p:nvPr/>
          </p:nvSpPr>
          <p:spPr>
            <a:xfrm>
              <a:off x="5923026" y="2063495"/>
              <a:ext cx="502920" cy="121285"/>
            </a:xfrm>
            <a:custGeom>
              <a:rect b="b" l="l" r="r" t="t"/>
              <a:pathLst>
                <a:path extrusionOk="0" h="121285" w="502920">
                  <a:moveTo>
                    <a:pt x="0" y="0"/>
                  </a:moveTo>
                  <a:lnTo>
                    <a:pt x="502805" y="121158"/>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6" name="Google Shape;506;p9"/>
            <p:cNvSpPr/>
            <p:nvPr/>
          </p:nvSpPr>
          <p:spPr>
            <a:xfrm>
              <a:off x="3051695" y="2457449"/>
              <a:ext cx="1069340" cy="205104"/>
            </a:xfrm>
            <a:custGeom>
              <a:rect b="b" l="l" r="r" t="t"/>
              <a:pathLst>
                <a:path extrusionOk="0" h="205105" w="1069339">
                  <a:moveTo>
                    <a:pt x="696468" y="0"/>
                  </a:moveTo>
                  <a:lnTo>
                    <a:pt x="0" y="204978"/>
                  </a:lnTo>
                </a:path>
                <a:path extrusionOk="0" h="205105" w="1069339">
                  <a:moveTo>
                    <a:pt x="696468" y="0"/>
                  </a:moveTo>
                  <a:lnTo>
                    <a:pt x="1069086" y="204977"/>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7" name="Google Shape;507;p9"/>
            <p:cNvSpPr/>
            <p:nvPr/>
          </p:nvSpPr>
          <p:spPr>
            <a:xfrm>
              <a:off x="5913074" y="2457449"/>
              <a:ext cx="513080" cy="463550"/>
            </a:xfrm>
            <a:custGeom>
              <a:rect b="b" l="l" r="r" t="t"/>
              <a:pathLst>
                <a:path extrusionOk="0" h="463550" w="513079">
                  <a:moveTo>
                    <a:pt x="512757" y="0"/>
                  </a:moveTo>
                  <a:lnTo>
                    <a:pt x="0" y="463296"/>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8" name="Google Shape;508;p9"/>
            <p:cNvSpPr/>
            <p:nvPr/>
          </p:nvSpPr>
          <p:spPr>
            <a:xfrm>
              <a:off x="6425831" y="2457449"/>
              <a:ext cx="472440" cy="463550"/>
            </a:xfrm>
            <a:custGeom>
              <a:rect b="b" l="l" r="r" t="t"/>
              <a:pathLst>
                <a:path extrusionOk="0" h="463550" w="472440">
                  <a:moveTo>
                    <a:pt x="0" y="0"/>
                  </a:moveTo>
                  <a:lnTo>
                    <a:pt x="472372" y="463296"/>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09" name="Google Shape;509;p9"/>
            <p:cNvSpPr/>
            <p:nvPr/>
          </p:nvSpPr>
          <p:spPr>
            <a:xfrm>
              <a:off x="6425831" y="2457449"/>
              <a:ext cx="1905" cy="319405"/>
            </a:xfrm>
            <a:custGeom>
              <a:rect b="b" l="l" r="r" t="t"/>
              <a:pathLst>
                <a:path extrusionOk="0" h="319405" w="1904">
                  <a:moveTo>
                    <a:pt x="0" y="0"/>
                  </a:moveTo>
                  <a:lnTo>
                    <a:pt x="1524" y="319278"/>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510" name="Google Shape;510;p9"/>
          <p:cNvSpPr txBox="1"/>
          <p:nvPr/>
        </p:nvSpPr>
        <p:spPr>
          <a:xfrm>
            <a:off x="3343524" y="1496052"/>
            <a:ext cx="283302" cy="139963"/>
          </a:xfrm>
          <a:prstGeom prst="rect">
            <a:avLst/>
          </a:prstGeom>
          <a:noFill/>
          <a:ln>
            <a:noFill/>
          </a:ln>
        </p:spPr>
        <p:txBody>
          <a:bodyPr anchorCtr="0" anchor="t" bIns="0" lIns="0" spcFirstLastPara="1" rIns="0" wrap="square" tIns="9050">
            <a:spAutoFit/>
          </a:bodyPr>
          <a:lstStyle/>
          <a:p>
            <a:pPr indent="0" lvl="0" marL="8637"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Valor</a:t>
            </a:r>
            <a:endParaRPr b="0" i="0" sz="850" u="none" cap="none" strike="noStrike">
              <a:solidFill>
                <a:srgbClr val="000000"/>
              </a:solidFill>
              <a:latin typeface="Times New Roman"/>
              <a:ea typeface="Times New Roman"/>
              <a:cs typeface="Times New Roman"/>
              <a:sym typeface="Times New Roman"/>
            </a:endParaRPr>
          </a:p>
        </p:txBody>
      </p:sp>
      <p:sp>
        <p:nvSpPr>
          <p:cNvPr id="511" name="Google Shape;511;p9"/>
          <p:cNvSpPr txBox="1"/>
          <p:nvPr/>
        </p:nvSpPr>
        <p:spPr>
          <a:xfrm>
            <a:off x="5168471" y="1496052"/>
            <a:ext cx="277689" cy="139963"/>
          </a:xfrm>
          <a:prstGeom prst="rect">
            <a:avLst/>
          </a:prstGeom>
          <a:noFill/>
          <a:ln>
            <a:noFill/>
          </a:ln>
        </p:spPr>
        <p:txBody>
          <a:bodyPr anchorCtr="0" anchor="t" bIns="0" lIns="0" spcFirstLastPara="1" rIns="0" wrap="square" tIns="9050">
            <a:spAutoFit/>
          </a:bodyPr>
          <a:lstStyle/>
          <a:p>
            <a:pPr indent="0" lvl="0" marL="8637"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Coste</a:t>
            </a:r>
            <a:endParaRPr b="0" i="0" sz="850" u="none" cap="none" strike="noStrike">
              <a:solidFill>
                <a:srgbClr val="000000"/>
              </a:solidFill>
              <a:latin typeface="Times New Roman"/>
              <a:ea typeface="Times New Roman"/>
              <a:cs typeface="Times New Roman"/>
              <a:sym typeface="Times New Roman"/>
            </a:endParaRPr>
          </a:p>
        </p:txBody>
      </p:sp>
      <p:grpSp>
        <p:nvGrpSpPr>
          <p:cNvPr id="512" name="Google Shape;512;p9"/>
          <p:cNvGrpSpPr/>
          <p:nvPr/>
        </p:nvGrpSpPr>
        <p:grpSpPr>
          <a:xfrm>
            <a:off x="3011165" y="1403385"/>
            <a:ext cx="2616060" cy="583189"/>
            <a:chOff x="3051695" y="2063495"/>
            <a:chExt cx="3846576" cy="857504"/>
          </a:xfrm>
        </p:grpSpPr>
        <p:sp>
          <p:nvSpPr>
            <p:cNvPr id="513" name="Google Shape;513;p9"/>
            <p:cNvSpPr/>
            <p:nvPr/>
          </p:nvSpPr>
          <p:spPr>
            <a:xfrm>
              <a:off x="3748163" y="2063495"/>
              <a:ext cx="464820" cy="121285"/>
            </a:xfrm>
            <a:custGeom>
              <a:rect b="b" l="l" r="r" t="t"/>
              <a:pathLst>
                <a:path extrusionOk="0" h="121285" w="464820">
                  <a:moveTo>
                    <a:pt x="464806" y="0"/>
                  </a:moveTo>
                  <a:lnTo>
                    <a:pt x="0" y="121158"/>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14" name="Google Shape;514;p9"/>
            <p:cNvSpPr/>
            <p:nvPr/>
          </p:nvSpPr>
          <p:spPr>
            <a:xfrm>
              <a:off x="5923025" y="2063495"/>
              <a:ext cx="502920" cy="121285"/>
            </a:xfrm>
            <a:custGeom>
              <a:rect b="b" l="l" r="r" t="t"/>
              <a:pathLst>
                <a:path extrusionOk="0" h="121285" w="502920">
                  <a:moveTo>
                    <a:pt x="0" y="0"/>
                  </a:moveTo>
                  <a:lnTo>
                    <a:pt x="502805" y="121158"/>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15" name="Google Shape;515;p9"/>
            <p:cNvSpPr/>
            <p:nvPr/>
          </p:nvSpPr>
          <p:spPr>
            <a:xfrm>
              <a:off x="3051695" y="2457449"/>
              <a:ext cx="1069340" cy="205104"/>
            </a:xfrm>
            <a:custGeom>
              <a:rect b="b" l="l" r="r" t="t"/>
              <a:pathLst>
                <a:path extrusionOk="0" h="205105" w="1069339">
                  <a:moveTo>
                    <a:pt x="696468" y="0"/>
                  </a:moveTo>
                  <a:lnTo>
                    <a:pt x="0" y="204978"/>
                  </a:lnTo>
                </a:path>
                <a:path extrusionOk="0" h="205105" w="1069339">
                  <a:moveTo>
                    <a:pt x="696468" y="0"/>
                  </a:moveTo>
                  <a:lnTo>
                    <a:pt x="1069086" y="204977"/>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16" name="Google Shape;516;p9"/>
            <p:cNvSpPr/>
            <p:nvPr/>
          </p:nvSpPr>
          <p:spPr>
            <a:xfrm>
              <a:off x="5913074" y="2457449"/>
              <a:ext cx="513080" cy="463550"/>
            </a:xfrm>
            <a:custGeom>
              <a:rect b="b" l="l" r="r" t="t"/>
              <a:pathLst>
                <a:path extrusionOk="0" h="463550" w="513079">
                  <a:moveTo>
                    <a:pt x="512757" y="0"/>
                  </a:moveTo>
                  <a:lnTo>
                    <a:pt x="0" y="463296"/>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17" name="Google Shape;517;p9"/>
            <p:cNvSpPr/>
            <p:nvPr/>
          </p:nvSpPr>
          <p:spPr>
            <a:xfrm>
              <a:off x="6425831" y="2457449"/>
              <a:ext cx="472440" cy="463550"/>
            </a:xfrm>
            <a:custGeom>
              <a:rect b="b" l="l" r="r" t="t"/>
              <a:pathLst>
                <a:path extrusionOk="0" h="463550" w="472440">
                  <a:moveTo>
                    <a:pt x="0" y="0"/>
                  </a:moveTo>
                  <a:lnTo>
                    <a:pt x="472372" y="463296"/>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518" name="Google Shape;518;p9"/>
          <p:cNvSpPr txBox="1"/>
          <p:nvPr/>
        </p:nvSpPr>
        <p:spPr>
          <a:xfrm>
            <a:off x="5085941" y="1851392"/>
            <a:ext cx="440501" cy="139963"/>
          </a:xfrm>
          <a:prstGeom prst="rect">
            <a:avLst/>
          </a:prstGeom>
          <a:noFill/>
          <a:ln>
            <a:noFill/>
          </a:ln>
        </p:spPr>
        <p:txBody>
          <a:bodyPr anchorCtr="0" anchor="t" bIns="0" lIns="0" spcFirstLastPara="1" rIns="0" wrap="square" tIns="9050">
            <a:spAutoFit/>
          </a:bodyPr>
          <a:lstStyle/>
          <a:p>
            <a:pPr indent="0" lvl="0" marL="8637"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Recursos</a:t>
            </a:r>
            <a:endParaRPr b="0" i="0" sz="850" u="none" cap="none" strike="noStrike">
              <a:solidFill>
                <a:srgbClr val="000000"/>
              </a:solidFill>
              <a:latin typeface="Times New Roman"/>
              <a:ea typeface="Times New Roman"/>
              <a:cs typeface="Times New Roman"/>
              <a:sym typeface="Times New Roman"/>
            </a:endParaRPr>
          </a:p>
        </p:txBody>
      </p:sp>
      <p:grpSp>
        <p:nvGrpSpPr>
          <p:cNvPr id="519" name="Google Shape;519;p9"/>
          <p:cNvGrpSpPr/>
          <p:nvPr/>
        </p:nvGrpSpPr>
        <p:grpSpPr>
          <a:xfrm>
            <a:off x="1462674" y="1671314"/>
            <a:ext cx="6218841" cy="898458"/>
            <a:chOff x="774839" y="2457450"/>
            <a:chExt cx="9144000" cy="1321065"/>
          </a:xfrm>
        </p:grpSpPr>
        <p:sp>
          <p:nvSpPr>
            <p:cNvPr id="520" name="Google Shape;520;p9"/>
            <p:cNvSpPr/>
            <p:nvPr/>
          </p:nvSpPr>
          <p:spPr>
            <a:xfrm>
              <a:off x="6425831" y="2457450"/>
              <a:ext cx="1905" cy="319405"/>
            </a:xfrm>
            <a:custGeom>
              <a:rect b="b" l="l" r="r" t="t"/>
              <a:pathLst>
                <a:path extrusionOk="0" h="319405" w="1904">
                  <a:moveTo>
                    <a:pt x="0" y="0"/>
                  </a:moveTo>
                  <a:lnTo>
                    <a:pt x="1524" y="319278"/>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1" name="Google Shape;521;p9"/>
            <p:cNvSpPr/>
            <p:nvPr/>
          </p:nvSpPr>
          <p:spPr>
            <a:xfrm>
              <a:off x="774839" y="2919996"/>
              <a:ext cx="9144000" cy="858519"/>
            </a:xfrm>
            <a:custGeom>
              <a:rect b="b" l="l" r="r" t="t"/>
              <a:pathLst>
                <a:path extrusionOk="0" h="858520" w="9144000">
                  <a:moveTo>
                    <a:pt x="1526286" y="0"/>
                  </a:moveTo>
                  <a:lnTo>
                    <a:pt x="0" y="0"/>
                  </a:lnTo>
                  <a:lnTo>
                    <a:pt x="0" y="858012"/>
                  </a:lnTo>
                  <a:lnTo>
                    <a:pt x="1526286" y="858012"/>
                  </a:lnTo>
                  <a:lnTo>
                    <a:pt x="1526286" y="0"/>
                  </a:lnTo>
                  <a:close/>
                </a:path>
                <a:path extrusionOk="0" h="858520" w="9144000">
                  <a:moveTo>
                    <a:pt x="9144000" y="0"/>
                  </a:moveTo>
                  <a:lnTo>
                    <a:pt x="7533894" y="0"/>
                  </a:lnTo>
                  <a:lnTo>
                    <a:pt x="7533894" y="858012"/>
                  </a:lnTo>
                  <a:lnTo>
                    <a:pt x="9144000" y="858012"/>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2" name="Google Shape;522;p9"/>
            <p:cNvSpPr/>
            <p:nvPr/>
          </p:nvSpPr>
          <p:spPr>
            <a:xfrm>
              <a:off x="8286635" y="2920746"/>
              <a:ext cx="22225" cy="857250"/>
            </a:xfrm>
            <a:custGeom>
              <a:rect b="b" l="l" r="r" t="t"/>
              <a:pathLst>
                <a:path extrusionOk="0" h="857250" w="22225">
                  <a:moveTo>
                    <a:pt x="0" y="857250"/>
                  </a:moveTo>
                  <a:lnTo>
                    <a:pt x="22098" y="857250"/>
                  </a:lnTo>
                  <a:lnTo>
                    <a:pt x="22098" y="0"/>
                  </a:lnTo>
                  <a:lnTo>
                    <a:pt x="0" y="0"/>
                  </a:lnTo>
                  <a:lnTo>
                    <a:pt x="0" y="857250"/>
                  </a:lnTo>
                  <a:close/>
                </a:path>
              </a:pathLst>
            </a:custGeom>
            <a:solidFill>
              <a:srgbClr val="CECEC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3" name="Google Shape;523;p9"/>
            <p:cNvSpPr/>
            <p:nvPr/>
          </p:nvSpPr>
          <p:spPr>
            <a:xfrm>
              <a:off x="2279027" y="2920746"/>
              <a:ext cx="6007735" cy="857250"/>
            </a:xfrm>
            <a:custGeom>
              <a:rect b="b" l="l" r="r" t="t"/>
              <a:pathLst>
                <a:path extrusionOk="0" h="857250" w="6007734">
                  <a:moveTo>
                    <a:pt x="6007608" y="857250"/>
                  </a:moveTo>
                  <a:lnTo>
                    <a:pt x="6007608" y="0"/>
                  </a:lnTo>
                  <a:lnTo>
                    <a:pt x="0" y="0"/>
                  </a:lnTo>
                  <a:lnTo>
                    <a:pt x="0" y="857250"/>
                  </a:lnTo>
                  <a:lnTo>
                    <a:pt x="6007608" y="857250"/>
                  </a:lnTo>
                  <a:close/>
                </a:path>
              </a:pathLst>
            </a:custGeom>
            <a:solidFill>
              <a:srgbClr val="FCFD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4" name="Google Shape;524;p9"/>
            <p:cNvSpPr/>
            <p:nvPr/>
          </p:nvSpPr>
          <p:spPr>
            <a:xfrm>
              <a:off x="2279027" y="2920746"/>
              <a:ext cx="6007735" cy="857250"/>
            </a:xfrm>
            <a:custGeom>
              <a:rect b="b" l="l" r="r" t="t"/>
              <a:pathLst>
                <a:path extrusionOk="0" h="857250" w="6007734">
                  <a:moveTo>
                    <a:pt x="0" y="0"/>
                  </a:moveTo>
                  <a:lnTo>
                    <a:pt x="0" y="857250"/>
                  </a:lnTo>
                </a:path>
                <a:path extrusionOk="0" h="857250" w="6007734">
                  <a:moveTo>
                    <a:pt x="6007608" y="857249"/>
                  </a:moveTo>
                  <a:lnTo>
                    <a:pt x="6007608" y="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5" name="Google Shape;525;p9"/>
            <p:cNvSpPr/>
            <p:nvPr/>
          </p:nvSpPr>
          <p:spPr>
            <a:xfrm>
              <a:off x="2735465" y="2935224"/>
              <a:ext cx="748665" cy="115570"/>
            </a:xfrm>
            <a:custGeom>
              <a:rect b="b" l="l" r="r" t="t"/>
              <a:pathLst>
                <a:path extrusionOk="0" h="115569" w="748664">
                  <a:moveTo>
                    <a:pt x="316230" y="0"/>
                  </a:moveTo>
                  <a:lnTo>
                    <a:pt x="0" y="115062"/>
                  </a:lnTo>
                </a:path>
                <a:path extrusionOk="0" h="115569" w="748664">
                  <a:moveTo>
                    <a:pt x="316230" y="0"/>
                  </a:moveTo>
                  <a:lnTo>
                    <a:pt x="748284" y="115061"/>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6" name="Google Shape;526;p9"/>
            <p:cNvSpPr/>
            <p:nvPr/>
          </p:nvSpPr>
          <p:spPr>
            <a:xfrm>
              <a:off x="3804551" y="2935224"/>
              <a:ext cx="838200" cy="381000"/>
            </a:xfrm>
            <a:custGeom>
              <a:rect b="b" l="l" r="r" t="t"/>
              <a:pathLst>
                <a:path extrusionOk="0" h="381000" w="838200">
                  <a:moveTo>
                    <a:pt x="316229" y="0"/>
                  </a:moveTo>
                  <a:lnTo>
                    <a:pt x="0" y="381000"/>
                  </a:lnTo>
                </a:path>
                <a:path extrusionOk="0" h="381000" w="838200">
                  <a:moveTo>
                    <a:pt x="316229" y="0"/>
                  </a:moveTo>
                  <a:lnTo>
                    <a:pt x="838199" y="380999"/>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7" name="Google Shape;527;p9"/>
            <p:cNvSpPr/>
            <p:nvPr/>
          </p:nvSpPr>
          <p:spPr>
            <a:xfrm>
              <a:off x="5090807" y="2920746"/>
              <a:ext cx="822325" cy="742950"/>
            </a:xfrm>
            <a:custGeom>
              <a:rect b="b" l="l" r="r" t="t"/>
              <a:pathLst>
                <a:path extrusionOk="0" h="742950" w="822325">
                  <a:moveTo>
                    <a:pt x="822266" y="0"/>
                  </a:moveTo>
                  <a:lnTo>
                    <a:pt x="0" y="74295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8" name="Google Shape;528;p9"/>
            <p:cNvSpPr/>
            <p:nvPr/>
          </p:nvSpPr>
          <p:spPr>
            <a:xfrm>
              <a:off x="6898204" y="2920746"/>
              <a:ext cx="479425" cy="470534"/>
            </a:xfrm>
            <a:custGeom>
              <a:rect b="b" l="l" r="r" t="t"/>
              <a:pathLst>
                <a:path extrusionOk="0" h="470535" w="479425">
                  <a:moveTo>
                    <a:pt x="0" y="0"/>
                  </a:moveTo>
                  <a:lnTo>
                    <a:pt x="479365" y="470154"/>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29" name="Google Shape;529;p9"/>
            <p:cNvSpPr/>
            <p:nvPr/>
          </p:nvSpPr>
          <p:spPr>
            <a:xfrm>
              <a:off x="7018159" y="3663695"/>
              <a:ext cx="359410" cy="114300"/>
            </a:xfrm>
            <a:custGeom>
              <a:rect b="b" l="l" r="r" t="t"/>
              <a:pathLst>
                <a:path extrusionOk="0" h="114300" w="359409">
                  <a:moveTo>
                    <a:pt x="359409" y="0"/>
                  </a:moveTo>
                  <a:lnTo>
                    <a:pt x="0" y="11430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30" name="Google Shape;530;p9"/>
            <p:cNvSpPr/>
            <p:nvPr/>
          </p:nvSpPr>
          <p:spPr>
            <a:xfrm>
              <a:off x="7377569" y="3663695"/>
              <a:ext cx="375285" cy="114300"/>
            </a:xfrm>
            <a:custGeom>
              <a:rect b="b" l="l" r="r" t="t"/>
              <a:pathLst>
                <a:path extrusionOk="0" h="114300" w="375284">
                  <a:moveTo>
                    <a:pt x="0" y="0"/>
                  </a:moveTo>
                  <a:lnTo>
                    <a:pt x="375284" y="114299"/>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31" name="Google Shape;531;p9"/>
            <p:cNvSpPr/>
            <p:nvPr/>
          </p:nvSpPr>
          <p:spPr>
            <a:xfrm>
              <a:off x="6082169" y="3050286"/>
              <a:ext cx="678180" cy="67945"/>
            </a:xfrm>
            <a:custGeom>
              <a:rect b="b" l="l" r="r" t="t"/>
              <a:pathLst>
                <a:path extrusionOk="0" h="67944" w="678179">
                  <a:moveTo>
                    <a:pt x="345186" y="0"/>
                  </a:moveTo>
                  <a:lnTo>
                    <a:pt x="0" y="67818"/>
                  </a:lnTo>
                </a:path>
                <a:path extrusionOk="0" h="67944" w="678179">
                  <a:moveTo>
                    <a:pt x="345186" y="0"/>
                  </a:moveTo>
                  <a:lnTo>
                    <a:pt x="678180" y="67817"/>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32" name="Google Shape;532;p9"/>
            <p:cNvSpPr/>
            <p:nvPr/>
          </p:nvSpPr>
          <p:spPr>
            <a:xfrm>
              <a:off x="2735465" y="2935224"/>
              <a:ext cx="748665" cy="115570"/>
            </a:xfrm>
            <a:custGeom>
              <a:rect b="b" l="l" r="r" t="t"/>
              <a:pathLst>
                <a:path extrusionOk="0" h="115569" w="748664">
                  <a:moveTo>
                    <a:pt x="316230" y="0"/>
                  </a:moveTo>
                  <a:lnTo>
                    <a:pt x="0" y="115062"/>
                  </a:lnTo>
                </a:path>
                <a:path extrusionOk="0" h="115569" w="748664">
                  <a:moveTo>
                    <a:pt x="316230" y="0"/>
                  </a:moveTo>
                  <a:lnTo>
                    <a:pt x="748284" y="115061"/>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533" name="Google Shape;533;p9"/>
          <p:cNvSpPr txBox="1"/>
          <p:nvPr/>
        </p:nvSpPr>
        <p:spPr>
          <a:xfrm>
            <a:off x="2550622" y="1820469"/>
            <a:ext cx="1885950" cy="596498"/>
          </a:xfrm>
          <a:prstGeom prst="rect">
            <a:avLst/>
          </a:prstGeom>
          <a:noFill/>
          <a:ln>
            <a:noFill/>
          </a:ln>
        </p:spPr>
        <p:txBody>
          <a:bodyPr anchorCtr="0" anchor="t" bIns="0" lIns="0" spcFirstLastPara="1" rIns="0" wrap="square" tIns="9050">
            <a:spAutoFit/>
          </a:bodyPr>
          <a:lstStyle/>
          <a:p>
            <a:pPr indent="0" lvl="0" marL="277256"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Calidad	Cantidad</a:t>
            </a:r>
            <a:endParaRPr b="0" i="0" sz="85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78"/>
              </a:spcBef>
              <a:spcAft>
                <a:spcPts val="0"/>
              </a:spcAft>
              <a:buNone/>
            </a:pPr>
            <a:r>
              <a:t/>
            </a:r>
            <a:endParaRPr b="0" i="0" sz="850" u="none" cap="none" strike="noStrike">
              <a:solidFill>
                <a:srgbClr val="000000"/>
              </a:solidFill>
              <a:latin typeface="Times New Roman"/>
              <a:ea typeface="Times New Roman"/>
              <a:cs typeface="Times New Roman"/>
              <a:sym typeface="Times New Roman"/>
            </a:endParaRPr>
          </a:p>
          <a:p>
            <a:pPr indent="0" lvl="0" marL="8637"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Fiabilidad Defectos</a:t>
            </a:r>
            <a:endParaRPr b="0" i="0" sz="850" u="none" cap="none" strike="noStrike">
              <a:solidFill>
                <a:srgbClr val="000000"/>
              </a:solidFill>
              <a:latin typeface="Times New Roman"/>
              <a:ea typeface="Times New Roman"/>
              <a:cs typeface="Times New Roman"/>
              <a:sym typeface="Times New Roman"/>
            </a:endParaRPr>
          </a:p>
          <a:p>
            <a:pPr indent="0" lvl="0" marL="779945" marR="0" rtl="0" algn="l">
              <a:lnSpc>
                <a:spcPct val="100000"/>
              </a:lnSpc>
              <a:spcBef>
                <a:spcPts val="405"/>
              </a:spcBef>
              <a:spcAft>
                <a:spcPts val="0"/>
              </a:spcAft>
              <a:buNone/>
            </a:pPr>
            <a:r>
              <a:rPr b="1" i="0" lang="en-US" sz="850" u="none" cap="none" strike="noStrike">
                <a:solidFill>
                  <a:srgbClr val="081D58"/>
                </a:solidFill>
                <a:latin typeface="Times New Roman"/>
                <a:ea typeface="Times New Roman"/>
                <a:cs typeface="Times New Roman"/>
                <a:sym typeface="Times New Roman"/>
              </a:rPr>
              <a:t>Tamaño Funcionalidad</a:t>
            </a:r>
            <a:endParaRPr b="0" i="0" sz="850" u="none" cap="none" strike="noStrike">
              <a:solidFill>
                <a:srgbClr val="000000"/>
              </a:solidFill>
              <a:latin typeface="Times New Roman"/>
              <a:ea typeface="Times New Roman"/>
              <a:cs typeface="Times New Roman"/>
              <a:sym typeface="Times New Roman"/>
            </a:endParaRPr>
          </a:p>
        </p:txBody>
      </p:sp>
      <p:grpSp>
        <p:nvGrpSpPr>
          <p:cNvPr id="534" name="Google Shape;534;p9"/>
          <p:cNvGrpSpPr/>
          <p:nvPr/>
        </p:nvGrpSpPr>
        <p:grpSpPr>
          <a:xfrm>
            <a:off x="3523183" y="1986401"/>
            <a:ext cx="2685244" cy="583016"/>
            <a:chOff x="3804551" y="2920745"/>
            <a:chExt cx="3948303" cy="857250"/>
          </a:xfrm>
        </p:grpSpPr>
        <p:sp>
          <p:nvSpPr>
            <p:cNvPr id="535" name="Google Shape;535;p9"/>
            <p:cNvSpPr/>
            <p:nvPr/>
          </p:nvSpPr>
          <p:spPr>
            <a:xfrm>
              <a:off x="3804551" y="2935223"/>
              <a:ext cx="838200" cy="381000"/>
            </a:xfrm>
            <a:custGeom>
              <a:rect b="b" l="l" r="r" t="t"/>
              <a:pathLst>
                <a:path extrusionOk="0" h="381000" w="838200">
                  <a:moveTo>
                    <a:pt x="316229" y="0"/>
                  </a:moveTo>
                  <a:lnTo>
                    <a:pt x="0" y="381000"/>
                  </a:lnTo>
                </a:path>
                <a:path extrusionOk="0" h="381000" w="838200">
                  <a:moveTo>
                    <a:pt x="316229" y="0"/>
                  </a:moveTo>
                  <a:lnTo>
                    <a:pt x="838199" y="380999"/>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36" name="Google Shape;536;p9"/>
            <p:cNvSpPr/>
            <p:nvPr/>
          </p:nvSpPr>
          <p:spPr>
            <a:xfrm>
              <a:off x="5090807" y="2920745"/>
              <a:ext cx="822325" cy="742950"/>
            </a:xfrm>
            <a:custGeom>
              <a:rect b="b" l="l" r="r" t="t"/>
              <a:pathLst>
                <a:path extrusionOk="0" h="742950" w="822325">
                  <a:moveTo>
                    <a:pt x="822266" y="0"/>
                  </a:moveTo>
                  <a:lnTo>
                    <a:pt x="0" y="74295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37" name="Google Shape;537;p9"/>
            <p:cNvSpPr/>
            <p:nvPr/>
          </p:nvSpPr>
          <p:spPr>
            <a:xfrm>
              <a:off x="6898204" y="2920745"/>
              <a:ext cx="479425" cy="470534"/>
            </a:xfrm>
            <a:custGeom>
              <a:rect b="b" l="l" r="r" t="t"/>
              <a:pathLst>
                <a:path extrusionOk="0" h="470535" w="479425">
                  <a:moveTo>
                    <a:pt x="0" y="0"/>
                  </a:moveTo>
                  <a:lnTo>
                    <a:pt x="479365" y="470154"/>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38" name="Google Shape;538;p9"/>
            <p:cNvSpPr/>
            <p:nvPr/>
          </p:nvSpPr>
          <p:spPr>
            <a:xfrm>
              <a:off x="7018159" y="3663695"/>
              <a:ext cx="359410" cy="114300"/>
            </a:xfrm>
            <a:custGeom>
              <a:rect b="b" l="l" r="r" t="t"/>
              <a:pathLst>
                <a:path extrusionOk="0" h="114300" w="359409">
                  <a:moveTo>
                    <a:pt x="359409" y="0"/>
                  </a:moveTo>
                  <a:lnTo>
                    <a:pt x="0" y="11430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39" name="Google Shape;539;p9"/>
            <p:cNvSpPr/>
            <p:nvPr/>
          </p:nvSpPr>
          <p:spPr>
            <a:xfrm>
              <a:off x="7377569" y="3663695"/>
              <a:ext cx="375285" cy="114300"/>
            </a:xfrm>
            <a:custGeom>
              <a:rect b="b" l="l" r="r" t="t"/>
              <a:pathLst>
                <a:path extrusionOk="0" h="114300" w="375284">
                  <a:moveTo>
                    <a:pt x="0" y="0"/>
                  </a:moveTo>
                  <a:lnTo>
                    <a:pt x="375284" y="114299"/>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540" name="Google Shape;540;p9"/>
          <p:cNvSpPr txBox="1"/>
          <p:nvPr/>
        </p:nvSpPr>
        <p:spPr>
          <a:xfrm>
            <a:off x="4885796" y="2130892"/>
            <a:ext cx="372267" cy="139963"/>
          </a:xfrm>
          <a:prstGeom prst="rect">
            <a:avLst/>
          </a:prstGeom>
          <a:noFill/>
          <a:ln>
            <a:noFill/>
          </a:ln>
        </p:spPr>
        <p:txBody>
          <a:bodyPr anchorCtr="0" anchor="t" bIns="0" lIns="0" spcFirstLastPara="1" rIns="0" wrap="square" tIns="9050">
            <a:spAutoFit/>
          </a:bodyPr>
          <a:lstStyle/>
          <a:p>
            <a:pPr indent="0" lvl="0" marL="8637"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Tiempo</a:t>
            </a:r>
            <a:endParaRPr b="0" i="0" sz="850" u="none" cap="none" strike="noStrike">
              <a:solidFill>
                <a:srgbClr val="000000"/>
              </a:solidFill>
              <a:latin typeface="Times New Roman"/>
              <a:ea typeface="Times New Roman"/>
              <a:cs typeface="Times New Roman"/>
              <a:sym typeface="Times New Roman"/>
            </a:endParaRPr>
          </a:p>
        </p:txBody>
      </p:sp>
      <p:sp>
        <p:nvSpPr>
          <p:cNvPr id="541" name="Google Shape;541;p9"/>
          <p:cNvSpPr txBox="1"/>
          <p:nvPr/>
        </p:nvSpPr>
        <p:spPr>
          <a:xfrm>
            <a:off x="5364674" y="2075661"/>
            <a:ext cx="898277" cy="377883"/>
          </a:xfrm>
          <a:prstGeom prst="rect">
            <a:avLst/>
          </a:prstGeom>
          <a:noFill/>
          <a:ln>
            <a:noFill/>
          </a:ln>
        </p:spPr>
        <p:txBody>
          <a:bodyPr anchorCtr="0" anchor="t" bIns="0" lIns="0" spcFirstLastPara="1" rIns="0" wrap="square" tIns="64325">
            <a:spAutoFit/>
          </a:bodyPr>
          <a:lstStyle/>
          <a:p>
            <a:pPr indent="0" lvl="0" marL="8637"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Dinero</a:t>
            </a:r>
            <a:endParaRPr b="0" i="0" sz="850" u="none" cap="none" strike="noStrike">
              <a:solidFill>
                <a:srgbClr val="000000"/>
              </a:solidFill>
              <a:latin typeface="Times New Roman"/>
              <a:ea typeface="Times New Roman"/>
              <a:cs typeface="Times New Roman"/>
              <a:sym typeface="Times New Roman"/>
            </a:endParaRPr>
          </a:p>
          <a:p>
            <a:pPr indent="0" lvl="0" marL="287189" marR="0" rtl="0" algn="l">
              <a:lnSpc>
                <a:spcPct val="100000"/>
              </a:lnSpc>
              <a:spcBef>
                <a:spcPts val="442"/>
              </a:spcBef>
              <a:spcAft>
                <a:spcPts val="0"/>
              </a:spcAft>
              <a:buNone/>
            </a:pPr>
            <a:r>
              <a:rPr b="1" i="0" lang="en-US" sz="850" u="none" cap="none" strike="noStrike">
                <a:solidFill>
                  <a:srgbClr val="081D58"/>
                </a:solidFill>
                <a:latin typeface="Times New Roman"/>
                <a:ea typeface="Times New Roman"/>
                <a:cs typeface="Times New Roman"/>
                <a:sym typeface="Times New Roman"/>
              </a:rPr>
              <a:t>Complejidad</a:t>
            </a:r>
            <a:endParaRPr b="0" i="0" sz="850" u="none" cap="none" strike="noStrike">
              <a:solidFill>
                <a:srgbClr val="000000"/>
              </a:solidFill>
              <a:latin typeface="Times New Roman"/>
              <a:ea typeface="Times New Roman"/>
              <a:cs typeface="Times New Roman"/>
              <a:sym typeface="Times New Roman"/>
            </a:endParaRPr>
          </a:p>
        </p:txBody>
      </p:sp>
      <p:grpSp>
        <p:nvGrpSpPr>
          <p:cNvPr id="542" name="Google Shape;542;p9"/>
          <p:cNvGrpSpPr/>
          <p:nvPr/>
        </p:nvGrpSpPr>
        <p:grpSpPr>
          <a:xfrm>
            <a:off x="2485674" y="2074501"/>
            <a:ext cx="4100894" cy="1035610"/>
            <a:chOff x="2279027" y="3050285"/>
            <a:chExt cx="6029833" cy="1522730"/>
          </a:xfrm>
        </p:grpSpPr>
        <p:sp>
          <p:nvSpPr>
            <p:cNvPr id="543" name="Google Shape;543;p9"/>
            <p:cNvSpPr/>
            <p:nvPr/>
          </p:nvSpPr>
          <p:spPr>
            <a:xfrm>
              <a:off x="6082169" y="3050285"/>
              <a:ext cx="678180" cy="67945"/>
            </a:xfrm>
            <a:custGeom>
              <a:rect b="b" l="l" r="r" t="t"/>
              <a:pathLst>
                <a:path extrusionOk="0" h="67944" w="678179">
                  <a:moveTo>
                    <a:pt x="345186" y="0"/>
                  </a:moveTo>
                  <a:lnTo>
                    <a:pt x="0" y="67818"/>
                  </a:lnTo>
                </a:path>
                <a:path extrusionOk="0" h="67944" w="678179">
                  <a:moveTo>
                    <a:pt x="345186" y="0"/>
                  </a:moveTo>
                  <a:lnTo>
                    <a:pt x="678180" y="67817"/>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44" name="Google Shape;544;p9"/>
            <p:cNvSpPr/>
            <p:nvPr/>
          </p:nvSpPr>
          <p:spPr>
            <a:xfrm>
              <a:off x="2301125" y="3777995"/>
              <a:ext cx="6007735" cy="795020"/>
            </a:xfrm>
            <a:custGeom>
              <a:rect b="b" l="l" r="r" t="t"/>
              <a:pathLst>
                <a:path extrusionOk="0" h="795020" w="6007734">
                  <a:moveTo>
                    <a:pt x="6007608" y="794765"/>
                  </a:moveTo>
                  <a:lnTo>
                    <a:pt x="6007608" y="0"/>
                  </a:lnTo>
                  <a:lnTo>
                    <a:pt x="0" y="0"/>
                  </a:lnTo>
                  <a:lnTo>
                    <a:pt x="0" y="794766"/>
                  </a:lnTo>
                  <a:lnTo>
                    <a:pt x="6007608" y="794765"/>
                  </a:lnTo>
                  <a:close/>
                </a:path>
              </a:pathLst>
            </a:custGeom>
            <a:solidFill>
              <a:srgbClr val="CECEC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45" name="Google Shape;545;p9"/>
            <p:cNvSpPr/>
            <p:nvPr/>
          </p:nvSpPr>
          <p:spPr>
            <a:xfrm>
              <a:off x="2279027" y="3777995"/>
              <a:ext cx="6007735" cy="772795"/>
            </a:xfrm>
            <a:custGeom>
              <a:rect b="b" l="l" r="r" t="t"/>
              <a:pathLst>
                <a:path extrusionOk="0" h="772795" w="6007734">
                  <a:moveTo>
                    <a:pt x="6007608" y="772668"/>
                  </a:moveTo>
                  <a:lnTo>
                    <a:pt x="6007608" y="0"/>
                  </a:lnTo>
                  <a:lnTo>
                    <a:pt x="0" y="0"/>
                  </a:lnTo>
                  <a:lnTo>
                    <a:pt x="0" y="772668"/>
                  </a:lnTo>
                  <a:lnTo>
                    <a:pt x="6007608" y="772668"/>
                  </a:lnTo>
                  <a:close/>
                </a:path>
              </a:pathLst>
            </a:custGeom>
            <a:solidFill>
              <a:srgbClr val="FCFD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46" name="Google Shape;546;p9"/>
            <p:cNvSpPr/>
            <p:nvPr/>
          </p:nvSpPr>
          <p:spPr>
            <a:xfrm>
              <a:off x="2279027" y="3777995"/>
              <a:ext cx="6007735" cy="772795"/>
            </a:xfrm>
            <a:custGeom>
              <a:rect b="b" l="l" r="r" t="t"/>
              <a:pathLst>
                <a:path extrusionOk="0" h="772795" w="6007734">
                  <a:moveTo>
                    <a:pt x="0" y="0"/>
                  </a:moveTo>
                  <a:lnTo>
                    <a:pt x="0" y="772668"/>
                  </a:lnTo>
                  <a:lnTo>
                    <a:pt x="6007608" y="772667"/>
                  </a:lnTo>
                  <a:lnTo>
                    <a:pt x="6007608" y="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47" name="Google Shape;547;p9"/>
            <p:cNvSpPr/>
            <p:nvPr/>
          </p:nvSpPr>
          <p:spPr>
            <a:xfrm>
              <a:off x="4739525" y="3937253"/>
              <a:ext cx="679450" cy="67945"/>
            </a:xfrm>
            <a:custGeom>
              <a:rect b="b" l="l" r="r" t="t"/>
              <a:pathLst>
                <a:path extrusionOk="0" h="67945" w="679450">
                  <a:moveTo>
                    <a:pt x="351282" y="0"/>
                  </a:moveTo>
                  <a:lnTo>
                    <a:pt x="0" y="67818"/>
                  </a:lnTo>
                </a:path>
                <a:path extrusionOk="0" h="67945" w="679450">
                  <a:moveTo>
                    <a:pt x="351282" y="0"/>
                  </a:moveTo>
                  <a:lnTo>
                    <a:pt x="678942" y="67817"/>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48" name="Google Shape;548;p9"/>
            <p:cNvSpPr/>
            <p:nvPr/>
          </p:nvSpPr>
          <p:spPr>
            <a:xfrm>
              <a:off x="6946277" y="3777995"/>
              <a:ext cx="72390" cy="22860"/>
            </a:xfrm>
            <a:custGeom>
              <a:rect b="b" l="l" r="r" t="t"/>
              <a:pathLst>
                <a:path extrusionOk="0" h="22860" w="72390">
                  <a:moveTo>
                    <a:pt x="71882" y="0"/>
                  </a:moveTo>
                  <a:lnTo>
                    <a:pt x="0" y="2286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49" name="Google Shape;549;p9"/>
            <p:cNvSpPr/>
            <p:nvPr/>
          </p:nvSpPr>
          <p:spPr>
            <a:xfrm>
              <a:off x="7752854" y="3777995"/>
              <a:ext cx="75565" cy="22860"/>
            </a:xfrm>
            <a:custGeom>
              <a:rect b="b" l="l" r="r" t="t"/>
              <a:pathLst>
                <a:path extrusionOk="0" h="22860" w="75565">
                  <a:moveTo>
                    <a:pt x="0" y="0"/>
                  </a:moveTo>
                  <a:lnTo>
                    <a:pt x="75057" y="2286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550" name="Google Shape;550;p9"/>
          <p:cNvSpPr txBox="1"/>
          <p:nvPr/>
        </p:nvSpPr>
        <p:spPr>
          <a:xfrm>
            <a:off x="4196369" y="2501950"/>
            <a:ext cx="411998" cy="139963"/>
          </a:xfrm>
          <a:prstGeom prst="rect">
            <a:avLst/>
          </a:prstGeom>
          <a:noFill/>
          <a:ln>
            <a:noFill/>
          </a:ln>
        </p:spPr>
        <p:txBody>
          <a:bodyPr anchorCtr="0" anchor="t" bIns="0" lIns="0" spcFirstLastPara="1" rIns="0" wrap="square" tIns="9050">
            <a:spAutoFit/>
          </a:bodyPr>
          <a:lstStyle/>
          <a:p>
            <a:pPr indent="0" lvl="0" marL="0"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Personal</a:t>
            </a:r>
            <a:endParaRPr b="0" i="0" sz="850" u="none" cap="none" strike="noStrike">
              <a:solidFill>
                <a:srgbClr val="000000"/>
              </a:solidFill>
              <a:latin typeface="Times New Roman"/>
              <a:ea typeface="Times New Roman"/>
              <a:cs typeface="Times New Roman"/>
              <a:sym typeface="Times New Roman"/>
            </a:endParaRPr>
          </a:p>
        </p:txBody>
      </p:sp>
      <p:sp>
        <p:nvSpPr>
          <p:cNvPr id="551" name="Google Shape;551;p9"/>
          <p:cNvSpPr txBox="1"/>
          <p:nvPr/>
        </p:nvSpPr>
        <p:spPr>
          <a:xfrm>
            <a:off x="3980783" y="2734120"/>
            <a:ext cx="808881" cy="139963"/>
          </a:xfrm>
          <a:prstGeom prst="rect">
            <a:avLst/>
          </a:prstGeom>
          <a:noFill/>
          <a:ln>
            <a:noFill/>
          </a:ln>
        </p:spPr>
        <p:txBody>
          <a:bodyPr anchorCtr="0" anchor="t" bIns="0" lIns="0" spcFirstLastPara="1" rIns="0" wrap="square" tIns="9050">
            <a:spAutoFit/>
          </a:bodyPr>
          <a:lstStyle/>
          <a:p>
            <a:pPr indent="0" lvl="0" marL="0"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Tiempo	Dinero</a:t>
            </a:r>
            <a:endParaRPr b="0" i="0" sz="850" u="none" cap="none" strike="noStrike">
              <a:solidFill>
                <a:srgbClr val="000000"/>
              </a:solidFill>
              <a:latin typeface="Times New Roman"/>
              <a:ea typeface="Times New Roman"/>
              <a:cs typeface="Times New Roman"/>
              <a:sym typeface="Times New Roman"/>
            </a:endParaRPr>
          </a:p>
        </p:txBody>
      </p:sp>
      <p:sp>
        <p:nvSpPr>
          <p:cNvPr id="552" name="Google Shape;552;p9"/>
          <p:cNvSpPr/>
          <p:nvPr/>
        </p:nvSpPr>
        <p:spPr>
          <a:xfrm>
            <a:off x="4159060" y="2677729"/>
            <a:ext cx="462094" cy="46209"/>
          </a:xfrm>
          <a:custGeom>
            <a:rect b="b" l="l" r="r" t="t"/>
            <a:pathLst>
              <a:path extrusionOk="0" h="67945" w="679450">
                <a:moveTo>
                  <a:pt x="351282" y="0"/>
                </a:moveTo>
                <a:lnTo>
                  <a:pt x="0" y="67818"/>
                </a:lnTo>
              </a:path>
              <a:path extrusionOk="0" h="67945" w="679450">
                <a:moveTo>
                  <a:pt x="351282" y="0"/>
                </a:moveTo>
                <a:lnTo>
                  <a:pt x="678942" y="67817"/>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53" name="Google Shape;553;p9"/>
          <p:cNvSpPr txBox="1"/>
          <p:nvPr/>
        </p:nvSpPr>
        <p:spPr>
          <a:xfrm>
            <a:off x="5353073" y="2594714"/>
            <a:ext cx="1148758" cy="139963"/>
          </a:xfrm>
          <a:prstGeom prst="rect">
            <a:avLst/>
          </a:prstGeom>
          <a:noFill/>
          <a:ln>
            <a:noFill/>
          </a:ln>
        </p:spPr>
        <p:txBody>
          <a:bodyPr anchorCtr="0" anchor="t" bIns="0" lIns="0" spcFirstLastPara="1" rIns="0" wrap="square" tIns="9050">
            <a:spAutoFit/>
          </a:bodyPr>
          <a:lstStyle/>
          <a:p>
            <a:pPr indent="0" lvl="0" marL="0" marR="0"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Restricciones Dificultad</a:t>
            </a:r>
            <a:endParaRPr b="0" i="0" sz="850" u="none" cap="none" strike="noStrike">
              <a:solidFill>
                <a:srgbClr val="000000"/>
              </a:solidFill>
              <a:latin typeface="Times New Roman"/>
              <a:ea typeface="Times New Roman"/>
              <a:cs typeface="Times New Roman"/>
              <a:sym typeface="Times New Roman"/>
            </a:endParaRPr>
          </a:p>
        </p:txBody>
      </p:sp>
      <p:sp>
        <p:nvSpPr>
          <p:cNvPr id="554" name="Google Shape;554;p9"/>
          <p:cNvSpPr txBox="1"/>
          <p:nvPr/>
        </p:nvSpPr>
        <p:spPr>
          <a:xfrm>
            <a:off x="5411630" y="2723752"/>
            <a:ext cx="1093480" cy="270768"/>
          </a:xfrm>
          <a:prstGeom prst="rect">
            <a:avLst/>
          </a:prstGeom>
          <a:noFill/>
          <a:ln>
            <a:noFill/>
          </a:ln>
        </p:spPr>
        <p:txBody>
          <a:bodyPr anchorCtr="0" anchor="t" bIns="0" lIns="0" spcFirstLastPara="1" rIns="0" wrap="square" tIns="9050">
            <a:spAutoFit/>
          </a:bodyPr>
          <a:lstStyle/>
          <a:p>
            <a:pPr indent="-638726" lvl="0" marL="638726" marR="3455" rtl="0" algn="l">
              <a:lnSpc>
                <a:spcPct val="100000"/>
              </a:lnSpc>
              <a:spcBef>
                <a:spcPts val="0"/>
              </a:spcBef>
              <a:spcAft>
                <a:spcPts val="0"/>
              </a:spcAft>
              <a:buNone/>
            </a:pPr>
            <a:r>
              <a:rPr b="1" i="0" lang="en-US" sz="850" u="none" cap="none" strike="noStrike">
                <a:solidFill>
                  <a:srgbClr val="081D58"/>
                </a:solidFill>
                <a:latin typeface="Times New Roman"/>
                <a:ea typeface="Times New Roman"/>
                <a:cs typeface="Times New Roman"/>
                <a:sym typeface="Times New Roman"/>
              </a:rPr>
              <a:t>de entorno		del problema</a:t>
            </a:r>
            <a:endParaRPr b="0" i="0" sz="850" u="none" cap="none" strike="noStrike">
              <a:solidFill>
                <a:srgbClr val="000000"/>
              </a:solidFill>
              <a:latin typeface="Times New Roman"/>
              <a:ea typeface="Times New Roman"/>
              <a:cs typeface="Times New Roman"/>
              <a:sym typeface="Times New Roman"/>
            </a:endParaRPr>
          </a:p>
        </p:txBody>
      </p:sp>
      <p:grpSp>
        <p:nvGrpSpPr>
          <p:cNvPr id="555" name="Google Shape;555;p9"/>
          <p:cNvGrpSpPr/>
          <p:nvPr/>
        </p:nvGrpSpPr>
        <p:grpSpPr>
          <a:xfrm>
            <a:off x="5659873" y="2569417"/>
            <a:ext cx="599946" cy="15547"/>
            <a:chOff x="6946277" y="3777995"/>
            <a:chExt cx="882142" cy="22860"/>
          </a:xfrm>
        </p:grpSpPr>
        <p:sp>
          <p:nvSpPr>
            <p:cNvPr id="556" name="Google Shape;556;p9"/>
            <p:cNvSpPr/>
            <p:nvPr/>
          </p:nvSpPr>
          <p:spPr>
            <a:xfrm>
              <a:off x="6946277" y="3777995"/>
              <a:ext cx="72390" cy="22860"/>
            </a:xfrm>
            <a:custGeom>
              <a:rect b="b" l="l" r="r" t="t"/>
              <a:pathLst>
                <a:path extrusionOk="0" h="22860" w="72390">
                  <a:moveTo>
                    <a:pt x="71882" y="0"/>
                  </a:moveTo>
                  <a:lnTo>
                    <a:pt x="0" y="2286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57" name="Google Shape;557;p9"/>
            <p:cNvSpPr/>
            <p:nvPr/>
          </p:nvSpPr>
          <p:spPr>
            <a:xfrm>
              <a:off x="7752854" y="3777995"/>
              <a:ext cx="75565" cy="22860"/>
            </a:xfrm>
            <a:custGeom>
              <a:rect b="b" l="l" r="r" t="t"/>
              <a:pathLst>
                <a:path extrusionOk="0" h="22860" w="75565">
                  <a:moveTo>
                    <a:pt x="0" y="0"/>
                  </a:moveTo>
                  <a:lnTo>
                    <a:pt x="75057" y="22860"/>
                  </a:lnTo>
                </a:path>
              </a:pathLst>
            </a:custGeom>
            <a:noFill/>
            <a:ln cap="flat" cmpd="sng" w="10900">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558" name="Google Shape;558;p9"/>
          <p:cNvSpPr/>
          <p:nvPr/>
        </p:nvSpPr>
        <p:spPr>
          <a:xfrm>
            <a:off x="1462674" y="4317949"/>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59" name="Google Shape;559;p9"/>
          <p:cNvSpPr txBox="1"/>
          <p:nvPr/>
        </p:nvSpPr>
        <p:spPr>
          <a:xfrm>
            <a:off x="1884169" y="3094502"/>
            <a:ext cx="4938365" cy="1520248"/>
          </a:xfrm>
          <a:prstGeom prst="rect">
            <a:avLst/>
          </a:prstGeom>
          <a:noFill/>
          <a:ln>
            <a:noFill/>
          </a:ln>
        </p:spPr>
        <p:txBody>
          <a:bodyPr anchorCtr="0" anchor="t" bIns="0" lIns="0" spcFirstLastPara="1" rIns="0" wrap="square" tIns="79450">
            <a:spAutoFit/>
          </a:bodyPr>
          <a:lstStyle/>
          <a:p>
            <a:pPr indent="0" lvl="0" marL="1996937" marR="0" rtl="0" algn="l">
              <a:lnSpc>
                <a:spcPct val="100000"/>
              </a:lnSpc>
              <a:spcBef>
                <a:spcPts val="0"/>
              </a:spcBef>
              <a:spcAft>
                <a:spcPts val="0"/>
              </a:spcAft>
              <a:buNone/>
            </a:pPr>
            <a:r>
              <a:rPr b="0" i="0" lang="en-US" sz="952" u="none" cap="none" strike="noStrike">
                <a:solidFill>
                  <a:srgbClr val="000104"/>
                </a:solidFill>
                <a:latin typeface="Arial"/>
                <a:ea typeface="Arial"/>
                <a:cs typeface="Arial"/>
                <a:sym typeface="Arial"/>
              </a:rPr>
              <a:t>Modelo de productividad</a:t>
            </a:r>
            <a:endParaRPr b="0" i="0" sz="952" u="none" cap="none" strike="noStrike">
              <a:solidFill>
                <a:srgbClr val="000000"/>
              </a:solidFill>
              <a:latin typeface="Arial"/>
              <a:ea typeface="Arial"/>
              <a:cs typeface="Arial"/>
              <a:sym typeface="Arial"/>
            </a:endParaRPr>
          </a:p>
          <a:p>
            <a:pPr indent="-232774" lvl="0" marL="241412" marR="0" rtl="0" algn="l">
              <a:lnSpc>
                <a:spcPct val="100000"/>
              </a:lnSpc>
              <a:spcBef>
                <a:spcPts val="959"/>
              </a:spcBef>
              <a:spcAft>
                <a:spcPts val="0"/>
              </a:spcAft>
              <a:buClr>
                <a:srgbClr val="00007C"/>
              </a:buClr>
              <a:buSzPts val="1224"/>
              <a:buFont typeface="Noto Sans Symbols"/>
              <a:buChar char="■"/>
            </a:pPr>
            <a:r>
              <a:rPr b="1" i="0" lang="en-US" sz="1632" u="none" cap="none" strike="noStrike">
                <a:solidFill>
                  <a:srgbClr val="3333CC"/>
                </a:solidFill>
                <a:latin typeface="Arial"/>
                <a:ea typeface="Arial"/>
                <a:cs typeface="Arial"/>
                <a:sym typeface="Arial"/>
              </a:rPr>
              <a:t>Modelos y medidas de calidad</a:t>
            </a:r>
            <a:endParaRPr b="0" i="0" sz="1632" u="none" cap="none" strike="noStrike">
              <a:solidFill>
                <a:srgbClr val="000000"/>
              </a:solidFill>
              <a:latin typeface="Arial"/>
              <a:ea typeface="Arial"/>
              <a:cs typeface="Arial"/>
              <a:sym typeface="Arial"/>
            </a:endParaRPr>
          </a:p>
          <a:p>
            <a:pPr indent="-194339" lvl="1" marL="565309" marR="31094" rtl="0" algn="l">
              <a:lnSpc>
                <a:spcPct val="100000"/>
              </a:lnSpc>
              <a:spcBef>
                <a:spcPts val="333"/>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Las medidas de productividad deben ir acompañadas de medidas que permitan valorar la calidad del producto</a:t>
            </a:r>
            <a:endParaRPr b="0" i="0" sz="1360" u="none" cap="none" strike="noStrike">
              <a:solidFill>
                <a:srgbClr val="000000"/>
              </a:solidFill>
              <a:latin typeface="Arial"/>
              <a:ea typeface="Arial"/>
              <a:cs typeface="Arial"/>
              <a:sym typeface="Arial"/>
            </a:endParaRPr>
          </a:p>
          <a:p>
            <a:pPr indent="-194339" lvl="1" marL="565309" marR="3455" rtl="0" algn="l">
              <a:lnSpc>
                <a:spcPct val="100000"/>
              </a:lnSpc>
              <a:spcBef>
                <a:spcPts val="326"/>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Los modelos de estimación, generalmente se construyen descomponiendo las características de calidad</a:t>
            </a:r>
            <a:endParaRPr b="0" i="0" sz="136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0"/>
          <p:cNvSpPr txBox="1"/>
          <p:nvPr>
            <p:ph idx="4294967295" type="title"/>
          </p:nvPr>
        </p:nvSpPr>
        <p:spPr>
          <a:xfrm>
            <a:off x="1610643" y="-38186"/>
            <a:ext cx="6618957" cy="1069975"/>
          </a:xfrm>
          <a:prstGeom prst="rect">
            <a:avLst/>
          </a:prstGeom>
          <a:noFill/>
          <a:ln>
            <a:noFill/>
          </a:ln>
        </p:spPr>
        <p:txBody>
          <a:bodyPr anchorCtr="0" anchor="t" bIns="0" lIns="0" spcFirstLastPara="1" rIns="0" wrap="square" tIns="133000">
            <a:spAutoFit/>
          </a:bodyPr>
          <a:lstStyle/>
          <a:p>
            <a:pPr indent="0" lvl="0" marL="8637" rtl="0" algn="ctr">
              <a:lnSpc>
                <a:spcPct val="100000"/>
              </a:lnSpc>
              <a:spcBef>
                <a:spcPts val="68"/>
              </a:spcBef>
              <a:spcAft>
                <a:spcPts val="0"/>
              </a:spcAft>
              <a:buSzPts val="3000"/>
              <a:buNone/>
            </a:pPr>
            <a:r>
              <a:rPr lang="en-US">
                <a:solidFill>
                  <a:srgbClr val="FF0000"/>
                </a:solidFill>
              </a:rPr>
              <a:t>Alcance de las métricas del software (IV)</a:t>
            </a:r>
            <a:endParaRPr/>
          </a:p>
        </p:txBody>
      </p:sp>
      <p:sp>
        <p:nvSpPr>
          <p:cNvPr id="565" name="Google Shape;565;p10"/>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566" name="Google Shape;566;p10"/>
          <p:cNvSpPr txBox="1"/>
          <p:nvPr/>
        </p:nvSpPr>
        <p:spPr>
          <a:xfrm>
            <a:off x="2744956" y="1154502"/>
            <a:ext cx="3020457" cy="240657"/>
          </a:xfrm>
          <a:prstGeom prst="rect">
            <a:avLst/>
          </a:prstGeom>
          <a:noFill/>
          <a:ln>
            <a:noFill/>
          </a:ln>
        </p:spPr>
        <p:txBody>
          <a:bodyPr anchorCtr="0" anchor="t" bIns="0" lIns="0" spcFirstLastPara="1" rIns="0" wrap="square" tIns="10350">
            <a:spAutoFit/>
          </a:bodyPr>
          <a:lstStyle/>
          <a:p>
            <a:pPr indent="0" lvl="0" marL="8637" marR="0" rtl="0" algn="l">
              <a:lnSpc>
                <a:spcPct val="100000"/>
              </a:lnSpc>
              <a:spcBef>
                <a:spcPts val="0"/>
              </a:spcBef>
              <a:spcAft>
                <a:spcPts val="0"/>
              </a:spcAft>
              <a:buNone/>
            </a:pPr>
            <a:r>
              <a:rPr b="1" i="0" lang="en-US" sz="1496" u="none" cap="none" strike="noStrike">
                <a:solidFill>
                  <a:srgbClr val="081D58"/>
                </a:solidFill>
                <a:latin typeface="Times New Roman"/>
                <a:ea typeface="Times New Roman"/>
                <a:cs typeface="Times New Roman"/>
                <a:sym typeface="Times New Roman"/>
              </a:rPr>
              <a:t>Uso	Factor	Criterio</a:t>
            </a:r>
            <a:endParaRPr b="0" i="0" sz="1496" u="none" cap="none" strike="noStrike">
              <a:solidFill>
                <a:srgbClr val="000000"/>
              </a:solidFill>
              <a:latin typeface="Times New Roman"/>
              <a:ea typeface="Times New Roman"/>
              <a:cs typeface="Times New Roman"/>
              <a:sym typeface="Times New Roman"/>
            </a:endParaRPr>
          </a:p>
        </p:txBody>
      </p:sp>
      <p:sp>
        <p:nvSpPr>
          <p:cNvPr id="567" name="Google Shape;567;p10"/>
          <p:cNvSpPr txBox="1"/>
          <p:nvPr/>
        </p:nvSpPr>
        <p:spPr>
          <a:xfrm>
            <a:off x="3658439" y="1530562"/>
            <a:ext cx="590790" cy="141064"/>
          </a:xfrm>
          <a:prstGeom prst="rect">
            <a:avLst/>
          </a:prstGeom>
          <a:noFill/>
          <a:ln>
            <a:noFill/>
          </a:ln>
        </p:spPr>
        <p:txBody>
          <a:bodyPr anchorCtr="0" anchor="t" bIns="0" lIns="0" spcFirstLastPara="1" rIns="0" wrap="square" tIns="0">
            <a:spAutoFit/>
          </a:bodyPr>
          <a:lstStyle/>
          <a:p>
            <a:pPr indent="0" lvl="0" marL="0" marR="0" rtl="0" algn="l">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Usabilidad</a:t>
            </a:r>
            <a:endParaRPr b="0" i="0" sz="986" u="none" cap="none" strike="noStrike">
              <a:solidFill>
                <a:srgbClr val="000000"/>
              </a:solidFill>
              <a:latin typeface="Times New Roman"/>
              <a:ea typeface="Times New Roman"/>
              <a:cs typeface="Times New Roman"/>
              <a:sym typeface="Times New Roman"/>
            </a:endParaRPr>
          </a:p>
        </p:txBody>
      </p:sp>
      <p:grpSp>
        <p:nvGrpSpPr>
          <p:cNvPr id="568" name="Google Shape;568;p10"/>
          <p:cNvGrpSpPr/>
          <p:nvPr/>
        </p:nvGrpSpPr>
        <p:grpSpPr>
          <a:xfrm>
            <a:off x="2465462" y="1403385"/>
            <a:ext cx="4240299" cy="583363"/>
            <a:chOff x="2249309" y="2063495"/>
            <a:chExt cx="6234811" cy="857759"/>
          </a:xfrm>
        </p:grpSpPr>
        <p:sp>
          <p:nvSpPr>
            <p:cNvPr id="569" name="Google Shape;569;p10"/>
            <p:cNvSpPr/>
            <p:nvPr/>
          </p:nvSpPr>
          <p:spPr>
            <a:xfrm>
              <a:off x="8461895" y="2063495"/>
              <a:ext cx="22225" cy="857250"/>
            </a:xfrm>
            <a:custGeom>
              <a:rect b="b" l="l" r="r" t="t"/>
              <a:pathLst>
                <a:path extrusionOk="0" h="857250" w="22225">
                  <a:moveTo>
                    <a:pt x="0" y="857250"/>
                  </a:moveTo>
                  <a:lnTo>
                    <a:pt x="22098" y="857250"/>
                  </a:lnTo>
                  <a:lnTo>
                    <a:pt x="22098" y="0"/>
                  </a:lnTo>
                  <a:lnTo>
                    <a:pt x="0" y="0"/>
                  </a:lnTo>
                  <a:lnTo>
                    <a:pt x="0" y="857250"/>
                  </a:lnTo>
                  <a:close/>
                </a:path>
              </a:pathLst>
            </a:custGeom>
            <a:solidFill>
              <a:srgbClr val="CECEC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70" name="Google Shape;570;p10"/>
            <p:cNvSpPr/>
            <p:nvPr/>
          </p:nvSpPr>
          <p:spPr>
            <a:xfrm>
              <a:off x="2249309" y="2063495"/>
              <a:ext cx="6212840" cy="857250"/>
            </a:xfrm>
            <a:custGeom>
              <a:rect b="b" l="l" r="r" t="t"/>
              <a:pathLst>
                <a:path extrusionOk="0" h="857250" w="6212840">
                  <a:moveTo>
                    <a:pt x="0" y="0"/>
                  </a:moveTo>
                  <a:lnTo>
                    <a:pt x="0" y="857250"/>
                  </a:lnTo>
                </a:path>
                <a:path extrusionOk="0" h="857250" w="6212840">
                  <a:moveTo>
                    <a:pt x="6212585" y="857249"/>
                  </a:moveTo>
                  <a:lnTo>
                    <a:pt x="6212585"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71" name="Google Shape;571;p10"/>
            <p:cNvSpPr/>
            <p:nvPr/>
          </p:nvSpPr>
          <p:spPr>
            <a:xfrm>
              <a:off x="3764391" y="2737104"/>
              <a:ext cx="0" cy="184150"/>
            </a:xfrm>
            <a:custGeom>
              <a:rect b="b" l="l" r="r" t="t"/>
              <a:pathLst>
                <a:path extrusionOk="0" h="184150" w="120000">
                  <a:moveTo>
                    <a:pt x="0" y="0"/>
                  </a:moveTo>
                  <a:lnTo>
                    <a:pt x="0" y="183641"/>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72" name="Google Shape;572;p10"/>
            <p:cNvSpPr/>
            <p:nvPr/>
          </p:nvSpPr>
          <p:spPr>
            <a:xfrm>
              <a:off x="3767213" y="2737104"/>
              <a:ext cx="1341120" cy="184150"/>
            </a:xfrm>
            <a:custGeom>
              <a:rect b="b" l="l" r="r" t="t"/>
              <a:pathLst>
                <a:path extrusionOk="0" h="184150" w="1341120">
                  <a:moveTo>
                    <a:pt x="1341120" y="183641"/>
                  </a:moveTo>
                  <a:lnTo>
                    <a:pt x="1341120"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grpSp>
        <p:nvGrpSpPr>
          <p:cNvPr id="573" name="Google Shape;573;p10"/>
          <p:cNvGrpSpPr/>
          <p:nvPr/>
        </p:nvGrpSpPr>
        <p:grpSpPr>
          <a:xfrm>
            <a:off x="2535578" y="1717436"/>
            <a:ext cx="722269" cy="269051"/>
            <a:chOff x="2352405" y="2525267"/>
            <a:chExt cx="1062002" cy="395605"/>
          </a:xfrm>
        </p:grpSpPr>
        <p:sp>
          <p:nvSpPr>
            <p:cNvPr id="574" name="Google Shape;574;p10"/>
            <p:cNvSpPr/>
            <p:nvPr/>
          </p:nvSpPr>
          <p:spPr>
            <a:xfrm>
              <a:off x="2352405" y="2525267"/>
              <a:ext cx="0" cy="395605"/>
            </a:xfrm>
            <a:custGeom>
              <a:rect b="b" l="l" r="r" t="t"/>
              <a:pathLst>
                <a:path extrusionOk="0" h="395605" w="120000">
                  <a:moveTo>
                    <a:pt x="0" y="0"/>
                  </a:moveTo>
                  <a:lnTo>
                    <a:pt x="0" y="395477"/>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75" name="Google Shape;575;p10"/>
            <p:cNvSpPr/>
            <p:nvPr/>
          </p:nvSpPr>
          <p:spPr>
            <a:xfrm>
              <a:off x="2355227" y="2525267"/>
              <a:ext cx="1059180" cy="395605"/>
            </a:xfrm>
            <a:custGeom>
              <a:rect b="b" l="l" r="r" t="t"/>
              <a:pathLst>
                <a:path extrusionOk="0" h="395605" w="1059179">
                  <a:moveTo>
                    <a:pt x="1059179" y="395478"/>
                  </a:moveTo>
                  <a:lnTo>
                    <a:pt x="1059179"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576" name="Google Shape;576;p10"/>
          <p:cNvSpPr txBox="1"/>
          <p:nvPr/>
        </p:nvSpPr>
        <p:spPr>
          <a:xfrm>
            <a:off x="2608491" y="1761178"/>
            <a:ext cx="576970" cy="292772"/>
          </a:xfrm>
          <a:prstGeom prst="rect">
            <a:avLst/>
          </a:prstGeom>
          <a:noFill/>
          <a:ln>
            <a:noFill/>
          </a:ln>
        </p:spPr>
        <p:txBody>
          <a:bodyPr anchorCtr="0" anchor="t" bIns="0" lIns="0" spcFirstLastPara="1" rIns="0" wrap="square" tIns="0">
            <a:spAutoFit/>
          </a:bodyPr>
          <a:lstStyle/>
          <a:p>
            <a:pPr indent="0" lvl="0" marL="0" marR="0" rtl="0" algn="ctr">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Operación</a:t>
            </a:r>
            <a:endParaRPr b="0" i="0" sz="986" u="none" cap="none" strike="noStrike">
              <a:solidFill>
                <a:srgbClr val="000000"/>
              </a:solidFill>
              <a:latin typeface="Times New Roman"/>
              <a:ea typeface="Times New Roman"/>
              <a:cs typeface="Times New Roman"/>
              <a:sym typeface="Times New Roman"/>
            </a:endParaRPr>
          </a:p>
          <a:p>
            <a:pPr indent="0" lvl="0" marL="1727" marR="0" rtl="0" algn="ctr">
              <a:lnSpc>
                <a:spcPct val="100000"/>
              </a:lnSpc>
              <a:spcBef>
                <a:spcPts val="24"/>
              </a:spcBef>
              <a:spcAft>
                <a:spcPts val="0"/>
              </a:spcAft>
              <a:buNone/>
            </a:pPr>
            <a:r>
              <a:rPr b="1" i="0" lang="en-US" sz="986" u="none" cap="none" strike="noStrike">
                <a:solidFill>
                  <a:srgbClr val="081D58"/>
                </a:solidFill>
                <a:latin typeface="Times New Roman"/>
                <a:ea typeface="Times New Roman"/>
                <a:cs typeface="Times New Roman"/>
                <a:sym typeface="Times New Roman"/>
              </a:rPr>
              <a:t>del</a:t>
            </a:r>
            <a:endParaRPr b="0" i="0" sz="986" u="none" cap="none" strike="noStrike">
              <a:solidFill>
                <a:srgbClr val="000000"/>
              </a:solidFill>
              <a:latin typeface="Times New Roman"/>
              <a:ea typeface="Times New Roman"/>
              <a:cs typeface="Times New Roman"/>
              <a:sym typeface="Times New Roman"/>
            </a:endParaRPr>
          </a:p>
        </p:txBody>
      </p:sp>
      <p:grpSp>
        <p:nvGrpSpPr>
          <p:cNvPr id="577" name="Google Shape;577;p10"/>
          <p:cNvGrpSpPr/>
          <p:nvPr/>
        </p:nvGrpSpPr>
        <p:grpSpPr>
          <a:xfrm>
            <a:off x="3254218" y="1429297"/>
            <a:ext cx="3364739" cy="557451"/>
            <a:chOff x="3409073" y="2101595"/>
            <a:chExt cx="4947412" cy="819659"/>
          </a:xfrm>
        </p:grpSpPr>
        <p:sp>
          <p:nvSpPr>
            <p:cNvPr id="578" name="Google Shape;578;p10"/>
            <p:cNvSpPr/>
            <p:nvPr/>
          </p:nvSpPr>
          <p:spPr>
            <a:xfrm>
              <a:off x="3409073" y="2348483"/>
              <a:ext cx="358140" cy="567690"/>
            </a:xfrm>
            <a:custGeom>
              <a:rect b="b" l="l" r="r" t="t"/>
              <a:pathLst>
                <a:path extrusionOk="0" h="567689" w="358139">
                  <a:moveTo>
                    <a:pt x="338062" y="42938"/>
                  </a:moveTo>
                  <a:lnTo>
                    <a:pt x="328319" y="36567"/>
                  </a:lnTo>
                  <a:lnTo>
                    <a:pt x="0" y="560832"/>
                  </a:lnTo>
                  <a:lnTo>
                    <a:pt x="9906" y="567690"/>
                  </a:lnTo>
                  <a:lnTo>
                    <a:pt x="338062" y="42938"/>
                  </a:lnTo>
                  <a:close/>
                </a:path>
                <a:path extrusionOk="0" h="567689" w="358139">
                  <a:moveTo>
                    <a:pt x="358139" y="0"/>
                  </a:moveTo>
                  <a:lnTo>
                    <a:pt x="313181" y="26670"/>
                  </a:lnTo>
                  <a:lnTo>
                    <a:pt x="328319" y="36567"/>
                  </a:lnTo>
                  <a:lnTo>
                    <a:pt x="334517" y="26670"/>
                  </a:lnTo>
                  <a:lnTo>
                    <a:pt x="344423" y="32766"/>
                  </a:lnTo>
                  <a:lnTo>
                    <a:pt x="344423" y="47097"/>
                  </a:lnTo>
                  <a:lnTo>
                    <a:pt x="352805" y="52578"/>
                  </a:lnTo>
                  <a:lnTo>
                    <a:pt x="358139" y="0"/>
                  </a:lnTo>
                  <a:close/>
                </a:path>
                <a:path extrusionOk="0" h="567689" w="358139">
                  <a:moveTo>
                    <a:pt x="344423" y="32766"/>
                  </a:moveTo>
                  <a:lnTo>
                    <a:pt x="334517" y="26670"/>
                  </a:lnTo>
                  <a:lnTo>
                    <a:pt x="328319" y="36567"/>
                  </a:lnTo>
                  <a:lnTo>
                    <a:pt x="338062" y="42938"/>
                  </a:lnTo>
                  <a:lnTo>
                    <a:pt x="344423" y="32766"/>
                  </a:lnTo>
                  <a:close/>
                </a:path>
                <a:path extrusionOk="0" h="567689" w="358139">
                  <a:moveTo>
                    <a:pt x="344423" y="47097"/>
                  </a:moveTo>
                  <a:lnTo>
                    <a:pt x="344423" y="32766"/>
                  </a:lnTo>
                  <a:lnTo>
                    <a:pt x="338062" y="42938"/>
                  </a:lnTo>
                  <a:lnTo>
                    <a:pt x="344423" y="4709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79" name="Google Shape;579;p10"/>
            <p:cNvSpPr/>
            <p:nvPr/>
          </p:nvSpPr>
          <p:spPr>
            <a:xfrm>
              <a:off x="3409073" y="2348483"/>
              <a:ext cx="358140" cy="567690"/>
            </a:xfrm>
            <a:custGeom>
              <a:rect b="b" l="l" r="r" t="t"/>
              <a:pathLst>
                <a:path extrusionOk="0" h="567689" w="358139">
                  <a:moveTo>
                    <a:pt x="0" y="560832"/>
                  </a:moveTo>
                  <a:lnTo>
                    <a:pt x="334517" y="26670"/>
                  </a:lnTo>
                  <a:lnTo>
                    <a:pt x="344423" y="32766"/>
                  </a:lnTo>
                  <a:lnTo>
                    <a:pt x="9906" y="567690"/>
                  </a:lnTo>
                  <a:lnTo>
                    <a:pt x="0" y="560832"/>
                  </a:lnTo>
                  <a:close/>
                </a:path>
                <a:path extrusionOk="0" h="567689" w="358139">
                  <a:moveTo>
                    <a:pt x="313181" y="26670"/>
                  </a:moveTo>
                  <a:lnTo>
                    <a:pt x="358139" y="0"/>
                  </a:lnTo>
                  <a:lnTo>
                    <a:pt x="352805" y="52578"/>
                  </a:lnTo>
                  <a:lnTo>
                    <a:pt x="313181" y="2667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0" name="Google Shape;580;p10"/>
            <p:cNvSpPr/>
            <p:nvPr/>
          </p:nvSpPr>
          <p:spPr>
            <a:xfrm>
              <a:off x="3414407" y="2889504"/>
              <a:ext cx="353060" cy="31750"/>
            </a:xfrm>
            <a:custGeom>
              <a:rect b="b" l="l" r="r" t="t"/>
              <a:pathLst>
                <a:path extrusionOk="0" h="31750" w="353060">
                  <a:moveTo>
                    <a:pt x="317753" y="29717"/>
                  </a:moveTo>
                  <a:lnTo>
                    <a:pt x="317753" y="16763"/>
                  </a:lnTo>
                  <a:lnTo>
                    <a:pt x="0" y="16763"/>
                  </a:lnTo>
                  <a:lnTo>
                    <a:pt x="0" y="29717"/>
                  </a:lnTo>
                  <a:lnTo>
                    <a:pt x="317753" y="29717"/>
                  </a:lnTo>
                  <a:close/>
                </a:path>
                <a:path extrusionOk="0" h="31750" w="353060">
                  <a:moveTo>
                    <a:pt x="352805" y="23622"/>
                  </a:moveTo>
                  <a:lnTo>
                    <a:pt x="304800" y="0"/>
                  </a:lnTo>
                  <a:lnTo>
                    <a:pt x="304800" y="16763"/>
                  </a:lnTo>
                  <a:lnTo>
                    <a:pt x="317753" y="16763"/>
                  </a:lnTo>
                  <a:lnTo>
                    <a:pt x="317753" y="31242"/>
                  </a:lnTo>
                  <a:lnTo>
                    <a:pt x="336803" y="31242"/>
                  </a:lnTo>
                  <a:lnTo>
                    <a:pt x="352805" y="23622"/>
                  </a:lnTo>
                  <a:close/>
                </a:path>
                <a:path extrusionOk="0" h="31750" w="353060">
                  <a:moveTo>
                    <a:pt x="317753" y="31242"/>
                  </a:moveTo>
                  <a:lnTo>
                    <a:pt x="317753" y="29717"/>
                  </a:lnTo>
                  <a:lnTo>
                    <a:pt x="304800" y="29717"/>
                  </a:lnTo>
                  <a:lnTo>
                    <a:pt x="304800" y="31242"/>
                  </a:lnTo>
                  <a:lnTo>
                    <a:pt x="317753" y="31242"/>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1" name="Google Shape;581;p10"/>
            <p:cNvSpPr/>
            <p:nvPr/>
          </p:nvSpPr>
          <p:spPr>
            <a:xfrm>
              <a:off x="3414407" y="2889504"/>
              <a:ext cx="353060" cy="31750"/>
            </a:xfrm>
            <a:custGeom>
              <a:rect b="b" l="l" r="r" t="t"/>
              <a:pathLst>
                <a:path extrusionOk="0" h="31750" w="353060">
                  <a:moveTo>
                    <a:pt x="0" y="29717"/>
                  </a:moveTo>
                  <a:lnTo>
                    <a:pt x="0" y="16763"/>
                  </a:lnTo>
                  <a:lnTo>
                    <a:pt x="317753" y="16763"/>
                  </a:lnTo>
                  <a:lnTo>
                    <a:pt x="317753" y="29717"/>
                  </a:lnTo>
                  <a:lnTo>
                    <a:pt x="0" y="29717"/>
                  </a:lnTo>
                </a:path>
                <a:path extrusionOk="0" h="31750" w="353060">
                  <a:moveTo>
                    <a:pt x="304800" y="0"/>
                  </a:moveTo>
                  <a:lnTo>
                    <a:pt x="352805" y="23622"/>
                  </a:lnTo>
                  <a:lnTo>
                    <a:pt x="336803" y="31242"/>
                  </a:lnTo>
                  <a:lnTo>
                    <a:pt x="304800" y="31242"/>
                  </a:lnTo>
                  <a:lnTo>
                    <a:pt x="30480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2" name="Google Shape;582;p10"/>
            <p:cNvSpPr/>
            <p:nvPr/>
          </p:nvSpPr>
          <p:spPr>
            <a:xfrm>
              <a:off x="3409073" y="2909316"/>
              <a:ext cx="17145" cy="11430"/>
            </a:xfrm>
            <a:custGeom>
              <a:rect b="b" l="l" r="r" t="t"/>
              <a:pathLst>
                <a:path extrusionOk="0" h="11430" w="17145">
                  <a:moveTo>
                    <a:pt x="17053" y="11430"/>
                  </a:moveTo>
                  <a:lnTo>
                    <a:pt x="9905" y="0"/>
                  </a:lnTo>
                  <a:lnTo>
                    <a:pt x="0" y="6858"/>
                  </a:lnTo>
                  <a:lnTo>
                    <a:pt x="2859" y="11430"/>
                  </a:lnTo>
                  <a:lnTo>
                    <a:pt x="17053" y="1143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3" name="Google Shape;583;p10"/>
            <p:cNvSpPr/>
            <p:nvPr/>
          </p:nvSpPr>
          <p:spPr>
            <a:xfrm>
              <a:off x="3409073" y="2909316"/>
              <a:ext cx="17145" cy="11430"/>
            </a:xfrm>
            <a:custGeom>
              <a:rect b="b" l="l" r="r" t="t"/>
              <a:pathLst>
                <a:path extrusionOk="0" h="11430" w="17145">
                  <a:moveTo>
                    <a:pt x="9905" y="0"/>
                  </a:moveTo>
                  <a:lnTo>
                    <a:pt x="17053" y="11430"/>
                  </a:lnTo>
                  <a:lnTo>
                    <a:pt x="2859" y="11430"/>
                  </a:lnTo>
                  <a:lnTo>
                    <a:pt x="0" y="6858"/>
                  </a:lnTo>
                  <a:lnTo>
                    <a:pt x="9905"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4" name="Google Shape;584;p10"/>
            <p:cNvSpPr/>
            <p:nvPr/>
          </p:nvSpPr>
          <p:spPr>
            <a:xfrm>
              <a:off x="7508620" y="2218943"/>
              <a:ext cx="424180" cy="46990"/>
            </a:xfrm>
            <a:custGeom>
              <a:rect b="b" l="l" r="r" t="t"/>
              <a:pathLst>
                <a:path extrusionOk="0" h="46989" w="424179">
                  <a:moveTo>
                    <a:pt x="388620" y="29717"/>
                  </a:moveTo>
                  <a:lnTo>
                    <a:pt x="388620" y="18287"/>
                  </a:lnTo>
                  <a:lnTo>
                    <a:pt x="0" y="18287"/>
                  </a:lnTo>
                  <a:lnTo>
                    <a:pt x="0" y="29717"/>
                  </a:lnTo>
                  <a:lnTo>
                    <a:pt x="388620" y="29717"/>
                  </a:lnTo>
                  <a:close/>
                </a:path>
                <a:path extrusionOk="0" h="46989" w="424179">
                  <a:moveTo>
                    <a:pt x="423672" y="23621"/>
                  </a:moveTo>
                  <a:lnTo>
                    <a:pt x="375666" y="0"/>
                  </a:lnTo>
                  <a:lnTo>
                    <a:pt x="375666" y="18287"/>
                  </a:lnTo>
                  <a:lnTo>
                    <a:pt x="388620" y="18287"/>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5" name="Google Shape;585;p10"/>
            <p:cNvSpPr/>
            <p:nvPr/>
          </p:nvSpPr>
          <p:spPr>
            <a:xfrm>
              <a:off x="7508620" y="2218943"/>
              <a:ext cx="424180" cy="46990"/>
            </a:xfrm>
            <a:custGeom>
              <a:rect b="b" l="l" r="r" t="t"/>
              <a:pathLst>
                <a:path extrusionOk="0" h="46989" w="424179">
                  <a:moveTo>
                    <a:pt x="0" y="29717"/>
                  </a:moveTo>
                  <a:lnTo>
                    <a:pt x="0" y="18287"/>
                  </a:lnTo>
                  <a:lnTo>
                    <a:pt x="388620" y="18287"/>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6" name="Google Shape;586;p10"/>
            <p:cNvSpPr/>
            <p:nvPr/>
          </p:nvSpPr>
          <p:spPr>
            <a:xfrm>
              <a:off x="7508620" y="2571750"/>
              <a:ext cx="424180" cy="46990"/>
            </a:xfrm>
            <a:custGeom>
              <a:rect b="b" l="l" r="r" t="t"/>
              <a:pathLst>
                <a:path extrusionOk="0" h="46989" w="424179">
                  <a:moveTo>
                    <a:pt x="388620" y="29717"/>
                  </a:moveTo>
                  <a:lnTo>
                    <a:pt x="388620" y="18287"/>
                  </a:lnTo>
                  <a:lnTo>
                    <a:pt x="0" y="18287"/>
                  </a:lnTo>
                  <a:lnTo>
                    <a:pt x="0" y="29717"/>
                  </a:lnTo>
                  <a:lnTo>
                    <a:pt x="388620" y="29717"/>
                  </a:lnTo>
                  <a:close/>
                </a:path>
                <a:path extrusionOk="0" h="46989" w="424179">
                  <a:moveTo>
                    <a:pt x="423672" y="23621"/>
                  </a:moveTo>
                  <a:lnTo>
                    <a:pt x="375666" y="0"/>
                  </a:lnTo>
                  <a:lnTo>
                    <a:pt x="375666" y="18287"/>
                  </a:lnTo>
                  <a:lnTo>
                    <a:pt x="388620" y="18287"/>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7" name="Google Shape;587;p10"/>
            <p:cNvSpPr/>
            <p:nvPr/>
          </p:nvSpPr>
          <p:spPr>
            <a:xfrm>
              <a:off x="7508620" y="2571750"/>
              <a:ext cx="424180" cy="46990"/>
            </a:xfrm>
            <a:custGeom>
              <a:rect b="b" l="l" r="r" t="t"/>
              <a:pathLst>
                <a:path extrusionOk="0" h="46989" w="424179">
                  <a:moveTo>
                    <a:pt x="0" y="29717"/>
                  </a:moveTo>
                  <a:lnTo>
                    <a:pt x="0" y="18287"/>
                  </a:lnTo>
                  <a:lnTo>
                    <a:pt x="388620" y="18287"/>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8" name="Google Shape;588;p10"/>
            <p:cNvSpPr/>
            <p:nvPr/>
          </p:nvSpPr>
          <p:spPr>
            <a:xfrm>
              <a:off x="5743841" y="2818637"/>
              <a:ext cx="1765300" cy="102235"/>
            </a:xfrm>
            <a:custGeom>
              <a:rect b="b" l="l" r="r" t="t"/>
              <a:pathLst>
                <a:path extrusionOk="0" h="102235" w="1765300">
                  <a:moveTo>
                    <a:pt x="1764791" y="102108"/>
                  </a:moveTo>
                  <a:lnTo>
                    <a:pt x="1764791" y="0"/>
                  </a:lnTo>
                  <a:lnTo>
                    <a:pt x="0" y="0"/>
                  </a:lnTo>
                  <a:lnTo>
                    <a:pt x="0" y="102108"/>
                  </a:lnTo>
                  <a:lnTo>
                    <a:pt x="1764791" y="102108"/>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89" name="Google Shape;589;p10"/>
            <p:cNvSpPr/>
            <p:nvPr/>
          </p:nvSpPr>
          <p:spPr>
            <a:xfrm>
              <a:off x="5741018" y="2818637"/>
              <a:ext cx="0" cy="102235"/>
            </a:xfrm>
            <a:custGeom>
              <a:rect b="b" l="l" r="r" t="t"/>
              <a:pathLst>
                <a:path extrusionOk="0" h="102235" w="120000">
                  <a:moveTo>
                    <a:pt x="0" y="0"/>
                  </a:moveTo>
                  <a:lnTo>
                    <a:pt x="0" y="102108"/>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0" name="Google Shape;590;p10"/>
            <p:cNvSpPr/>
            <p:nvPr/>
          </p:nvSpPr>
          <p:spPr>
            <a:xfrm>
              <a:off x="5743841" y="2818637"/>
              <a:ext cx="1765300" cy="102235"/>
            </a:xfrm>
            <a:custGeom>
              <a:rect b="b" l="l" r="r" t="t"/>
              <a:pathLst>
                <a:path extrusionOk="0" h="102235" w="1765300">
                  <a:moveTo>
                    <a:pt x="1764792" y="102108"/>
                  </a:moveTo>
                  <a:lnTo>
                    <a:pt x="1764792"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1" name="Google Shape;591;p10"/>
            <p:cNvSpPr/>
            <p:nvPr/>
          </p:nvSpPr>
          <p:spPr>
            <a:xfrm>
              <a:off x="7929483" y="2101595"/>
              <a:ext cx="0" cy="819150"/>
            </a:xfrm>
            <a:custGeom>
              <a:rect b="b" l="l" r="r" t="t"/>
              <a:pathLst>
                <a:path extrusionOk="0" h="819150" w="120000">
                  <a:moveTo>
                    <a:pt x="0" y="0"/>
                  </a:moveTo>
                  <a:lnTo>
                    <a:pt x="0" y="81915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2" name="Google Shape;592;p10"/>
            <p:cNvSpPr/>
            <p:nvPr/>
          </p:nvSpPr>
          <p:spPr>
            <a:xfrm>
              <a:off x="7932305" y="2101595"/>
              <a:ext cx="424180" cy="819150"/>
            </a:xfrm>
            <a:custGeom>
              <a:rect b="b" l="l" r="r" t="t"/>
              <a:pathLst>
                <a:path extrusionOk="0" h="819150" w="424179">
                  <a:moveTo>
                    <a:pt x="423672" y="819150"/>
                  </a:moveTo>
                  <a:lnTo>
                    <a:pt x="423672"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3" name="Google Shape;593;p10"/>
            <p:cNvSpPr/>
            <p:nvPr/>
          </p:nvSpPr>
          <p:spPr>
            <a:xfrm>
              <a:off x="5107571" y="2227325"/>
              <a:ext cx="636270" cy="127635"/>
            </a:xfrm>
            <a:custGeom>
              <a:rect b="b" l="l" r="r" t="t"/>
              <a:pathLst>
                <a:path extrusionOk="0" h="127635" w="636270">
                  <a:moveTo>
                    <a:pt x="589938" y="28809"/>
                  </a:moveTo>
                  <a:lnTo>
                    <a:pt x="588034" y="17195"/>
                  </a:lnTo>
                  <a:lnTo>
                    <a:pt x="0" y="115824"/>
                  </a:lnTo>
                  <a:lnTo>
                    <a:pt x="762" y="127254"/>
                  </a:lnTo>
                  <a:lnTo>
                    <a:pt x="589938" y="28809"/>
                  </a:lnTo>
                  <a:close/>
                </a:path>
                <a:path extrusionOk="0" h="127635" w="636270">
                  <a:moveTo>
                    <a:pt x="636270" y="15240"/>
                  </a:moveTo>
                  <a:lnTo>
                    <a:pt x="585216" y="0"/>
                  </a:lnTo>
                  <a:lnTo>
                    <a:pt x="588034" y="17195"/>
                  </a:lnTo>
                  <a:lnTo>
                    <a:pt x="599694" y="15240"/>
                  </a:lnTo>
                  <a:lnTo>
                    <a:pt x="602742" y="26670"/>
                  </a:lnTo>
                  <a:lnTo>
                    <a:pt x="602742" y="39356"/>
                  </a:lnTo>
                  <a:lnTo>
                    <a:pt x="636270" y="15240"/>
                  </a:lnTo>
                  <a:close/>
                </a:path>
                <a:path extrusionOk="0" h="127635" w="636270">
                  <a:moveTo>
                    <a:pt x="602742" y="26670"/>
                  </a:moveTo>
                  <a:lnTo>
                    <a:pt x="599694" y="15240"/>
                  </a:lnTo>
                  <a:lnTo>
                    <a:pt x="588034" y="17195"/>
                  </a:lnTo>
                  <a:lnTo>
                    <a:pt x="589938" y="28809"/>
                  </a:lnTo>
                  <a:lnTo>
                    <a:pt x="602742" y="26670"/>
                  </a:lnTo>
                  <a:close/>
                </a:path>
                <a:path extrusionOk="0" h="127635" w="636270">
                  <a:moveTo>
                    <a:pt x="602742" y="39356"/>
                  </a:moveTo>
                  <a:lnTo>
                    <a:pt x="602742" y="26670"/>
                  </a:lnTo>
                  <a:lnTo>
                    <a:pt x="589938" y="28809"/>
                  </a:lnTo>
                  <a:lnTo>
                    <a:pt x="592836" y="46482"/>
                  </a:lnTo>
                  <a:lnTo>
                    <a:pt x="602742" y="39356"/>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4" name="Google Shape;594;p10"/>
            <p:cNvSpPr/>
            <p:nvPr/>
          </p:nvSpPr>
          <p:spPr>
            <a:xfrm>
              <a:off x="5107571" y="2227325"/>
              <a:ext cx="636270" cy="127635"/>
            </a:xfrm>
            <a:custGeom>
              <a:rect b="b" l="l" r="r" t="t"/>
              <a:pathLst>
                <a:path extrusionOk="0" h="127635" w="636270">
                  <a:moveTo>
                    <a:pt x="0" y="115824"/>
                  </a:moveTo>
                  <a:lnTo>
                    <a:pt x="599694" y="15240"/>
                  </a:lnTo>
                  <a:lnTo>
                    <a:pt x="602742" y="26670"/>
                  </a:lnTo>
                  <a:lnTo>
                    <a:pt x="762" y="127254"/>
                  </a:lnTo>
                  <a:lnTo>
                    <a:pt x="0" y="115824"/>
                  </a:lnTo>
                  <a:close/>
                </a:path>
                <a:path extrusionOk="0" h="127635" w="636270">
                  <a:moveTo>
                    <a:pt x="585216" y="0"/>
                  </a:moveTo>
                  <a:lnTo>
                    <a:pt x="636270" y="15240"/>
                  </a:lnTo>
                  <a:lnTo>
                    <a:pt x="592836" y="46482"/>
                  </a:lnTo>
                  <a:lnTo>
                    <a:pt x="58521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5" name="Google Shape;595;p10"/>
            <p:cNvSpPr/>
            <p:nvPr/>
          </p:nvSpPr>
          <p:spPr>
            <a:xfrm>
              <a:off x="5102999" y="2345436"/>
              <a:ext cx="285115" cy="575310"/>
            </a:xfrm>
            <a:custGeom>
              <a:rect b="b" l="l" r="r" t="t"/>
              <a:pathLst>
                <a:path extrusionOk="0" h="575310" w="285114">
                  <a:moveTo>
                    <a:pt x="284907" y="575310"/>
                  </a:moveTo>
                  <a:lnTo>
                    <a:pt x="9905" y="0"/>
                  </a:lnTo>
                  <a:lnTo>
                    <a:pt x="0" y="4572"/>
                  </a:lnTo>
                  <a:lnTo>
                    <a:pt x="271827" y="575310"/>
                  </a:lnTo>
                  <a:lnTo>
                    <a:pt x="284907" y="57531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6" name="Google Shape;596;p10"/>
            <p:cNvSpPr/>
            <p:nvPr/>
          </p:nvSpPr>
          <p:spPr>
            <a:xfrm>
              <a:off x="5102999" y="2345436"/>
              <a:ext cx="285115" cy="575310"/>
            </a:xfrm>
            <a:custGeom>
              <a:rect b="b" l="l" r="r" t="t"/>
              <a:pathLst>
                <a:path extrusionOk="0" h="575310" w="285114">
                  <a:moveTo>
                    <a:pt x="9905" y="0"/>
                  </a:moveTo>
                  <a:lnTo>
                    <a:pt x="284907" y="575310"/>
                  </a:lnTo>
                  <a:lnTo>
                    <a:pt x="271827" y="575310"/>
                  </a:lnTo>
                  <a:lnTo>
                    <a:pt x="0" y="4572"/>
                  </a:lnTo>
                  <a:lnTo>
                    <a:pt x="9905"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7" name="Google Shape;597;p10"/>
            <p:cNvSpPr/>
            <p:nvPr/>
          </p:nvSpPr>
          <p:spPr>
            <a:xfrm>
              <a:off x="5106047" y="2595372"/>
              <a:ext cx="638175" cy="322580"/>
            </a:xfrm>
            <a:custGeom>
              <a:rect b="b" l="l" r="r" t="t"/>
              <a:pathLst>
                <a:path extrusionOk="0" h="322580" w="638175">
                  <a:moveTo>
                    <a:pt x="598094" y="26307"/>
                  </a:moveTo>
                  <a:lnTo>
                    <a:pt x="592306" y="15143"/>
                  </a:lnTo>
                  <a:lnTo>
                    <a:pt x="0" y="312420"/>
                  </a:lnTo>
                  <a:lnTo>
                    <a:pt x="3810" y="322326"/>
                  </a:lnTo>
                  <a:lnTo>
                    <a:pt x="598094" y="26307"/>
                  </a:lnTo>
                  <a:close/>
                </a:path>
                <a:path extrusionOk="0" h="322580" w="638175">
                  <a:moveTo>
                    <a:pt x="637794" y="0"/>
                  </a:moveTo>
                  <a:lnTo>
                    <a:pt x="584454" y="0"/>
                  </a:lnTo>
                  <a:lnTo>
                    <a:pt x="592306" y="15143"/>
                  </a:lnTo>
                  <a:lnTo>
                    <a:pt x="602742" y="9906"/>
                  </a:lnTo>
                  <a:lnTo>
                    <a:pt x="608076" y="21336"/>
                  </a:lnTo>
                  <a:lnTo>
                    <a:pt x="608076" y="38208"/>
                  </a:lnTo>
                  <a:lnTo>
                    <a:pt x="637794" y="0"/>
                  </a:lnTo>
                  <a:close/>
                </a:path>
                <a:path extrusionOk="0" h="322580" w="638175">
                  <a:moveTo>
                    <a:pt x="608076" y="21336"/>
                  </a:moveTo>
                  <a:lnTo>
                    <a:pt x="602742" y="9906"/>
                  </a:lnTo>
                  <a:lnTo>
                    <a:pt x="592306" y="15143"/>
                  </a:lnTo>
                  <a:lnTo>
                    <a:pt x="598094" y="26307"/>
                  </a:lnTo>
                  <a:lnTo>
                    <a:pt x="608076" y="21336"/>
                  </a:lnTo>
                  <a:close/>
                </a:path>
                <a:path extrusionOk="0" h="322580" w="638175">
                  <a:moveTo>
                    <a:pt x="608076" y="38208"/>
                  </a:moveTo>
                  <a:lnTo>
                    <a:pt x="608076" y="21336"/>
                  </a:lnTo>
                  <a:lnTo>
                    <a:pt x="598094" y="26307"/>
                  </a:lnTo>
                  <a:lnTo>
                    <a:pt x="605790" y="41148"/>
                  </a:lnTo>
                  <a:lnTo>
                    <a:pt x="608076" y="38208"/>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8" name="Google Shape;598;p10"/>
            <p:cNvSpPr/>
            <p:nvPr/>
          </p:nvSpPr>
          <p:spPr>
            <a:xfrm>
              <a:off x="5106047" y="2595372"/>
              <a:ext cx="638175" cy="322580"/>
            </a:xfrm>
            <a:custGeom>
              <a:rect b="b" l="l" r="r" t="t"/>
              <a:pathLst>
                <a:path extrusionOk="0" h="322580" w="638175">
                  <a:moveTo>
                    <a:pt x="0" y="312420"/>
                  </a:moveTo>
                  <a:lnTo>
                    <a:pt x="602742" y="9906"/>
                  </a:lnTo>
                  <a:lnTo>
                    <a:pt x="608076" y="21336"/>
                  </a:lnTo>
                  <a:lnTo>
                    <a:pt x="3810" y="322326"/>
                  </a:lnTo>
                  <a:lnTo>
                    <a:pt x="0" y="312420"/>
                  </a:lnTo>
                  <a:close/>
                </a:path>
                <a:path extrusionOk="0" h="322580" w="638175">
                  <a:moveTo>
                    <a:pt x="584454" y="0"/>
                  </a:moveTo>
                  <a:lnTo>
                    <a:pt x="637794" y="0"/>
                  </a:lnTo>
                  <a:lnTo>
                    <a:pt x="605790" y="41148"/>
                  </a:lnTo>
                  <a:lnTo>
                    <a:pt x="584454"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599" name="Google Shape;599;p10"/>
            <p:cNvSpPr/>
            <p:nvPr/>
          </p:nvSpPr>
          <p:spPr>
            <a:xfrm>
              <a:off x="5107571" y="2906268"/>
              <a:ext cx="194310" cy="13970"/>
            </a:xfrm>
            <a:custGeom>
              <a:rect b="b" l="l" r="r" t="t"/>
              <a:pathLst>
                <a:path extrusionOk="0" h="13969" w="194310">
                  <a:moveTo>
                    <a:pt x="0" y="13715"/>
                  </a:moveTo>
                  <a:lnTo>
                    <a:pt x="194129" y="13715"/>
                  </a:lnTo>
                  <a:lnTo>
                    <a:pt x="194129" y="0"/>
                  </a:lnTo>
                  <a:lnTo>
                    <a:pt x="0" y="0"/>
                  </a:lnTo>
                  <a:lnTo>
                    <a:pt x="0" y="13715"/>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00" name="Google Shape;600;p10"/>
            <p:cNvSpPr/>
            <p:nvPr/>
          </p:nvSpPr>
          <p:spPr>
            <a:xfrm>
              <a:off x="5107571" y="2906268"/>
              <a:ext cx="194310" cy="14604"/>
            </a:xfrm>
            <a:custGeom>
              <a:rect b="b" l="l" r="r" t="t"/>
              <a:pathLst>
                <a:path extrusionOk="0" h="14605" w="194310">
                  <a:moveTo>
                    <a:pt x="762" y="0"/>
                  </a:moveTo>
                  <a:lnTo>
                    <a:pt x="194129" y="14477"/>
                  </a:lnTo>
                  <a:lnTo>
                    <a:pt x="21041" y="14477"/>
                  </a:lnTo>
                  <a:lnTo>
                    <a:pt x="0" y="12953"/>
                  </a:lnTo>
                  <a:lnTo>
                    <a:pt x="762"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01" name="Google Shape;601;p10"/>
            <p:cNvSpPr/>
            <p:nvPr/>
          </p:nvSpPr>
          <p:spPr>
            <a:xfrm>
              <a:off x="5102999" y="2910839"/>
              <a:ext cx="15875" cy="10160"/>
            </a:xfrm>
            <a:custGeom>
              <a:rect b="b" l="l" r="r" t="t"/>
              <a:pathLst>
                <a:path extrusionOk="0" h="10160" w="15875">
                  <a:moveTo>
                    <a:pt x="15500" y="9905"/>
                  </a:moveTo>
                  <a:lnTo>
                    <a:pt x="9905" y="0"/>
                  </a:lnTo>
                  <a:lnTo>
                    <a:pt x="0" y="5334"/>
                  </a:lnTo>
                  <a:lnTo>
                    <a:pt x="2585" y="9905"/>
                  </a:lnTo>
                  <a:lnTo>
                    <a:pt x="15500" y="9905"/>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02" name="Google Shape;602;p10"/>
            <p:cNvSpPr/>
            <p:nvPr/>
          </p:nvSpPr>
          <p:spPr>
            <a:xfrm>
              <a:off x="5102999" y="2910839"/>
              <a:ext cx="15875" cy="10160"/>
            </a:xfrm>
            <a:custGeom>
              <a:rect b="b" l="l" r="r" t="t"/>
              <a:pathLst>
                <a:path extrusionOk="0" h="10160" w="15875">
                  <a:moveTo>
                    <a:pt x="9905" y="0"/>
                  </a:moveTo>
                  <a:lnTo>
                    <a:pt x="15500" y="9905"/>
                  </a:lnTo>
                  <a:lnTo>
                    <a:pt x="2585" y="9905"/>
                  </a:lnTo>
                  <a:lnTo>
                    <a:pt x="0" y="5334"/>
                  </a:lnTo>
                  <a:lnTo>
                    <a:pt x="9905"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03" name="Google Shape;603;p10"/>
            <p:cNvSpPr/>
            <p:nvPr/>
          </p:nvSpPr>
          <p:spPr>
            <a:xfrm>
              <a:off x="5607262" y="2595371"/>
              <a:ext cx="141605" cy="325755"/>
            </a:xfrm>
            <a:custGeom>
              <a:rect b="b" l="l" r="r" t="t"/>
              <a:pathLst>
                <a:path extrusionOk="0" h="325755" w="141604">
                  <a:moveTo>
                    <a:pt x="124086" y="46104"/>
                  </a:moveTo>
                  <a:lnTo>
                    <a:pt x="113362" y="42037"/>
                  </a:lnTo>
                  <a:lnTo>
                    <a:pt x="0" y="325374"/>
                  </a:lnTo>
                  <a:lnTo>
                    <a:pt x="12515" y="325374"/>
                  </a:lnTo>
                  <a:lnTo>
                    <a:pt x="124086" y="46104"/>
                  </a:lnTo>
                  <a:close/>
                </a:path>
                <a:path extrusionOk="0" h="325755" w="141604">
                  <a:moveTo>
                    <a:pt x="141151" y="52577"/>
                  </a:moveTo>
                  <a:lnTo>
                    <a:pt x="136579" y="0"/>
                  </a:lnTo>
                  <a:lnTo>
                    <a:pt x="96955" y="35813"/>
                  </a:lnTo>
                  <a:lnTo>
                    <a:pt x="113362" y="42037"/>
                  </a:lnTo>
                  <a:lnTo>
                    <a:pt x="118291" y="29718"/>
                  </a:lnTo>
                  <a:lnTo>
                    <a:pt x="128197" y="35813"/>
                  </a:lnTo>
                  <a:lnTo>
                    <a:pt x="128197" y="47664"/>
                  </a:lnTo>
                  <a:lnTo>
                    <a:pt x="141151" y="52577"/>
                  </a:lnTo>
                  <a:close/>
                </a:path>
                <a:path extrusionOk="0" h="325755" w="141604">
                  <a:moveTo>
                    <a:pt x="128197" y="35813"/>
                  </a:moveTo>
                  <a:lnTo>
                    <a:pt x="118291" y="29718"/>
                  </a:lnTo>
                  <a:lnTo>
                    <a:pt x="113362" y="42037"/>
                  </a:lnTo>
                  <a:lnTo>
                    <a:pt x="124086" y="46104"/>
                  </a:lnTo>
                  <a:lnTo>
                    <a:pt x="128197" y="35813"/>
                  </a:lnTo>
                  <a:close/>
                </a:path>
                <a:path extrusionOk="0" h="325755" w="141604">
                  <a:moveTo>
                    <a:pt x="128197" y="47664"/>
                  </a:moveTo>
                  <a:lnTo>
                    <a:pt x="128197" y="35813"/>
                  </a:lnTo>
                  <a:lnTo>
                    <a:pt x="124086" y="46104"/>
                  </a:lnTo>
                  <a:lnTo>
                    <a:pt x="128197" y="47664"/>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04" name="Google Shape;604;p10"/>
            <p:cNvSpPr/>
            <p:nvPr/>
          </p:nvSpPr>
          <p:spPr>
            <a:xfrm>
              <a:off x="5607262" y="2595371"/>
              <a:ext cx="141605" cy="325755"/>
            </a:xfrm>
            <a:custGeom>
              <a:rect b="b" l="l" r="r" t="t"/>
              <a:pathLst>
                <a:path extrusionOk="0" h="325755" w="141604">
                  <a:moveTo>
                    <a:pt x="12515" y="325374"/>
                  </a:moveTo>
                  <a:lnTo>
                    <a:pt x="0" y="325374"/>
                  </a:lnTo>
                  <a:lnTo>
                    <a:pt x="118291" y="29718"/>
                  </a:lnTo>
                  <a:lnTo>
                    <a:pt x="128197" y="35813"/>
                  </a:lnTo>
                  <a:lnTo>
                    <a:pt x="12515" y="325374"/>
                  </a:lnTo>
                </a:path>
                <a:path extrusionOk="0" h="325755" w="141604">
                  <a:moveTo>
                    <a:pt x="96955" y="35813"/>
                  </a:moveTo>
                  <a:lnTo>
                    <a:pt x="136579" y="0"/>
                  </a:lnTo>
                  <a:lnTo>
                    <a:pt x="141151" y="52577"/>
                  </a:lnTo>
                  <a:lnTo>
                    <a:pt x="96955" y="35813"/>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05" name="Google Shape;605;p10"/>
          <p:cNvSpPr txBox="1"/>
          <p:nvPr/>
        </p:nvSpPr>
        <p:spPr>
          <a:xfrm>
            <a:off x="3497790" y="1477492"/>
            <a:ext cx="912097" cy="193572"/>
          </a:xfrm>
          <a:prstGeom prst="rect">
            <a:avLst/>
          </a:prstGeom>
          <a:solidFill>
            <a:srgbClr val="DDDDDD"/>
          </a:solidFill>
          <a:ln cap="flat" cmpd="sng" w="11275">
            <a:solidFill>
              <a:srgbClr val="081D58"/>
            </a:solidFill>
            <a:prstDash val="solid"/>
            <a:round/>
            <a:headEnd len="sm" w="sm" type="none"/>
            <a:tailEnd len="sm" w="sm" type="none"/>
          </a:ln>
        </p:spPr>
        <p:txBody>
          <a:bodyPr anchorCtr="0" anchor="t" bIns="0" lIns="0" spcFirstLastPara="1" rIns="0" wrap="square" tIns="41450">
            <a:spAutoFit/>
          </a:bodyPr>
          <a:lstStyle/>
          <a:p>
            <a:pPr indent="0" lvl="0" marL="160221" marR="0" rtl="0" algn="l">
              <a:lnSpc>
                <a:spcPct val="1000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Usabilidad</a:t>
            </a:r>
            <a:endParaRPr b="0" i="0" sz="986" u="none" cap="none" strike="noStrike">
              <a:solidFill>
                <a:srgbClr val="000000"/>
              </a:solidFill>
              <a:latin typeface="Times New Roman"/>
              <a:ea typeface="Times New Roman"/>
              <a:cs typeface="Times New Roman"/>
              <a:sym typeface="Times New Roman"/>
            </a:endParaRPr>
          </a:p>
        </p:txBody>
      </p:sp>
      <p:grpSp>
        <p:nvGrpSpPr>
          <p:cNvPr id="606" name="Google Shape;606;p10"/>
          <p:cNvGrpSpPr/>
          <p:nvPr/>
        </p:nvGrpSpPr>
        <p:grpSpPr>
          <a:xfrm>
            <a:off x="3497790" y="1861507"/>
            <a:ext cx="912096" cy="125240"/>
            <a:chOff x="3767213" y="2737104"/>
            <a:chExt cx="1341120" cy="184150"/>
          </a:xfrm>
        </p:grpSpPr>
        <p:sp>
          <p:nvSpPr>
            <p:cNvPr id="607" name="Google Shape;607;p10"/>
            <p:cNvSpPr/>
            <p:nvPr/>
          </p:nvSpPr>
          <p:spPr>
            <a:xfrm>
              <a:off x="3767213" y="2737104"/>
              <a:ext cx="1341120" cy="184150"/>
            </a:xfrm>
            <a:custGeom>
              <a:rect b="b" l="l" r="r" t="t"/>
              <a:pathLst>
                <a:path extrusionOk="0" h="184150" w="1341120">
                  <a:moveTo>
                    <a:pt x="1341120" y="183642"/>
                  </a:moveTo>
                  <a:lnTo>
                    <a:pt x="1341120" y="0"/>
                  </a:lnTo>
                  <a:lnTo>
                    <a:pt x="0" y="0"/>
                  </a:lnTo>
                  <a:lnTo>
                    <a:pt x="0" y="183642"/>
                  </a:lnTo>
                  <a:lnTo>
                    <a:pt x="1341120" y="183642"/>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08" name="Google Shape;608;p10"/>
            <p:cNvSpPr/>
            <p:nvPr/>
          </p:nvSpPr>
          <p:spPr>
            <a:xfrm>
              <a:off x="3767213" y="2737104"/>
              <a:ext cx="1341120" cy="184150"/>
            </a:xfrm>
            <a:custGeom>
              <a:rect b="b" l="l" r="r" t="t"/>
              <a:pathLst>
                <a:path extrusionOk="0" h="184150" w="1341120">
                  <a:moveTo>
                    <a:pt x="0" y="0"/>
                  </a:moveTo>
                  <a:lnTo>
                    <a:pt x="0" y="183641"/>
                  </a:lnTo>
                </a:path>
                <a:path extrusionOk="0" h="184150" w="1341120">
                  <a:moveTo>
                    <a:pt x="1341120" y="183641"/>
                  </a:moveTo>
                  <a:lnTo>
                    <a:pt x="1341120"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09" name="Google Shape;609;p10"/>
          <p:cNvSpPr txBox="1"/>
          <p:nvPr/>
        </p:nvSpPr>
        <p:spPr>
          <a:xfrm>
            <a:off x="3524107" y="1850395"/>
            <a:ext cx="904755" cy="162611"/>
          </a:xfrm>
          <a:prstGeom prst="rect">
            <a:avLst/>
          </a:prstGeom>
          <a:noFill/>
          <a:ln>
            <a:noFill/>
          </a:ln>
        </p:spPr>
        <p:txBody>
          <a:bodyPr anchorCtr="0" anchor="t" bIns="0" lIns="0" spcFirstLastPara="1" rIns="0" wrap="square" tIns="10775">
            <a:spAutoFit/>
          </a:bodyPr>
          <a:lstStyle/>
          <a:p>
            <a:pPr indent="0" lvl="0" marL="170154" marR="0" rtl="0" algn="l">
              <a:lnSpc>
                <a:spcPct val="1000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Fiabilidad</a:t>
            </a:r>
            <a:endParaRPr b="0" i="0" sz="986" u="none" cap="none" strike="noStrike">
              <a:solidFill>
                <a:srgbClr val="000000"/>
              </a:solidFill>
              <a:latin typeface="Times New Roman"/>
              <a:ea typeface="Times New Roman"/>
              <a:cs typeface="Times New Roman"/>
              <a:sym typeface="Times New Roman"/>
            </a:endParaRPr>
          </a:p>
        </p:txBody>
      </p:sp>
      <p:sp>
        <p:nvSpPr>
          <p:cNvPr id="610" name="Google Shape;610;p10"/>
          <p:cNvSpPr txBox="1"/>
          <p:nvPr/>
        </p:nvSpPr>
        <p:spPr>
          <a:xfrm>
            <a:off x="5029175" y="1466516"/>
            <a:ext cx="826588"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CoCommuuninicacatitividadvidad</a:t>
            </a:r>
            <a:endParaRPr b="0" i="0" sz="884" u="none" cap="none" strike="noStrike">
              <a:solidFill>
                <a:srgbClr val="000000"/>
              </a:solidFill>
              <a:latin typeface="Times New Roman"/>
              <a:ea typeface="Times New Roman"/>
              <a:cs typeface="Times New Roman"/>
              <a:sym typeface="Times New Roman"/>
            </a:endParaRPr>
          </a:p>
        </p:txBody>
      </p:sp>
      <p:sp>
        <p:nvSpPr>
          <p:cNvPr id="611" name="Google Shape;611;p10"/>
          <p:cNvSpPr txBox="1"/>
          <p:nvPr/>
        </p:nvSpPr>
        <p:spPr>
          <a:xfrm>
            <a:off x="5209004" y="1706460"/>
            <a:ext cx="466845"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ExExactituactitudd</a:t>
            </a:r>
            <a:endParaRPr b="0" i="0" sz="884" u="none" cap="none" strike="noStrike">
              <a:solidFill>
                <a:srgbClr val="000000"/>
              </a:solidFill>
              <a:latin typeface="Times New Roman"/>
              <a:ea typeface="Times New Roman"/>
              <a:cs typeface="Times New Roman"/>
              <a:sym typeface="Times New Roman"/>
            </a:endParaRPr>
          </a:p>
        </p:txBody>
      </p:sp>
      <p:grpSp>
        <p:nvGrpSpPr>
          <p:cNvPr id="612" name="Google Shape;612;p10"/>
          <p:cNvGrpSpPr/>
          <p:nvPr/>
        </p:nvGrpSpPr>
        <p:grpSpPr>
          <a:xfrm>
            <a:off x="2537497" y="1509105"/>
            <a:ext cx="3793312" cy="477641"/>
            <a:chOff x="2355227" y="2218944"/>
            <a:chExt cx="5577574" cy="702310"/>
          </a:xfrm>
        </p:grpSpPr>
        <p:sp>
          <p:nvSpPr>
            <p:cNvPr id="613" name="Google Shape;613;p10"/>
            <p:cNvSpPr/>
            <p:nvPr/>
          </p:nvSpPr>
          <p:spPr>
            <a:xfrm>
              <a:off x="2355227" y="2525268"/>
              <a:ext cx="1059180" cy="395605"/>
            </a:xfrm>
            <a:custGeom>
              <a:rect b="b" l="l" r="r" t="t"/>
              <a:pathLst>
                <a:path extrusionOk="0" h="395605" w="1059179">
                  <a:moveTo>
                    <a:pt x="1059180" y="395477"/>
                  </a:moveTo>
                  <a:lnTo>
                    <a:pt x="1059180" y="0"/>
                  </a:lnTo>
                  <a:lnTo>
                    <a:pt x="0" y="0"/>
                  </a:lnTo>
                  <a:lnTo>
                    <a:pt x="0" y="395478"/>
                  </a:lnTo>
                  <a:lnTo>
                    <a:pt x="1059180" y="395477"/>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14" name="Google Shape;614;p10"/>
            <p:cNvSpPr/>
            <p:nvPr/>
          </p:nvSpPr>
          <p:spPr>
            <a:xfrm>
              <a:off x="2355227" y="2525268"/>
              <a:ext cx="1059180" cy="395605"/>
            </a:xfrm>
            <a:custGeom>
              <a:rect b="b" l="l" r="r" t="t"/>
              <a:pathLst>
                <a:path extrusionOk="0" h="395605" w="1059179">
                  <a:moveTo>
                    <a:pt x="0" y="0"/>
                  </a:moveTo>
                  <a:lnTo>
                    <a:pt x="0" y="395478"/>
                  </a:lnTo>
                </a:path>
                <a:path extrusionOk="0" h="395605" w="1059179">
                  <a:moveTo>
                    <a:pt x="1059179" y="395478"/>
                  </a:moveTo>
                  <a:lnTo>
                    <a:pt x="1059179"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15" name="Google Shape;615;p10"/>
            <p:cNvSpPr/>
            <p:nvPr/>
          </p:nvSpPr>
          <p:spPr>
            <a:xfrm>
              <a:off x="3409073" y="2348484"/>
              <a:ext cx="358140" cy="567690"/>
            </a:xfrm>
            <a:custGeom>
              <a:rect b="b" l="l" r="r" t="t"/>
              <a:pathLst>
                <a:path extrusionOk="0" h="567689" w="358139">
                  <a:moveTo>
                    <a:pt x="338062" y="42938"/>
                  </a:moveTo>
                  <a:lnTo>
                    <a:pt x="328319" y="36567"/>
                  </a:lnTo>
                  <a:lnTo>
                    <a:pt x="0" y="560832"/>
                  </a:lnTo>
                  <a:lnTo>
                    <a:pt x="9906" y="567690"/>
                  </a:lnTo>
                  <a:lnTo>
                    <a:pt x="338062" y="42938"/>
                  </a:lnTo>
                  <a:close/>
                </a:path>
                <a:path extrusionOk="0" h="567689" w="358139">
                  <a:moveTo>
                    <a:pt x="358139" y="0"/>
                  </a:moveTo>
                  <a:lnTo>
                    <a:pt x="313181" y="26670"/>
                  </a:lnTo>
                  <a:lnTo>
                    <a:pt x="328319" y="36567"/>
                  </a:lnTo>
                  <a:lnTo>
                    <a:pt x="334517" y="26670"/>
                  </a:lnTo>
                  <a:lnTo>
                    <a:pt x="344423" y="32766"/>
                  </a:lnTo>
                  <a:lnTo>
                    <a:pt x="344423" y="47097"/>
                  </a:lnTo>
                  <a:lnTo>
                    <a:pt x="352805" y="52578"/>
                  </a:lnTo>
                  <a:lnTo>
                    <a:pt x="358139" y="0"/>
                  </a:lnTo>
                  <a:close/>
                </a:path>
                <a:path extrusionOk="0" h="567689" w="358139">
                  <a:moveTo>
                    <a:pt x="344423" y="32766"/>
                  </a:moveTo>
                  <a:lnTo>
                    <a:pt x="334517" y="26670"/>
                  </a:lnTo>
                  <a:lnTo>
                    <a:pt x="328319" y="36567"/>
                  </a:lnTo>
                  <a:lnTo>
                    <a:pt x="338062" y="42938"/>
                  </a:lnTo>
                  <a:lnTo>
                    <a:pt x="344423" y="32766"/>
                  </a:lnTo>
                  <a:close/>
                </a:path>
                <a:path extrusionOk="0" h="567689" w="358139">
                  <a:moveTo>
                    <a:pt x="344423" y="47097"/>
                  </a:moveTo>
                  <a:lnTo>
                    <a:pt x="344423" y="32766"/>
                  </a:lnTo>
                  <a:lnTo>
                    <a:pt x="338062" y="42938"/>
                  </a:lnTo>
                  <a:lnTo>
                    <a:pt x="344423" y="4709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16" name="Google Shape;616;p10"/>
            <p:cNvSpPr/>
            <p:nvPr/>
          </p:nvSpPr>
          <p:spPr>
            <a:xfrm>
              <a:off x="3409073" y="2348484"/>
              <a:ext cx="358140" cy="567690"/>
            </a:xfrm>
            <a:custGeom>
              <a:rect b="b" l="l" r="r" t="t"/>
              <a:pathLst>
                <a:path extrusionOk="0" h="567689" w="358139">
                  <a:moveTo>
                    <a:pt x="0" y="560832"/>
                  </a:moveTo>
                  <a:lnTo>
                    <a:pt x="334517" y="26670"/>
                  </a:lnTo>
                  <a:lnTo>
                    <a:pt x="344423" y="32766"/>
                  </a:lnTo>
                  <a:lnTo>
                    <a:pt x="9906" y="567690"/>
                  </a:lnTo>
                  <a:lnTo>
                    <a:pt x="0" y="560832"/>
                  </a:lnTo>
                  <a:close/>
                </a:path>
                <a:path extrusionOk="0" h="567689" w="358139">
                  <a:moveTo>
                    <a:pt x="313181" y="26670"/>
                  </a:moveTo>
                  <a:lnTo>
                    <a:pt x="358139" y="0"/>
                  </a:lnTo>
                  <a:lnTo>
                    <a:pt x="352805" y="52578"/>
                  </a:lnTo>
                  <a:lnTo>
                    <a:pt x="313181" y="2667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17" name="Google Shape;617;p10"/>
            <p:cNvSpPr/>
            <p:nvPr/>
          </p:nvSpPr>
          <p:spPr>
            <a:xfrm>
              <a:off x="3414407" y="2889504"/>
              <a:ext cx="353060" cy="31750"/>
            </a:xfrm>
            <a:custGeom>
              <a:rect b="b" l="l" r="r" t="t"/>
              <a:pathLst>
                <a:path extrusionOk="0" h="31750" w="353060">
                  <a:moveTo>
                    <a:pt x="317753" y="29717"/>
                  </a:moveTo>
                  <a:lnTo>
                    <a:pt x="317753" y="16763"/>
                  </a:lnTo>
                  <a:lnTo>
                    <a:pt x="0" y="16763"/>
                  </a:lnTo>
                  <a:lnTo>
                    <a:pt x="0" y="29717"/>
                  </a:lnTo>
                  <a:lnTo>
                    <a:pt x="317753" y="29717"/>
                  </a:lnTo>
                  <a:close/>
                </a:path>
                <a:path extrusionOk="0" h="31750" w="353060">
                  <a:moveTo>
                    <a:pt x="352805" y="23622"/>
                  </a:moveTo>
                  <a:lnTo>
                    <a:pt x="304800" y="0"/>
                  </a:lnTo>
                  <a:lnTo>
                    <a:pt x="304800" y="16763"/>
                  </a:lnTo>
                  <a:lnTo>
                    <a:pt x="317753" y="16763"/>
                  </a:lnTo>
                  <a:lnTo>
                    <a:pt x="317753" y="31242"/>
                  </a:lnTo>
                  <a:lnTo>
                    <a:pt x="336803" y="31242"/>
                  </a:lnTo>
                  <a:lnTo>
                    <a:pt x="352805" y="23622"/>
                  </a:lnTo>
                  <a:close/>
                </a:path>
                <a:path extrusionOk="0" h="31750" w="353060">
                  <a:moveTo>
                    <a:pt x="317753" y="31242"/>
                  </a:moveTo>
                  <a:lnTo>
                    <a:pt x="317753" y="29717"/>
                  </a:lnTo>
                  <a:lnTo>
                    <a:pt x="304800" y="29717"/>
                  </a:lnTo>
                  <a:lnTo>
                    <a:pt x="304800" y="31242"/>
                  </a:lnTo>
                  <a:lnTo>
                    <a:pt x="317753" y="31242"/>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18" name="Google Shape;618;p10"/>
            <p:cNvSpPr/>
            <p:nvPr/>
          </p:nvSpPr>
          <p:spPr>
            <a:xfrm>
              <a:off x="3414407" y="2889504"/>
              <a:ext cx="353060" cy="31750"/>
            </a:xfrm>
            <a:custGeom>
              <a:rect b="b" l="l" r="r" t="t"/>
              <a:pathLst>
                <a:path extrusionOk="0" h="31750" w="353060">
                  <a:moveTo>
                    <a:pt x="0" y="29717"/>
                  </a:moveTo>
                  <a:lnTo>
                    <a:pt x="0" y="16763"/>
                  </a:lnTo>
                  <a:lnTo>
                    <a:pt x="317753" y="16763"/>
                  </a:lnTo>
                  <a:lnTo>
                    <a:pt x="317753" y="29717"/>
                  </a:lnTo>
                  <a:lnTo>
                    <a:pt x="0" y="29717"/>
                  </a:lnTo>
                </a:path>
                <a:path extrusionOk="0" h="31750" w="353060">
                  <a:moveTo>
                    <a:pt x="304800" y="0"/>
                  </a:moveTo>
                  <a:lnTo>
                    <a:pt x="352805" y="23622"/>
                  </a:lnTo>
                  <a:lnTo>
                    <a:pt x="336803" y="31242"/>
                  </a:lnTo>
                  <a:lnTo>
                    <a:pt x="304800" y="31242"/>
                  </a:lnTo>
                  <a:lnTo>
                    <a:pt x="30480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19" name="Google Shape;619;p10"/>
            <p:cNvSpPr/>
            <p:nvPr/>
          </p:nvSpPr>
          <p:spPr>
            <a:xfrm>
              <a:off x="3409073" y="2909316"/>
              <a:ext cx="17145" cy="11430"/>
            </a:xfrm>
            <a:custGeom>
              <a:rect b="b" l="l" r="r" t="t"/>
              <a:pathLst>
                <a:path extrusionOk="0" h="11430" w="17145">
                  <a:moveTo>
                    <a:pt x="17053" y="11430"/>
                  </a:moveTo>
                  <a:lnTo>
                    <a:pt x="9905" y="0"/>
                  </a:lnTo>
                  <a:lnTo>
                    <a:pt x="0" y="6858"/>
                  </a:lnTo>
                  <a:lnTo>
                    <a:pt x="2859" y="11430"/>
                  </a:lnTo>
                  <a:lnTo>
                    <a:pt x="17053" y="1143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20" name="Google Shape;620;p10"/>
            <p:cNvSpPr/>
            <p:nvPr/>
          </p:nvSpPr>
          <p:spPr>
            <a:xfrm>
              <a:off x="3409073" y="2909316"/>
              <a:ext cx="17145" cy="11430"/>
            </a:xfrm>
            <a:custGeom>
              <a:rect b="b" l="l" r="r" t="t"/>
              <a:pathLst>
                <a:path extrusionOk="0" h="11430" w="17145">
                  <a:moveTo>
                    <a:pt x="9905" y="0"/>
                  </a:moveTo>
                  <a:lnTo>
                    <a:pt x="17053" y="11430"/>
                  </a:lnTo>
                  <a:lnTo>
                    <a:pt x="2859" y="11430"/>
                  </a:lnTo>
                  <a:lnTo>
                    <a:pt x="0" y="6858"/>
                  </a:lnTo>
                  <a:lnTo>
                    <a:pt x="9905"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21" name="Google Shape;621;p10"/>
            <p:cNvSpPr/>
            <p:nvPr/>
          </p:nvSpPr>
          <p:spPr>
            <a:xfrm>
              <a:off x="7508621" y="2218944"/>
              <a:ext cx="424180" cy="46990"/>
            </a:xfrm>
            <a:custGeom>
              <a:rect b="b" l="l" r="r" t="t"/>
              <a:pathLst>
                <a:path extrusionOk="0" h="46989" w="424179">
                  <a:moveTo>
                    <a:pt x="388620" y="29717"/>
                  </a:moveTo>
                  <a:lnTo>
                    <a:pt x="388620" y="18287"/>
                  </a:lnTo>
                  <a:lnTo>
                    <a:pt x="0" y="18287"/>
                  </a:lnTo>
                  <a:lnTo>
                    <a:pt x="0" y="29717"/>
                  </a:lnTo>
                  <a:lnTo>
                    <a:pt x="388620" y="29717"/>
                  </a:lnTo>
                  <a:close/>
                </a:path>
                <a:path extrusionOk="0" h="46989" w="424179">
                  <a:moveTo>
                    <a:pt x="423672" y="23621"/>
                  </a:moveTo>
                  <a:lnTo>
                    <a:pt x="375666" y="0"/>
                  </a:lnTo>
                  <a:lnTo>
                    <a:pt x="375666" y="18287"/>
                  </a:lnTo>
                  <a:lnTo>
                    <a:pt x="388620" y="18287"/>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22" name="Google Shape;622;p10"/>
            <p:cNvSpPr/>
            <p:nvPr/>
          </p:nvSpPr>
          <p:spPr>
            <a:xfrm>
              <a:off x="7508621" y="2218944"/>
              <a:ext cx="424180" cy="46990"/>
            </a:xfrm>
            <a:custGeom>
              <a:rect b="b" l="l" r="r" t="t"/>
              <a:pathLst>
                <a:path extrusionOk="0" h="46989" w="424179">
                  <a:moveTo>
                    <a:pt x="0" y="29717"/>
                  </a:moveTo>
                  <a:lnTo>
                    <a:pt x="0" y="18287"/>
                  </a:lnTo>
                  <a:lnTo>
                    <a:pt x="388620" y="18287"/>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23" name="Google Shape;623;p10"/>
            <p:cNvSpPr/>
            <p:nvPr/>
          </p:nvSpPr>
          <p:spPr>
            <a:xfrm>
              <a:off x="7508621" y="2571750"/>
              <a:ext cx="424180" cy="46990"/>
            </a:xfrm>
            <a:custGeom>
              <a:rect b="b" l="l" r="r" t="t"/>
              <a:pathLst>
                <a:path extrusionOk="0" h="46989" w="424179">
                  <a:moveTo>
                    <a:pt x="388620" y="29717"/>
                  </a:moveTo>
                  <a:lnTo>
                    <a:pt x="388620" y="18287"/>
                  </a:lnTo>
                  <a:lnTo>
                    <a:pt x="0" y="18287"/>
                  </a:lnTo>
                  <a:lnTo>
                    <a:pt x="0" y="29717"/>
                  </a:lnTo>
                  <a:lnTo>
                    <a:pt x="388620" y="29717"/>
                  </a:lnTo>
                  <a:close/>
                </a:path>
                <a:path extrusionOk="0" h="46989" w="424179">
                  <a:moveTo>
                    <a:pt x="423672" y="23621"/>
                  </a:moveTo>
                  <a:lnTo>
                    <a:pt x="375666" y="0"/>
                  </a:lnTo>
                  <a:lnTo>
                    <a:pt x="375666" y="18287"/>
                  </a:lnTo>
                  <a:lnTo>
                    <a:pt x="388620" y="18287"/>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24" name="Google Shape;624;p10"/>
            <p:cNvSpPr/>
            <p:nvPr/>
          </p:nvSpPr>
          <p:spPr>
            <a:xfrm>
              <a:off x="7508621" y="2571750"/>
              <a:ext cx="424180" cy="46990"/>
            </a:xfrm>
            <a:custGeom>
              <a:rect b="b" l="l" r="r" t="t"/>
              <a:pathLst>
                <a:path extrusionOk="0" h="46989" w="424179">
                  <a:moveTo>
                    <a:pt x="0" y="29717"/>
                  </a:moveTo>
                  <a:lnTo>
                    <a:pt x="0" y="18287"/>
                  </a:lnTo>
                  <a:lnTo>
                    <a:pt x="388620" y="18287"/>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25" name="Google Shape;625;p10"/>
            <p:cNvSpPr/>
            <p:nvPr/>
          </p:nvSpPr>
          <p:spPr>
            <a:xfrm>
              <a:off x="5741019" y="2818638"/>
              <a:ext cx="0" cy="102235"/>
            </a:xfrm>
            <a:custGeom>
              <a:rect b="b" l="l" r="r" t="t"/>
              <a:pathLst>
                <a:path extrusionOk="0" h="102235" w="120000">
                  <a:moveTo>
                    <a:pt x="0" y="0"/>
                  </a:moveTo>
                  <a:lnTo>
                    <a:pt x="0" y="102108"/>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26" name="Google Shape;626;p10"/>
            <p:cNvSpPr/>
            <p:nvPr/>
          </p:nvSpPr>
          <p:spPr>
            <a:xfrm>
              <a:off x="5743841" y="2818638"/>
              <a:ext cx="1765300" cy="102235"/>
            </a:xfrm>
            <a:custGeom>
              <a:rect b="b" l="l" r="r" t="t"/>
              <a:pathLst>
                <a:path extrusionOk="0" h="102235" w="1765300">
                  <a:moveTo>
                    <a:pt x="1764792" y="102108"/>
                  </a:moveTo>
                  <a:lnTo>
                    <a:pt x="1764792"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27" name="Google Shape;627;p10"/>
          <p:cNvSpPr txBox="1"/>
          <p:nvPr/>
        </p:nvSpPr>
        <p:spPr>
          <a:xfrm>
            <a:off x="4842096" y="1429297"/>
            <a:ext cx="1200582" cy="161355"/>
          </a:xfrm>
          <a:prstGeom prst="rect">
            <a:avLst/>
          </a:prstGeom>
          <a:solidFill>
            <a:srgbClr val="DDDDDD"/>
          </a:solidFill>
          <a:ln cap="flat" cmpd="sng" w="11275">
            <a:solidFill>
              <a:srgbClr val="081D58"/>
            </a:solidFill>
            <a:prstDash val="solid"/>
            <a:round/>
            <a:headEnd len="sm" w="sm" type="none"/>
            <a:tailEnd len="sm" w="sm" type="none"/>
          </a:ln>
        </p:spPr>
        <p:txBody>
          <a:bodyPr anchorCtr="0" anchor="t" bIns="0" lIns="0" spcFirstLastPara="1" rIns="0" wrap="square" tIns="25025">
            <a:spAutoFit/>
          </a:bodyPr>
          <a:lstStyle/>
          <a:p>
            <a:pPr indent="0" lvl="0" marL="186997"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Comunicatividad</a:t>
            </a:r>
            <a:endParaRPr b="0" i="0" sz="884" u="none" cap="none" strike="noStrike">
              <a:solidFill>
                <a:srgbClr val="000000"/>
              </a:solidFill>
              <a:latin typeface="Times New Roman"/>
              <a:ea typeface="Times New Roman"/>
              <a:cs typeface="Times New Roman"/>
              <a:sym typeface="Times New Roman"/>
            </a:endParaRPr>
          </a:p>
        </p:txBody>
      </p:sp>
      <p:grpSp>
        <p:nvGrpSpPr>
          <p:cNvPr id="628" name="Google Shape;628;p10"/>
          <p:cNvGrpSpPr/>
          <p:nvPr/>
        </p:nvGrpSpPr>
        <p:grpSpPr>
          <a:xfrm>
            <a:off x="6042324" y="1509105"/>
            <a:ext cx="288485" cy="31958"/>
            <a:chOff x="7508621" y="2218944"/>
            <a:chExt cx="424180" cy="46990"/>
          </a:xfrm>
        </p:grpSpPr>
        <p:sp>
          <p:nvSpPr>
            <p:cNvPr id="629" name="Google Shape;629;p10"/>
            <p:cNvSpPr/>
            <p:nvPr/>
          </p:nvSpPr>
          <p:spPr>
            <a:xfrm>
              <a:off x="7508621" y="2218944"/>
              <a:ext cx="424180" cy="46990"/>
            </a:xfrm>
            <a:custGeom>
              <a:rect b="b" l="l" r="r" t="t"/>
              <a:pathLst>
                <a:path extrusionOk="0" h="46989" w="424179">
                  <a:moveTo>
                    <a:pt x="388620" y="29717"/>
                  </a:moveTo>
                  <a:lnTo>
                    <a:pt x="388620" y="18287"/>
                  </a:lnTo>
                  <a:lnTo>
                    <a:pt x="0" y="18287"/>
                  </a:lnTo>
                  <a:lnTo>
                    <a:pt x="0" y="29717"/>
                  </a:lnTo>
                  <a:lnTo>
                    <a:pt x="388620" y="29717"/>
                  </a:lnTo>
                  <a:close/>
                </a:path>
                <a:path extrusionOk="0" h="46989" w="424179">
                  <a:moveTo>
                    <a:pt x="423672" y="23621"/>
                  </a:moveTo>
                  <a:lnTo>
                    <a:pt x="375666" y="0"/>
                  </a:lnTo>
                  <a:lnTo>
                    <a:pt x="375666" y="18287"/>
                  </a:lnTo>
                  <a:lnTo>
                    <a:pt x="388620" y="18287"/>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30" name="Google Shape;630;p10"/>
            <p:cNvSpPr/>
            <p:nvPr/>
          </p:nvSpPr>
          <p:spPr>
            <a:xfrm>
              <a:off x="7508621" y="2218944"/>
              <a:ext cx="424180" cy="46990"/>
            </a:xfrm>
            <a:custGeom>
              <a:rect b="b" l="l" r="r" t="t"/>
              <a:pathLst>
                <a:path extrusionOk="0" h="46989" w="424179">
                  <a:moveTo>
                    <a:pt x="0" y="29717"/>
                  </a:moveTo>
                  <a:lnTo>
                    <a:pt x="0" y="18287"/>
                  </a:lnTo>
                  <a:lnTo>
                    <a:pt x="388620" y="18287"/>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31" name="Google Shape;631;p10"/>
          <p:cNvSpPr txBox="1"/>
          <p:nvPr/>
        </p:nvSpPr>
        <p:spPr>
          <a:xfrm>
            <a:off x="4842096" y="1669241"/>
            <a:ext cx="1200600" cy="161400"/>
          </a:xfrm>
          <a:prstGeom prst="rect">
            <a:avLst/>
          </a:prstGeom>
          <a:solidFill>
            <a:srgbClr val="DDDDDD"/>
          </a:solidFill>
          <a:ln cap="flat" cmpd="sng" w="11275">
            <a:solidFill>
              <a:srgbClr val="081D58"/>
            </a:solidFill>
            <a:prstDash val="solid"/>
            <a:round/>
            <a:headEnd len="sm" w="sm" type="none"/>
            <a:tailEnd len="sm" w="sm" type="none"/>
          </a:ln>
        </p:spPr>
        <p:txBody>
          <a:bodyPr anchorCtr="0" anchor="t" bIns="0" lIns="0" spcFirstLastPara="1" rIns="0" wrap="square" tIns="25025">
            <a:spAutoFit/>
          </a:bodyPr>
          <a:lstStyle/>
          <a:p>
            <a:pPr indent="0" lvl="0" marL="366652"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Exactitud</a:t>
            </a:r>
            <a:endParaRPr b="0" i="0" sz="884" u="none" cap="none" strike="noStrike">
              <a:solidFill>
                <a:srgbClr val="000000"/>
              </a:solidFill>
              <a:latin typeface="Times New Roman"/>
              <a:ea typeface="Times New Roman"/>
              <a:cs typeface="Times New Roman"/>
              <a:sym typeface="Times New Roman"/>
            </a:endParaRPr>
          </a:p>
        </p:txBody>
      </p:sp>
      <p:sp>
        <p:nvSpPr>
          <p:cNvPr id="632" name="Google Shape;632;p10"/>
          <p:cNvSpPr txBox="1"/>
          <p:nvPr/>
        </p:nvSpPr>
        <p:spPr>
          <a:xfrm>
            <a:off x="3696789" y="2298589"/>
            <a:ext cx="513918" cy="141064"/>
          </a:xfrm>
          <a:prstGeom prst="rect">
            <a:avLst/>
          </a:prstGeom>
          <a:noFill/>
          <a:ln>
            <a:noFill/>
          </a:ln>
        </p:spPr>
        <p:txBody>
          <a:bodyPr anchorCtr="0" anchor="t" bIns="0" lIns="0" spcFirstLastPara="1" rIns="0" wrap="square" tIns="0">
            <a:spAutoFit/>
          </a:bodyPr>
          <a:lstStyle/>
          <a:p>
            <a:pPr indent="0" lvl="0" marL="0" marR="0" rtl="0" algn="l">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eficiencia</a:t>
            </a:r>
            <a:endParaRPr b="0" i="0" sz="986" u="none" cap="none" strike="noStrike">
              <a:solidFill>
                <a:srgbClr val="000000"/>
              </a:solidFill>
              <a:latin typeface="Times New Roman"/>
              <a:ea typeface="Times New Roman"/>
              <a:cs typeface="Times New Roman"/>
              <a:sym typeface="Times New Roman"/>
            </a:endParaRPr>
          </a:p>
        </p:txBody>
      </p:sp>
      <p:sp>
        <p:nvSpPr>
          <p:cNvPr id="633" name="Google Shape;633;p10"/>
          <p:cNvSpPr/>
          <p:nvPr/>
        </p:nvSpPr>
        <p:spPr>
          <a:xfrm>
            <a:off x="2537497" y="1986401"/>
            <a:ext cx="720349" cy="259118"/>
          </a:xfrm>
          <a:custGeom>
            <a:rect b="b" l="l" r="r" t="t"/>
            <a:pathLst>
              <a:path extrusionOk="0" h="381000" w="1059179">
                <a:moveTo>
                  <a:pt x="0" y="0"/>
                </a:moveTo>
                <a:lnTo>
                  <a:pt x="0" y="381000"/>
                </a:lnTo>
                <a:lnTo>
                  <a:pt x="1059179" y="381000"/>
                </a:lnTo>
                <a:lnTo>
                  <a:pt x="1059179"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34" name="Google Shape;634;p10"/>
          <p:cNvSpPr txBox="1"/>
          <p:nvPr/>
        </p:nvSpPr>
        <p:spPr>
          <a:xfrm>
            <a:off x="2648914" y="2069010"/>
            <a:ext cx="497507" cy="141064"/>
          </a:xfrm>
          <a:prstGeom prst="rect">
            <a:avLst/>
          </a:prstGeom>
          <a:noFill/>
          <a:ln>
            <a:noFill/>
          </a:ln>
        </p:spPr>
        <p:txBody>
          <a:bodyPr anchorCtr="0" anchor="t" bIns="0" lIns="0" spcFirstLastPara="1" rIns="0" wrap="square" tIns="0">
            <a:spAutoFit/>
          </a:bodyPr>
          <a:lstStyle/>
          <a:p>
            <a:pPr indent="0" lvl="0" marL="0" marR="0" rtl="0" algn="l">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producto</a:t>
            </a:r>
            <a:endParaRPr b="0" i="0" sz="986" u="none" cap="none" strike="noStrike">
              <a:solidFill>
                <a:srgbClr val="000000"/>
              </a:solidFill>
              <a:latin typeface="Times New Roman"/>
              <a:ea typeface="Times New Roman"/>
              <a:cs typeface="Times New Roman"/>
              <a:sym typeface="Times New Roman"/>
            </a:endParaRPr>
          </a:p>
        </p:txBody>
      </p:sp>
      <p:grpSp>
        <p:nvGrpSpPr>
          <p:cNvPr id="635" name="Google Shape;635;p10"/>
          <p:cNvGrpSpPr/>
          <p:nvPr/>
        </p:nvGrpSpPr>
        <p:grpSpPr>
          <a:xfrm>
            <a:off x="3256163" y="1986401"/>
            <a:ext cx="3364761" cy="583363"/>
            <a:chOff x="3411932" y="2920745"/>
            <a:chExt cx="4947446" cy="857759"/>
          </a:xfrm>
        </p:grpSpPr>
        <p:sp>
          <p:nvSpPr>
            <p:cNvPr id="636" name="Google Shape;636;p10"/>
            <p:cNvSpPr/>
            <p:nvPr/>
          </p:nvSpPr>
          <p:spPr>
            <a:xfrm>
              <a:off x="3719207" y="2920746"/>
              <a:ext cx="32384" cy="15240"/>
            </a:xfrm>
            <a:custGeom>
              <a:rect b="b" l="l" r="r" t="t"/>
              <a:pathLst>
                <a:path extrusionOk="0" h="15239" w="32385">
                  <a:moveTo>
                    <a:pt x="32004" y="0"/>
                  </a:moveTo>
                  <a:lnTo>
                    <a:pt x="0" y="0"/>
                  </a:lnTo>
                  <a:lnTo>
                    <a:pt x="0" y="15239"/>
                  </a:lnTo>
                  <a:lnTo>
                    <a:pt x="32004"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37" name="Google Shape;637;p10"/>
            <p:cNvSpPr/>
            <p:nvPr/>
          </p:nvSpPr>
          <p:spPr>
            <a:xfrm>
              <a:off x="3719207" y="2920746"/>
              <a:ext cx="32384" cy="15240"/>
            </a:xfrm>
            <a:custGeom>
              <a:rect b="b" l="l" r="r" t="t"/>
              <a:pathLst>
                <a:path extrusionOk="0" h="15239" w="32385">
                  <a:moveTo>
                    <a:pt x="0" y="0"/>
                  </a:moveTo>
                  <a:lnTo>
                    <a:pt x="32004" y="0"/>
                  </a:lnTo>
                  <a:lnTo>
                    <a:pt x="0" y="15239"/>
                  </a:lnTo>
                  <a:lnTo>
                    <a:pt x="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38" name="Google Shape;638;p10"/>
            <p:cNvSpPr/>
            <p:nvPr/>
          </p:nvSpPr>
          <p:spPr>
            <a:xfrm>
              <a:off x="3411932" y="2920746"/>
              <a:ext cx="355600" cy="557530"/>
            </a:xfrm>
            <a:custGeom>
              <a:rect b="b" l="l" r="r" t="t"/>
              <a:pathLst>
                <a:path extrusionOk="0" h="557529" w="355600">
                  <a:moveTo>
                    <a:pt x="335510" y="513812"/>
                  </a:moveTo>
                  <a:lnTo>
                    <a:pt x="14194" y="0"/>
                  </a:lnTo>
                  <a:lnTo>
                    <a:pt x="0" y="0"/>
                  </a:lnTo>
                  <a:lnTo>
                    <a:pt x="325170" y="519976"/>
                  </a:lnTo>
                  <a:lnTo>
                    <a:pt x="335510" y="513812"/>
                  </a:lnTo>
                  <a:close/>
                </a:path>
                <a:path extrusionOk="0" h="557529" w="355600">
                  <a:moveTo>
                    <a:pt x="341564" y="548420"/>
                  </a:moveTo>
                  <a:lnTo>
                    <a:pt x="341564" y="523494"/>
                  </a:lnTo>
                  <a:lnTo>
                    <a:pt x="331658" y="530352"/>
                  </a:lnTo>
                  <a:lnTo>
                    <a:pt x="325170" y="519976"/>
                  </a:lnTo>
                  <a:lnTo>
                    <a:pt x="310322" y="528828"/>
                  </a:lnTo>
                  <a:lnTo>
                    <a:pt x="341564" y="548420"/>
                  </a:lnTo>
                  <a:close/>
                </a:path>
                <a:path extrusionOk="0" h="557529" w="355600">
                  <a:moveTo>
                    <a:pt x="341564" y="523494"/>
                  </a:moveTo>
                  <a:lnTo>
                    <a:pt x="335510" y="513812"/>
                  </a:lnTo>
                  <a:lnTo>
                    <a:pt x="325170" y="519976"/>
                  </a:lnTo>
                  <a:lnTo>
                    <a:pt x="331658" y="530352"/>
                  </a:lnTo>
                  <a:lnTo>
                    <a:pt x="341564" y="523494"/>
                  </a:lnTo>
                  <a:close/>
                </a:path>
                <a:path extrusionOk="0" h="557529" w="355600">
                  <a:moveTo>
                    <a:pt x="355280" y="557022"/>
                  </a:moveTo>
                  <a:lnTo>
                    <a:pt x="349946" y="505206"/>
                  </a:lnTo>
                  <a:lnTo>
                    <a:pt x="335510" y="513812"/>
                  </a:lnTo>
                  <a:lnTo>
                    <a:pt x="341564" y="523494"/>
                  </a:lnTo>
                  <a:lnTo>
                    <a:pt x="341564" y="548420"/>
                  </a:lnTo>
                  <a:lnTo>
                    <a:pt x="355280" y="557022"/>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39" name="Google Shape;639;p10"/>
            <p:cNvSpPr/>
            <p:nvPr/>
          </p:nvSpPr>
          <p:spPr>
            <a:xfrm>
              <a:off x="3411932" y="2920746"/>
              <a:ext cx="355600" cy="557530"/>
            </a:xfrm>
            <a:custGeom>
              <a:rect b="b" l="l" r="r" t="t"/>
              <a:pathLst>
                <a:path extrusionOk="0" h="557529" w="355600">
                  <a:moveTo>
                    <a:pt x="0" y="0"/>
                  </a:moveTo>
                  <a:lnTo>
                    <a:pt x="14194" y="0"/>
                  </a:lnTo>
                  <a:lnTo>
                    <a:pt x="341564" y="523494"/>
                  </a:lnTo>
                  <a:lnTo>
                    <a:pt x="331658" y="530352"/>
                  </a:lnTo>
                  <a:lnTo>
                    <a:pt x="0" y="0"/>
                  </a:lnTo>
                </a:path>
                <a:path extrusionOk="0" h="557529" w="355600">
                  <a:moveTo>
                    <a:pt x="349946" y="505206"/>
                  </a:moveTo>
                  <a:lnTo>
                    <a:pt x="355280" y="557022"/>
                  </a:lnTo>
                  <a:lnTo>
                    <a:pt x="310322" y="528828"/>
                  </a:lnTo>
                  <a:lnTo>
                    <a:pt x="349946" y="505206"/>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0" name="Google Shape;640;p10"/>
            <p:cNvSpPr/>
            <p:nvPr/>
          </p:nvSpPr>
          <p:spPr>
            <a:xfrm>
              <a:off x="5743841" y="2920745"/>
              <a:ext cx="1765300" cy="180975"/>
            </a:xfrm>
            <a:custGeom>
              <a:rect b="b" l="l" r="r" t="t"/>
              <a:pathLst>
                <a:path extrusionOk="0" h="180975" w="1765300">
                  <a:moveTo>
                    <a:pt x="0" y="0"/>
                  </a:moveTo>
                  <a:lnTo>
                    <a:pt x="0" y="180594"/>
                  </a:lnTo>
                  <a:lnTo>
                    <a:pt x="1764792" y="180594"/>
                  </a:lnTo>
                  <a:lnTo>
                    <a:pt x="176479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1" name="Google Shape;641;p10"/>
            <p:cNvSpPr/>
            <p:nvPr/>
          </p:nvSpPr>
          <p:spPr>
            <a:xfrm>
              <a:off x="7508620" y="2935985"/>
              <a:ext cx="424180" cy="48260"/>
            </a:xfrm>
            <a:custGeom>
              <a:rect b="b" l="l" r="r" t="t"/>
              <a:pathLst>
                <a:path extrusionOk="0" h="48260" w="424179">
                  <a:moveTo>
                    <a:pt x="388620" y="29717"/>
                  </a:moveTo>
                  <a:lnTo>
                    <a:pt x="388620" y="18288"/>
                  </a:lnTo>
                  <a:lnTo>
                    <a:pt x="0" y="18288"/>
                  </a:lnTo>
                  <a:lnTo>
                    <a:pt x="0" y="29717"/>
                  </a:lnTo>
                  <a:lnTo>
                    <a:pt x="388620" y="29717"/>
                  </a:lnTo>
                  <a:close/>
                </a:path>
                <a:path extrusionOk="0" h="48260" w="424179">
                  <a:moveTo>
                    <a:pt x="423672" y="23621"/>
                  </a:moveTo>
                  <a:lnTo>
                    <a:pt x="375665" y="0"/>
                  </a:lnTo>
                  <a:lnTo>
                    <a:pt x="375665" y="18288"/>
                  </a:lnTo>
                  <a:lnTo>
                    <a:pt x="388620" y="18288"/>
                  </a:lnTo>
                  <a:lnTo>
                    <a:pt x="388620" y="41426"/>
                  </a:lnTo>
                  <a:lnTo>
                    <a:pt x="423672" y="23621"/>
                  </a:lnTo>
                  <a:close/>
                </a:path>
                <a:path extrusionOk="0" h="48260" w="424179">
                  <a:moveTo>
                    <a:pt x="388620" y="41426"/>
                  </a:moveTo>
                  <a:lnTo>
                    <a:pt x="388620" y="29717"/>
                  </a:lnTo>
                  <a:lnTo>
                    <a:pt x="375665" y="29717"/>
                  </a:lnTo>
                  <a:lnTo>
                    <a:pt x="375665" y="48005"/>
                  </a:lnTo>
                  <a:lnTo>
                    <a:pt x="388620" y="41426"/>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2" name="Google Shape;642;p10"/>
            <p:cNvSpPr/>
            <p:nvPr/>
          </p:nvSpPr>
          <p:spPr>
            <a:xfrm>
              <a:off x="7508620" y="2935985"/>
              <a:ext cx="424180" cy="48260"/>
            </a:xfrm>
            <a:custGeom>
              <a:rect b="b" l="l" r="r" t="t"/>
              <a:pathLst>
                <a:path extrusionOk="0" h="48260" w="424179">
                  <a:moveTo>
                    <a:pt x="0" y="29717"/>
                  </a:moveTo>
                  <a:lnTo>
                    <a:pt x="0" y="18288"/>
                  </a:lnTo>
                  <a:lnTo>
                    <a:pt x="388620" y="18288"/>
                  </a:lnTo>
                  <a:lnTo>
                    <a:pt x="388620" y="29717"/>
                  </a:lnTo>
                  <a:lnTo>
                    <a:pt x="0" y="29717"/>
                  </a:lnTo>
                  <a:close/>
                </a:path>
                <a:path extrusionOk="0" h="48260" w="424179">
                  <a:moveTo>
                    <a:pt x="375666" y="0"/>
                  </a:moveTo>
                  <a:lnTo>
                    <a:pt x="423672" y="23621"/>
                  </a:lnTo>
                  <a:lnTo>
                    <a:pt x="375666" y="48005"/>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3" name="Google Shape;643;p10"/>
            <p:cNvSpPr/>
            <p:nvPr/>
          </p:nvSpPr>
          <p:spPr>
            <a:xfrm>
              <a:off x="7508620" y="3297173"/>
              <a:ext cx="424180" cy="46990"/>
            </a:xfrm>
            <a:custGeom>
              <a:rect b="b" l="l" r="r" t="t"/>
              <a:pathLst>
                <a:path extrusionOk="0" h="46989" w="424179">
                  <a:moveTo>
                    <a:pt x="388620" y="28193"/>
                  </a:moveTo>
                  <a:lnTo>
                    <a:pt x="388620" y="17525"/>
                  </a:lnTo>
                  <a:lnTo>
                    <a:pt x="0" y="17525"/>
                  </a:lnTo>
                  <a:lnTo>
                    <a:pt x="0" y="28193"/>
                  </a:lnTo>
                  <a:lnTo>
                    <a:pt x="388620" y="28193"/>
                  </a:lnTo>
                  <a:close/>
                </a:path>
                <a:path extrusionOk="0" h="46989" w="424179">
                  <a:moveTo>
                    <a:pt x="423672" y="22859"/>
                  </a:moveTo>
                  <a:lnTo>
                    <a:pt x="375666" y="0"/>
                  </a:lnTo>
                  <a:lnTo>
                    <a:pt x="375666" y="17525"/>
                  </a:lnTo>
                  <a:lnTo>
                    <a:pt x="388620" y="17525"/>
                  </a:lnTo>
                  <a:lnTo>
                    <a:pt x="388620" y="40107"/>
                  </a:lnTo>
                  <a:lnTo>
                    <a:pt x="423672" y="22859"/>
                  </a:lnTo>
                  <a:close/>
                </a:path>
                <a:path extrusionOk="0" h="46989" w="424179">
                  <a:moveTo>
                    <a:pt x="388620" y="40107"/>
                  </a:moveTo>
                  <a:lnTo>
                    <a:pt x="388620" y="28193"/>
                  </a:lnTo>
                  <a:lnTo>
                    <a:pt x="375666" y="28193"/>
                  </a:lnTo>
                  <a:lnTo>
                    <a:pt x="375666" y="46481"/>
                  </a:lnTo>
                  <a:lnTo>
                    <a:pt x="388620" y="4010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4" name="Google Shape;644;p10"/>
            <p:cNvSpPr/>
            <p:nvPr/>
          </p:nvSpPr>
          <p:spPr>
            <a:xfrm>
              <a:off x="7508620" y="3297173"/>
              <a:ext cx="424180" cy="46990"/>
            </a:xfrm>
            <a:custGeom>
              <a:rect b="b" l="l" r="r" t="t"/>
              <a:pathLst>
                <a:path extrusionOk="0" h="46989" w="424179">
                  <a:moveTo>
                    <a:pt x="0" y="28193"/>
                  </a:moveTo>
                  <a:lnTo>
                    <a:pt x="0" y="17525"/>
                  </a:lnTo>
                  <a:lnTo>
                    <a:pt x="388620" y="17525"/>
                  </a:lnTo>
                  <a:lnTo>
                    <a:pt x="388620" y="28193"/>
                  </a:lnTo>
                  <a:lnTo>
                    <a:pt x="0" y="28193"/>
                  </a:lnTo>
                  <a:close/>
                </a:path>
                <a:path extrusionOk="0" h="46989" w="424179">
                  <a:moveTo>
                    <a:pt x="375666" y="0"/>
                  </a:moveTo>
                  <a:lnTo>
                    <a:pt x="423672" y="22859"/>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5" name="Google Shape;645;p10"/>
            <p:cNvSpPr/>
            <p:nvPr/>
          </p:nvSpPr>
          <p:spPr>
            <a:xfrm>
              <a:off x="5741018" y="3537204"/>
              <a:ext cx="0" cy="241300"/>
            </a:xfrm>
            <a:custGeom>
              <a:rect b="b" l="l" r="r" t="t"/>
              <a:pathLst>
                <a:path extrusionOk="0" h="241300" w="120000">
                  <a:moveTo>
                    <a:pt x="0" y="0"/>
                  </a:moveTo>
                  <a:lnTo>
                    <a:pt x="0" y="240792"/>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6" name="Google Shape;646;p10"/>
            <p:cNvSpPr/>
            <p:nvPr/>
          </p:nvSpPr>
          <p:spPr>
            <a:xfrm>
              <a:off x="5743841" y="3537204"/>
              <a:ext cx="1765300" cy="241300"/>
            </a:xfrm>
            <a:custGeom>
              <a:rect b="b" l="l" r="r" t="t"/>
              <a:pathLst>
                <a:path extrusionOk="0" h="241300" w="1765300">
                  <a:moveTo>
                    <a:pt x="1764792" y="240792"/>
                  </a:moveTo>
                  <a:lnTo>
                    <a:pt x="1764792"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7" name="Google Shape;647;p10"/>
            <p:cNvSpPr/>
            <p:nvPr/>
          </p:nvSpPr>
          <p:spPr>
            <a:xfrm>
              <a:off x="7508620" y="3656075"/>
              <a:ext cx="424180" cy="46990"/>
            </a:xfrm>
            <a:custGeom>
              <a:rect b="b" l="l" r="r" t="t"/>
              <a:pathLst>
                <a:path extrusionOk="0" h="46989" w="424179">
                  <a:moveTo>
                    <a:pt x="388620" y="29717"/>
                  </a:moveTo>
                  <a:lnTo>
                    <a:pt x="388620" y="16763"/>
                  </a:lnTo>
                  <a:lnTo>
                    <a:pt x="0" y="16763"/>
                  </a:lnTo>
                  <a:lnTo>
                    <a:pt x="0" y="29717"/>
                  </a:lnTo>
                  <a:lnTo>
                    <a:pt x="388620" y="29717"/>
                  </a:lnTo>
                  <a:close/>
                </a:path>
                <a:path extrusionOk="0" h="46989" w="424179">
                  <a:moveTo>
                    <a:pt x="423672" y="22859"/>
                  </a:moveTo>
                  <a:lnTo>
                    <a:pt x="375666" y="0"/>
                  </a:lnTo>
                  <a:lnTo>
                    <a:pt x="375666" y="16763"/>
                  </a:lnTo>
                  <a:lnTo>
                    <a:pt x="388620" y="16763"/>
                  </a:lnTo>
                  <a:lnTo>
                    <a:pt x="388620" y="40107"/>
                  </a:lnTo>
                  <a:lnTo>
                    <a:pt x="423672" y="22859"/>
                  </a:lnTo>
                  <a:close/>
                </a:path>
                <a:path extrusionOk="0" h="46989" w="424179">
                  <a:moveTo>
                    <a:pt x="388620" y="40107"/>
                  </a:moveTo>
                  <a:lnTo>
                    <a:pt x="388620" y="29717"/>
                  </a:lnTo>
                  <a:lnTo>
                    <a:pt x="375666" y="29717"/>
                  </a:lnTo>
                  <a:lnTo>
                    <a:pt x="375666" y="46481"/>
                  </a:lnTo>
                  <a:lnTo>
                    <a:pt x="388620" y="4010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8" name="Google Shape;648;p10"/>
            <p:cNvSpPr/>
            <p:nvPr/>
          </p:nvSpPr>
          <p:spPr>
            <a:xfrm>
              <a:off x="7508620" y="3656075"/>
              <a:ext cx="424180" cy="46990"/>
            </a:xfrm>
            <a:custGeom>
              <a:rect b="b" l="l" r="r" t="t"/>
              <a:pathLst>
                <a:path extrusionOk="0" h="46989" w="424179">
                  <a:moveTo>
                    <a:pt x="0" y="29717"/>
                  </a:moveTo>
                  <a:lnTo>
                    <a:pt x="0" y="16763"/>
                  </a:lnTo>
                  <a:lnTo>
                    <a:pt x="388620" y="16763"/>
                  </a:lnTo>
                  <a:lnTo>
                    <a:pt x="388620" y="29717"/>
                  </a:lnTo>
                  <a:lnTo>
                    <a:pt x="0" y="29717"/>
                  </a:lnTo>
                  <a:close/>
                </a:path>
                <a:path extrusionOk="0" h="46989" w="424179">
                  <a:moveTo>
                    <a:pt x="375666" y="0"/>
                  </a:moveTo>
                  <a:lnTo>
                    <a:pt x="423672" y="22859"/>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49" name="Google Shape;649;p10"/>
            <p:cNvSpPr/>
            <p:nvPr/>
          </p:nvSpPr>
          <p:spPr>
            <a:xfrm>
              <a:off x="7929483" y="2920745"/>
              <a:ext cx="429895" cy="857250"/>
            </a:xfrm>
            <a:custGeom>
              <a:rect b="b" l="l" r="r" t="t"/>
              <a:pathLst>
                <a:path extrusionOk="0" h="857250" w="429895">
                  <a:moveTo>
                    <a:pt x="0" y="0"/>
                  </a:moveTo>
                  <a:lnTo>
                    <a:pt x="0" y="857249"/>
                  </a:lnTo>
                </a:path>
                <a:path extrusionOk="0" h="857250" w="429895">
                  <a:moveTo>
                    <a:pt x="429317" y="0"/>
                  </a:moveTo>
                  <a:lnTo>
                    <a:pt x="429317" y="857249"/>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50" name="Google Shape;650;p10"/>
          <p:cNvSpPr txBox="1"/>
          <p:nvPr/>
        </p:nvSpPr>
        <p:spPr>
          <a:xfrm>
            <a:off x="6389024" y="1962962"/>
            <a:ext cx="178792" cy="669863"/>
          </a:xfrm>
          <a:prstGeom prst="rect">
            <a:avLst/>
          </a:prstGeom>
          <a:noFill/>
          <a:ln>
            <a:noFill/>
          </a:ln>
        </p:spPr>
        <p:txBody>
          <a:bodyPr anchorCtr="0" anchor="t" bIns="0" lIns="0" spcFirstLastPara="1" rIns="0" wrap="square" tIns="0">
            <a:spAutoFit/>
          </a:bodyPr>
          <a:lstStyle/>
          <a:p>
            <a:pPr indent="0" lvl="0" marL="0" marR="0" rtl="0" algn="l">
              <a:lnSpc>
                <a:spcPct val="76069"/>
              </a:lnSpc>
              <a:spcBef>
                <a:spcPts val="0"/>
              </a:spcBef>
              <a:spcAft>
                <a:spcPts val="0"/>
              </a:spcAft>
              <a:buNone/>
            </a:pPr>
            <a:r>
              <a:rPr b="0" baseline="30000" i="0" lang="en-US" sz="2244" u="none" cap="none" strike="noStrike">
                <a:solidFill>
                  <a:srgbClr val="081D58"/>
                </a:solidFill>
                <a:latin typeface="Times New Roman"/>
                <a:ea typeface="Times New Roman"/>
                <a:cs typeface="Times New Roman"/>
                <a:sym typeface="Times New Roman"/>
              </a:rPr>
              <a:t>M</a:t>
            </a:r>
            <a:r>
              <a:rPr b="0" i="0" lang="en-US" sz="1496" u="none" cap="none" strike="noStrike">
                <a:solidFill>
                  <a:srgbClr val="000000"/>
                </a:solidFill>
                <a:latin typeface="Times New Roman"/>
                <a:ea typeface="Times New Roman"/>
                <a:cs typeface="Times New Roman"/>
                <a:sym typeface="Times New Roman"/>
              </a:rPr>
              <a:t>M</a:t>
            </a:r>
            <a:endParaRPr b="0" i="0" sz="1496" u="none" cap="none" strike="noStrike">
              <a:solidFill>
                <a:srgbClr val="000000"/>
              </a:solidFill>
              <a:latin typeface="Times New Roman"/>
              <a:ea typeface="Times New Roman"/>
              <a:cs typeface="Times New Roman"/>
              <a:sym typeface="Times New Roman"/>
            </a:endParaRPr>
          </a:p>
          <a:p>
            <a:pPr indent="-432" lvl="0" marL="26776" marR="21161" rtl="0" algn="l">
              <a:lnSpc>
                <a:spcPct val="100699"/>
              </a:lnSpc>
              <a:spcBef>
                <a:spcPts val="3"/>
              </a:spcBef>
              <a:spcAft>
                <a:spcPts val="0"/>
              </a:spcAft>
              <a:buNone/>
            </a:pPr>
            <a:r>
              <a:rPr b="0" baseline="30000" i="0" lang="en-US" sz="2244" u="none" cap="none" strike="noStrike">
                <a:solidFill>
                  <a:srgbClr val="081D58"/>
                </a:solidFill>
                <a:latin typeface="Times New Roman"/>
                <a:ea typeface="Times New Roman"/>
                <a:cs typeface="Times New Roman"/>
                <a:sym typeface="Times New Roman"/>
              </a:rPr>
              <a:t>É</a:t>
            </a:r>
            <a:r>
              <a:rPr b="0" i="0" lang="en-US" sz="1496" u="none" cap="none" strike="noStrike">
                <a:solidFill>
                  <a:srgbClr val="000000"/>
                </a:solidFill>
                <a:latin typeface="Times New Roman"/>
                <a:ea typeface="Times New Roman"/>
                <a:cs typeface="Times New Roman"/>
                <a:sym typeface="Times New Roman"/>
              </a:rPr>
              <a:t>É </a:t>
            </a:r>
            <a:r>
              <a:rPr b="0" baseline="30000" i="0" lang="en-US" sz="2244" u="none" cap="none" strike="noStrike">
                <a:solidFill>
                  <a:srgbClr val="081D58"/>
                </a:solidFill>
                <a:latin typeface="Times New Roman"/>
                <a:ea typeface="Times New Roman"/>
                <a:cs typeface="Times New Roman"/>
                <a:sym typeface="Times New Roman"/>
              </a:rPr>
              <a:t>T</a:t>
            </a:r>
            <a:r>
              <a:rPr b="0" i="0" lang="en-US" sz="1496" u="none" cap="none" strike="noStrike">
                <a:solidFill>
                  <a:srgbClr val="000000"/>
                </a:solidFill>
                <a:latin typeface="Times New Roman"/>
                <a:ea typeface="Times New Roman"/>
                <a:cs typeface="Times New Roman"/>
                <a:sym typeface="Times New Roman"/>
              </a:rPr>
              <a:t>T</a:t>
            </a:r>
            <a:endParaRPr b="0" i="0" sz="1496" u="none" cap="none" strike="noStrike">
              <a:solidFill>
                <a:srgbClr val="000000"/>
              </a:solidFill>
              <a:latin typeface="Times New Roman"/>
              <a:ea typeface="Times New Roman"/>
              <a:cs typeface="Times New Roman"/>
              <a:sym typeface="Times New Roman"/>
            </a:endParaRPr>
          </a:p>
        </p:txBody>
      </p:sp>
      <p:sp>
        <p:nvSpPr>
          <p:cNvPr id="651" name="Google Shape;651;p10"/>
          <p:cNvSpPr txBox="1"/>
          <p:nvPr/>
        </p:nvSpPr>
        <p:spPr>
          <a:xfrm>
            <a:off x="3497790" y="2245520"/>
            <a:ext cx="912097" cy="193572"/>
          </a:xfrm>
          <a:prstGeom prst="rect">
            <a:avLst/>
          </a:prstGeom>
          <a:solidFill>
            <a:srgbClr val="DDDDDD"/>
          </a:solidFill>
          <a:ln cap="flat" cmpd="sng" w="11275">
            <a:solidFill>
              <a:srgbClr val="081D58"/>
            </a:solidFill>
            <a:prstDash val="solid"/>
            <a:round/>
            <a:headEnd len="sm" w="sm" type="none"/>
            <a:tailEnd len="sm" w="sm" type="none"/>
          </a:ln>
        </p:spPr>
        <p:txBody>
          <a:bodyPr anchorCtr="0" anchor="t" bIns="0" lIns="0" spcFirstLastPara="1" rIns="0" wrap="square" tIns="41450">
            <a:spAutoFit/>
          </a:bodyPr>
          <a:lstStyle/>
          <a:p>
            <a:pPr indent="0" lvl="0" marL="198657" marR="0" rtl="0" algn="l">
              <a:lnSpc>
                <a:spcPct val="1000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eficiencia</a:t>
            </a:r>
            <a:endParaRPr b="0" i="0" sz="986" u="none" cap="none" strike="noStrike">
              <a:solidFill>
                <a:srgbClr val="000000"/>
              </a:solidFill>
              <a:latin typeface="Times New Roman"/>
              <a:ea typeface="Times New Roman"/>
              <a:cs typeface="Times New Roman"/>
              <a:sym typeface="Times New Roman"/>
            </a:endParaRPr>
          </a:p>
        </p:txBody>
      </p:sp>
      <p:grpSp>
        <p:nvGrpSpPr>
          <p:cNvPr id="652" name="Google Shape;652;p10"/>
          <p:cNvGrpSpPr/>
          <p:nvPr/>
        </p:nvGrpSpPr>
        <p:grpSpPr>
          <a:xfrm>
            <a:off x="2537497" y="1986401"/>
            <a:ext cx="720349" cy="259118"/>
            <a:chOff x="2355227" y="2920745"/>
            <a:chExt cx="1059180" cy="381000"/>
          </a:xfrm>
        </p:grpSpPr>
        <p:sp>
          <p:nvSpPr>
            <p:cNvPr id="653" name="Google Shape;653;p10"/>
            <p:cNvSpPr/>
            <p:nvPr/>
          </p:nvSpPr>
          <p:spPr>
            <a:xfrm>
              <a:off x="2355227" y="2920745"/>
              <a:ext cx="1059180" cy="381000"/>
            </a:xfrm>
            <a:custGeom>
              <a:rect b="b" l="l" r="r" t="t"/>
              <a:pathLst>
                <a:path extrusionOk="0" h="381000" w="1059179">
                  <a:moveTo>
                    <a:pt x="1059180" y="380999"/>
                  </a:moveTo>
                  <a:lnTo>
                    <a:pt x="1059180" y="0"/>
                  </a:lnTo>
                  <a:lnTo>
                    <a:pt x="0" y="0"/>
                  </a:lnTo>
                  <a:lnTo>
                    <a:pt x="0" y="381000"/>
                  </a:lnTo>
                  <a:lnTo>
                    <a:pt x="1059180" y="380999"/>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54" name="Google Shape;654;p10"/>
            <p:cNvSpPr/>
            <p:nvPr/>
          </p:nvSpPr>
          <p:spPr>
            <a:xfrm>
              <a:off x="2355227" y="2920745"/>
              <a:ext cx="1059180" cy="381000"/>
            </a:xfrm>
            <a:custGeom>
              <a:rect b="b" l="l" r="r" t="t"/>
              <a:pathLst>
                <a:path extrusionOk="0" h="381000" w="1059179">
                  <a:moveTo>
                    <a:pt x="0" y="0"/>
                  </a:moveTo>
                  <a:lnTo>
                    <a:pt x="0" y="381000"/>
                  </a:lnTo>
                  <a:lnTo>
                    <a:pt x="1059179" y="381000"/>
                  </a:lnTo>
                  <a:lnTo>
                    <a:pt x="1059179"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55" name="Google Shape;655;p10"/>
          <p:cNvSpPr txBox="1"/>
          <p:nvPr/>
        </p:nvSpPr>
        <p:spPr>
          <a:xfrm>
            <a:off x="2541337" y="1738634"/>
            <a:ext cx="713007" cy="462603"/>
          </a:xfrm>
          <a:prstGeom prst="rect">
            <a:avLst/>
          </a:prstGeom>
          <a:noFill/>
          <a:ln>
            <a:noFill/>
          </a:ln>
        </p:spPr>
        <p:txBody>
          <a:bodyPr anchorCtr="0" anchor="t" bIns="0" lIns="0" spcFirstLastPara="1" rIns="0" wrap="square" tIns="7325">
            <a:spAutoFit/>
          </a:bodyPr>
          <a:lstStyle/>
          <a:p>
            <a:pPr indent="0" lvl="0" marL="66939" marR="63484" rtl="0" algn="ctr">
              <a:lnSpc>
                <a:spcPct val="1024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Operación del producto</a:t>
            </a:r>
            <a:endParaRPr b="0" i="0" sz="986" u="none" cap="none" strike="noStrike">
              <a:solidFill>
                <a:srgbClr val="000000"/>
              </a:solidFill>
              <a:latin typeface="Times New Roman"/>
              <a:ea typeface="Times New Roman"/>
              <a:cs typeface="Times New Roman"/>
              <a:sym typeface="Times New Roman"/>
            </a:endParaRPr>
          </a:p>
        </p:txBody>
      </p:sp>
      <p:sp>
        <p:nvSpPr>
          <p:cNvPr id="656" name="Google Shape;656;p10"/>
          <p:cNvSpPr txBox="1"/>
          <p:nvPr/>
        </p:nvSpPr>
        <p:spPr>
          <a:xfrm>
            <a:off x="5140078" y="1954177"/>
            <a:ext cx="604178"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CConsonsiissttenencciiaa</a:t>
            </a:r>
            <a:endParaRPr b="0" i="0" sz="884" u="none" cap="none" strike="noStrike">
              <a:solidFill>
                <a:srgbClr val="000000"/>
              </a:solidFill>
              <a:latin typeface="Times New Roman"/>
              <a:ea typeface="Times New Roman"/>
              <a:cs typeface="Times New Roman"/>
              <a:sym typeface="Times New Roman"/>
            </a:endParaRPr>
          </a:p>
        </p:txBody>
      </p:sp>
      <p:sp>
        <p:nvSpPr>
          <p:cNvPr id="657" name="Google Shape;657;p10"/>
          <p:cNvSpPr txBox="1"/>
          <p:nvPr/>
        </p:nvSpPr>
        <p:spPr>
          <a:xfrm>
            <a:off x="5121421" y="2443911"/>
            <a:ext cx="642614"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AccAcceessiibbiliiliddaadd</a:t>
            </a:r>
            <a:endParaRPr b="0" i="0" sz="884" u="none" cap="none" strike="noStrike">
              <a:solidFill>
                <a:srgbClr val="000000"/>
              </a:solidFill>
              <a:latin typeface="Times New Roman"/>
              <a:ea typeface="Times New Roman"/>
              <a:cs typeface="Times New Roman"/>
              <a:sym typeface="Times New Roman"/>
            </a:endParaRPr>
          </a:p>
        </p:txBody>
      </p:sp>
      <p:grpSp>
        <p:nvGrpSpPr>
          <p:cNvPr id="658" name="Google Shape;658;p10"/>
          <p:cNvGrpSpPr/>
          <p:nvPr/>
        </p:nvGrpSpPr>
        <p:grpSpPr>
          <a:xfrm>
            <a:off x="3256162" y="1986401"/>
            <a:ext cx="2786515" cy="379177"/>
            <a:chOff x="3411932" y="2920745"/>
            <a:chExt cx="4097209" cy="557531"/>
          </a:xfrm>
        </p:grpSpPr>
        <p:sp>
          <p:nvSpPr>
            <p:cNvPr id="659" name="Google Shape;659;p10"/>
            <p:cNvSpPr/>
            <p:nvPr/>
          </p:nvSpPr>
          <p:spPr>
            <a:xfrm>
              <a:off x="3719207" y="2920746"/>
              <a:ext cx="32384" cy="15240"/>
            </a:xfrm>
            <a:custGeom>
              <a:rect b="b" l="l" r="r" t="t"/>
              <a:pathLst>
                <a:path extrusionOk="0" h="15239" w="32385">
                  <a:moveTo>
                    <a:pt x="32004" y="0"/>
                  </a:moveTo>
                  <a:lnTo>
                    <a:pt x="0" y="0"/>
                  </a:lnTo>
                  <a:lnTo>
                    <a:pt x="0" y="15239"/>
                  </a:lnTo>
                  <a:lnTo>
                    <a:pt x="32004"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0" name="Google Shape;660;p10"/>
            <p:cNvSpPr/>
            <p:nvPr/>
          </p:nvSpPr>
          <p:spPr>
            <a:xfrm>
              <a:off x="3719207" y="2920746"/>
              <a:ext cx="32384" cy="15240"/>
            </a:xfrm>
            <a:custGeom>
              <a:rect b="b" l="l" r="r" t="t"/>
              <a:pathLst>
                <a:path extrusionOk="0" h="15239" w="32385">
                  <a:moveTo>
                    <a:pt x="0" y="0"/>
                  </a:moveTo>
                  <a:lnTo>
                    <a:pt x="32004" y="0"/>
                  </a:lnTo>
                  <a:lnTo>
                    <a:pt x="0" y="15239"/>
                  </a:lnTo>
                  <a:lnTo>
                    <a:pt x="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1" name="Google Shape;661;p10"/>
            <p:cNvSpPr/>
            <p:nvPr/>
          </p:nvSpPr>
          <p:spPr>
            <a:xfrm>
              <a:off x="3411932" y="2920746"/>
              <a:ext cx="355600" cy="557530"/>
            </a:xfrm>
            <a:custGeom>
              <a:rect b="b" l="l" r="r" t="t"/>
              <a:pathLst>
                <a:path extrusionOk="0" h="557529" w="355600">
                  <a:moveTo>
                    <a:pt x="335510" y="513812"/>
                  </a:moveTo>
                  <a:lnTo>
                    <a:pt x="14194" y="0"/>
                  </a:lnTo>
                  <a:lnTo>
                    <a:pt x="0" y="0"/>
                  </a:lnTo>
                  <a:lnTo>
                    <a:pt x="325170" y="519976"/>
                  </a:lnTo>
                  <a:lnTo>
                    <a:pt x="335510" y="513812"/>
                  </a:lnTo>
                  <a:close/>
                </a:path>
                <a:path extrusionOk="0" h="557529" w="355600">
                  <a:moveTo>
                    <a:pt x="341564" y="548420"/>
                  </a:moveTo>
                  <a:lnTo>
                    <a:pt x="341564" y="523494"/>
                  </a:lnTo>
                  <a:lnTo>
                    <a:pt x="331658" y="530352"/>
                  </a:lnTo>
                  <a:lnTo>
                    <a:pt x="325170" y="519976"/>
                  </a:lnTo>
                  <a:lnTo>
                    <a:pt x="310322" y="528828"/>
                  </a:lnTo>
                  <a:lnTo>
                    <a:pt x="341564" y="548420"/>
                  </a:lnTo>
                  <a:close/>
                </a:path>
                <a:path extrusionOk="0" h="557529" w="355600">
                  <a:moveTo>
                    <a:pt x="341564" y="523494"/>
                  </a:moveTo>
                  <a:lnTo>
                    <a:pt x="335510" y="513812"/>
                  </a:lnTo>
                  <a:lnTo>
                    <a:pt x="325170" y="519976"/>
                  </a:lnTo>
                  <a:lnTo>
                    <a:pt x="331658" y="530352"/>
                  </a:lnTo>
                  <a:lnTo>
                    <a:pt x="341564" y="523494"/>
                  </a:lnTo>
                  <a:close/>
                </a:path>
                <a:path extrusionOk="0" h="557529" w="355600">
                  <a:moveTo>
                    <a:pt x="355280" y="557022"/>
                  </a:moveTo>
                  <a:lnTo>
                    <a:pt x="349946" y="505206"/>
                  </a:lnTo>
                  <a:lnTo>
                    <a:pt x="335510" y="513812"/>
                  </a:lnTo>
                  <a:lnTo>
                    <a:pt x="341564" y="523494"/>
                  </a:lnTo>
                  <a:lnTo>
                    <a:pt x="341564" y="548420"/>
                  </a:lnTo>
                  <a:lnTo>
                    <a:pt x="355280" y="557022"/>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2" name="Google Shape;662;p10"/>
            <p:cNvSpPr/>
            <p:nvPr/>
          </p:nvSpPr>
          <p:spPr>
            <a:xfrm>
              <a:off x="3411932" y="2920746"/>
              <a:ext cx="355600" cy="557530"/>
            </a:xfrm>
            <a:custGeom>
              <a:rect b="b" l="l" r="r" t="t"/>
              <a:pathLst>
                <a:path extrusionOk="0" h="557529" w="355600">
                  <a:moveTo>
                    <a:pt x="0" y="0"/>
                  </a:moveTo>
                  <a:lnTo>
                    <a:pt x="14194" y="0"/>
                  </a:lnTo>
                  <a:lnTo>
                    <a:pt x="341564" y="523494"/>
                  </a:lnTo>
                  <a:lnTo>
                    <a:pt x="331658" y="530352"/>
                  </a:lnTo>
                  <a:lnTo>
                    <a:pt x="0" y="0"/>
                  </a:lnTo>
                </a:path>
                <a:path extrusionOk="0" h="557529" w="355600">
                  <a:moveTo>
                    <a:pt x="349946" y="505206"/>
                  </a:moveTo>
                  <a:lnTo>
                    <a:pt x="355280" y="557022"/>
                  </a:lnTo>
                  <a:lnTo>
                    <a:pt x="310322" y="528828"/>
                  </a:lnTo>
                  <a:lnTo>
                    <a:pt x="349946" y="505206"/>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3" name="Google Shape;663;p10"/>
            <p:cNvSpPr/>
            <p:nvPr/>
          </p:nvSpPr>
          <p:spPr>
            <a:xfrm>
              <a:off x="5743841" y="2920745"/>
              <a:ext cx="1765300" cy="180975"/>
            </a:xfrm>
            <a:custGeom>
              <a:rect b="b" l="l" r="r" t="t"/>
              <a:pathLst>
                <a:path extrusionOk="0" h="180975" w="1765300">
                  <a:moveTo>
                    <a:pt x="0" y="0"/>
                  </a:moveTo>
                  <a:lnTo>
                    <a:pt x="0" y="180594"/>
                  </a:lnTo>
                  <a:lnTo>
                    <a:pt x="1764792" y="180594"/>
                  </a:lnTo>
                  <a:lnTo>
                    <a:pt x="176479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grpSp>
        <p:nvGrpSpPr>
          <p:cNvPr id="664" name="Google Shape;664;p10"/>
          <p:cNvGrpSpPr/>
          <p:nvPr/>
        </p:nvGrpSpPr>
        <p:grpSpPr>
          <a:xfrm>
            <a:off x="4840177" y="1996765"/>
            <a:ext cx="1490633" cy="572997"/>
            <a:chOff x="5741019" y="2935985"/>
            <a:chExt cx="2191782" cy="842518"/>
          </a:xfrm>
        </p:grpSpPr>
        <p:sp>
          <p:nvSpPr>
            <p:cNvPr id="665" name="Google Shape;665;p10"/>
            <p:cNvSpPr/>
            <p:nvPr/>
          </p:nvSpPr>
          <p:spPr>
            <a:xfrm>
              <a:off x="7508621" y="2935985"/>
              <a:ext cx="424180" cy="48260"/>
            </a:xfrm>
            <a:custGeom>
              <a:rect b="b" l="l" r="r" t="t"/>
              <a:pathLst>
                <a:path extrusionOk="0" h="48260" w="424179">
                  <a:moveTo>
                    <a:pt x="388620" y="29717"/>
                  </a:moveTo>
                  <a:lnTo>
                    <a:pt x="388620" y="18288"/>
                  </a:lnTo>
                  <a:lnTo>
                    <a:pt x="0" y="18288"/>
                  </a:lnTo>
                  <a:lnTo>
                    <a:pt x="0" y="29717"/>
                  </a:lnTo>
                  <a:lnTo>
                    <a:pt x="388620" y="29717"/>
                  </a:lnTo>
                  <a:close/>
                </a:path>
                <a:path extrusionOk="0" h="48260" w="424179">
                  <a:moveTo>
                    <a:pt x="423672" y="23621"/>
                  </a:moveTo>
                  <a:lnTo>
                    <a:pt x="375665" y="0"/>
                  </a:lnTo>
                  <a:lnTo>
                    <a:pt x="375665" y="18288"/>
                  </a:lnTo>
                  <a:lnTo>
                    <a:pt x="388620" y="18288"/>
                  </a:lnTo>
                  <a:lnTo>
                    <a:pt x="388620" y="41426"/>
                  </a:lnTo>
                  <a:lnTo>
                    <a:pt x="423672" y="23621"/>
                  </a:lnTo>
                  <a:close/>
                </a:path>
                <a:path extrusionOk="0" h="48260" w="424179">
                  <a:moveTo>
                    <a:pt x="388620" y="41426"/>
                  </a:moveTo>
                  <a:lnTo>
                    <a:pt x="388620" y="29717"/>
                  </a:lnTo>
                  <a:lnTo>
                    <a:pt x="375665" y="29717"/>
                  </a:lnTo>
                  <a:lnTo>
                    <a:pt x="375665" y="48005"/>
                  </a:lnTo>
                  <a:lnTo>
                    <a:pt x="388620" y="41426"/>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6" name="Google Shape;666;p10"/>
            <p:cNvSpPr/>
            <p:nvPr/>
          </p:nvSpPr>
          <p:spPr>
            <a:xfrm>
              <a:off x="7508621" y="2935985"/>
              <a:ext cx="424180" cy="48260"/>
            </a:xfrm>
            <a:custGeom>
              <a:rect b="b" l="l" r="r" t="t"/>
              <a:pathLst>
                <a:path extrusionOk="0" h="48260" w="424179">
                  <a:moveTo>
                    <a:pt x="0" y="29717"/>
                  </a:moveTo>
                  <a:lnTo>
                    <a:pt x="0" y="18288"/>
                  </a:lnTo>
                  <a:lnTo>
                    <a:pt x="388620" y="18288"/>
                  </a:lnTo>
                  <a:lnTo>
                    <a:pt x="388620" y="29717"/>
                  </a:lnTo>
                  <a:lnTo>
                    <a:pt x="0" y="29717"/>
                  </a:lnTo>
                  <a:close/>
                </a:path>
                <a:path extrusionOk="0" h="48260" w="424179">
                  <a:moveTo>
                    <a:pt x="375666" y="0"/>
                  </a:moveTo>
                  <a:lnTo>
                    <a:pt x="423672" y="23621"/>
                  </a:lnTo>
                  <a:lnTo>
                    <a:pt x="375666" y="48005"/>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7" name="Google Shape;667;p10"/>
            <p:cNvSpPr/>
            <p:nvPr/>
          </p:nvSpPr>
          <p:spPr>
            <a:xfrm>
              <a:off x="7508621" y="3297173"/>
              <a:ext cx="424180" cy="46990"/>
            </a:xfrm>
            <a:custGeom>
              <a:rect b="b" l="l" r="r" t="t"/>
              <a:pathLst>
                <a:path extrusionOk="0" h="46989" w="424179">
                  <a:moveTo>
                    <a:pt x="388620" y="28193"/>
                  </a:moveTo>
                  <a:lnTo>
                    <a:pt x="388620" y="17525"/>
                  </a:lnTo>
                  <a:lnTo>
                    <a:pt x="0" y="17525"/>
                  </a:lnTo>
                  <a:lnTo>
                    <a:pt x="0" y="28193"/>
                  </a:lnTo>
                  <a:lnTo>
                    <a:pt x="388620" y="28193"/>
                  </a:lnTo>
                  <a:close/>
                </a:path>
                <a:path extrusionOk="0" h="46989" w="424179">
                  <a:moveTo>
                    <a:pt x="423672" y="22859"/>
                  </a:moveTo>
                  <a:lnTo>
                    <a:pt x="375666" y="0"/>
                  </a:lnTo>
                  <a:lnTo>
                    <a:pt x="375666" y="17525"/>
                  </a:lnTo>
                  <a:lnTo>
                    <a:pt x="388620" y="17525"/>
                  </a:lnTo>
                  <a:lnTo>
                    <a:pt x="388620" y="40107"/>
                  </a:lnTo>
                  <a:lnTo>
                    <a:pt x="423672" y="22859"/>
                  </a:lnTo>
                  <a:close/>
                </a:path>
                <a:path extrusionOk="0" h="46989" w="424179">
                  <a:moveTo>
                    <a:pt x="388620" y="40107"/>
                  </a:moveTo>
                  <a:lnTo>
                    <a:pt x="388620" y="28193"/>
                  </a:lnTo>
                  <a:lnTo>
                    <a:pt x="375666" y="28193"/>
                  </a:lnTo>
                  <a:lnTo>
                    <a:pt x="375666" y="46481"/>
                  </a:lnTo>
                  <a:lnTo>
                    <a:pt x="388620" y="4010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8" name="Google Shape;668;p10"/>
            <p:cNvSpPr/>
            <p:nvPr/>
          </p:nvSpPr>
          <p:spPr>
            <a:xfrm>
              <a:off x="7508621" y="3297173"/>
              <a:ext cx="424180" cy="46990"/>
            </a:xfrm>
            <a:custGeom>
              <a:rect b="b" l="l" r="r" t="t"/>
              <a:pathLst>
                <a:path extrusionOk="0" h="46989" w="424179">
                  <a:moveTo>
                    <a:pt x="0" y="28193"/>
                  </a:moveTo>
                  <a:lnTo>
                    <a:pt x="0" y="17525"/>
                  </a:lnTo>
                  <a:lnTo>
                    <a:pt x="388620" y="17525"/>
                  </a:lnTo>
                  <a:lnTo>
                    <a:pt x="388620" y="28193"/>
                  </a:lnTo>
                  <a:lnTo>
                    <a:pt x="0" y="28193"/>
                  </a:lnTo>
                  <a:close/>
                </a:path>
                <a:path extrusionOk="0" h="46989" w="424179">
                  <a:moveTo>
                    <a:pt x="375666" y="0"/>
                  </a:moveTo>
                  <a:lnTo>
                    <a:pt x="423672" y="22859"/>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69" name="Google Shape;669;p10"/>
            <p:cNvSpPr/>
            <p:nvPr/>
          </p:nvSpPr>
          <p:spPr>
            <a:xfrm>
              <a:off x="5741019" y="3537203"/>
              <a:ext cx="0" cy="241300"/>
            </a:xfrm>
            <a:custGeom>
              <a:rect b="b" l="l" r="r" t="t"/>
              <a:pathLst>
                <a:path extrusionOk="0" h="241300" w="120000">
                  <a:moveTo>
                    <a:pt x="0" y="0"/>
                  </a:moveTo>
                  <a:lnTo>
                    <a:pt x="0" y="240792"/>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70" name="Google Shape;670;p10"/>
            <p:cNvSpPr/>
            <p:nvPr/>
          </p:nvSpPr>
          <p:spPr>
            <a:xfrm>
              <a:off x="5743841" y="3537203"/>
              <a:ext cx="1765300" cy="241300"/>
            </a:xfrm>
            <a:custGeom>
              <a:rect b="b" l="l" r="r" t="t"/>
              <a:pathLst>
                <a:path extrusionOk="0" h="241300" w="1765300">
                  <a:moveTo>
                    <a:pt x="1764792" y="240792"/>
                  </a:moveTo>
                  <a:lnTo>
                    <a:pt x="1764792"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grpSp>
        <p:nvGrpSpPr>
          <p:cNvPr id="671" name="Google Shape;671;p10"/>
          <p:cNvGrpSpPr/>
          <p:nvPr/>
        </p:nvGrpSpPr>
        <p:grpSpPr>
          <a:xfrm>
            <a:off x="4842096" y="1986401"/>
            <a:ext cx="1488714" cy="532056"/>
            <a:chOff x="5743841" y="2920745"/>
            <a:chExt cx="2188960" cy="782320"/>
          </a:xfrm>
        </p:grpSpPr>
        <p:sp>
          <p:nvSpPr>
            <p:cNvPr id="672" name="Google Shape;672;p10"/>
            <p:cNvSpPr/>
            <p:nvPr/>
          </p:nvSpPr>
          <p:spPr>
            <a:xfrm>
              <a:off x="7508621" y="3656075"/>
              <a:ext cx="424180" cy="46990"/>
            </a:xfrm>
            <a:custGeom>
              <a:rect b="b" l="l" r="r" t="t"/>
              <a:pathLst>
                <a:path extrusionOk="0" h="46989" w="424179">
                  <a:moveTo>
                    <a:pt x="388620" y="29717"/>
                  </a:moveTo>
                  <a:lnTo>
                    <a:pt x="388620" y="16763"/>
                  </a:lnTo>
                  <a:lnTo>
                    <a:pt x="0" y="16763"/>
                  </a:lnTo>
                  <a:lnTo>
                    <a:pt x="0" y="29717"/>
                  </a:lnTo>
                  <a:lnTo>
                    <a:pt x="388620" y="29717"/>
                  </a:lnTo>
                  <a:close/>
                </a:path>
                <a:path extrusionOk="0" h="46989" w="424179">
                  <a:moveTo>
                    <a:pt x="423672" y="22859"/>
                  </a:moveTo>
                  <a:lnTo>
                    <a:pt x="375666" y="0"/>
                  </a:lnTo>
                  <a:lnTo>
                    <a:pt x="375666" y="16763"/>
                  </a:lnTo>
                  <a:lnTo>
                    <a:pt x="388620" y="16763"/>
                  </a:lnTo>
                  <a:lnTo>
                    <a:pt x="388620" y="40107"/>
                  </a:lnTo>
                  <a:lnTo>
                    <a:pt x="423672" y="22859"/>
                  </a:lnTo>
                  <a:close/>
                </a:path>
                <a:path extrusionOk="0" h="46989" w="424179">
                  <a:moveTo>
                    <a:pt x="388620" y="40107"/>
                  </a:moveTo>
                  <a:lnTo>
                    <a:pt x="388620" y="29717"/>
                  </a:lnTo>
                  <a:lnTo>
                    <a:pt x="375666" y="29717"/>
                  </a:lnTo>
                  <a:lnTo>
                    <a:pt x="375666" y="46481"/>
                  </a:lnTo>
                  <a:lnTo>
                    <a:pt x="388620" y="4010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73" name="Google Shape;673;p10"/>
            <p:cNvSpPr/>
            <p:nvPr/>
          </p:nvSpPr>
          <p:spPr>
            <a:xfrm>
              <a:off x="7508621" y="3656075"/>
              <a:ext cx="424180" cy="46990"/>
            </a:xfrm>
            <a:custGeom>
              <a:rect b="b" l="l" r="r" t="t"/>
              <a:pathLst>
                <a:path extrusionOk="0" h="46989" w="424179">
                  <a:moveTo>
                    <a:pt x="0" y="29717"/>
                  </a:moveTo>
                  <a:lnTo>
                    <a:pt x="0" y="16763"/>
                  </a:lnTo>
                  <a:lnTo>
                    <a:pt x="388620" y="16763"/>
                  </a:lnTo>
                  <a:lnTo>
                    <a:pt x="388620" y="29717"/>
                  </a:lnTo>
                  <a:lnTo>
                    <a:pt x="0" y="29717"/>
                  </a:lnTo>
                  <a:close/>
                </a:path>
                <a:path extrusionOk="0" h="46989" w="424179">
                  <a:moveTo>
                    <a:pt x="375666" y="0"/>
                  </a:moveTo>
                  <a:lnTo>
                    <a:pt x="423672" y="22859"/>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74" name="Google Shape;674;p10"/>
            <p:cNvSpPr/>
            <p:nvPr/>
          </p:nvSpPr>
          <p:spPr>
            <a:xfrm>
              <a:off x="5743841" y="2920745"/>
              <a:ext cx="1765300" cy="180975"/>
            </a:xfrm>
            <a:custGeom>
              <a:rect b="b" l="l" r="r" t="t"/>
              <a:pathLst>
                <a:path extrusionOk="0" h="180975" w="1765300">
                  <a:moveTo>
                    <a:pt x="1764791" y="180594"/>
                  </a:moveTo>
                  <a:lnTo>
                    <a:pt x="1764791" y="0"/>
                  </a:lnTo>
                  <a:lnTo>
                    <a:pt x="0" y="0"/>
                  </a:lnTo>
                  <a:lnTo>
                    <a:pt x="0" y="180594"/>
                  </a:lnTo>
                  <a:lnTo>
                    <a:pt x="1764791" y="180594"/>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75" name="Google Shape;675;p10"/>
            <p:cNvSpPr/>
            <p:nvPr/>
          </p:nvSpPr>
          <p:spPr>
            <a:xfrm>
              <a:off x="5743841" y="2920745"/>
              <a:ext cx="1765300" cy="180975"/>
            </a:xfrm>
            <a:custGeom>
              <a:rect b="b" l="l" r="r" t="t"/>
              <a:pathLst>
                <a:path extrusionOk="0" h="180975" w="1765300">
                  <a:moveTo>
                    <a:pt x="0" y="0"/>
                  </a:moveTo>
                  <a:lnTo>
                    <a:pt x="0" y="180594"/>
                  </a:lnTo>
                  <a:lnTo>
                    <a:pt x="1764792" y="180594"/>
                  </a:lnTo>
                  <a:lnTo>
                    <a:pt x="176479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76" name="Google Shape;676;p10"/>
          <p:cNvSpPr txBox="1"/>
          <p:nvPr/>
        </p:nvSpPr>
        <p:spPr>
          <a:xfrm>
            <a:off x="4845936" y="1933307"/>
            <a:ext cx="1192808" cy="144784"/>
          </a:xfrm>
          <a:prstGeom prst="rect">
            <a:avLst/>
          </a:prstGeom>
          <a:noFill/>
          <a:ln>
            <a:noFill/>
          </a:ln>
        </p:spPr>
        <p:txBody>
          <a:bodyPr anchorCtr="0" anchor="t" bIns="0" lIns="0" spcFirstLastPara="1" rIns="0" wrap="square" tIns="8625">
            <a:spAutoFit/>
          </a:bodyPr>
          <a:lstStyle/>
          <a:p>
            <a:pPr indent="0" lvl="0" marL="294098"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Consistencia</a:t>
            </a:r>
            <a:endParaRPr b="0" i="0" sz="884" u="none" cap="none" strike="noStrike">
              <a:solidFill>
                <a:srgbClr val="000000"/>
              </a:solidFill>
              <a:latin typeface="Times New Roman"/>
              <a:ea typeface="Times New Roman"/>
              <a:cs typeface="Times New Roman"/>
              <a:sym typeface="Times New Roman"/>
            </a:endParaRPr>
          </a:p>
        </p:txBody>
      </p:sp>
      <p:grpSp>
        <p:nvGrpSpPr>
          <p:cNvPr id="677" name="Google Shape;677;p10"/>
          <p:cNvGrpSpPr/>
          <p:nvPr/>
        </p:nvGrpSpPr>
        <p:grpSpPr>
          <a:xfrm>
            <a:off x="6042324" y="1996766"/>
            <a:ext cx="288485" cy="32821"/>
            <a:chOff x="7508621" y="2935985"/>
            <a:chExt cx="424180" cy="48260"/>
          </a:xfrm>
        </p:grpSpPr>
        <p:sp>
          <p:nvSpPr>
            <p:cNvPr id="678" name="Google Shape;678;p10"/>
            <p:cNvSpPr/>
            <p:nvPr/>
          </p:nvSpPr>
          <p:spPr>
            <a:xfrm>
              <a:off x="7508621" y="2935985"/>
              <a:ext cx="424180" cy="48260"/>
            </a:xfrm>
            <a:custGeom>
              <a:rect b="b" l="l" r="r" t="t"/>
              <a:pathLst>
                <a:path extrusionOk="0" h="48260" w="424179">
                  <a:moveTo>
                    <a:pt x="388620" y="29717"/>
                  </a:moveTo>
                  <a:lnTo>
                    <a:pt x="388620" y="18288"/>
                  </a:lnTo>
                  <a:lnTo>
                    <a:pt x="0" y="18288"/>
                  </a:lnTo>
                  <a:lnTo>
                    <a:pt x="0" y="29717"/>
                  </a:lnTo>
                  <a:lnTo>
                    <a:pt x="388620" y="29717"/>
                  </a:lnTo>
                  <a:close/>
                </a:path>
                <a:path extrusionOk="0" h="48260" w="424179">
                  <a:moveTo>
                    <a:pt x="423672" y="23621"/>
                  </a:moveTo>
                  <a:lnTo>
                    <a:pt x="375665" y="0"/>
                  </a:lnTo>
                  <a:lnTo>
                    <a:pt x="375665" y="18288"/>
                  </a:lnTo>
                  <a:lnTo>
                    <a:pt x="388620" y="18288"/>
                  </a:lnTo>
                  <a:lnTo>
                    <a:pt x="388620" y="41426"/>
                  </a:lnTo>
                  <a:lnTo>
                    <a:pt x="423672" y="23621"/>
                  </a:lnTo>
                  <a:close/>
                </a:path>
                <a:path extrusionOk="0" h="48260" w="424179">
                  <a:moveTo>
                    <a:pt x="388620" y="41426"/>
                  </a:moveTo>
                  <a:lnTo>
                    <a:pt x="388620" y="29717"/>
                  </a:lnTo>
                  <a:lnTo>
                    <a:pt x="375665" y="29717"/>
                  </a:lnTo>
                  <a:lnTo>
                    <a:pt x="375665" y="48005"/>
                  </a:lnTo>
                  <a:lnTo>
                    <a:pt x="388620" y="41426"/>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79" name="Google Shape;679;p10"/>
            <p:cNvSpPr/>
            <p:nvPr/>
          </p:nvSpPr>
          <p:spPr>
            <a:xfrm>
              <a:off x="7508621" y="2935985"/>
              <a:ext cx="424180" cy="48260"/>
            </a:xfrm>
            <a:custGeom>
              <a:rect b="b" l="l" r="r" t="t"/>
              <a:pathLst>
                <a:path extrusionOk="0" h="48260" w="424179">
                  <a:moveTo>
                    <a:pt x="0" y="29717"/>
                  </a:moveTo>
                  <a:lnTo>
                    <a:pt x="0" y="18288"/>
                  </a:lnTo>
                  <a:lnTo>
                    <a:pt x="388620" y="18288"/>
                  </a:lnTo>
                  <a:lnTo>
                    <a:pt x="388620" y="29717"/>
                  </a:lnTo>
                  <a:lnTo>
                    <a:pt x="0" y="29717"/>
                  </a:lnTo>
                  <a:close/>
                </a:path>
                <a:path extrusionOk="0" h="48260" w="424179">
                  <a:moveTo>
                    <a:pt x="375666" y="0"/>
                  </a:moveTo>
                  <a:lnTo>
                    <a:pt x="423672" y="23621"/>
                  </a:lnTo>
                  <a:lnTo>
                    <a:pt x="375666" y="48005"/>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80" name="Google Shape;680;p10"/>
          <p:cNvSpPr txBox="1"/>
          <p:nvPr/>
        </p:nvSpPr>
        <p:spPr>
          <a:xfrm>
            <a:off x="4842096" y="2162084"/>
            <a:ext cx="1200582" cy="161355"/>
          </a:xfrm>
          <a:prstGeom prst="rect">
            <a:avLst/>
          </a:prstGeom>
          <a:solidFill>
            <a:srgbClr val="DDDDDD"/>
          </a:solidFill>
          <a:ln cap="flat" cmpd="sng" w="11275">
            <a:solidFill>
              <a:srgbClr val="081D58"/>
            </a:solidFill>
            <a:prstDash val="solid"/>
            <a:round/>
            <a:headEnd len="sm" w="sm" type="none"/>
            <a:tailEnd len="sm" w="sm" type="none"/>
          </a:ln>
        </p:spPr>
        <p:txBody>
          <a:bodyPr anchorCtr="0" anchor="t" bIns="0" lIns="0" spcFirstLastPara="1" rIns="0" wrap="square" tIns="25025">
            <a:spAutoFit/>
          </a:bodyPr>
          <a:lstStyle/>
          <a:p>
            <a:pPr indent="0" lvl="0" marL="71689"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Eficiencia dispositivos</a:t>
            </a:r>
            <a:endParaRPr b="0" i="0" sz="884" u="none" cap="none" strike="noStrike">
              <a:solidFill>
                <a:srgbClr val="000000"/>
              </a:solidFill>
              <a:latin typeface="Times New Roman"/>
              <a:ea typeface="Times New Roman"/>
              <a:cs typeface="Times New Roman"/>
              <a:sym typeface="Times New Roman"/>
            </a:endParaRPr>
          </a:p>
        </p:txBody>
      </p:sp>
      <p:grpSp>
        <p:nvGrpSpPr>
          <p:cNvPr id="681" name="Google Shape;681;p10"/>
          <p:cNvGrpSpPr/>
          <p:nvPr/>
        </p:nvGrpSpPr>
        <p:grpSpPr>
          <a:xfrm>
            <a:off x="4842096" y="2242410"/>
            <a:ext cx="1488714" cy="327353"/>
            <a:chOff x="5743841" y="3297174"/>
            <a:chExt cx="2188960" cy="481330"/>
          </a:xfrm>
        </p:grpSpPr>
        <p:sp>
          <p:nvSpPr>
            <p:cNvPr id="682" name="Google Shape;682;p10"/>
            <p:cNvSpPr/>
            <p:nvPr/>
          </p:nvSpPr>
          <p:spPr>
            <a:xfrm>
              <a:off x="7508621" y="3297174"/>
              <a:ext cx="424180" cy="46990"/>
            </a:xfrm>
            <a:custGeom>
              <a:rect b="b" l="l" r="r" t="t"/>
              <a:pathLst>
                <a:path extrusionOk="0" h="46989" w="424179">
                  <a:moveTo>
                    <a:pt x="388620" y="28193"/>
                  </a:moveTo>
                  <a:lnTo>
                    <a:pt x="388620" y="17525"/>
                  </a:lnTo>
                  <a:lnTo>
                    <a:pt x="0" y="17525"/>
                  </a:lnTo>
                  <a:lnTo>
                    <a:pt x="0" y="28193"/>
                  </a:lnTo>
                  <a:lnTo>
                    <a:pt x="388620" y="28193"/>
                  </a:lnTo>
                  <a:close/>
                </a:path>
                <a:path extrusionOk="0" h="46989" w="424179">
                  <a:moveTo>
                    <a:pt x="423672" y="22859"/>
                  </a:moveTo>
                  <a:lnTo>
                    <a:pt x="375666" y="0"/>
                  </a:lnTo>
                  <a:lnTo>
                    <a:pt x="375666" y="17525"/>
                  </a:lnTo>
                  <a:lnTo>
                    <a:pt x="388620" y="17525"/>
                  </a:lnTo>
                  <a:lnTo>
                    <a:pt x="388620" y="40107"/>
                  </a:lnTo>
                  <a:lnTo>
                    <a:pt x="423672" y="22859"/>
                  </a:lnTo>
                  <a:close/>
                </a:path>
                <a:path extrusionOk="0" h="46989" w="424179">
                  <a:moveTo>
                    <a:pt x="388620" y="40107"/>
                  </a:moveTo>
                  <a:lnTo>
                    <a:pt x="388620" y="28193"/>
                  </a:lnTo>
                  <a:lnTo>
                    <a:pt x="375666" y="28193"/>
                  </a:lnTo>
                  <a:lnTo>
                    <a:pt x="375666" y="46481"/>
                  </a:lnTo>
                  <a:lnTo>
                    <a:pt x="388620" y="4010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83" name="Google Shape;683;p10"/>
            <p:cNvSpPr/>
            <p:nvPr/>
          </p:nvSpPr>
          <p:spPr>
            <a:xfrm>
              <a:off x="7508621" y="3297174"/>
              <a:ext cx="424180" cy="46990"/>
            </a:xfrm>
            <a:custGeom>
              <a:rect b="b" l="l" r="r" t="t"/>
              <a:pathLst>
                <a:path extrusionOk="0" h="46989" w="424179">
                  <a:moveTo>
                    <a:pt x="0" y="28193"/>
                  </a:moveTo>
                  <a:lnTo>
                    <a:pt x="0" y="17525"/>
                  </a:lnTo>
                  <a:lnTo>
                    <a:pt x="388620" y="17525"/>
                  </a:lnTo>
                  <a:lnTo>
                    <a:pt x="388620" y="28193"/>
                  </a:lnTo>
                  <a:lnTo>
                    <a:pt x="0" y="28193"/>
                  </a:lnTo>
                  <a:close/>
                </a:path>
                <a:path extrusionOk="0" h="46989" w="424179">
                  <a:moveTo>
                    <a:pt x="375666" y="0"/>
                  </a:moveTo>
                  <a:lnTo>
                    <a:pt x="423672" y="22859"/>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84" name="Google Shape;684;p10"/>
            <p:cNvSpPr/>
            <p:nvPr/>
          </p:nvSpPr>
          <p:spPr>
            <a:xfrm>
              <a:off x="5743841" y="3537204"/>
              <a:ext cx="1765300" cy="241300"/>
            </a:xfrm>
            <a:custGeom>
              <a:rect b="b" l="l" r="r" t="t"/>
              <a:pathLst>
                <a:path extrusionOk="0" h="241300" w="1765300">
                  <a:moveTo>
                    <a:pt x="0" y="0"/>
                  </a:moveTo>
                  <a:lnTo>
                    <a:pt x="0" y="240792"/>
                  </a:lnTo>
                </a:path>
                <a:path extrusionOk="0" h="241300" w="1765300">
                  <a:moveTo>
                    <a:pt x="1764792" y="240792"/>
                  </a:moveTo>
                  <a:lnTo>
                    <a:pt x="1764792" y="0"/>
                  </a:lnTo>
                  <a:lnTo>
                    <a:pt x="0"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85" name="Google Shape;685;p10"/>
          <p:cNvSpPr txBox="1"/>
          <p:nvPr/>
        </p:nvSpPr>
        <p:spPr>
          <a:xfrm>
            <a:off x="4842096" y="2405655"/>
            <a:ext cx="1200582" cy="162228"/>
          </a:xfrm>
          <a:prstGeom prst="rect">
            <a:avLst/>
          </a:prstGeom>
          <a:solidFill>
            <a:srgbClr val="DDDDDD"/>
          </a:solidFill>
          <a:ln>
            <a:noFill/>
          </a:ln>
        </p:spPr>
        <p:txBody>
          <a:bodyPr anchorCtr="0" anchor="t" bIns="0" lIns="0" spcFirstLastPara="1" rIns="0" wrap="square" tIns="25900">
            <a:spAutoFit/>
          </a:bodyPr>
          <a:lstStyle/>
          <a:p>
            <a:pPr indent="0" lvl="0" marL="278983"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Accesibilidad</a:t>
            </a:r>
            <a:endParaRPr b="0" i="0" sz="884" u="none" cap="none" strike="noStrike">
              <a:solidFill>
                <a:srgbClr val="000000"/>
              </a:solidFill>
              <a:latin typeface="Times New Roman"/>
              <a:ea typeface="Times New Roman"/>
              <a:cs typeface="Times New Roman"/>
              <a:sym typeface="Times New Roman"/>
            </a:endParaRPr>
          </a:p>
        </p:txBody>
      </p:sp>
      <p:grpSp>
        <p:nvGrpSpPr>
          <p:cNvPr id="686" name="Google Shape;686;p10"/>
          <p:cNvGrpSpPr/>
          <p:nvPr/>
        </p:nvGrpSpPr>
        <p:grpSpPr>
          <a:xfrm>
            <a:off x="6042324" y="1986401"/>
            <a:ext cx="576634" cy="583016"/>
            <a:chOff x="7508621" y="2920745"/>
            <a:chExt cx="847865" cy="857250"/>
          </a:xfrm>
        </p:grpSpPr>
        <p:sp>
          <p:nvSpPr>
            <p:cNvPr id="687" name="Google Shape;687;p10"/>
            <p:cNvSpPr/>
            <p:nvPr/>
          </p:nvSpPr>
          <p:spPr>
            <a:xfrm>
              <a:off x="7508621" y="3656075"/>
              <a:ext cx="424180" cy="46990"/>
            </a:xfrm>
            <a:custGeom>
              <a:rect b="b" l="l" r="r" t="t"/>
              <a:pathLst>
                <a:path extrusionOk="0" h="46989" w="424179">
                  <a:moveTo>
                    <a:pt x="388620" y="29717"/>
                  </a:moveTo>
                  <a:lnTo>
                    <a:pt x="388620" y="16763"/>
                  </a:lnTo>
                  <a:lnTo>
                    <a:pt x="0" y="16763"/>
                  </a:lnTo>
                  <a:lnTo>
                    <a:pt x="0" y="29717"/>
                  </a:lnTo>
                  <a:lnTo>
                    <a:pt x="388620" y="29717"/>
                  </a:lnTo>
                  <a:close/>
                </a:path>
                <a:path extrusionOk="0" h="46989" w="424179">
                  <a:moveTo>
                    <a:pt x="423672" y="22859"/>
                  </a:moveTo>
                  <a:lnTo>
                    <a:pt x="375666" y="0"/>
                  </a:lnTo>
                  <a:lnTo>
                    <a:pt x="375666" y="16763"/>
                  </a:lnTo>
                  <a:lnTo>
                    <a:pt x="388620" y="16763"/>
                  </a:lnTo>
                  <a:lnTo>
                    <a:pt x="388620" y="40107"/>
                  </a:lnTo>
                  <a:lnTo>
                    <a:pt x="423672" y="22859"/>
                  </a:lnTo>
                  <a:close/>
                </a:path>
                <a:path extrusionOk="0" h="46989" w="424179">
                  <a:moveTo>
                    <a:pt x="388620" y="40107"/>
                  </a:moveTo>
                  <a:lnTo>
                    <a:pt x="388620" y="29717"/>
                  </a:lnTo>
                  <a:lnTo>
                    <a:pt x="375666" y="29717"/>
                  </a:lnTo>
                  <a:lnTo>
                    <a:pt x="375666" y="46481"/>
                  </a:lnTo>
                  <a:lnTo>
                    <a:pt x="388620" y="40107"/>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88" name="Google Shape;688;p10"/>
            <p:cNvSpPr/>
            <p:nvPr/>
          </p:nvSpPr>
          <p:spPr>
            <a:xfrm>
              <a:off x="7508621" y="3656075"/>
              <a:ext cx="424180" cy="46990"/>
            </a:xfrm>
            <a:custGeom>
              <a:rect b="b" l="l" r="r" t="t"/>
              <a:pathLst>
                <a:path extrusionOk="0" h="46989" w="424179">
                  <a:moveTo>
                    <a:pt x="0" y="29717"/>
                  </a:moveTo>
                  <a:lnTo>
                    <a:pt x="0" y="16763"/>
                  </a:lnTo>
                  <a:lnTo>
                    <a:pt x="388620" y="16763"/>
                  </a:lnTo>
                  <a:lnTo>
                    <a:pt x="388620" y="29717"/>
                  </a:lnTo>
                  <a:lnTo>
                    <a:pt x="0" y="29717"/>
                  </a:lnTo>
                  <a:close/>
                </a:path>
                <a:path extrusionOk="0" h="46989" w="424179">
                  <a:moveTo>
                    <a:pt x="375666" y="0"/>
                  </a:moveTo>
                  <a:lnTo>
                    <a:pt x="423672" y="22859"/>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89" name="Google Shape;689;p10"/>
            <p:cNvSpPr/>
            <p:nvPr/>
          </p:nvSpPr>
          <p:spPr>
            <a:xfrm>
              <a:off x="7932306" y="2920745"/>
              <a:ext cx="424180" cy="857250"/>
            </a:xfrm>
            <a:custGeom>
              <a:rect b="b" l="l" r="r" t="t"/>
              <a:pathLst>
                <a:path extrusionOk="0" h="857250" w="424179">
                  <a:moveTo>
                    <a:pt x="423672" y="857250"/>
                  </a:moveTo>
                  <a:lnTo>
                    <a:pt x="423672" y="0"/>
                  </a:lnTo>
                  <a:lnTo>
                    <a:pt x="0" y="0"/>
                  </a:lnTo>
                  <a:lnTo>
                    <a:pt x="0" y="857250"/>
                  </a:lnTo>
                  <a:lnTo>
                    <a:pt x="423672" y="857250"/>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90" name="Google Shape;690;p10"/>
            <p:cNvSpPr/>
            <p:nvPr/>
          </p:nvSpPr>
          <p:spPr>
            <a:xfrm>
              <a:off x="7932306" y="2920745"/>
              <a:ext cx="424180" cy="857250"/>
            </a:xfrm>
            <a:custGeom>
              <a:rect b="b" l="l" r="r" t="t"/>
              <a:pathLst>
                <a:path extrusionOk="0" h="857250" w="424179">
                  <a:moveTo>
                    <a:pt x="0" y="0"/>
                  </a:moveTo>
                  <a:lnTo>
                    <a:pt x="0" y="857249"/>
                  </a:lnTo>
                </a:path>
                <a:path extrusionOk="0" h="857250" w="424179">
                  <a:moveTo>
                    <a:pt x="423672" y="857249"/>
                  </a:moveTo>
                  <a:lnTo>
                    <a:pt x="42367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691" name="Google Shape;691;p10"/>
          <p:cNvSpPr txBox="1"/>
          <p:nvPr/>
        </p:nvSpPr>
        <p:spPr>
          <a:xfrm>
            <a:off x="6380386" y="1933413"/>
            <a:ext cx="188293" cy="693076"/>
          </a:xfrm>
          <a:prstGeom prst="rect">
            <a:avLst/>
          </a:prstGeom>
          <a:noFill/>
          <a:ln>
            <a:noFill/>
          </a:ln>
        </p:spPr>
        <p:txBody>
          <a:bodyPr anchorCtr="0" anchor="t" bIns="0" lIns="0" spcFirstLastPara="1" rIns="0" wrap="square" tIns="8625">
            <a:spAutoFit/>
          </a:bodyPr>
          <a:lstStyle/>
          <a:p>
            <a:pPr indent="-27207" lvl="0" marL="35412" marR="3455" rtl="0" algn="just">
              <a:lnSpc>
                <a:spcPct val="100800"/>
              </a:lnSpc>
              <a:spcBef>
                <a:spcPts val="0"/>
              </a:spcBef>
              <a:spcAft>
                <a:spcPts val="0"/>
              </a:spcAft>
              <a:buNone/>
            </a:pPr>
            <a:r>
              <a:rPr b="0" i="0" lang="en-US" sz="1496" u="none" cap="none" strike="noStrike">
                <a:solidFill>
                  <a:srgbClr val="081D58"/>
                </a:solidFill>
                <a:latin typeface="Times New Roman"/>
                <a:ea typeface="Times New Roman"/>
                <a:cs typeface="Times New Roman"/>
                <a:sym typeface="Times New Roman"/>
              </a:rPr>
              <a:t>M É T</a:t>
            </a:r>
            <a:endParaRPr b="0" i="0" sz="1496" u="none" cap="none" strike="noStrike">
              <a:solidFill>
                <a:srgbClr val="000000"/>
              </a:solidFill>
              <a:latin typeface="Times New Roman"/>
              <a:ea typeface="Times New Roman"/>
              <a:cs typeface="Times New Roman"/>
              <a:sym typeface="Times New Roman"/>
            </a:endParaRPr>
          </a:p>
        </p:txBody>
      </p:sp>
      <p:grpSp>
        <p:nvGrpSpPr>
          <p:cNvPr id="692" name="Google Shape;692;p10"/>
          <p:cNvGrpSpPr/>
          <p:nvPr/>
        </p:nvGrpSpPr>
        <p:grpSpPr>
          <a:xfrm>
            <a:off x="1462674" y="1986401"/>
            <a:ext cx="6218841" cy="1166386"/>
            <a:chOff x="774839" y="2920745"/>
            <a:chExt cx="9144000" cy="1715020"/>
          </a:xfrm>
        </p:grpSpPr>
        <p:sp>
          <p:nvSpPr>
            <p:cNvPr id="693" name="Google Shape;693;p10"/>
            <p:cNvSpPr/>
            <p:nvPr/>
          </p:nvSpPr>
          <p:spPr>
            <a:xfrm>
              <a:off x="5374827" y="2920746"/>
              <a:ext cx="369570" cy="758190"/>
            </a:xfrm>
            <a:custGeom>
              <a:rect b="b" l="l" r="r" t="t"/>
              <a:pathLst>
                <a:path extrusionOk="0" h="758189" w="369570">
                  <a:moveTo>
                    <a:pt x="353803" y="712802"/>
                  </a:moveTo>
                  <a:lnTo>
                    <a:pt x="13079" y="0"/>
                  </a:lnTo>
                  <a:lnTo>
                    <a:pt x="0" y="0"/>
                  </a:lnTo>
                  <a:lnTo>
                    <a:pt x="342119" y="718325"/>
                  </a:lnTo>
                  <a:lnTo>
                    <a:pt x="353803" y="712802"/>
                  </a:lnTo>
                  <a:close/>
                </a:path>
                <a:path extrusionOk="0" h="758189" w="369570">
                  <a:moveTo>
                    <a:pt x="359108" y="750445"/>
                  </a:moveTo>
                  <a:lnTo>
                    <a:pt x="359108" y="723900"/>
                  </a:lnTo>
                  <a:lnTo>
                    <a:pt x="347678" y="729995"/>
                  </a:lnTo>
                  <a:lnTo>
                    <a:pt x="342119" y="718325"/>
                  </a:lnTo>
                  <a:lnTo>
                    <a:pt x="327104" y="725424"/>
                  </a:lnTo>
                  <a:lnTo>
                    <a:pt x="359108" y="750445"/>
                  </a:lnTo>
                  <a:close/>
                </a:path>
                <a:path extrusionOk="0" h="758189" w="369570">
                  <a:moveTo>
                    <a:pt x="359108" y="723900"/>
                  </a:moveTo>
                  <a:lnTo>
                    <a:pt x="353803" y="712802"/>
                  </a:lnTo>
                  <a:lnTo>
                    <a:pt x="342119" y="718325"/>
                  </a:lnTo>
                  <a:lnTo>
                    <a:pt x="347678" y="729995"/>
                  </a:lnTo>
                  <a:lnTo>
                    <a:pt x="359108" y="723900"/>
                  </a:lnTo>
                  <a:close/>
                </a:path>
                <a:path extrusionOk="0" h="758189" w="369570">
                  <a:moveTo>
                    <a:pt x="369014" y="758189"/>
                  </a:moveTo>
                  <a:lnTo>
                    <a:pt x="369014" y="705612"/>
                  </a:lnTo>
                  <a:lnTo>
                    <a:pt x="353803" y="712802"/>
                  </a:lnTo>
                  <a:lnTo>
                    <a:pt x="359108" y="723900"/>
                  </a:lnTo>
                  <a:lnTo>
                    <a:pt x="359108" y="750445"/>
                  </a:lnTo>
                  <a:lnTo>
                    <a:pt x="369014" y="758189"/>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94" name="Google Shape;694;p10"/>
            <p:cNvSpPr/>
            <p:nvPr/>
          </p:nvSpPr>
          <p:spPr>
            <a:xfrm>
              <a:off x="5374827" y="2920746"/>
              <a:ext cx="369570" cy="758190"/>
            </a:xfrm>
            <a:custGeom>
              <a:rect b="b" l="l" r="r" t="t"/>
              <a:pathLst>
                <a:path extrusionOk="0" h="758189" w="369570">
                  <a:moveTo>
                    <a:pt x="0" y="0"/>
                  </a:moveTo>
                  <a:lnTo>
                    <a:pt x="13079" y="0"/>
                  </a:lnTo>
                  <a:lnTo>
                    <a:pt x="359108" y="723900"/>
                  </a:lnTo>
                  <a:lnTo>
                    <a:pt x="347678" y="729995"/>
                  </a:lnTo>
                  <a:lnTo>
                    <a:pt x="0" y="0"/>
                  </a:lnTo>
                </a:path>
                <a:path extrusionOk="0" h="758189" w="369570">
                  <a:moveTo>
                    <a:pt x="369014" y="705612"/>
                  </a:moveTo>
                  <a:lnTo>
                    <a:pt x="369014" y="758189"/>
                  </a:lnTo>
                  <a:lnTo>
                    <a:pt x="327104" y="725424"/>
                  </a:lnTo>
                  <a:lnTo>
                    <a:pt x="369014" y="705612"/>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95" name="Google Shape;695;p10"/>
            <p:cNvSpPr/>
            <p:nvPr/>
          </p:nvSpPr>
          <p:spPr>
            <a:xfrm>
              <a:off x="5128613" y="2920745"/>
              <a:ext cx="615315" cy="59055"/>
            </a:xfrm>
            <a:custGeom>
              <a:rect b="b" l="l" r="r" t="t"/>
              <a:pathLst>
                <a:path extrusionOk="0" h="59055" w="615314">
                  <a:moveTo>
                    <a:pt x="568556" y="29610"/>
                  </a:moveTo>
                  <a:lnTo>
                    <a:pt x="173087" y="0"/>
                  </a:lnTo>
                  <a:lnTo>
                    <a:pt x="0" y="0"/>
                  </a:lnTo>
                  <a:lnTo>
                    <a:pt x="567426" y="41096"/>
                  </a:lnTo>
                  <a:lnTo>
                    <a:pt x="568556" y="29610"/>
                  </a:lnTo>
                  <a:close/>
                </a:path>
                <a:path extrusionOk="0" h="59055" w="615314">
                  <a:moveTo>
                    <a:pt x="580176" y="52882"/>
                  </a:moveTo>
                  <a:lnTo>
                    <a:pt x="580176" y="30480"/>
                  </a:lnTo>
                  <a:lnTo>
                    <a:pt x="578652" y="41910"/>
                  </a:lnTo>
                  <a:lnTo>
                    <a:pt x="567426" y="41096"/>
                  </a:lnTo>
                  <a:lnTo>
                    <a:pt x="565698" y="58674"/>
                  </a:lnTo>
                  <a:lnTo>
                    <a:pt x="580176" y="52882"/>
                  </a:lnTo>
                  <a:close/>
                </a:path>
                <a:path extrusionOk="0" h="59055" w="615314">
                  <a:moveTo>
                    <a:pt x="580176" y="30480"/>
                  </a:moveTo>
                  <a:lnTo>
                    <a:pt x="568556" y="29610"/>
                  </a:lnTo>
                  <a:lnTo>
                    <a:pt x="567426" y="41096"/>
                  </a:lnTo>
                  <a:lnTo>
                    <a:pt x="578652" y="41910"/>
                  </a:lnTo>
                  <a:lnTo>
                    <a:pt x="580176" y="30480"/>
                  </a:lnTo>
                  <a:close/>
                </a:path>
                <a:path extrusionOk="0" h="59055" w="615314">
                  <a:moveTo>
                    <a:pt x="615228" y="38861"/>
                  </a:moveTo>
                  <a:lnTo>
                    <a:pt x="570270" y="12192"/>
                  </a:lnTo>
                  <a:lnTo>
                    <a:pt x="568556" y="29610"/>
                  </a:lnTo>
                  <a:lnTo>
                    <a:pt x="580176" y="30480"/>
                  </a:lnTo>
                  <a:lnTo>
                    <a:pt x="580176" y="52882"/>
                  </a:lnTo>
                  <a:lnTo>
                    <a:pt x="615228" y="38861"/>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96" name="Google Shape;696;p10"/>
            <p:cNvSpPr/>
            <p:nvPr/>
          </p:nvSpPr>
          <p:spPr>
            <a:xfrm>
              <a:off x="5128613" y="2920745"/>
              <a:ext cx="615315" cy="59055"/>
            </a:xfrm>
            <a:custGeom>
              <a:rect b="b" l="l" r="r" t="t"/>
              <a:pathLst>
                <a:path extrusionOk="0" h="59055" w="615314">
                  <a:moveTo>
                    <a:pt x="0" y="0"/>
                  </a:moveTo>
                  <a:lnTo>
                    <a:pt x="173087" y="0"/>
                  </a:lnTo>
                  <a:lnTo>
                    <a:pt x="580176" y="30480"/>
                  </a:lnTo>
                  <a:lnTo>
                    <a:pt x="578652" y="41910"/>
                  </a:lnTo>
                  <a:lnTo>
                    <a:pt x="0" y="0"/>
                  </a:lnTo>
                </a:path>
                <a:path extrusionOk="0" h="59055" w="615314">
                  <a:moveTo>
                    <a:pt x="570270" y="12192"/>
                  </a:moveTo>
                  <a:lnTo>
                    <a:pt x="615228" y="38861"/>
                  </a:lnTo>
                  <a:lnTo>
                    <a:pt x="565698" y="58674"/>
                  </a:lnTo>
                  <a:lnTo>
                    <a:pt x="570270" y="12192"/>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97" name="Google Shape;697;p10"/>
            <p:cNvSpPr/>
            <p:nvPr/>
          </p:nvSpPr>
          <p:spPr>
            <a:xfrm>
              <a:off x="5105585" y="2920745"/>
              <a:ext cx="497205" cy="857250"/>
            </a:xfrm>
            <a:custGeom>
              <a:rect b="b" l="l" r="r" t="t"/>
              <a:pathLst>
                <a:path extrusionOk="0" h="857250" w="497204">
                  <a:moveTo>
                    <a:pt x="497058" y="857250"/>
                  </a:moveTo>
                  <a:lnTo>
                    <a:pt x="12915" y="0"/>
                  </a:lnTo>
                  <a:lnTo>
                    <a:pt x="0" y="0"/>
                  </a:lnTo>
                  <a:lnTo>
                    <a:pt x="484740" y="857250"/>
                  </a:lnTo>
                  <a:lnTo>
                    <a:pt x="497058" y="85725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98" name="Google Shape;698;p10"/>
            <p:cNvSpPr/>
            <p:nvPr/>
          </p:nvSpPr>
          <p:spPr>
            <a:xfrm>
              <a:off x="5105585" y="2920745"/>
              <a:ext cx="497205" cy="857250"/>
            </a:xfrm>
            <a:custGeom>
              <a:rect b="b" l="l" r="r" t="t"/>
              <a:pathLst>
                <a:path extrusionOk="0" h="857250" w="497204">
                  <a:moveTo>
                    <a:pt x="0" y="0"/>
                  </a:moveTo>
                  <a:lnTo>
                    <a:pt x="12915" y="0"/>
                  </a:lnTo>
                  <a:lnTo>
                    <a:pt x="497058" y="857250"/>
                  </a:lnTo>
                  <a:lnTo>
                    <a:pt x="484740" y="857250"/>
                  </a:lnTo>
                  <a:lnTo>
                    <a:pt x="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699" name="Google Shape;699;p10"/>
            <p:cNvSpPr/>
            <p:nvPr/>
          </p:nvSpPr>
          <p:spPr>
            <a:xfrm>
              <a:off x="5107571" y="3308603"/>
              <a:ext cx="636270" cy="175260"/>
            </a:xfrm>
            <a:custGeom>
              <a:rect b="b" l="l" r="r" t="t"/>
              <a:pathLst>
                <a:path extrusionOk="0" h="175260" w="636270">
                  <a:moveTo>
                    <a:pt x="591110" y="28053"/>
                  </a:moveTo>
                  <a:lnTo>
                    <a:pt x="588548" y="17253"/>
                  </a:lnTo>
                  <a:lnTo>
                    <a:pt x="0" y="163829"/>
                  </a:lnTo>
                  <a:lnTo>
                    <a:pt x="2286" y="175259"/>
                  </a:lnTo>
                  <a:lnTo>
                    <a:pt x="591110" y="28053"/>
                  </a:lnTo>
                  <a:close/>
                </a:path>
                <a:path extrusionOk="0" h="175260" w="636270">
                  <a:moveTo>
                    <a:pt x="636270" y="11429"/>
                  </a:moveTo>
                  <a:lnTo>
                    <a:pt x="584454" y="0"/>
                  </a:lnTo>
                  <a:lnTo>
                    <a:pt x="588548" y="17253"/>
                  </a:lnTo>
                  <a:lnTo>
                    <a:pt x="599694" y="14477"/>
                  </a:lnTo>
                  <a:lnTo>
                    <a:pt x="602742" y="25145"/>
                  </a:lnTo>
                  <a:lnTo>
                    <a:pt x="602742" y="38749"/>
                  </a:lnTo>
                  <a:lnTo>
                    <a:pt x="636270" y="11429"/>
                  </a:lnTo>
                  <a:close/>
                </a:path>
                <a:path extrusionOk="0" h="175260" w="636270">
                  <a:moveTo>
                    <a:pt x="602742" y="25145"/>
                  </a:moveTo>
                  <a:lnTo>
                    <a:pt x="599694" y="14477"/>
                  </a:lnTo>
                  <a:lnTo>
                    <a:pt x="588548" y="17253"/>
                  </a:lnTo>
                  <a:lnTo>
                    <a:pt x="591110" y="28053"/>
                  </a:lnTo>
                  <a:lnTo>
                    <a:pt x="602742" y="25145"/>
                  </a:lnTo>
                  <a:close/>
                </a:path>
                <a:path extrusionOk="0" h="175260" w="636270">
                  <a:moveTo>
                    <a:pt x="602742" y="38749"/>
                  </a:moveTo>
                  <a:lnTo>
                    <a:pt x="602742" y="25145"/>
                  </a:lnTo>
                  <a:lnTo>
                    <a:pt x="591110" y="28053"/>
                  </a:lnTo>
                  <a:lnTo>
                    <a:pt x="595122" y="44957"/>
                  </a:lnTo>
                  <a:lnTo>
                    <a:pt x="602742" y="38749"/>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0" name="Google Shape;700;p10"/>
            <p:cNvSpPr/>
            <p:nvPr/>
          </p:nvSpPr>
          <p:spPr>
            <a:xfrm>
              <a:off x="5107571" y="3308603"/>
              <a:ext cx="636270" cy="175260"/>
            </a:xfrm>
            <a:custGeom>
              <a:rect b="b" l="l" r="r" t="t"/>
              <a:pathLst>
                <a:path extrusionOk="0" h="175260" w="636270">
                  <a:moveTo>
                    <a:pt x="0" y="163829"/>
                  </a:moveTo>
                  <a:lnTo>
                    <a:pt x="599694" y="14477"/>
                  </a:lnTo>
                  <a:lnTo>
                    <a:pt x="602742" y="25145"/>
                  </a:lnTo>
                  <a:lnTo>
                    <a:pt x="2286" y="175259"/>
                  </a:lnTo>
                  <a:lnTo>
                    <a:pt x="0" y="163829"/>
                  </a:lnTo>
                  <a:close/>
                </a:path>
                <a:path extrusionOk="0" h="175260" w="636270">
                  <a:moveTo>
                    <a:pt x="584454" y="0"/>
                  </a:moveTo>
                  <a:lnTo>
                    <a:pt x="636270" y="11429"/>
                  </a:lnTo>
                  <a:lnTo>
                    <a:pt x="595122" y="44957"/>
                  </a:lnTo>
                  <a:lnTo>
                    <a:pt x="584454"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1" name="Google Shape;701;p10"/>
            <p:cNvSpPr/>
            <p:nvPr/>
          </p:nvSpPr>
          <p:spPr>
            <a:xfrm>
              <a:off x="5106047" y="3472433"/>
              <a:ext cx="638175" cy="215265"/>
            </a:xfrm>
            <a:custGeom>
              <a:rect b="b" l="l" r="r" t="t"/>
              <a:pathLst>
                <a:path extrusionOk="0" h="215264" w="638175">
                  <a:moveTo>
                    <a:pt x="594376" y="186888"/>
                  </a:moveTo>
                  <a:lnTo>
                    <a:pt x="3810" y="0"/>
                  </a:lnTo>
                  <a:lnTo>
                    <a:pt x="0" y="11430"/>
                  </a:lnTo>
                  <a:lnTo>
                    <a:pt x="590979" y="198212"/>
                  </a:lnTo>
                  <a:lnTo>
                    <a:pt x="594376" y="186888"/>
                  </a:lnTo>
                  <a:close/>
                </a:path>
                <a:path extrusionOk="0" h="215264" w="638175">
                  <a:moveTo>
                    <a:pt x="605790" y="211679"/>
                  </a:moveTo>
                  <a:lnTo>
                    <a:pt x="605790" y="190499"/>
                  </a:lnTo>
                  <a:lnTo>
                    <a:pt x="602742" y="201929"/>
                  </a:lnTo>
                  <a:lnTo>
                    <a:pt x="590979" y="198212"/>
                  </a:lnTo>
                  <a:lnTo>
                    <a:pt x="585978" y="214883"/>
                  </a:lnTo>
                  <a:lnTo>
                    <a:pt x="605790" y="211679"/>
                  </a:lnTo>
                  <a:close/>
                </a:path>
                <a:path extrusionOk="0" h="215264" w="638175">
                  <a:moveTo>
                    <a:pt x="605790" y="190499"/>
                  </a:moveTo>
                  <a:lnTo>
                    <a:pt x="594376" y="186888"/>
                  </a:lnTo>
                  <a:lnTo>
                    <a:pt x="590979" y="198212"/>
                  </a:lnTo>
                  <a:lnTo>
                    <a:pt x="602742" y="201929"/>
                  </a:lnTo>
                  <a:lnTo>
                    <a:pt x="605790" y="190499"/>
                  </a:lnTo>
                  <a:close/>
                </a:path>
                <a:path extrusionOk="0" h="215264" w="638175">
                  <a:moveTo>
                    <a:pt x="637794" y="206501"/>
                  </a:moveTo>
                  <a:lnTo>
                    <a:pt x="599694" y="169163"/>
                  </a:lnTo>
                  <a:lnTo>
                    <a:pt x="594376" y="186888"/>
                  </a:lnTo>
                  <a:lnTo>
                    <a:pt x="605790" y="190499"/>
                  </a:lnTo>
                  <a:lnTo>
                    <a:pt x="605790" y="211679"/>
                  </a:lnTo>
                  <a:lnTo>
                    <a:pt x="637794" y="206501"/>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2" name="Google Shape;702;p10"/>
            <p:cNvSpPr/>
            <p:nvPr/>
          </p:nvSpPr>
          <p:spPr>
            <a:xfrm>
              <a:off x="5106047" y="3472433"/>
              <a:ext cx="638175" cy="215265"/>
            </a:xfrm>
            <a:custGeom>
              <a:rect b="b" l="l" r="r" t="t"/>
              <a:pathLst>
                <a:path extrusionOk="0" h="215264" w="638175">
                  <a:moveTo>
                    <a:pt x="3810" y="0"/>
                  </a:moveTo>
                  <a:lnTo>
                    <a:pt x="605790" y="190499"/>
                  </a:lnTo>
                  <a:lnTo>
                    <a:pt x="602742" y="201929"/>
                  </a:lnTo>
                  <a:lnTo>
                    <a:pt x="0" y="11430"/>
                  </a:lnTo>
                  <a:lnTo>
                    <a:pt x="3810" y="0"/>
                  </a:lnTo>
                  <a:close/>
                </a:path>
                <a:path extrusionOk="0" h="215264" w="638175">
                  <a:moveTo>
                    <a:pt x="599694" y="169163"/>
                  </a:moveTo>
                  <a:lnTo>
                    <a:pt x="637794" y="206501"/>
                  </a:lnTo>
                  <a:lnTo>
                    <a:pt x="585978" y="214883"/>
                  </a:lnTo>
                  <a:lnTo>
                    <a:pt x="599694" y="169163"/>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3" name="Google Shape;703;p10"/>
            <p:cNvSpPr/>
            <p:nvPr/>
          </p:nvSpPr>
          <p:spPr>
            <a:xfrm>
              <a:off x="5264278" y="2920745"/>
              <a:ext cx="355600" cy="857250"/>
            </a:xfrm>
            <a:custGeom>
              <a:rect b="b" l="l" r="r" t="t"/>
              <a:pathLst>
                <a:path extrusionOk="0" h="857250" w="355600">
                  <a:moveTo>
                    <a:pt x="355499" y="0"/>
                  </a:moveTo>
                  <a:lnTo>
                    <a:pt x="342983" y="0"/>
                  </a:lnTo>
                  <a:lnTo>
                    <a:pt x="0" y="857250"/>
                  </a:lnTo>
                  <a:lnTo>
                    <a:pt x="13019" y="857250"/>
                  </a:lnTo>
                  <a:lnTo>
                    <a:pt x="355499"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4" name="Google Shape;704;p10"/>
            <p:cNvSpPr/>
            <p:nvPr/>
          </p:nvSpPr>
          <p:spPr>
            <a:xfrm>
              <a:off x="5264278" y="2920745"/>
              <a:ext cx="355600" cy="857250"/>
            </a:xfrm>
            <a:custGeom>
              <a:rect b="b" l="l" r="r" t="t"/>
              <a:pathLst>
                <a:path extrusionOk="0" h="857250" w="355600">
                  <a:moveTo>
                    <a:pt x="13019" y="857250"/>
                  </a:moveTo>
                  <a:lnTo>
                    <a:pt x="0" y="857250"/>
                  </a:lnTo>
                  <a:lnTo>
                    <a:pt x="342983" y="0"/>
                  </a:lnTo>
                  <a:lnTo>
                    <a:pt x="355499" y="0"/>
                  </a:lnTo>
                  <a:lnTo>
                    <a:pt x="13019" y="85725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5" name="Google Shape;705;p10"/>
            <p:cNvSpPr/>
            <p:nvPr/>
          </p:nvSpPr>
          <p:spPr>
            <a:xfrm>
              <a:off x="774839" y="3777246"/>
              <a:ext cx="9144000" cy="858519"/>
            </a:xfrm>
            <a:custGeom>
              <a:rect b="b" l="l" r="r" t="t"/>
              <a:pathLst>
                <a:path extrusionOk="0" h="858520" w="9144000">
                  <a:moveTo>
                    <a:pt x="1497330" y="0"/>
                  </a:moveTo>
                  <a:lnTo>
                    <a:pt x="0" y="0"/>
                  </a:lnTo>
                  <a:lnTo>
                    <a:pt x="0" y="858012"/>
                  </a:lnTo>
                  <a:lnTo>
                    <a:pt x="1497330" y="858012"/>
                  </a:lnTo>
                  <a:lnTo>
                    <a:pt x="1497330" y="0"/>
                  </a:lnTo>
                  <a:close/>
                </a:path>
                <a:path extrusionOk="0" h="858520" w="9144000">
                  <a:moveTo>
                    <a:pt x="9144000" y="0"/>
                  </a:moveTo>
                  <a:lnTo>
                    <a:pt x="7709154" y="0"/>
                  </a:lnTo>
                  <a:lnTo>
                    <a:pt x="7709154" y="858012"/>
                  </a:lnTo>
                  <a:lnTo>
                    <a:pt x="9144000" y="858012"/>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6" name="Google Shape;706;p10"/>
            <p:cNvSpPr/>
            <p:nvPr/>
          </p:nvSpPr>
          <p:spPr>
            <a:xfrm>
              <a:off x="8461896" y="3777995"/>
              <a:ext cx="22225" cy="857250"/>
            </a:xfrm>
            <a:custGeom>
              <a:rect b="b" l="l" r="r" t="t"/>
              <a:pathLst>
                <a:path extrusionOk="0" h="857250" w="22225">
                  <a:moveTo>
                    <a:pt x="0" y="857250"/>
                  </a:moveTo>
                  <a:lnTo>
                    <a:pt x="22098" y="857250"/>
                  </a:lnTo>
                  <a:lnTo>
                    <a:pt x="22098" y="0"/>
                  </a:lnTo>
                  <a:lnTo>
                    <a:pt x="0" y="0"/>
                  </a:lnTo>
                  <a:lnTo>
                    <a:pt x="0" y="857250"/>
                  </a:lnTo>
                  <a:close/>
                </a:path>
              </a:pathLst>
            </a:custGeom>
            <a:solidFill>
              <a:srgbClr val="CECEC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7" name="Google Shape;707;p10"/>
            <p:cNvSpPr/>
            <p:nvPr/>
          </p:nvSpPr>
          <p:spPr>
            <a:xfrm>
              <a:off x="2249309" y="3777995"/>
              <a:ext cx="5683250" cy="857250"/>
            </a:xfrm>
            <a:custGeom>
              <a:rect b="b" l="l" r="r" t="t"/>
              <a:pathLst>
                <a:path extrusionOk="0" h="857250" w="5683250">
                  <a:moveTo>
                    <a:pt x="0" y="857250"/>
                  </a:moveTo>
                  <a:lnTo>
                    <a:pt x="5682996" y="857250"/>
                  </a:lnTo>
                  <a:lnTo>
                    <a:pt x="5682996" y="0"/>
                  </a:lnTo>
                  <a:lnTo>
                    <a:pt x="0" y="0"/>
                  </a:lnTo>
                  <a:lnTo>
                    <a:pt x="0" y="857250"/>
                  </a:lnTo>
                  <a:close/>
                </a:path>
              </a:pathLst>
            </a:custGeom>
            <a:solidFill>
              <a:srgbClr val="FCFD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08" name="Google Shape;708;p10"/>
            <p:cNvSpPr/>
            <p:nvPr/>
          </p:nvSpPr>
          <p:spPr>
            <a:xfrm>
              <a:off x="2249309" y="3777995"/>
              <a:ext cx="0" cy="857250"/>
            </a:xfrm>
            <a:custGeom>
              <a:rect b="b" l="l" r="r" t="t"/>
              <a:pathLst>
                <a:path extrusionOk="0" h="857250" w="120000">
                  <a:moveTo>
                    <a:pt x="0" y="0"/>
                  </a:moveTo>
                  <a:lnTo>
                    <a:pt x="0" y="85725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709" name="Google Shape;709;p10"/>
          <p:cNvSpPr txBox="1"/>
          <p:nvPr/>
        </p:nvSpPr>
        <p:spPr>
          <a:xfrm>
            <a:off x="3593660" y="2778994"/>
            <a:ext cx="719054" cy="141064"/>
          </a:xfrm>
          <a:prstGeom prst="rect">
            <a:avLst/>
          </a:prstGeom>
          <a:noFill/>
          <a:ln>
            <a:noFill/>
          </a:ln>
        </p:spPr>
        <p:txBody>
          <a:bodyPr anchorCtr="0" anchor="t" bIns="0" lIns="0" spcFirstLastPara="1" rIns="0" wrap="square" tIns="0">
            <a:spAutoFit/>
          </a:bodyPr>
          <a:lstStyle/>
          <a:p>
            <a:pPr indent="0" lvl="0" marL="0" marR="0" rtl="0" algn="l">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Reusabilidad</a:t>
            </a:r>
            <a:endParaRPr b="0" i="0" sz="986" u="none" cap="none" strike="noStrike">
              <a:solidFill>
                <a:srgbClr val="000000"/>
              </a:solidFill>
              <a:latin typeface="Times New Roman"/>
              <a:ea typeface="Times New Roman"/>
              <a:cs typeface="Times New Roman"/>
              <a:sym typeface="Times New Roman"/>
            </a:endParaRPr>
          </a:p>
        </p:txBody>
      </p:sp>
      <p:sp>
        <p:nvSpPr>
          <p:cNvPr id="710" name="Google Shape;710;p10"/>
          <p:cNvSpPr txBox="1"/>
          <p:nvPr/>
        </p:nvSpPr>
        <p:spPr>
          <a:xfrm>
            <a:off x="6410273" y="2653252"/>
            <a:ext cx="136037" cy="448200"/>
          </a:xfrm>
          <a:prstGeom prst="rect">
            <a:avLst/>
          </a:prstGeom>
          <a:noFill/>
          <a:ln>
            <a:noFill/>
          </a:ln>
        </p:spPr>
        <p:txBody>
          <a:bodyPr anchorCtr="0" anchor="t" bIns="0" lIns="0" spcFirstLastPara="1" rIns="0" wrap="square" tIns="0">
            <a:spAutoFit/>
          </a:bodyPr>
          <a:lstStyle/>
          <a:p>
            <a:pPr indent="0" lvl="0" marL="0" marR="0" rtl="0" algn="l">
              <a:lnSpc>
                <a:spcPct val="76069"/>
              </a:lnSpc>
              <a:spcBef>
                <a:spcPts val="0"/>
              </a:spcBef>
              <a:spcAft>
                <a:spcPts val="0"/>
              </a:spcAft>
              <a:buNone/>
            </a:pPr>
            <a:r>
              <a:rPr b="0" baseline="30000" i="0" lang="en-US" sz="2244" u="none" cap="none" strike="noStrike">
                <a:solidFill>
                  <a:srgbClr val="081D58"/>
                </a:solidFill>
                <a:latin typeface="Times New Roman"/>
                <a:ea typeface="Times New Roman"/>
                <a:cs typeface="Times New Roman"/>
                <a:sym typeface="Times New Roman"/>
              </a:rPr>
              <a:t>R</a:t>
            </a:r>
            <a:r>
              <a:rPr b="0" i="0" lang="en-US" sz="1496" u="none" cap="none" strike="noStrike">
                <a:solidFill>
                  <a:srgbClr val="000000"/>
                </a:solidFill>
                <a:latin typeface="Times New Roman"/>
                <a:ea typeface="Times New Roman"/>
                <a:cs typeface="Times New Roman"/>
                <a:sym typeface="Times New Roman"/>
              </a:rPr>
              <a:t>R</a:t>
            </a:r>
            <a:endParaRPr b="0" i="0" sz="1496" u="none" cap="none" strike="noStrike">
              <a:solidFill>
                <a:srgbClr val="000000"/>
              </a:solidFill>
              <a:latin typeface="Times New Roman"/>
              <a:ea typeface="Times New Roman"/>
              <a:cs typeface="Times New Roman"/>
              <a:sym typeface="Times New Roman"/>
            </a:endParaRPr>
          </a:p>
          <a:p>
            <a:pPr indent="0" lvl="0" marL="32390" marR="0" rtl="0" algn="l">
              <a:lnSpc>
                <a:spcPct val="100000"/>
              </a:lnSpc>
              <a:spcBef>
                <a:spcPts val="20"/>
              </a:spcBef>
              <a:spcAft>
                <a:spcPts val="0"/>
              </a:spcAft>
              <a:buNone/>
            </a:pPr>
            <a:r>
              <a:rPr b="0" baseline="30000" i="0" lang="en-US" sz="2244" u="none" cap="none" strike="noStrike">
                <a:solidFill>
                  <a:srgbClr val="081D58"/>
                </a:solidFill>
                <a:latin typeface="Times New Roman"/>
                <a:ea typeface="Times New Roman"/>
                <a:cs typeface="Times New Roman"/>
                <a:sym typeface="Times New Roman"/>
              </a:rPr>
              <a:t>I</a:t>
            </a:r>
            <a:r>
              <a:rPr b="0" i="0" lang="en-US" sz="1496" u="none" cap="none" strike="noStrike">
                <a:solidFill>
                  <a:srgbClr val="000000"/>
                </a:solidFill>
                <a:latin typeface="Times New Roman"/>
                <a:ea typeface="Times New Roman"/>
                <a:cs typeface="Times New Roman"/>
                <a:sym typeface="Times New Roman"/>
              </a:rPr>
              <a:t>I</a:t>
            </a:r>
            <a:endParaRPr b="0" i="0" sz="1496" u="none" cap="none" strike="noStrike">
              <a:solidFill>
                <a:srgbClr val="000000"/>
              </a:solidFill>
              <a:latin typeface="Times New Roman"/>
              <a:ea typeface="Times New Roman"/>
              <a:cs typeface="Times New Roman"/>
              <a:sym typeface="Times New Roman"/>
            </a:endParaRPr>
          </a:p>
        </p:txBody>
      </p:sp>
      <p:pic>
        <p:nvPicPr>
          <p:cNvPr id="711" name="Google Shape;711;p10"/>
          <p:cNvPicPr preferRelativeResize="0"/>
          <p:nvPr/>
        </p:nvPicPr>
        <p:blipFill rotWithShape="1">
          <a:blip r:embed="rId3">
            <a:alphaModFix/>
          </a:blip>
          <a:srcRect b="0" l="0" r="0" t="0"/>
          <a:stretch/>
        </p:blipFill>
        <p:spPr>
          <a:xfrm>
            <a:off x="2533658" y="2565579"/>
            <a:ext cx="5147857" cy="1752888"/>
          </a:xfrm>
          <a:prstGeom prst="rect">
            <a:avLst/>
          </a:prstGeom>
          <a:noFill/>
          <a:ln>
            <a:noFill/>
          </a:ln>
        </p:spPr>
      </p:pic>
      <p:sp>
        <p:nvSpPr>
          <p:cNvPr id="712" name="Google Shape;712;p10"/>
          <p:cNvSpPr txBox="1"/>
          <p:nvPr/>
        </p:nvSpPr>
        <p:spPr>
          <a:xfrm>
            <a:off x="3585023" y="2756451"/>
            <a:ext cx="736328" cy="162611"/>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Reusabilidad</a:t>
            </a:r>
            <a:endParaRPr b="0" i="0" sz="986" u="none" cap="none" strike="noStrike">
              <a:solidFill>
                <a:srgbClr val="000000"/>
              </a:solidFill>
              <a:latin typeface="Times New Roman"/>
              <a:ea typeface="Times New Roman"/>
              <a:cs typeface="Times New Roman"/>
              <a:sym typeface="Times New Roman"/>
            </a:endParaRPr>
          </a:p>
        </p:txBody>
      </p:sp>
      <p:sp>
        <p:nvSpPr>
          <p:cNvPr id="713" name="Google Shape;713;p10"/>
          <p:cNvSpPr txBox="1"/>
          <p:nvPr/>
        </p:nvSpPr>
        <p:spPr>
          <a:xfrm>
            <a:off x="5145208" y="2677705"/>
            <a:ext cx="621020" cy="144784"/>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Completitud</a:t>
            </a:r>
            <a:endParaRPr b="0" i="0" sz="884" u="none" cap="none" strike="noStrike">
              <a:solidFill>
                <a:srgbClr val="000000"/>
              </a:solidFill>
              <a:latin typeface="Times New Roman"/>
              <a:ea typeface="Times New Roman"/>
              <a:cs typeface="Times New Roman"/>
              <a:sym typeface="Times New Roman"/>
            </a:endParaRPr>
          </a:p>
        </p:txBody>
      </p:sp>
      <p:sp>
        <p:nvSpPr>
          <p:cNvPr id="714" name="Google Shape;714;p10"/>
          <p:cNvSpPr txBox="1"/>
          <p:nvPr/>
        </p:nvSpPr>
        <p:spPr>
          <a:xfrm>
            <a:off x="5085394" y="2933546"/>
            <a:ext cx="740647" cy="144784"/>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Estructuración</a:t>
            </a:r>
            <a:endParaRPr b="0" i="0" sz="884" u="none" cap="none" strike="noStrike">
              <a:solidFill>
                <a:srgbClr val="000000"/>
              </a:solidFill>
              <a:latin typeface="Times New Roman"/>
              <a:ea typeface="Times New Roman"/>
              <a:cs typeface="Times New Roman"/>
              <a:sym typeface="Times New Roman"/>
            </a:endParaRPr>
          </a:p>
        </p:txBody>
      </p:sp>
      <p:sp>
        <p:nvSpPr>
          <p:cNvPr id="715" name="Google Shape;715;p10"/>
          <p:cNvSpPr/>
          <p:nvPr/>
        </p:nvSpPr>
        <p:spPr>
          <a:xfrm>
            <a:off x="2465462" y="3152434"/>
            <a:ext cx="0" cy="583016"/>
          </a:xfrm>
          <a:custGeom>
            <a:rect b="b" l="l" r="r" t="t"/>
            <a:pathLst>
              <a:path extrusionOk="0" h="857250" w="120000">
                <a:moveTo>
                  <a:pt x="0" y="0"/>
                </a:moveTo>
                <a:lnTo>
                  <a:pt x="0" y="85725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16" name="Google Shape;716;p10"/>
          <p:cNvSpPr txBox="1"/>
          <p:nvPr/>
        </p:nvSpPr>
        <p:spPr>
          <a:xfrm>
            <a:off x="3529398" y="3163007"/>
            <a:ext cx="848613" cy="141064"/>
          </a:xfrm>
          <a:prstGeom prst="rect">
            <a:avLst/>
          </a:prstGeom>
          <a:noFill/>
          <a:ln>
            <a:noFill/>
          </a:ln>
        </p:spPr>
        <p:txBody>
          <a:bodyPr anchorCtr="0" anchor="t" bIns="0" lIns="0" spcFirstLastPara="1" rIns="0" wrap="square" tIns="0">
            <a:spAutoFit/>
          </a:bodyPr>
          <a:lstStyle/>
          <a:p>
            <a:pPr indent="0" lvl="0" marL="0" marR="0" rtl="0" algn="l">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Mantenibilidad</a:t>
            </a:r>
            <a:endParaRPr b="0" i="0" sz="986" u="none" cap="none" strike="noStrike">
              <a:solidFill>
                <a:srgbClr val="000000"/>
              </a:solidFill>
              <a:latin typeface="Times New Roman"/>
              <a:ea typeface="Times New Roman"/>
              <a:cs typeface="Times New Roman"/>
              <a:sym typeface="Times New Roman"/>
            </a:endParaRPr>
          </a:p>
        </p:txBody>
      </p:sp>
      <p:sp>
        <p:nvSpPr>
          <p:cNvPr id="717" name="Google Shape;717;p10"/>
          <p:cNvSpPr txBox="1"/>
          <p:nvPr/>
        </p:nvSpPr>
        <p:spPr>
          <a:xfrm>
            <a:off x="3608170" y="3547021"/>
            <a:ext cx="690982" cy="141064"/>
          </a:xfrm>
          <a:prstGeom prst="rect">
            <a:avLst/>
          </a:prstGeom>
          <a:noFill/>
          <a:ln>
            <a:noFill/>
          </a:ln>
        </p:spPr>
        <p:txBody>
          <a:bodyPr anchorCtr="0" anchor="t" bIns="0" lIns="0" spcFirstLastPara="1" rIns="0" wrap="square" tIns="0">
            <a:spAutoFit/>
          </a:bodyPr>
          <a:lstStyle/>
          <a:p>
            <a:pPr indent="0" lvl="0" marL="0" marR="0" rtl="0" algn="l">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Portabilidad</a:t>
            </a:r>
            <a:endParaRPr b="0" i="0" sz="986" u="none" cap="none" strike="noStrike">
              <a:solidFill>
                <a:srgbClr val="000000"/>
              </a:solidFill>
              <a:latin typeface="Times New Roman"/>
              <a:ea typeface="Times New Roman"/>
              <a:cs typeface="Times New Roman"/>
              <a:sym typeface="Times New Roman"/>
            </a:endParaRPr>
          </a:p>
        </p:txBody>
      </p:sp>
      <p:sp>
        <p:nvSpPr>
          <p:cNvPr id="718" name="Google Shape;718;p10"/>
          <p:cNvSpPr txBox="1"/>
          <p:nvPr/>
        </p:nvSpPr>
        <p:spPr>
          <a:xfrm>
            <a:off x="2648915" y="3201357"/>
            <a:ext cx="497507" cy="440057"/>
          </a:xfrm>
          <a:prstGeom prst="rect">
            <a:avLst/>
          </a:prstGeom>
          <a:noFill/>
          <a:ln>
            <a:noFill/>
          </a:ln>
        </p:spPr>
        <p:txBody>
          <a:bodyPr anchorCtr="0" anchor="t" bIns="0" lIns="0" spcFirstLastPara="1" rIns="0" wrap="square" tIns="0">
            <a:spAutoFit/>
          </a:bodyPr>
          <a:lstStyle/>
          <a:p>
            <a:pPr indent="0" lvl="0" marL="0" marR="0" rtl="0" algn="ctr">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Revisión</a:t>
            </a:r>
            <a:endParaRPr b="0" i="0" sz="986" u="none" cap="none" strike="noStrike">
              <a:solidFill>
                <a:srgbClr val="000000"/>
              </a:solidFill>
              <a:latin typeface="Times New Roman"/>
              <a:ea typeface="Times New Roman"/>
              <a:cs typeface="Times New Roman"/>
              <a:sym typeface="Times New Roman"/>
            </a:endParaRPr>
          </a:p>
          <a:p>
            <a:pPr indent="432" lvl="0" marL="0" marR="0" rtl="0" algn="ctr">
              <a:lnSpc>
                <a:spcPct val="123427"/>
              </a:lnSpc>
              <a:spcBef>
                <a:spcPts val="14"/>
              </a:spcBef>
              <a:spcAft>
                <a:spcPts val="0"/>
              </a:spcAft>
              <a:buNone/>
            </a:pPr>
            <a:r>
              <a:rPr b="1" i="0" lang="en-US" sz="986" u="none" cap="none" strike="noStrike">
                <a:solidFill>
                  <a:srgbClr val="081D58"/>
                </a:solidFill>
                <a:latin typeface="Times New Roman"/>
                <a:ea typeface="Times New Roman"/>
                <a:cs typeface="Times New Roman"/>
                <a:sym typeface="Times New Roman"/>
              </a:rPr>
              <a:t>del producto</a:t>
            </a:r>
            <a:endParaRPr b="0" i="0" sz="986" u="none" cap="none" strike="noStrike">
              <a:solidFill>
                <a:srgbClr val="000000"/>
              </a:solidFill>
              <a:latin typeface="Times New Roman"/>
              <a:ea typeface="Times New Roman"/>
              <a:cs typeface="Times New Roman"/>
              <a:sym typeface="Times New Roman"/>
            </a:endParaRPr>
          </a:p>
        </p:txBody>
      </p:sp>
      <p:sp>
        <p:nvSpPr>
          <p:cNvPr id="719" name="Google Shape;719;p10"/>
          <p:cNvSpPr txBox="1"/>
          <p:nvPr/>
        </p:nvSpPr>
        <p:spPr>
          <a:xfrm>
            <a:off x="6404568" y="3113447"/>
            <a:ext cx="146834" cy="669863"/>
          </a:xfrm>
          <a:prstGeom prst="rect">
            <a:avLst/>
          </a:prstGeom>
          <a:noFill/>
          <a:ln>
            <a:noFill/>
          </a:ln>
        </p:spPr>
        <p:txBody>
          <a:bodyPr anchorCtr="0" anchor="t" bIns="0" lIns="0" spcFirstLastPara="1" rIns="0" wrap="square" tIns="0">
            <a:spAutoFit/>
          </a:bodyPr>
          <a:lstStyle/>
          <a:p>
            <a:pPr indent="0" lvl="0" marL="5614" marR="0" rtl="0" algn="l">
              <a:lnSpc>
                <a:spcPct val="76069"/>
              </a:lnSpc>
              <a:spcBef>
                <a:spcPts val="0"/>
              </a:spcBef>
              <a:spcAft>
                <a:spcPts val="0"/>
              </a:spcAft>
              <a:buNone/>
            </a:pPr>
            <a:r>
              <a:rPr b="0" baseline="30000" i="0" lang="en-US" sz="2244" u="none" cap="none" strike="noStrike">
                <a:solidFill>
                  <a:srgbClr val="081D58"/>
                </a:solidFill>
                <a:latin typeface="Times New Roman"/>
                <a:ea typeface="Times New Roman"/>
                <a:cs typeface="Times New Roman"/>
                <a:sym typeface="Times New Roman"/>
              </a:rPr>
              <a:t>C</a:t>
            </a:r>
            <a:r>
              <a:rPr b="0" i="0" lang="en-US" sz="1496" u="none" cap="none" strike="noStrike">
                <a:solidFill>
                  <a:srgbClr val="000000"/>
                </a:solidFill>
                <a:latin typeface="Times New Roman"/>
                <a:ea typeface="Times New Roman"/>
                <a:cs typeface="Times New Roman"/>
                <a:sym typeface="Times New Roman"/>
              </a:rPr>
              <a:t>C</a:t>
            </a:r>
            <a:endParaRPr b="0" i="0" sz="1496" u="none" cap="none" strike="noStrike">
              <a:solidFill>
                <a:srgbClr val="000000"/>
              </a:solidFill>
              <a:latin typeface="Times New Roman"/>
              <a:ea typeface="Times New Roman"/>
              <a:cs typeface="Times New Roman"/>
              <a:sym typeface="Times New Roman"/>
            </a:endParaRPr>
          </a:p>
          <a:p>
            <a:pPr indent="-15979" lvl="0" marL="15979" marR="0" rtl="0" algn="l">
              <a:lnSpc>
                <a:spcPct val="100699"/>
              </a:lnSpc>
              <a:spcBef>
                <a:spcPts val="3"/>
              </a:spcBef>
              <a:spcAft>
                <a:spcPts val="0"/>
              </a:spcAft>
              <a:buNone/>
            </a:pPr>
            <a:r>
              <a:rPr b="0" baseline="30000" i="0" lang="en-US" sz="2244" u="none" cap="none" strike="noStrike">
                <a:solidFill>
                  <a:srgbClr val="081D58"/>
                </a:solidFill>
                <a:latin typeface="Times New Roman"/>
                <a:ea typeface="Times New Roman"/>
                <a:cs typeface="Times New Roman"/>
                <a:sym typeface="Times New Roman"/>
              </a:rPr>
              <a:t>A</a:t>
            </a:r>
            <a:r>
              <a:rPr b="0" i="0" lang="en-US" sz="1496" u="none" cap="none" strike="noStrike">
                <a:solidFill>
                  <a:srgbClr val="000000"/>
                </a:solidFill>
                <a:latin typeface="Times New Roman"/>
                <a:ea typeface="Times New Roman"/>
                <a:cs typeface="Times New Roman"/>
                <a:sym typeface="Times New Roman"/>
              </a:rPr>
              <a:t>A </a:t>
            </a:r>
            <a:r>
              <a:rPr b="0" baseline="30000" i="0" lang="en-US" sz="2244" u="none" cap="none" strike="noStrike">
                <a:solidFill>
                  <a:srgbClr val="081D58"/>
                </a:solidFill>
                <a:latin typeface="Times New Roman"/>
                <a:ea typeface="Times New Roman"/>
                <a:cs typeface="Times New Roman"/>
                <a:sym typeface="Times New Roman"/>
              </a:rPr>
              <a:t>S</a:t>
            </a:r>
            <a:r>
              <a:rPr b="0" i="0" lang="en-US" sz="1496" u="none" cap="none" strike="noStrike">
                <a:solidFill>
                  <a:srgbClr val="000000"/>
                </a:solidFill>
                <a:latin typeface="Times New Roman"/>
                <a:ea typeface="Times New Roman"/>
                <a:cs typeface="Times New Roman"/>
                <a:sym typeface="Times New Roman"/>
              </a:rPr>
              <a:t>S</a:t>
            </a:r>
            <a:endParaRPr b="0" i="0" sz="1496" u="none" cap="none" strike="noStrike">
              <a:solidFill>
                <a:srgbClr val="000000"/>
              </a:solidFill>
              <a:latin typeface="Times New Roman"/>
              <a:ea typeface="Times New Roman"/>
              <a:cs typeface="Times New Roman"/>
              <a:sym typeface="Times New Roman"/>
            </a:endParaRPr>
          </a:p>
        </p:txBody>
      </p:sp>
      <p:sp>
        <p:nvSpPr>
          <p:cNvPr id="720" name="Google Shape;720;p10"/>
          <p:cNvSpPr txBox="1"/>
          <p:nvPr/>
        </p:nvSpPr>
        <p:spPr>
          <a:xfrm>
            <a:off x="3520761" y="3140464"/>
            <a:ext cx="865887" cy="162611"/>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Mantenibilidad</a:t>
            </a:r>
            <a:endParaRPr b="0" i="0" sz="986" u="none" cap="none" strike="noStrike">
              <a:solidFill>
                <a:srgbClr val="000000"/>
              </a:solidFill>
              <a:latin typeface="Times New Roman"/>
              <a:ea typeface="Times New Roman"/>
              <a:cs typeface="Times New Roman"/>
              <a:sym typeface="Times New Roman"/>
            </a:endParaRPr>
          </a:p>
        </p:txBody>
      </p:sp>
      <p:sp>
        <p:nvSpPr>
          <p:cNvPr id="721" name="Google Shape;721;p10"/>
          <p:cNvSpPr txBox="1"/>
          <p:nvPr/>
        </p:nvSpPr>
        <p:spPr>
          <a:xfrm>
            <a:off x="3599533" y="3524478"/>
            <a:ext cx="708257" cy="162611"/>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Portabilidad</a:t>
            </a:r>
            <a:endParaRPr b="0" i="0" sz="986" u="none" cap="none" strike="noStrike">
              <a:solidFill>
                <a:srgbClr val="000000"/>
              </a:solidFill>
              <a:latin typeface="Times New Roman"/>
              <a:ea typeface="Times New Roman"/>
              <a:cs typeface="Times New Roman"/>
              <a:sym typeface="Times New Roman"/>
            </a:endParaRPr>
          </a:p>
        </p:txBody>
      </p:sp>
      <p:sp>
        <p:nvSpPr>
          <p:cNvPr id="722" name="Google Shape;722;p10"/>
          <p:cNvSpPr txBox="1"/>
          <p:nvPr/>
        </p:nvSpPr>
        <p:spPr>
          <a:xfrm>
            <a:off x="2640277" y="3178815"/>
            <a:ext cx="514782" cy="466399"/>
          </a:xfrm>
          <a:prstGeom prst="rect">
            <a:avLst/>
          </a:prstGeom>
          <a:noFill/>
          <a:ln>
            <a:noFill/>
          </a:ln>
        </p:spPr>
        <p:txBody>
          <a:bodyPr anchorCtr="0" anchor="t" bIns="0" lIns="0" spcFirstLastPara="1" rIns="0" wrap="square" tIns="6900">
            <a:spAutoFit/>
          </a:bodyPr>
          <a:lstStyle/>
          <a:p>
            <a:pPr indent="-432" lvl="0" marL="8637" marR="3887" rtl="0" algn="ctr">
              <a:lnSpc>
                <a:spcPct val="1026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Revisión del producto</a:t>
            </a:r>
            <a:endParaRPr b="0" i="0" sz="986" u="none" cap="none" strike="noStrike">
              <a:solidFill>
                <a:srgbClr val="000000"/>
              </a:solidFill>
              <a:latin typeface="Times New Roman"/>
              <a:ea typeface="Times New Roman"/>
              <a:cs typeface="Times New Roman"/>
              <a:sym typeface="Times New Roman"/>
            </a:endParaRPr>
          </a:p>
        </p:txBody>
      </p:sp>
      <p:sp>
        <p:nvSpPr>
          <p:cNvPr id="723" name="Google Shape;723;p10"/>
          <p:cNvSpPr txBox="1"/>
          <p:nvPr/>
        </p:nvSpPr>
        <p:spPr>
          <a:xfrm>
            <a:off x="5186949" y="3162018"/>
            <a:ext cx="491461" cy="144784"/>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Concisión</a:t>
            </a:r>
            <a:endParaRPr b="0" i="0" sz="884" u="none" cap="none" strike="noStrike">
              <a:solidFill>
                <a:srgbClr val="000000"/>
              </a:solidFill>
              <a:latin typeface="Times New Roman"/>
              <a:ea typeface="Times New Roman"/>
              <a:cs typeface="Times New Roman"/>
              <a:sym typeface="Times New Roman"/>
            </a:endParaRPr>
          </a:p>
        </p:txBody>
      </p:sp>
      <p:sp>
        <p:nvSpPr>
          <p:cNvPr id="724" name="Google Shape;724;p10"/>
          <p:cNvSpPr txBox="1"/>
          <p:nvPr/>
        </p:nvSpPr>
        <p:spPr>
          <a:xfrm>
            <a:off x="4894304" y="3407473"/>
            <a:ext cx="1144440"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816" u="none" cap="none" strike="noStrike">
                <a:solidFill>
                  <a:srgbClr val="081D58"/>
                </a:solidFill>
                <a:latin typeface="Times New Roman"/>
                <a:ea typeface="Times New Roman"/>
                <a:cs typeface="Times New Roman"/>
                <a:sym typeface="Times New Roman"/>
              </a:rPr>
              <a:t>Independencia dispositiv.</a:t>
            </a:r>
            <a:endParaRPr b="0" i="0" sz="816" u="none" cap="none" strike="noStrike">
              <a:solidFill>
                <a:srgbClr val="000000"/>
              </a:solidFill>
              <a:latin typeface="Times New Roman"/>
              <a:ea typeface="Times New Roman"/>
              <a:cs typeface="Times New Roman"/>
              <a:sym typeface="Times New Roman"/>
            </a:endParaRPr>
          </a:p>
        </p:txBody>
      </p:sp>
      <p:sp>
        <p:nvSpPr>
          <p:cNvPr id="725" name="Google Shape;725;p10"/>
          <p:cNvSpPr txBox="1"/>
          <p:nvPr/>
        </p:nvSpPr>
        <p:spPr>
          <a:xfrm>
            <a:off x="5137857" y="3606786"/>
            <a:ext cx="565742" cy="144784"/>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Legibilidad</a:t>
            </a:r>
            <a:endParaRPr b="0" i="0" sz="884" u="none" cap="none" strike="noStrike">
              <a:solidFill>
                <a:srgbClr val="000000"/>
              </a:solidFill>
              <a:latin typeface="Times New Roman"/>
              <a:ea typeface="Times New Roman"/>
              <a:cs typeface="Times New Roman"/>
              <a:sym typeface="Times New Roman"/>
            </a:endParaRPr>
          </a:p>
        </p:txBody>
      </p:sp>
      <p:sp>
        <p:nvSpPr>
          <p:cNvPr id="726" name="Google Shape;726;p10"/>
          <p:cNvSpPr txBox="1"/>
          <p:nvPr/>
        </p:nvSpPr>
        <p:spPr>
          <a:xfrm>
            <a:off x="6395931" y="2623704"/>
            <a:ext cx="156335" cy="1158075"/>
          </a:xfrm>
          <a:prstGeom prst="rect">
            <a:avLst/>
          </a:prstGeom>
          <a:noFill/>
          <a:ln>
            <a:noFill/>
          </a:ln>
        </p:spPr>
        <p:txBody>
          <a:bodyPr anchorCtr="0" anchor="t" bIns="0" lIns="0" spcFirstLastPara="1" rIns="0" wrap="square" tIns="8625">
            <a:spAutoFit/>
          </a:bodyPr>
          <a:lstStyle/>
          <a:p>
            <a:pPr indent="5614" lvl="0" marL="8637" marR="3455" rtl="0" algn="just">
              <a:lnSpc>
                <a:spcPct val="100899"/>
              </a:lnSpc>
              <a:spcBef>
                <a:spcPts val="0"/>
              </a:spcBef>
              <a:spcAft>
                <a:spcPts val="0"/>
              </a:spcAft>
              <a:buNone/>
            </a:pPr>
            <a:r>
              <a:rPr b="0" i="0" lang="en-US" sz="1496" u="none" cap="none" strike="noStrike">
                <a:solidFill>
                  <a:srgbClr val="081D58"/>
                </a:solidFill>
                <a:latin typeface="Times New Roman"/>
                <a:ea typeface="Times New Roman"/>
                <a:cs typeface="Times New Roman"/>
                <a:sym typeface="Times New Roman"/>
              </a:rPr>
              <a:t>R I C A S</a:t>
            </a:r>
            <a:endParaRPr b="0" i="0" sz="1496" u="none" cap="none" strike="noStrike">
              <a:solidFill>
                <a:srgbClr val="000000"/>
              </a:solidFill>
              <a:latin typeface="Times New Roman"/>
              <a:ea typeface="Times New Roman"/>
              <a:cs typeface="Times New Roman"/>
              <a:sym typeface="Times New Roman"/>
            </a:endParaRPr>
          </a:p>
        </p:txBody>
      </p:sp>
      <p:grpSp>
        <p:nvGrpSpPr>
          <p:cNvPr id="727" name="Google Shape;727;p10"/>
          <p:cNvGrpSpPr/>
          <p:nvPr/>
        </p:nvGrpSpPr>
        <p:grpSpPr>
          <a:xfrm>
            <a:off x="1462674" y="3734932"/>
            <a:ext cx="5228145" cy="583879"/>
            <a:chOff x="774839" y="5491733"/>
            <a:chExt cx="7687310" cy="858519"/>
          </a:xfrm>
        </p:grpSpPr>
        <p:sp>
          <p:nvSpPr>
            <p:cNvPr id="728" name="Google Shape;728;p10"/>
            <p:cNvSpPr/>
            <p:nvPr/>
          </p:nvSpPr>
          <p:spPr>
            <a:xfrm>
              <a:off x="774839" y="5491733"/>
              <a:ext cx="1497330" cy="858519"/>
            </a:xfrm>
            <a:custGeom>
              <a:rect b="b" l="l" r="r" t="t"/>
              <a:pathLst>
                <a:path extrusionOk="0" h="858520" w="1497330">
                  <a:moveTo>
                    <a:pt x="0" y="858012"/>
                  </a:moveTo>
                  <a:lnTo>
                    <a:pt x="1497330" y="858012"/>
                  </a:lnTo>
                  <a:lnTo>
                    <a:pt x="1497330" y="0"/>
                  </a:lnTo>
                  <a:lnTo>
                    <a:pt x="0" y="0"/>
                  </a:lnTo>
                  <a:lnTo>
                    <a:pt x="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29" name="Google Shape;729;p10"/>
            <p:cNvSpPr/>
            <p:nvPr/>
          </p:nvSpPr>
          <p:spPr>
            <a:xfrm>
              <a:off x="2249309" y="5492495"/>
              <a:ext cx="6212840" cy="857250"/>
            </a:xfrm>
            <a:custGeom>
              <a:rect b="b" l="l" r="r" t="t"/>
              <a:pathLst>
                <a:path extrusionOk="0" h="857250" w="6212840">
                  <a:moveTo>
                    <a:pt x="6212585" y="857250"/>
                  </a:moveTo>
                  <a:lnTo>
                    <a:pt x="6212585" y="0"/>
                  </a:lnTo>
                  <a:lnTo>
                    <a:pt x="0" y="0"/>
                  </a:lnTo>
                  <a:lnTo>
                    <a:pt x="0" y="857250"/>
                  </a:lnTo>
                  <a:lnTo>
                    <a:pt x="6212585" y="857250"/>
                  </a:lnTo>
                  <a:close/>
                </a:path>
              </a:pathLst>
            </a:custGeom>
            <a:solidFill>
              <a:srgbClr val="FCFD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30" name="Google Shape;730;p10"/>
            <p:cNvSpPr/>
            <p:nvPr/>
          </p:nvSpPr>
          <p:spPr>
            <a:xfrm>
              <a:off x="2249309" y="5492495"/>
              <a:ext cx="6212840" cy="857250"/>
            </a:xfrm>
            <a:custGeom>
              <a:rect b="b" l="l" r="r" t="t"/>
              <a:pathLst>
                <a:path extrusionOk="0" h="857250" w="6212840">
                  <a:moveTo>
                    <a:pt x="0" y="0"/>
                  </a:moveTo>
                  <a:lnTo>
                    <a:pt x="0" y="857250"/>
                  </a:lnTo>
                </a:path>
                <a:path extrusionOk="0" h="857250" w="6212840">
                  <a:moveTo>
                    <a:pt x="6212585" y="857250"/>
                  </a:moveTo>
                  <a:lnTo>
                    <a:pt x="6212585"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731" name="Google Shape;731;p10"/>
          <p:cNvSpPr txBox="1"/>
          <p:nvPr/>
        </p:nvSpPr>
        <p:spPr>
          <a:xfrm>
            <a:off x="3520070" y="3931035"/>
            <a:ext cx="868047" cy="141064"/>
          </a:xfrm>
          <a:prstGeom prst="rect">
            <a:avLst/>
          </a:prstGeom>
          <a:noFill/>
          <a:ln>
            <a:noFill/>
          </a:ln>
        </p:spPr>
        <p:txBody>
          <a:bodyPr anchorCtr="0" anchor="t" bIns="0" lIns="0" spcFirstLastPara="1" rIns="0" wrap="square" tIns="0">
            <a:spAutoFit/>
          </a:bodyPr>
          <a:lstStyle/>
          <a:p>
            <a:pPr indent="0" lvl="0" marL="0" marR="0" rtl="0" algn="l">
              <a:lnSpc>
                <a:spcPct val="111054"/>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Chequeabilidad</a:t>
            </a:r>
            <a:endParaRPr b="0" i="0" sz="986" u="none" cap="none" strike="noStrike">
              <a:solidFill>
                <a:srgbClr val="000000"/>
              </a:solidFill>
              <a:latin typeface="Times New Roman"/>
              <a:ea typeface="Times New Roman"/>
              <a:cs typeface="Times New Roman"/>
              <a:sym typeface="Times New Roman"/>
            </a:endParaRPr>
          </a:p>
        </p:txBody>
      </p:sp>
      <p:grpSp>
        <p:nvGrpSpPr>
          <p:cNvPr id="732" name="Google Shape;732;p10"/>
          <p:cNvGrpSpPr/>
          <p:nvPr/>
        </p:nvGrpSpPr>
        <p:grpSpPr>
          <a:xfrm>
            <a:off x="3384105" y="3735450"/>
            <a:ext cx="2924075" cy="329944"/>
            <a:chOff x="3600055" y="5492495"/>
            <a:chExt cx="4299472" cy="485140"/>
          </a:xfrm>
        </p:grpSpPr>
        <p:sp>
          <p:nvSpPr>
            <p:cNvPr id="733" name="Google Shape;733;p10"/>
            <p:cNvSpPr/>
            <p:nvPr/>
          </p:nvSpPr>
          <p:spPr>
            <a:xfrm>
              <a:off x="3600055" y="5492495"/>
              <a:ext cx="170815" cy="386080"/>
            </a:xfrm>
            <a:custGeom>
              <a:rect b="b" l="l" r="r" t="t"/>
              <a:pathLst>
                <a:path extrusionOk="0" h="386079" w="170814">
                  <a:moveTo>
                    <a:pt x="154385" y="339971"/>
                  </a:moveTo>
                  <a:lnTo>
                    <a:pt x="12863" y="0"/>
                  </a:lnTo>
                  <a:lnTo>
                    <a:pt x="0" y="0"/>
                  </a:lnTo>
                  <a:lnTo>
                    <a:pt x="142938" y="344468"/>
                  </a:lnTo>
                  <a:lnTo>
                    <a:pt x="154385" y="339971"/>
                  </a:lnTo>
                  <a:close/>
                </a:path>
                <a:path extrusionOk="0" h="386079" w="170814">
                  <a:moveTo>
                    <a:pt x="158776" y="378157"/>
                  </a:moveTo>
                  <a:lnTo>
                    <a:pt x="158776" y="350519"/>
                  </a:lnTo>
                  <a:lnTo>
                    <a:pt x="147346" y="355091"/>
                  </a:lnTo>
                  <a:lnTo>
                    <a:pt x="142938" y="344468"/>
                  </a:lnTo>
                  <a:lnTo>
                    <a:pt x="127534" y="350519"/>
                  </a:lnTo>
                  <a:lnTo>
                    <a:pt x="158776" y="378157"/>
                  </a:lnTo>
                  <a:close/>
                </a:path>
                <a:path extrusionOk="0" h="386079" w="170814">
                  <a:moveTo>
                    <a:pt x="158776" y="350519"/>
                  </a:moveTo>
                  <a:lnTo>
                    <a:pt x="154385" y="339971"/>
                  </a:lnTo>
                  <a:lnTo>
                    <a:pt x="142938" y="344468"/>
                  </a:lnTo>
                  <a:lnTo>
                    <a:pt x="147346" y="355091"/>
                  </a:lnTo>
                  <a:lnTo>
                    <a:pt x="158776" y="350519"/>
                  </a:lnTo>
                  <a:close/>
                </a:path>
                <a:path extrusionOk="0" h="386079" w="170814">
                  <a:moveTo>
                    <a:pt x="170206" y="333755"/>
                  </a:moveTo>
                  <a:lnTo>
                    <a:pt x="154385" y="339971"/>
                  </a:lnTo>
                  <a:lnTo>
                    <a:pt x="158776" y="350519"/>
                  </a:lnTo>
                  <a:lnTo>
                    <a:pt x="158776" y="378157"/>
                  </a:lnTo>
                  <a:lnTo>
                    <a:pt x="167158" y="385571"/>
                  </a:lnTo>
                  <a:lnTo>
                    <a:pt x="170206" y="333755"/>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34" name="Google Shape;734;p10"/>
            <p:cNvSpPr/>
            <p:nvPr/>
          </p:nvSpPr>
          <p:spPr>
            <a:xfrm>
              <a:off x="3600055" y="5492495"/>
              <a:ext cx="170815" cy="386080"/>
            </a:xfrm>
            <a:custGeom>
              <a:rect b="b" l="l" r="r" t="t"/>
              <a:pathLst>
                <a:path extrusionOk="0" h="386079" w="170814">
                  <a:moveTo>
                    <a:pt x="0" y="0"/>
                  </a:moveTo>
                  <a:lnTo>
                    <a:pt x="12863" y="0"/>
                  </a:lnTo>
                  <a:lnTo>
                    <a:pt x="158776" y="350519"/>
                  </a:lnTo>
                  <a:lnTo>
                    <a:pt x="147346" y="355091"/>
                  </a:lnTo>
                  <a:lnTo>
                    <a:pt x="0" y="0"/>
                  </a:lnTo>
                </a:path>
                <a:path extrusionOk="0" h="386079" w="170814">
                  <a:moveTo>
                    <a:pt x="170206" y="333755"/>
                  </a:moveTo>
                  <a:lnTo>
                    <a:pt x="167158" y="385571"/>
                  </a:lnTo>
                  <a:lnTo>
                    <a:pt x="127534" y="350519"/>
                  </a:lnTo>
                  <a:lnTo>
                    <a:pt x="170206" y="333755"/>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35" name="Google Shape;735;p10"/>
            <p:cNvSpPr/>
            <p:nvPr/>
          </p:nvSpPr>
          <p:spPr>
            <a:xfrm>
              <a:off x="5743841" y="5492495"/>
              <a:ext cx="1765300" cy="125095"/>
            </a:xfrm>
            <a:custGeom>
              <a:rect b="b" l="l" r="r" t="t"/>
              <a:pathLst>
                <a:path extrusionOk="0" h="125095" w="1765300">
                  <a:moveTo>
                    <a:pt x="1764791" y="124967"/>
                  </a:moveTo>
                  <a:lnTo>
                    <a:pt x="1764791" y="0"/>
                  </a:lnTo>
                  <a:lnTo>
                    <a:pt x="0" y="0"/>
                  </a:lnTo>
                  <a:lnTo>
                    <a:pt x="0" y="124968"/>
                  </a:lnTo>
                  <a:lnTo>
                    <a:pt x="1764791" y="124967"/>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36" name="Google Shape;736;p10"/>
            <p:cNvSpPr/>
            <p:nvPr/>
          </p:nvSpPr>
          <p:spPr>
            <a:xfrm>
              <a:off x="5743841" y="5492495"/>
              <a:ext cx="1765300" cy="125095"/>
            </a:xfrm>
            <a:custGeom>
              <a:rect b="b" l="l" r="r" t="t"/>
              <a:pathLst>
                <a:path extrusionOk="0" h="125095" w="1765300">
                  <a:moveTo>
                    <a:pt x="0" y="0"/>
                  </a:moveTo>
                  <a:lnTo>
                    <a:pt x="0" y="124968"/>
                  </a:lnTo>
                  <a:lnTo>
                    <a:pt x="1764792" y="124967"/>
                  </a:lnTo>
                  <a:lnTo>
                    <a:pt x="176479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37" name="Google Shape;737;p10"/>
            <p:cNvSpPr/>
            <p:nvPr/>
          </p:nvSpPr>
          <p:spPr>
            <a:xfrm>
              <a:off x="7884287" y="5492495"/>
              <a:ext cx="15240" cy="7620"/>
            </a:xfrm>
            <a:custGeom>
              <a:rect b="b" l="l" r="r" t="t"/>
              <a:pathLst>
                <a:path extrusionOk="0" h="7620" w="15240">
                  <a:moveTo>
                    <a:pt x="15001" y="0"/>
                  </a:moveTo>
                  <a:lnTo>
                    <a:pt x="0" y="0"/>
                  </a:lnTo>
                  <a:lnTo>
                    <a:pt x="0" y="7620"/>
                  </a:lnTo>
                  <a:lnTo>
                    <a:pt x="15001"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38" name="Google Shape;738;p10"/>
            <p:cNvSpPr/>
            <p:nvPr/>
          </p:nvSpPr>
          <p:spPr>
            <a:xfrm>
              <a:off x="7884287" y="5492495"/>
              <a:ext cx="15240" cy="7620"/>
            </a:xfrm>
            <a:custGeom>
              <a:rect b="b" l="l" r="r" t="t"/>
              <a:pathLst>
                <a:path extrusionOk="0" h="7620" w="15240">
                  <a:moveTo>
                    <a:pt x="0" y="0"/>
                  </a:moveTo>
                  <a:lnTo>
                    <a:pt x="15001" y="0"/>
                  </a:lnTo>
                  <a:lnTo>
                    <a:pt x="0" y="7620"/>
                  </a:lnTo>
                  <a:lnTo>
                    <a:pt x="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39" name="Google Shape;739;p10"/>
            <p:cNvSpPr/>
            <p:nvPr/>
          </p:nvSpPr>
          <p:spPr>
            <a:xfrm>
              <a:off x="5743841" y="5694425"/>
              <a:ext cx="1765300" cy="283210"/>
            </a:xfrm>
            <a:custGeom>
              <a:rect b="b" l="l" r="r" t="t"/>
              <a:pathLst>
                <a:path extrusionOk="0" h="283210" w="1765300">
                  <a:moveTo>
                    <a:pt x="0" y="0"/>
                  </a:moveTo>
                  <a:lnTo>
                    <a:pt x="0" y="282702"/>
                  </a:lnTo>
                  <a:lnTo>
                    <a:pt x="1764791" y="282701"/>
                  </a:lnTo>
                  <a:lnTo>
                    <a:pt x="1764791" y="0"/>
                  </a:lnTo>
                  <a:lnTo>
                    <a:pt x="0" y="0"/>
                  </a:lnTo>
                  <a:close/>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740" name="Google Shape;740;p10"/>
          <p:cNvSpPr txBox="1"/>
          <p:nvPr/>
        </p:nvSpPr>
        <p:spPr>
          <a:xfrm>
            <a:off x="4982534" y="3910003"/>
            <a:ext cx="920734"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Autodescriptividad</a:t>
            </a:r>
            <a:endParaRPr b="0" i="0" sz="884" u="none" cap="none" strike="noStrike">
              <a:solidFill>
                <a:srgbClr val="000000"/>
              </a:solidFill>
              <a:latin typeface="Times New Roman"/>
              <a:ea typeface="Times New Roman"/>
              <a:cs typeface="Times New Roman"/>
              <a:sym typeface="Times New Roman"/>
            </a:endParaRPr>
          </a:p>
        </p:txBody>
      </p:sp>
      <p:sp>
        <p:nvSpPr>
          <p:cNvPr id="741" name="Google Shape;741;p10"/>
          <p:cNvSpPr txBox="1"/>
          <p:nvPr/>
        </p:nvSpPr>
        <p:spPr>
          <a:xfrm>
            <a:off x="5131269" y="4155129"/>
            <a:ext cx="624043"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Trazabilidad</a:t>
            </a:r>
            <a:endParaRPr b="0" i="0" sz="884" u="none" cap="none" strike="noStrike">
              <a:solidFill>
                <a:srgbClr val="000000"/>
              </a:solidFill>
              <a:latin typeface="Times New Roman"/>
              <a:ea typeface="Times New Roman"/>
              <a:cs typeface="Times New Roman"/>
              <a:sym typeface="Times New Roman"/>
            </a:endParaRPr>
          </a:p>
        </p:txBody>
      </p:sp>
      <p:grpSp>
        <p:nvGrpSpPr>
          <p:cNvPr id="742" name="Google Shape;742;p10"/>
          <p:cNvGrpSpPr/>
          <p:nvPr/>
        </p:nvGrpSpPr>
        <p:grpSpPr>
          <a:xfrm>
            <a:off x="4406258" y="3735450"/>
            <a:ext cx="2212699" cy="574811"/>
            <a:chOff x="5102999" y="5492495"/>
            <a:chExt cx="3253486" cy="845185"/>
          </a:xfrm>
        </p:grpSpPr>
        <p:sp>
          <p:nvSpPr>
            <p:cNvPr id="743" name="Google Shape;743;p10"/>
            <p:cNvSpPr/>
            <p:nvPr/>
          </p:nvSpPr>
          <p:spPr>
            <a:xfrm>
              <a:off x="7508620" y="5811773"/>
              <a:ext cx="424180" cy="46990"/>
            </a:xfrm>
            <a:custGeom>
              <a:rect b="b" l="l" r="r" t="t"/>
              <a:pathLst>
                <a:path extrusionOk="0" h="46989" w="424179">
                  <a:moveTo>
                    <a:pt x="388620" y="29717"/>
                  </a:moveTo>
                  <a:lnTo>
                    <a:pt x="388620" y="17526"/>
                  </a:lnTo>
                  <a:lnTo>
                    <a:pt x="0" y="17526"/>
                  </a:lnTo>
                  <a:lnTo>
                    <a:pt x="0" y="29717"/>
                  </a:lnTo>
                  <a:lnTo>
                    <a:pt x="388620" y="29717"/>
                  </a:lnTo>
                  <a:close/>
                </a:path>
                <a:path extrusionOk="0" h="46989" w="424179">
                  <a:moveTo>
                    <a:pt x="423672" y="24383"/>
                  </a:moveTo>
                  <a:lnTo>
                    <a:pt x="375666" y="0"/>
                  </a:lnTo>
                  <a:lnTo>
                    <a:pt x="375666" y="17526"/>
                  </a:lnTo>
                  <a:lnTo>
                    <a:pt x="388620" y="17526"/>
                  </a:lnTo>
                  <a:lnTo>
                    <a:pt x="388620" y="40519"/>
                  </a:lnTo>
                  <a:lnTo>
                    <a:pt x="423672" y="24383"/>
                  </a:lnTo>
                  <a:close/>
                </a:path>
                <a:path extrusionOk="0" h="46989" w="424179">
                  <a:moveTo>
                    <a:pt x="388620" y="40519"/>
                  </a:moveTo>
                  <a:lnTo>
                    <a:pt x="388620" y="29717"/>
                  </a:lnTo>
                  <a:lnTo>
                    <a:pt x="375666" y="29717"/>
                  </a:lnTo>
                  <a:lnTo>
                    <a:pt x="375666" y="46481"/>
                  </a:lnTo>
                  <a:lnTo>
                    <a:pt x="388620" y="40519"/>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44" name="Google Shape;744;p10"/>
            <p:cNvSpPr/>
            <p:nvPr/>
          </p:nvSpPr>
          <p:spPr>
            <a:xfrm>
              <a:off x="7508620" y="5811773"/>
              <a:ext cx="424180" cy="46990"/>
            </a:xfrm>
            <a:custGeom>
              <a:rect b="b" l="l" r="r" t="t"/>
              <a:pathLst>
                <a:path extrusionOk="0" h="46989" w="424179">
                  <a:moveTo>
                    <a:pt x="0" y="29717"/>
                  </a:moveTo>
                  <a:lnTo>
                    <a:pt x="0" y="17526"/>
                  </a:lnTo>
                  <a:lnTo>
                    <a:pt x="388620" y="17526"/>
                  </a:lnTo>
                  <a:lnTo>
                    <a:pt x="388620" y="29717"/>
                  </a:lnTo>
                  <a:lnTo>
                    <a:pt x="0" y="29717"/>
                  </a:lnTo>
                  <a:close/>
                </a:path>
                <a:path extrusionOk="0" h="46989" w="424179">
                  <a:moveTo>
                    <a:pt x="375666" y="0"/>
                  </a:moveTo>
                  <a:lnTo>
                    <a:pt x="423672" y="24383"/>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45" name="Google Shape;745;p10"/>
            <p:cNvSpPr/>
            <p:nvPr/>
          </p:nvSpPr>
          <p:spPr>
            <a:xfrm>
              <a:off x="7508620" y="6172200"/>
              <a:ext cx="424180" cy="46990"/>
            </a:xfrm>
            <a:custGeom>
              <a:rect b="b" l="l" r="r" t="t"/>
              <a:pathLst>
                <a:path extrusionOk="0" h="46989" w="424179">
                  <a:moveTo>
                    <a:pt x="388620" y="29717"/>
                  </a:moveTo>
                  <a:lnTo>
                    <a:pt x="388620" y="18288"/>
                  </a:lnTo>
                  <a:lnTo>
                    <a:pt x="0" y="18288"/>
                  </a:lnTo>
                  <a:lnTo>
                    <a:pt x="0" y="29717"/>
                  </a:lnTo>
                  <a:lnTo>
                    <a:pt x="388620" y="29717"/>
                  </a:lnTo>
                  <a:close/>
                </a:path>
                <a:path extrusionOk="0" h="46989" w="424179">
                  <a:moveTo>
                    <a:pt x="423672" y="23621"/>
                  </a:moveTo>
                  <a:lnTo>
                    <a:pt x="375666" y="0"/>
                  </a:lnTo>
                  <a:lnTo>
                    <a:pt x="375666" y="18288"/>
                  </a:lnTo>
                  <a:lnTo>
                    <a:pt x="388620" y="18288"/>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46" name="Google Shape;746;p10"/>
            <p:cNvSpPr/>
            <p:nvPr/>
          </p:nvSpPr>
          <p:spPr>
            <a:xfrm>
              <a:off x="7508620" y="6172200"/>
              <a:ext cx="424180" cy="46990"/>
            </a:xfrm>
            <a:custGeom>
              <a:rect b="b" l="l" r="r" t="t"/>
              <a:pathLst>
                <a:path extrusionOk="0" h="46989" w="424179">
                  <a:moveTo>
                    <a:pt x="0" y="29717"/>
                  </a:moveTo>
                  <a:lnTo>
                    <a:pt x="0" y="18288"/>
                  </a:lnTo>
                  <a:lnTo>
                    <a:pt x="388620" y="18288"/>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47" name="Google Shape;747;p10"/>
            <p:cNvSpPr/>
            <p:nvPr/>
          </p:nvSpPr>
          <p:spPr>
            <a:xfrm>
              <a:off x="7932305" y="5492495"/>
              <a:ext cx="424180" cy="845185"/>
            </a:xfrm>
            <a:custGeom>
              <a:rect b="b" l="l" r="r" t="t"/>
              <a:pathLst>
                <a:path extrusionOk="0" h="845185" w="424179">
                  <a:moveTo>
                    <a:pt x="0" y="0"/>
                  </a:moveTo>
                  <a:lnTo>
                    <a:pt x="0" y="845057"/>
                  </a:lnTo>
                  <a:lnTo>
                    <a:pt x="423672" y="845057"/>
                  </a:lnTo>
                  <a:lnTo>
                    <a:pt x="42367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48" name="Google Shape;748;p10"/>
            <p:cNvSpPr/>
            <p:nvPr/>
          </p:nvSpPr>
          <p:spPr>
            <a:xfrm>
              <a:off x="5605437" y="5492495"/>
              <a:ext cx="143510" cy="344170"/>
            </a:xfrm>
            <a:custGeom>
              <a:rect b="b" l="l" r="r" t="t"/>
              <a:pathLst>
                <a:path extrusionOk="0" h="344170" w="143510">
                  <a:moveTo>
                    <a:pt x="126957" y="295912"/>
                  </a:moveTo>
                  <a:lnTo>
                    <a:pt x="13187" y="0"/>
                  </a:lnTo>
                  <a:lnTo>
                    <a:pt x="0" y="0"/>
                  </a:lnTo>
                  <a:lnTo>
                    <a:pt x="115514" y="300450"/>
                  </a:lnTo>
                  <a:lnTo>
                    <a:pt x="126957" y="295912"/>
                  </a:lnTo>
                  <a:close/>
                </a:path>
                <a:path extrusionOk="0" h="344170" w="143510">
                  <a:moveTo>
                    <a:pt x="131546" y="337331"/>
                  </a:moveTo>
                  <a:lnTo>
                    <a:pt x="131546" y="307848"/>
                  </a:lnTo>
                  <a:lnTo>
                    <a:pt x="120116" y="312420"/>
                  </a:lnTo>
                  <a:lnTo>
                    <a:pt x="115514" y="300450"/>
                  </a:lnTo>
                  <a:lnTo>
                    <a:pt x="98780" y="307086"/>
                  </a:lnTo>
                  <a:lnTo>
                    <a:pt x="131546" y="337331"/>
                  </a:lnTo>
                  <a:close/>
                </a:path>
                <a:path extrusionOk="0" h="344170" w="143510">
                  <a:moveTo>
                    <a:pt x="131546" y="307848"/>
                  </a:moveTo>
                  <a:lnTo>
                    <a:pt x="126957" y="295912"/>
                  </a:lnTo>
                  <a:lnTo>
                    <a:pt x="115514" y="300450"/>
                  </a:lnTo>
                  <a:lnTo>
                    <a:pt x="120116" y="312420"/>
                  </a:lnTo>
                  <a:lnTo>
                    <a:pt x="131546" y="307848"/>
                  </a:lnTo>
                  <a:close/>
                </a:path>
                <a:path extrusionOk="0" h="344170" w="143510">
                  <a:moveTo>
                    <a:pt x="142976" y="289560"/>
                  </a:moveTo>
                  <a:lnTo>
                    <a:pt x="126957" y="295912"/>
                  </a:lnTo>
                  <a:lnTo>
                    <a:pt x="131546" y="307848"/>
                  </a:lnTo>
                  <a:lnTo>
                    <a:pt x="131546" y="337331"/>
                  </a:lnTo>
                  <a:lnTo>
                    <a:pt x="138404" y="343662"/>
                  </a:lnTo>
                  <a:lnTo>
                    <a:pt x="142976" y="28956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49" name="Google Shape;749;p10"/>
            <p:cNvSpPr/>
            <p:nvPr/>
          </p:nvSpPr>
          <p:spPr>
            <a:xfrm>
              <a:off x="5605437" y="5492495"/>
              <a:ext cx="143510" cy="344170"/>
            </a:xfrm>
            <a:custGeom>
              <a:rect b="b" l="l" r="r" t="t"/>
              <a:pathLst>
                <a:path extrusionOk="0" h="344170" w="143510">
                  <a:moveTo>
                    <a:pt x="0" y="0"/>
                  </a:moveTo>
                  <a:lnTo>
                    <a:pt x="13187" y="0"/>
                  </a:lnTo>
                  <a:lnTo>
                    <a:pt x="131546" y="307848"/>
                  </a:lnTo>
                  <a:lnTo>
                    <a:pt x="120116" y="312420"/>
                  </a:lnTo>
                  <a:lnTo>
                    <a:pt x="0" y="0"/>
                  </a:lnTo>
                </a:path>
                <a:path extrusionOk="0" h="344170" w="143510">
                  <a:moveTo>
                    <a:pt x="142976" y="289560"/>
                  </a:moveTo>
                  <a:lnTo>
                    <a:pt x="138404" y="343662"/>
                  </a:lnTo>
                  <a:lnTo>
                    <a:pt x="98780" y="307086"/>
                  </a:lnTo>
                  <a:lnTo>
                    <a:pt x="142976" y="28956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0" name="Google Shape;750;p10"/>
            <p:cNvSpPr/>
            <p:nvPr/>
          </p:nvSpPr>
          <p:spPr>
            <a:xfrm>
              <a:off x="5515285" y="5492495"/>
              <a:ext cx="237490" cy="703580"/>
            </a:xfrm>
            <a:custGeom>
              <a:rect b="b" l="l" r="r" t="t"/>
              <a:pathLst>
                <a:path extrusionOk="0" h="703579" w="237489">
                  <a:moveTo>
                    <a:pt x="219604" y="656798"/>
                  </a:moveTo>
                  <a:lnTo>
                    <a:pt x="12553" y="0"/>
                  </a:lnTo>
                  <a:lnTo>
                    <a:pt x="0" y="0"/>
                  </a:lnTo>
                  <a:lnTo>
                    <a:pt x="208298" y="660247"/>
                  </a:lnTo>
                  <a:lnTo>
                    <a:pt x="219604" y="656798"/>
                  </a:lnTo>
                  <a:close/>
                </a:path>
                <a:path extrusionOk="0" h="703579" w="237489">
                  <a:moveTo>
                    <a:pt x="223222" y="697769"/>
                  </a:moveTo>
                  <a:lnTo>
                    <a:pt x="223222" y="668274"/>
                  </a:lnTo>
                  <a:lnTo>
                    <a:pt x="211792" y="671322"/>
                  </a:lnTo>
                  <a:lnTo>
                    <a:pt x="208298" y="660247"/>
                  </a:lnTo>
                  <a:lnTo>
                    <a:pt x="191980" y="665226"/>
                  </a:lnTo>
                  <a:lnTo>
                    <a:pt x="223222" y="697769"/>
                  </a:lnTo>
                  <a:close/>
                </a:path>
                <a:path extrusionOk="0" h="703579" w="237489">
                  <a:moveTo>
                    <a:pt x="223222" y="668274"/>
                  </a:moveTo>
                  <a:lnTo>
                    <a:pt x="219604" y="656798"/>
                  </a:lnTo>
                  <a:lnTo>
                    <a:pt x="208298" y="660247"/>
                  </a:lnTo>
                  <a:lnTo>
                    <a:pt x="211792" y="671322"/>
                  </a:lnTo>
                  <a:lnTo>
                    <a:pt x="223222" y="668274"/>
                  </a:lnTo>
                  <a:close/>
                </a:path>
                <a:path extrusionOk="0" h="703579" w="237489">
                  <a:moveTo>
                    <a:pt x="236938" y="651510"/>
                  </a:moveTo>
                  <a:lnTo>
                    <a:pt x="219604" y="656798"/>
                  </a:lnTo>
                  <a:lnTo>
                    <a:pt x="223222" y="668274"/>
                  </a:lnTo>
                  <a:lnTo>
                    <a:pt x="223222" y="697769"/>
                  </a:lnTo>
                  <a:lnTo>
                    <a:pt x="228556" y="703326"/>
                  </a:lnTo>
                  <a:lnTo>
                    <a:pt x="236938" y="65151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1" name="Google Shape;751;p10"/>
            <p:cNvSpPr/>
            <p:nvPr/>
          </p:nvSpPr>
          <p:spPr>
            <a:xfrm>
              <a:off x="5515285" y="5492495"/>
              <a:ext cx="237490" cy="703580"/>
            </a:xfrm>
            <a:custGeom>
              <a:rect b="b" l="l" r="r" t="t"/>
              <a:pathLst>
                <a:path extrusionOk="0" h="703579" w="237489">
                  <a:moveTo>
                    <a:pt x="0" y="0"/>
                  </a:moveTo>
                  <a:lnTo>
                    <a:pt x="12553" y="0"/>
                  </a:lnTo>
                  <a:lnTo>
                    <a:pt x="223222" y="668274"/>
                  </a:lnTo>
                  <a:lnTo>
                    <a:pt x="211792" y="671322"/>
                  </a:lnTo>
                  <a:lnTo>
                    <a:pt x="0" y="0"/>
                  </a:lnTo>
                </a:path>
                <a:path extrusionOk="0" h="703579" w="237489">
                  <a:moveTo>
                    <a:pt x="236938" y="651510"/>
                  </a:moveTo>
                  <a:lnTo>
                    <a:pt x="228556" y="703326"/>
                  </a:lnTo>
                  <a:lnTo>
                    <a:pt x="191980" y="665226"/>
                  </a:lnTo>
                  <a:lnTo>
                    <a:pt x="236938" y="65151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2" name="Google Shape;752;p10"/>
            <p:cNvSpPr/>
            <p:nvPr/>
          </p:nvSpPr>
          <p:spPr>
            <a:xfrm>
              <a:off x="5102999" y="5492495"/>
              <a:ext cx="181610" cy="387350"/>
            </a:xfrm>
            <a:custGeom>
              <a:rect b="b" l="l" r="r" t="t"/>
              <a:pathLst>
                <a:path extrusionOk="0" h="387350" w="181610">
                  <a:moveTo>
                    <a:pt x="181410" y="0"/>
                  </a:moveTo>
                  <a:lnTo>
                    <a:pt x="168216" y="0"/>
                  </a:lnTo>
                  <a:lnTo>
                    <a:pt x="0" y="383285"/>
                  </a:lnTo>
                  <a:lnTo>
                    <a:pt x="11429" y="387095"/>
                  </a:lnTo>
                  <a:lnTo>
                    <a:pt x="181410"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3" name="Google Shape;753;p10"/>
            <p:cNvSpPr/>
            <p:nvPr/>
          </p:nvSpPr>
          <p:spPr>
            <a:xfrm>
              <a:off x="5102999" y="5492495"/>
              <a:ext cx="181610" cy="387350"/>
            </a:xfrm>
            <a:custGeom>
              <a:rect b="b" l="l" r="r" t="t"/>
              <a:pathLst>
                <a:path extrusionOk="0" h="387350" w="181610">
                  <a:moveTo>
                    <a:pt x="0" y="383285"/>
                  </a:moveTo>
                  <a:lnTo>
                    <a:pt x="168216" y="0"/>
                  </a:lnTo>
                  <a:lnTo>
                    <a:pt x="181410" y="0"/>
                  </a:lnTo>
                  <a:lnTo>
                    <a:pt x="11429" y="387095"/>
                  </a:lnTo>
                  <a:lnTo>
                    <a:pt x="0" y="383285"/>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4" name="Google Shape;754;p10"/>
            <p:cNvSpPr/>
            <p:nvPr/>
          </p:nvSpPr>
          <p:spPr>
            <a:xfrm>
              <a:off x="5106047" y="5492496"/>
              <a:ext cx="628015" cy="390525"/>
            </a:xfrm>
            <a:custGeom>
              <a:rect b="b" l="l" r="r" t="t"/>
              <a:pathLst>
                <a:path extrusionOk="0" h="390525" w="628014">
                  <a:moveTo>
                    <a:pt x="600775" y="14154"/>
                  </a:moveTo>
                  <a:lnTo>
                    <a:pt x="594616" y="3822"/>
                  </a:lnTo>
                  <a:lnTo>
                    <a:pt x="0" y="380237"/>
                  </a:lnTo>
                  <a:lnTo>
                    <a:pt x="5334" y="390143"/>
                  </a:lnTo>
                  <a:lnTo>
                    <a:pt x="600775" y="14154"/>
                  </a:lnTo>
                  <a:close/>
                </a:path>
                <a:path extrusionOk="0" h="390525" w="628014">
                  <a:moveTo>
                    <a:pt x="600654" y="0"/>
                  </a:moveTo>
                  <a:lnTo>
                    <a:pt x="592337" y="0"/>
                  </a:lnTo>
                  <a:lnTo>
                    <a:pt x="594616" y="3822"/>
                  </a:lnTo>
                  <a:lnTo>
                    <a:pt x="600654" y="0"/>
                  </a:lnTo>
                  <a:close/>
                </a:path>
                <a:path extrusionOk="0" h="390525" w="628014">
                  <a:moveTo>
                    <a:pt x="611124" y="7619"/>
                  </a:moveTo>
                  <a:lnTo>
                    <a:pt x="605848" y="0"/>
                  </a:lnTo>
                  <a:lnTo>
                    <a:pt x="600654" y="0"/>
                  </a:lnTo>
                  <a:lnTo>
                    <a:pt x="594616" y="3822"/>
                  </a:lnTo>
                  <a:lnTo>
                    <a:pt x="600775" y="14154"/>
                  </a:lnTo>
                  <a:lnTo>
                    <a:pt x="611124" y="7619"/>
                  </a:lnTo>
                  <a:close/>
                </a:path>
                <a:path extrusionOk="0" h="390525" w="628014">
                  <a:moveTo>
                    <a:pt x="611124" y="26484"/>
                  </a:moveTo>
                  <a:lnTo>
                    <a:pt x="611124" y="7619"/>
                  </a:lnTo>
                  <a:lnTo>
                    <a:pt x="600775" y="14154"/>
                  </a:lnTo>
                  <a:lnTo>
                    <a:pt x="609600" y="28955"/>
                  </a:lnTo>
                  <a:lnTo>
                    <a:pt x="611124" y="26484"/>
                  </a:lnTo>
                  <a:close/>
                </a:path>
                <a:path extrusionOk="0" h="390525" w="628014">
                  <a:moveTo>
                    <a:pt x="627456" y="0"/>
                  </a:moveTo>
                  <a:lnTo>
                    <a:pt x="605848" y="0"/>
                  </a:lnTo>
                  <a:lnTo>
                    <a:pt x="611124" y="7619"/>
                  </a:lnTo>
                  <a:lnTo>
                    <a:pt x="611124" y="26484"/>
                  </a:lnTo>
                  <a:lnTo>
                    <a:pt x="627456"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5" name="Google Shape;755;p10"/>
            <p:cNvSpPr/>
            <p:nvPr/>
          </p:nvSpPr>
          <p:spPr>
            <a:xfrm>
              <a:off x="5106047" y="5492496"/>
              <a:ext cx="628015" cy="390525"/>
            </a:xfrm>
            <a:custGeom>
              <a:rect b="b" l="l" r="r" t="t"/>
              <a:pathLst>
                <a:path extrusionOk="0" h="390525" w="628014">
                  <a:moveTo>
                    <a:pt x="0" y="380237"/>
                  </a:moveTo>
                  <a:lnTo>
                    <a:pt x="600654" y="0"/>
                  </a:lnTo>
                  <a:lnTo>
                    <a:pt x="605848" y="0"/>
                  </a:lnTo>
                  <a:lnTo>
                    <a:pt x="611124" y="7619"/>
                  </a:lnTo>
                  <a:lnTo>
                    <a:pt x="5334" y="390143"/>
                  </a:lnTo>
                  <a:lnTo>
                    <a:pt x="0" y="380237"/>
                  </a:lnTo>
                </a:path>
                <a:path extrusionOk="0" h="390525" w="628014">
                  <a:moveTo>
                    <a:pt x="592337" y="0"/>
                  </a:moveTo>
                  <a:lnTo>
                    <a:pt x="627456" y="0"/>
                  </a:lnTo>
                  <a:lnTo>
                    <a:pt x="609600" y="28955"/>
                  </a:lnTo>
                  <a:lnTo>
                    <a:pt x="592337"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6" name="Google Shape;756;p10"/>
            <p:cNvSpPr/>
            <p:nvPr/>
          </p:nvSpPr>
          <p:spPr>
            <a:xfrm>
              <a:off x="5106047" y="5872733"/>
              <a:ext cx="638175" cy="323215"/>
            </a:xfrm>
            <a:custGeom>
              <a:rect b="b" l="l" r="r" t="t"/>
              <a:pathLst>
                <a:path extrusionOk="0" h="323214" w="638175">
                  <a:moveTo>
                    <a:pt x="597907" y="296661"/>
                  </a:moveTo>
                  <a:lnTo>
                    <a:pt x="5334" y="0"/>
                  </a:lnTo>
                  <a:lnTo>
                    <a:pt x="0" y="9906"/>
                  </a:lnTo>
                  <a:lnTo>
                    <a:pt x="593109" y="306086"/>
                  </a:lnTo>
                  <a:lnTo>
                    <a:pt x="597907" y="296661"/>
                  </a:lnTo>
                  <a:close/>
                </a:path>
                <a:path extrusionOk="0" h="323214" w="638175">
                  <a:moveTo>
                    <a:pt x="608076" y="323088"/>
                  </a:moveTo>
                  <a:lnTo>
                    <a:pt x="608076" y="301752"/>
                  </a:lnTo>
                  <a:lnTo>
                    <a:pt x="604266" y="311657"/>
                  </a:lnTo>
                  <a:lnTo>
                    <a:pt x="593109" y="306086"/>
                  </a:lnTo>
                  <a:lnTo>
                    <a:pt x="584454" y="323088"/>
                  </a:lnTo>
                  <a:lnTo>
                    <a:pt x="608076" y="323088"/>
                  </a:lnTo>
                  <a:close/>
                </a:path>
                <a:path extrusionOk="0" h="323214" w="638175">
                  <a:moveTo>
                    <a:pt x="608076" y="301752"/>
                  </a:moveTo>
                  <a:lnTo>
                    <a:pt x="597907" y="296661"/>
                  </a:lnTo>
                  <a:lnTo>
                    <a:pt x="593109" y="306086"/>
                  </a:lnTo>
                  <a:lnTo>
                    <a:pt x="604266" y="311657"/>
                  </a:lnTo>
                  <a:lnTo>
                    <a:pt x="608076" y="301752"/>
                  </a:lnTo>
                  <a:close/>
                </a:path>
                <a:path extrusionOk="0" h="323214" w="638175">
                  <a:moveTo>
                    <a:pt x="637794" y="323088"/>
                  </a:moveTo>
                  <a:lnTo>
                    <a:pt x="605790" y="281177"/>
                  </a:lnTo>
                  <a:lnTo>
                    <a:pt x="597907" y="296661"/>
                  </a:lnTo>
                  <a:lnTo>
                    <a:pt x="608076" y="301752"/>
                  </a:lnTo>
                  <a:lnTo>
                    <a:pt x="608076" y="323088"/>
                  </a:lnTo>
                  <a:lnTo>
                    <a:pt x="637794" y="323088"/>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57" name="Google Shape;757;p10"/>
            <p:cNvSpPr/>
            <p:nvPr/>
          </p:nvSpPr>
          <p:spPr>
            <a:xfrm>
              <a:off x="5106047" y="5872733"/>
              <a:ext cx="638175" cy="323215"/>
            </a:xfrm>
            <a:custGeom>
              <a:rect b="b" l="l" r="r" t="t"/>
              <a:pathLst>
                <a:path extrusionOk="0" h="323214" w="638175">
                  <a:moveTo>
                    <a:pt x="5334" y="0"/>
                  </a:moveTo>
                  <a:lnTo>
                    <a:pt x="608076" y="301752"/>
                  </a:lnTo>
                  <a:lnTo>
                    <a:pt x="604266" y="311657"/>
                  </a:lnTo>
                  <a:lnTo>
                    <a:pt x="0" y="9906"/>
                  </a:lnTo>
                  <a:lnTo>
                    <a:pt x="5334" y="0"/>
                  </a:lnTo>
                  <a:close/>
                </a:path>
                <a:path extrusionOk="0" h="323214" w="638175">
                  <a:moveTo>
                    <a:pt x="605790" y="281177"/>
                  </a:moveTo>
                  <a:lnTo>
                    <a:pt x="637794" y="323088"/>
                  </a:lnTo>
                  <a:lnTo>
                    <a:pt x="584454" y="323088"/>
                  </a:lnTo>
                  <a:lnTo>
                    <a:pt x="605790" y="281177"/>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758" name="Google Shape;758;p10"/>
          <p:cNvSpPr txBox="1"/>
          <p:nvPr/>
        </p:nvSpPr>
        <p:spPr>
          <a:xfrm>
            <a:off x="3497790" y="3877966"/>
            <a:ext cx="912097" cy="193572"/>
          </a:xfrm>
          <a:prstGeom prst="rect">
            <a:avLst/>
          </a:prstGeom>
          <a:solidFill>
            <a:srgbClr val="DDDDDD"/>
          </a:solidFill>
          <a:ln cap="flat" cmpd="sng" w="11275">
            <a:solidFill>
              <a:srgbClr val="081D58"/>
            </a:solidFill>
            <a:prstDash val="solid"/>
            <a:round/>
            <a:headEnd len="sm" w="sm" type="none"/>
            <a:tailEnd len="sm" w="sm" type="none"/>
          </a:ln>
        </p:spPr>
        <p:txBody>
          <a:bodyPr anchorCtr="0" anchor="t" bIns="0" lIns="0" spcFirstLastPara="1" rIns="0" wrap="square" tIns="41450">
            <a:spAutoFit/>
          </a:bodyPr>
          <a:lstStyle/>
          <a:p>
            <a:pPr indent="0" lvl="0" marL="22024" marR="0" rtl="0" algn="l">
              <a:lnSpc>
                <a:spcPct val="100000"/>
              </a:lnSpc>
              <a:spcBef>
                <a:spcPts val="0"/>
              </a:spcBef>
              <a:spcAft>
                <a:spcPts val="0"/>
              </a:spcAft>
              <a:buNone/>
            </a:pPr>
            <a:r>
              <a:rPr b="1" i="0" lang="en-US" sz="986" u="none" cap="none" strike="noStrike">
                <a:solidFill>
                  <a:srgbClr val="081D58"/>
                </a:solidFill>
                <a:latin typeface="Times New Roman"/>
                <a:ea typeface="Times New Roman"/>
                <a:cs typeface="Times New Roman"/>
                <a:sym typeface="Times New Roman"/>
              </a:rPr>
              <a:t>Chequeabilidad</a:t>
            </a:r>
            <a:endParaRPr b="0" i="0" sz="986" u="none" cap="none" strike="noStrike">
              <a:solidFill>
                <a:srgbClr val="000000"/>
              </a:solidFill>
              <a:latin typeface="Times New Roman"/>
              <a:ea typeface="Times New Roman"/>
              <a:cs typeface="Times New Roman"/>
              <a:sym typeface="Times New Roman"/>
            </a:endParaRPr>
          </a:p>
        </p:txBody>
      </p:sp>
      <p:grpSp>
        <p:nvGrpSpPr>
          <p:cNvPr id="759" name="Google Shape;759;p10"/>
          <p:cNvGrpSpPr/>
          <p:nvPr/>
        </p:nvGrpSpPr>
        <p:grpSpPr>
          <a:xfrm>
            <a:off x="3384105" y="3735450"/>
            <a:ext cx="2924075" cy="329944"/>
            <a:chOff x="3600055" y="5492495"/>
            <a:chExt cx="4299472" cy="485140"/>
          </a:xfrm>
        </p:grpSpPr>
        <p:sp>
          <p:nvSpPr>
            <p:cNvPr id="760" name="Google Shape;760;p10"/>
            <p:cNvSpPr/>
            <p:nvPr/>
          </p:nvSpPr>
          <p:spPr>
            <a:xfrm>
              <a:off x="3600055" y="5492495"/>
              <a:ext cx="170815" cy="386080"/>
            </a:xfrm>
            <a:custGeom>
              <a:rect b="b" l="l" r="r" t="t"/>
              <a:pathLst>
                <a:path extrusionOk="0" h="386079" w="170814">
                  <a:moveTo>
                    <a:pt x="154385" y="339971"/>
                  </a:moveTo>
                  <a:lnTo>
                    <a:pt x="12863" y="0"/>
                  </a:lnTo>
                  <a:lnTo>
                    <a:pt x="0" y="0"/>
                  </a:lnTo>
                  <a:lnTo>
                    <a:pt x="142938" y="344468"/>
                  </a:lnTo>
                  <a:lnTo>
                    <a:pt x="154385" y="339971"/>
                  </a:lnTo>
                  <a:close/>
                </a:path>
                <a:path extrusionOk="0" h="386079" w="170814">
                  <a:moveTo>
                    <a:pt x="158776" y="378157"/>
                  </a:moveTo>
                  <a:lnTo>
                    <a:pt x="158776" y="350519"/>
                  </a:lnTo>
                  <a:lnTo>
                    <a:pt x="147346" y="355091"/>
                  </a:lnTo>
                  <a:lnTo>
                    <a:pt x="142938" y="344468"/>
                  </a:lnTo>
                  <a:lnTo>
                    <a:pt x="127534" y="350519"/>
                  </a:lnTo>
                  <a:lnTo>
                    <a:pt x="158776" y="378157"/>
                  </a:lnTo>
                  <a:close/>
                </a:path>
                <a:path extrusionOk="0" h="386079" w="170814">
                  <a:moveTo>
                    <a:pt x="158776" y="350519"/>
                  </a:moveTo>
                  <a:lnTo>
                    <a:pt x="154385" y="339971"/>
                  </a:lnTo>
                  <a:lnTo>
                    <a:pt x="142938" y="344468"/>
                  </a:lnTo>
                  <a:lnTo>
                    <a:pt x="147346" y="355091"/>
                  </a:lnTo>
                  <a:lnTo>
                    <a:pt x="158776" y="350519"/>
                  </a:lnTo>
                  <a:close/>
                </a:path>
                <a:path extrusionOk="0" h="386079" w="170814">
                  <a:moveTo>
                    <a:pt x="170206" y="333755"/>
                  </a:moveTo>
                  <a:lnTo>
                    <a:pt x="154385" y="339971"/>
                  </a:lnTo>
                  <a:lnTo>
                    <a:pt x="158776" y="350519"/>
                  </a:lnTo>
                  <a:lnTo>
                    <a:pt x="158776" y="378157"/>
                  </a:lnTo>
                  <a:lnTo>
                    <a:pt x="167158" y="385571"/>
                  </a:lnTo>
                  <a:lnTo>
                    <a:pt x="170206" y="333755"/>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61" name="Google Shape;761;p10"/>
            <p:cNvSpPr/>
            <p:nvPr/>
          </p:nvSpPr>
          <p:spPr>
            <a:xfrm>
              <a:off x="3600055" y="5492495"/>
              <a:ext cx="170815" cy="386080"/>
            </a:xfrm>
            <a:custGeom>
              <a:rect b="b" l="l" r="r" t="t"/>
              <a:pathLst>
                <a:path extrusionOk="0" h="386079" w="170814">
                  <a:moveTo>
                    <a:pt x="0" y="0"/>
                  </a:moveTo>
                  <a:lnTo>
                    <a:pt x="12863" y="0"/>
                  </a:lnTo>
                  <a:lnTo>
                    <a:pt x="158776" y="350519"/>
                  </a:lnTo>
                  <a:lnTo>
                    <a:pt x="147346" y="355091"/>
                  </a:lnTo>
                  <a:lnTo>
                    <a:pt x="0" y="0"/>
                  </a:lnTo>
                </a:path>
                <a:path extrusionOk="0" h="386079" w="170814">
                  <a:moveTo>
                    <a:pt x="170206" y="333755"/>
                  </a:moveTo>
                  <a:lnTo>
                    <a:pt x="167158" y="385571"/>
                  </a:lnTo>
                  <a:lnTo>
                    <a:pt x="127534" y="350519"/>
                  </a:lnTo>
                  <a:lnTo>
                    <a:pt x="170206" y="333755"/>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62" name="Google Shape;762;p10"/>
            <p:cNvSpPr/>
            <p:nvPr/>
          </p:nvSpPr>
          <p:spPr>
            <a:xfrm>
              <a:off x="5743841" y="5492495"/>
              <a:ext cx="1765300" cy="125095"/>
            </a:xfrm>
            <a:custGeom>
              <a:rect b="b" l="l" r="r" t="t"/>
              <a:pathLst>
                <a:path extrusionOk="0" h="125095" w="1765300">
                  <a:moveTo>
                    <a:pt x="0" y="0"/>
                  </a:moveTo>
                  <a:lnTo>
                    <a:pt x="0" y="124968"/>
                  </a:lnTo>
                  <a:lnTo>
                    <a:pt x="1764792" y="124967"/>
                  </a:lnTo>
                  <a:lnTo>
                    <a:pt x="176479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63" name="Google Shape;763;p10"/>
            <p:cNvSpPr/>
            <p:nvPr/>
          </p:nvSpPr>
          <p:spPr>
            <a:xfrm>
              <a:off x="7884287" y="5492495"/>
              <a:ext cx="15240" cy="7620"/>
            </a:xfrm>
            <a:custGeom>
              <a:rect b="b" l="l" r="r" t="t"/>
              <a:pathLst>
                <a:path extrusionOk="0" h="7620" w="15240">
                  <a:moveTo>
                    <a:pt x="15001" y="0"/>
                  </a:moveTo>
                  <a:lnTo>
                    <a:pt x="0" y="0"/>
                  </a:lnTo>
                  <a:lnTo>
                    <a:pt x="0" y="7620"/>
                  </a:lnTo>
                  <a:lnTo>
                    <a:pt x="15001"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64" name="Google Shape;764;p10"/>
            <p:cNvSpPr/>
            <p:nvPr/>
          </p:nvSpPr>
          <p:spPr>
            <a:xfrm>
              <a:off x="7884287" y="5492495"/>
              <a:ext cx="15240" cy="7620"/>
            </a:xfrm>
            <a:custGeom>
              <a:rect b="b" l="l" r="r" t="t"/>
              <a:pathLst>
                <a:path extrusionOk="0" h="7620" w="15240">
                  <a:moveTo>
                    <a:pt x="0" y="0"/>
                  </a:moveTo>
                  <a:lnTo>
                    <a:pt x="15001" y="0"/>
                  </a:lnTo>
                  <a:lnTo>
                    <a:pt x="0" y="7620"/>
                  </a:lnTo>
                  <a:lnTo>
                    <a:pt x="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65" name="Google Shape;765;p10"/>
            <p:cNvSpPr/>
            <p:nvPr/>
          </p:nvSpPr>
          <p:spPr>
            <a:xfrm>
              <a:off x="5743841" y="5694425"/>
              <a:ext cx="1765300" cy="283210"/>
            </a:xfrm>
            <a:custGeom>
              <a:rect b="b" l="l" r="r" t="t"/>
              <a:pathLst>
                <a:path extrusionOk="0" h="283210" w="1765300">
                  <a:moveTo>
                    <a:pt x="0" y="0"/>
                  </a:moveTo>
                  <a:lnTo>
                    <a:pt x="0" y="282702"/>
                  </a:lnTo>
                  <a:lnTo>
                    <a:pt x="1764791" y="282701"/>
                  </a:lnTo>
                  <a:lnTo>
                    <a:pt x="1764791" y="0"/>
                  </a:lnTo>
                  <a:lnTo>
                    <a:pt x="0" y="0"/>
                  </a:lnTo>
                  <a:close/>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766" name="Google Shape;766;p10"/>
          <p:cNvSpPr txBox="1"/>
          <p:nvPr/>
        </p:nvSpPr>
        <p:spPr>
          <a:xfrm>
            <a:off x="4982534" y="3910003"/>
            <a:ext cx="920734"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Autodescriptividad</a:t>
            </a:r>
            <a:endParaRPr b="0" i="0" sz="884" u="none" cap="none" strike="noStrike">
              <a:solidFill>
                <a:srgbClr val="000000"/>
              </a:solidFill>
              <a:latin typeface="Times New Roman"/>
              <a:ea typeface="Times New Roman"/>
              <a:cs typeface="Times New Roman"/>
              <a:sym typeface="Times New Roman"/>
            </a:endParaRPr>
          </a:p>
        </p:txBody>
      </p:sp>
      <p:sp>
        <p:nvSpPr>
          <p:cNvPr id="767" name="Google Shape;767;p10"/>
          <p:cNvSpPr txBox="1"/>
          <p:nvPr/>
        </p:nvSpPr>
        <p:spPr>
          <a:xfrm>
            <a:off x="5131269" y="4155129"/>
            <a:ext cx="624043" cy="128240"/>
          </a:xfrm>
          <a:prstGeom prst="rect">
            <a:avLst/>
          </a:prstGeom>
          <a:noFill/>
          <a:ln>
            <a:noFill/>
          </a:ln>
        </p:spPr>
        <p:txBody>
          <a:bodyPr anchorCtr="0" anchor="t" bIns="0" lIns="0" spcFirstLastPara="1" rIns="0" wrap="square" tIns="0">
            <a:spAutoFit/>
          </a:bodyPr>
          <a:lstStyle/>
          <a:p>
            <a:pPr indent="0" lvl="0" marL="0" marR="0" rtl="0" algn="l">
              <a:lnSpc>
                <a:spcPct val="109276"/>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Trazabilidad</a:t>
            </a:r>
            <a:endParaRPr b="0" i="0" sz="884" u="none" cap="none" strike="noStrike">
              <a:solidFill>
                <a:srgbClr val="000000"/>
              </a:solidFill>
              <a:latin typeface="Times New Roman"/>
              <a:ea typeface="Times New Roman"/>
              <a:cs typeface="Times New Roman"/>
              <a:sym typeface="Times New Roman"/>
            </a:endParaRPr>
          </a:p>
        </p:txBody>
      </p:sp>
      <p:grpSp>
        <p:nvGrpSpPr>
          <p:cNvPr id="768" name="Google Shape;768;p10"/>
          <p:cNvGrpSpPr/>
          <p:nvPr/>
        </p:nvGrpSpPr>
        <p:grpSpPr>
          <a:xfrm>
            <a:off x="4842096" y="3735451"/>
            <a:ext cx="1488714" cy="494226"/>
            <a:chOff x="5743841" y="5492495"/>
            <a:chExt cx="2188960" cy="726695"/>
          </a:xfrm>
        </p:grpSpPr>
        <p:sp>
          <p:nvSpPr>
            <p:cNvPr id="769" name="Google Shape;769;p10"/>
            <p:cNvSpPr/>
            <p:nvPr/>
          </p:nvSpPr>
          <p:spPr>
            <a:xfrm>
              <a:off x="7508621" y="5811773"/>
              <a:ext cx="424180" cy="46990"/>
            </a:xfrm>
            <a:custGeom>
              <a:rect b="b" l="l" r="r" t="t"/>
              <a:pathLst>
                <a:path extrusionOk="0" h="46989" w="424179">
                  <a:moveTo>
                    <a:pt x="388620" y="29717"/>
                  </a:moveTo>
                  <a:lnTo>
                    <a:pt x="388620" y="17526"/>
                  </a:lnTo>
                  <a:lnTo>
                    <a:pt x="0" y="17526"/>
                  </a:lnTo>
                  <a:lnTo>
                    <a:pt x="0" y="29717"/>
                  </a:lnTo>
                  <a:lnTo>
                    <a:pt x="388620" y="29717"/>
                  </a:lnTo>
                  <a:close/>
                </a:path>
                <a:path extrusionOk="0" h="46989" w="424179">
                  <a:moveTo>
                    <a:pt x="423672" y="24383"/>
                  </a:moveTo>
                  <a:lnTo>
                    <a:pt x="375666" y="0"/>
                  </a:lnTo>
                  <a:lnTo>
                    <a:pt x="375666" y="17526"/>
                  </a:lnTo>
                  <a:lnTo>
                    <a:pt x="388620" y="17526"/>
                  </a:lnTo>
                  <a:lnTo>
                    <a:pt x="388620" y="40519"/>
                  </a:lnTo>
                  <a:lnTo>
                    <a:pt x="423672" y="24383"/>
                  </a:lnTo>
                  <a:close/>
                </a:path>
                <a:path extrusionOk="0" h="46989" w="424179">
                  <a:moveTo>
                    <a:pt x="388620" y="40519"/>
                  </a:moveTo>
                  <a:lnTo>
                    <a:pt x="388620" y="29717"/>
                  </a:lnTo>
                  <a:lnTo>
                    <a:pt x="375666" y="29717"/>
                  </a:lnTo>
                  <a:lnTo>
                    <a:pt x="375666" y="46481"/>
                  </a:lnTo>
                  <a:lnTo>
                    <a:pt x="388620" y="40519"/>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70" name="Google Shape;770;p10"/>
            <p:cNvSpPr/>
            <p:nvPr/>
          </p:nvSpPr>
          <p:spPr>
            <a:xfrm>
              <a:off x="7508621" y="5811773"/>
              <a:ext cx="424180" cy="46990"/>
            </a:xfrm>
            <a:custGeom>
              <a:rect b="b" l="l" r="r" t="t"/>
              <a:pathLst>
                <a:path extrusionOk="0" h="46989" w="424179">
                  <a:moveTo>
                    <a:pt x="0" y="29717"/>
                  </a:moveTo>
                  <a:lnTo>
                    <a:pt x="0" y="17526"/>
                  </a:lnTo>
                  <a:lnTo>
                    <a:pt x="388620" y="17526"/>
                  </a:lnTo>
                  <a:lnTo>
                    <a:pt x="388620" y="29717"/>
                  </a:lnTo>
                  <a:lnTo>
                    <a:pt x="0" y="29717"/>
                  </a:lnTo>
                  <a:close/>
                </a:path>
                <a:path extrusionOk="0" h="46989" w="424179">
                  <a:moveTo>
                    <a:pt x="375666" y="0"/>
                  </a:moveTo>
                  <a:lnTo>
                    <a:pt x="423672" y="24383"/>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71" name="Google Shape;771;p10"/>
            <p:cNvSpPr/>
            <p:nvPr/>
          </p:nvSpPr>
          <p:spPr>
            <a:xfrm>
              <a:off x="7508621" y="6172200"/>
              <a:ext cx="424180" cy="46990"/>
            </a:xfrm>
            <a:custGeom>
              <a:rect b="b" l="l" r="r" t="t"/>
              <a:pathLst>
                <a:path extrusionOk="0" h="46989" w="424179">
                  <a:moveTo>
                    <a:pt x="388620" y="29717"/>
                  </a:moveTo>
                  <a:lnTo>
                    <a:pt x="388620" y="18288"/>
                  </a:lnTo>
                  <a:lnTo>
                    <a:pt x="0" y="18288"/>
                  </a:lnTo>
                  <a:lnTo>
                    <a:pt x="0" y="29717"/>
                  </a:lnTo>
                  <a:lnTo>
                    <a:pt x="388620" y="29717"/>
                  </a:lnTo>
                  <a:close/>
                </a:path>
                <a:path extrusionOk="0" h="46989" w="424179">
                  <a:moveTo>
                    <a:pt x="423672" y="23621"/>
                  </a:moveTo>
                  <a:lnTo>
                    <a:pt x="375666" y="0"/>
                  </a:lnTo>
                  <a:lnTo>
                    <a:pt x="375666" y="18288"/>
                  </a:lnTo>
                  <a:lnTo>
                    <a:pt x="388620" y="18288"/>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72" name="Google Shape;772;p10"/>
            <p:cNvSpPr/>
            <p:nvPr/>
          </p:nvSpPr>
          <p:spPr>
            <a:xfrm>
              <a:off x="7508621" y="6172200"/>
              <a:ext cx="424180" cy="46990"/>
            </a:xfrm>
            <a:custGeom>
              <a:rect b="b" l="l" r="r" t="t"/>
              <a:pathLst>
                <a:path extrusionOk="0" h="46989" w="424179">
                  <a:moveTo>
                    <a:pt x="0" y="29717"/>
                  </a:moveTo>
                  <a:lnTo>
                    <a:pt x="0" y="18288"/>
                  </a:lnTo>
                  <a:lnTo>
                    <a:pt x="388620" y="18288"/>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73" name="Google Shape;773;p10"/>
            <p:cNvSpPr/>
            <p:nvPr/>
          </p:nvSpPr>
          <p:spPr>
            <a:xfrm>
              <a:off x="5743841" y="5492495"/>
              <a:ext cx="1765300" cy="125095"/>
            </a:xfrm>
            <a:custGeom>
              <a:rect b="b" l="l" r="r" t="t"/>
              <a:pathLst>
                <a:path extrusionOk="0" h="125095" w="1765300">
                  <a:moveTo>
                    <a:pt x="0" y="0"/>
                  </a:moveTo>
                  <a:lnTo>
                    <a:pt x="0" y="124968"/>
                  </a:lnTo>
                  <a:lnTo>
                    <a:pt x="1764792" y="124967"/>
                  </a:lnTo>
                  <a:lnTo>
                    <a:pt x="176479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74" name="Google Shape;774;p10"/>
            <p:cNvSpPr/>
            <p:nvPr/>
          </p:nvSpPr>
          <p:spPr>
            <a:xfrm>
              <a:off x="7884287" y="5492495"/>
              <a:ext cx="15240" cy="7620"/>
            </a:xfrm>
            <a:custGeom>
              <a:rect b="b" l="l" r="r" t="t"/>
              <a:pathLst>
                <a:path extrusionOk="0" h="7620" w="15240">
                  <a:moveTo>
                    <a:pt x="15001" y="0"/>
                  </a:moveTo>
                  <a:lnTo>
                    <a:pt x="0" y="0"/>
                  </a:lnTo>
                  <a:lnTo>
                    <a:pt x="0" y="7620"/>
                  </a:lnTo>
                  <a:lnTo>
                    <a:pt x="15001"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75" name="Google Shape;775;p10"/>
            <p:cNvSpPr/>
            <p:nvPr/>
          </p:nvSpPr>
          <p:spPr>
            <a:xfrm>
              <a:off x="7884287" y="5492495"/>
              <a:ext cx="15240" cy="7620"/>
            </a:xfrm>
            <a:custGeom>
              <a:rect b="b" l="l" r="r" t="t"/>
              <a:pathLst>
                <a:path extrusionOk="0" h="7620" w="15240">
                  <a:moveTo>
                    <a:pt x="0" y="0"/>
                  </a:moveTo>
                  <a:lnTo>
                    <a:pt x="15001" y="0"/>
                  </a:lnTo>
                  <a:lnTo>
                    <a:pt x="0" y="7620"/>
                  </a:lnTo>
                  <a:lnTo>
                    <a:pt x="0"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76" name="Google Shape;776;p10"/>
            <p:cNvSpPr/>
            <p:nvPr/>
          </p:nvSpPr>
          <p:spPr>
            <a:xfrm>
              <a:off x="5743841" y="5694425"/>
              <a:ext cx="1765300" cy="283210"/>
            </a:xfrm>
            <a:custGeom>
              <a:rect b="b" l="l" r="r" t="t"/>
              <a:pathLst>
                <a:path extrusionOk="0" h="283210" w="1765300">
                  <a:moveTo>
                    <a:pt x="0" y="0"/>
                  </a:moveTo>
                  <a:lnTo>
                    <a:pt x="0" y="282702"/>
                  </a:lnTo>
                  <a:lnTo>
                    <a:pt x="1764791" y="282701"/>
                  </a:lnTo>
                  <a:lnTo>
                    <a:pt x="1764791" y="0"/>
                  </a:lnTo>
                  <a:lnTo>
                    <a:pt x="0" y="0"/>
                  </a:lnTo>
                  <a:close/>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777" name="Google Shape;777;p10"/>
          <p:cNvSpPr txBox="1"/>
          <p:nvPr/>
        </p:nvSpPr>
        <p:spPr>
          <a:xfrm>
            <a:off x="4842096" y="3872784"/>
            <a:ext cx="1200582" cy="161355"/>
          </a:xfrm>
          <a:prstGeom prst="rect">
            <a:avLst/>
          </a:prstGeom>
          <a:solidFill>
            <a:srgbClr val="DDDDDD"/>
          </a:solidFill>
          <a:ln>
            <a:noFill/>
          </a:ln>
        </p:spPr>
        <p:txBody>
          <a:bodyPr anchorCtr="0" anchor="t" bIns="0" lIns="0" spcFirstLastPara="1" rIns="0" wrap="square" tIns="25025">
            <a:spAutoFit/>
          </a:bodyPr>
          <a:lstStyle/>
          <a:p>
            <a:pPr indent="0" lvl="0" marL="140356"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Autodescriptividad</a:t>
            </a:r>
            <a:endParaRPr b="0" i="0" sz="884" u="none" cap="none" strike="noStrike">
              <a:solidFill>
                <a:srgbClr val="000000"/>
              </a:solidFill>
              <a:latin typeface="Times New Roman"/>
              <a:ea typeface="Times New Roman"/>
              <a:cs typeface="Times New Roman"/>
              <a:sym typeface="Times New Roman"/>
            </a:endParaRPr>
          </a:p>
        </p:txBody>
      </p:sp>
      <p:grpSp>
        <p:nvGrpSpPr>
          <p:cNvPr id="778" name="Google Shape;778;p10"/>
          <p:cNvGrpSpPr/>
          <p:nvPr/>
        </p:nvGrpSpPr>
        <p:grpSpPr>
          <a:xfrm>
            <a:off x="6042324" y="3952592"/>
            <a:ext cx="288485" cy="31958"/>
            <a:chOff x="7508621" y="5811774"/>
            <a:chExt cx="424180" cy="46990"/>
          </a:xfrm>
        </p:grpSpPr>
        <p:sp>
          <p:nvSpPr>
            <p:cNvPr id="779" name="Google Shape;779;p10"/>
            <p:cNvSpPr/>
            <p:nvPr/>
          </p:nvSpPr>
          <p:spPr>
            <a:xfrm>
              <a:off x="7508621" y="5811774"/>
              <a:ext cx="424180" cy="46990"/>
            </a:xfrm>
            <a:custGeom>
              <a:rect b="b" l="l" r="r" t="t"/>
              <a:pathLst>
                <a:path extrusionOk="0" h="46989" w="424179">
                  <a:moveTo>
                    <a:pt x="388620" y="29717"/>
                  </a:moveTo>
                  <a:lnTo>
                    <a:pt x="388620" y="17526"/>
                  </a:lnTo>
                  <a:lnTo>
                    <a:pt x="0" y="17526"/>
                  </a:lnTo>
                  <a:lnTo>
                    <a:pt x="0" y="29717"/>
                  </a:lnTo>
                  <a:lnTo>
                    <a:pt x="388620" y="29717"/>
                  </a:lnTo>
                  <a:close/>
                </a:path>
                <a:path extrusionOk="0" h="46989" w="424179">
                  <a:moveTo>
                    <a:pt x="423672" y="24383"/>
                  </a:moveTo>
                  <a:lnTo>
                    <a:pt x="375666" y="0"/>
                  </a:lnTo>
                  <a:lnTo>
                    <a:pt x="375666" y="17526"/>
                  </a:lnTo>
                  <a:lnTo>
                    <a:pt x="388620" y="17526"/>
                  </a:lnTo>
                  <a:lnTo>
                    <a:pt x="388620" y="40519"/>
                  </a:lnTo>
                  <a:lnTo>
                    <a:pt x="423672" y="24383"/>
                  </a:lnTo>
                  <a:close/>
                </a:path>
                <a:path extrusionOk="0" h="46989" w="424179">
                  <a:moveTo>
                    <a:pt x="388620" y="40519"/>
                  </a:moveTo>
                  <a:lnTo>
                    <a:pt x="388620" y="29717"/>
                  </a:lnTo>
                  <a:lnTo>
                    <a:pt x="375666" y="29717"/>
                  </a:lnTo>
                  <a:lnTo>
                    <a:pt x="375666" y="46481"/>
                  </a:lnTo>
                  <a:lnTo>
                    <a:pt x="388620" y="40519"/>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80" name="Google Shape;780;p10"/>
            <p:cNvSpPr/>
            <p:nvPr/>
          </p:nvSpPr>
          <p:spPr>
            <a:xfrm>
              <a:off x="7508621" y="5811774"/>
              <a:ext cx="424180" cy="46990"/>
            </a:xfrm>
            <a:custGeom>
              <a:rect b="b" l="l" r="r" t="t"/>
              <a:pathLst>
                <a:path extrusionOk="0" h="46989" w="424179">
                  <a:moveTo>
                    <a:pt x="0" y="29717"/>
                  </a:moveTo>
                  <a:lnTo>
                    <a:pt x="0" y="17526"/>
                  </a:lnTo>
                  <a:lnTo>
                    <a:pt x="388620" y="17526"/>
                  </a:lnTo>
                  <a:lnTo>
                    <a:pt x="388620" y="29717"/>
                  </a:lnTo>
                  <a:lnTo>
                    <a:pt x="0" y="29717"/>
                  </a:lnTo>
                  <a:close/>
                </a:path>
                <a:path extrusionOk="0" h="46989" w="424179">
                  <a:moveTo>
                    <a:pt x="375666" y="0"/>
                  </a:moveTo>
                  <a:lnTo>
                    <a:pt x="423672" y="24383"/>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781" name="Google Shape;781;p10"/>
          <p:cNvSpPr txBox="1"/>
          <p:nvPr/>
        </p:nvSpPr>
        <p:spPr>
          <a:xfrm>
            <a:off x="4842096" y="4117910"/>
            <a:ext cx="1200582" cy="161355"/>
          </a:xfrm>
          <a:prstGeom prst="rect">
            <a:avLst/>
          </a:prstGeom>
          <a:solidFill>
            <a:srgbClr val="DDDDDD"/>
          </a:solidFill>
          <a:ln cap="flat" cmpd="sng" w="11275">
            <a:solidFill>
              <a:srgbClr val="081D58"/>
            </a:solidFill>
            <a:prstDash val="solid"/>
            <a:round/>
            <a:headEnd len="sm" w="sm" type="none"/>
            <a:tailEnd len="sm" w="sm" type="none"/>
          </a:ln>
        </p:spPr>
        <p:txBody>
          <a:bodyPr anchorCtr="0" anchor="t" bIns="0" lIns="0" spcFirstLastPara="1" rIns="0" wrap="square" tIns="25025">
            <a:spAutoFit/>
          </a:bodyPr>
          <a:lstStyle/>
          <a:p>
            <a:pPr indent="0" lvl="0" marL="288917" marR="0" rtl="0" algn="l">
              <a:lnSpc>
                <a:spcPct val="100000"/>
              </a:lnSpc>
              <a:spcBef>
                <a:spcPts val="0"/>
              </a:spcBef>
              <a:spcAft>
                <a:spcPts val="0"/>
              </a:spcAft>
              <a:buNone/>
            </a:pPr>
            <a:r>
              <a:rPr b="1" i="0" lang="en-US" sz="884" u="none" cap="none" strike="noStrike">
                <a:solidFill>
                  <a:srgbClr val="081D58"/>
                </a:solidFill>
                <a:latin typeface="Times New Roman"/>
                <a:ea typeface="Times New Roman"/>
                <a:cs typeface="Times New Roman"/>
                <a:sym typeface="Times New Roman"/>
              </a:rPr>
              <a:t>Trazabilidad</a:t>
            </a:r>
            <a:endParaRPr b="0" i="0" sz="884" u="none" cap="none" strike="noStrike">
              <a:solidFill>
                <a:srgbClr val="000000"/>
              </a:solidFill>
              <a:latin typeface="Times New Roman"/>
              <a:ea typeface="Times New Roman"/>
              <a:cs typeface="Times New Roman"/>
              <a:sym typeface="Times New Roman"/>
            </a:endParaRPr>
          </a:p>
        </p:txBody>
      </p:sp>
      <p:grpSp>
        <p:nvGrpSpPr>
          <p:cNvPr id="782" name="Google Shape;782;p10"/>
          <p:cNvGrpSpPr/>
          <p:nvPr/>
        </p:nvGrpSpPr>
        <p:grpSpPr>
          <a:xfrm>
            <a:off x="2465462" y="3735450"/>
            <a:ext cx="4240472" cy="685800"/>
            <a:chOff x="2249309" y="5492495"/>
            <a:chExt cx="6235065" cy="1008380"/>
          </a:xfrm>
        </p:grpSpPr>
        <p:sp>
          <p:nvSpPr>
            <p:cNvPr id="783" name="Google Shape;783;p10"/>
            <p:cNvSpPr/>
            <p:nvPr/>
          </p:nvSpPr>
          <p:spPr>
            <a:xfrm>
              <a:off x="7508621" y="6172199"/>
              <a:ext cx="424180" cy="46990"/>
            </a:xfrm>
            <a:custGeom>
              <a:rect b="b" l="l" r="r" t="t"/>
              <a:pathLst>
                <a:path extrusionOk="0" h="46989" w="424179">
                  <a:moveTo>
                    <a:pt x="388620" y="29717"/>
                  </a:moveTo>
                  <a:lnTo>
                    <a:pt x="388620" y="18288"/>
                  </a:lnTo>
                  <a:lnTo>
                    <a:pt x="0" y="18288"/>
                  </a:lnTo>
                  <a:lnTo>
                    <a:pt x="0" y="29717"/>
                  </a:lnTo>
                  <a:lnTo>
                    <a:pt x="388620" y="29717"/>
                  </a:lnTo>
                  <a:close/>
                </a:path>
                <a:path extrusionOk="0" h="46989" w="424179">
                  <a:moveTo>
                    <a:pt x="423672" y="23621"/>
                  </a:moveTo>
                  <a:lnTo>
                    <a:pt x="375666" y="0"/>
                  </a:lnTo>
                  <a:lnTo>
                    <a:pt x="375666" y="18288"/>
                  </a:lnTo>
                  <a:lnTo>
                    <a:pt x="388620" y="18288"/>
                  </a:lnTo>
                  <a:lnTo>
                    <a:pt x="388620" y="40313"/>
                  </a:lnTo>
                  <a:lnTo>
                    <a:pt x="423672" y="23621"/>
                  </a:lnTo>
                  <a:close/>
                </a:path>
                <a:path extrusionOk="0" h="46989" w="424179">
                  <a:moveTo>
                    <a:pt x="388620" y="40313"/>
                  </a:moveTo>
                  <a:lnTo>
                    <a:pt x="388620" y="29717"/>
                  </a:lnTo>
                  <a:lnTo>
                    <a:pt x="375666" y="29717"/>
                  </a:lnTo>
                  <a:lnTo>
                    <a:pt x="375666" y="46481"/>
                  </a:lnTo>
                  <a:lnTo>
                    <a:pt x="388620" y="40313"/>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84" name="Google Shape;784;p10"/>
            <p:cNvSpPr/>
            <p:nvPr/>
          </p:nvSpPr>
          <p:spPr>
            <a:xfrm>
              <a:off x="7508621" y="6172199"/>
              <a:ext cx="424180" cy="46990"/>
            </a:xfrm>
            <a:custGeom>
              <a:rect b="b" l="l" r="r" t="t"/>
              <a:pathLst>
                <a:path extrusionOk="0" h="46989" w="424179">
                  <a:moveTo>
                    <a:pt x="0" y="29717"/>
                  </a:moveTo>
                  <a:lnTo>
                    <a:pt x="0" y="18288"/>
                  </a:lnTo>
                  <a:lnTo>
                    <a:pt x="388620" y="18288"/>
                  </a:lnTo>
                  <a:lnTo>
                    <a:pt x="388620" y="29717"/>
                  </a:lnTo>
                  <a:lnTo>
                    <a:pt x="0" y="29717"/>
                  </a:lnTo>
                  <a:close/>
                </a:path>
                <a:path extrusionOk="0" h="46989" w="424179">
                  <a:moveTo>
                    <a:pt x="375666" y="0"/>
                  </a:moveTo>
                  <a:lnTo>
                    <a:pt x="423672" y="23621"/>
                  </a:lnTo>
                  <a:lnTo>
                    <a:pt x="375666" y="46481"/>
                  </a:lnTo>
                  <a:lnTo>
                    <a:pt x="375666" y="0"/>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85" name="Google Shape;785;p10"/>
            <p:cNvSpPr/>
            <p:nvPr/>
          </p:nvSpPr>
          <p:spPr>
            <a:xfrm>
              <a:off x="7932305" y="5492495"/>
              <a:ext cx="424180" cy="845185"/>
            </a:xfrm>
            <a:custGeom>
              <a:rect b="b" l="l" r="r" t="t"/>
              <a:pathLst>
                <a:path extrusionOk="0" h="845185" w="424179">
                  <a:moveTo>
                    <a:pt x="423672" y="845058"/>
                  </a:moveTo>
                  <a:lnTo>
                    <a:pt x="423672" y="0"/>
                  </a:lnTo>
                  <a:lnTo>
                    <a:pt x="0" y="0"/>
                  </a:lnTo>
                  <a:lnTo>
                    <a:pt x="0" y="845058"/>
                  </a:lnTo>
                  <a:lnTo>
                    <a:pt x="423672" y="845058"/>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86" name="Google Shape;786;p10"/>
            <p:cNvSpPr/>
            <p:nvPr/>
          </p:nvSpPr>
          <p:spPr>
            <a:xfrm>
              <a:off x="7932305" y="5492495"/>
              <a:ext cx="424180" cy="845185"/>
            </a:xfrm>
            <a:custGeom>
              <a:rect b="b" l="l" r="r" t="t"/>
              <a:pathLst>
                <a:path extrusionOk="0" h="845185" w="424179">
                  <a:moveTo>
                    <a:pt x="0" y="0"/>
                  </a:moveTo>
                  <a:lnTo>
                    <a:pt x="0" y="845057"/>
                  </a:lnTo>
                  <a:lnTo>
                    <a:pt x="423672" y="845057"/>
                  </a:lnTo>
                  <a:lnTo>
                    <a:pt x="423672"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87" name="Google Shape;787;p10"/>
            <p:cNvSpPr/>
            <p:nvPr/>
          </p:nvSpPr>
          <p:spPr>
            <a:xfrm>
              <a:off x="5605437" y="5492495"/>
              <a:ext cx="143510" cy="344170"/>
            </a:xfrm>
            <a:custGeom>
              <a:rect b="b" l="l" r="r" t="t"/>
              <a:pathLst>
                <a:path extrusionOk="0" h="344170" w="143510">
                  <a:moveTo>
                    <a:pt x="126957" y="295912"/>
                  </a:moveTo>
                  <a:lnTo>
                    <a:pt x="13187" y="0"/>
                  </a:lnTo>
                  <a:lnTo>
                    <a:pt x="0" y="0"/>
                  </a:lnTo>
                  <a:lnTo>
                    <a:pt x="115514" y="300450"/>
                  </a:lnTo>
                  <a:lnTo>
                    <a:pt x="126957" y="295912"/>
                  </a:lnTo>
                  <a:close/>
                </a:path>
                <a:path extrusionOk="0" h="344170" w="143510">
                  <a:moveTo>
                    <a:pt x="131546" y="337331"/>
                  </a:moveTo>
                  <a:lnTo>
                    <a:pt x="131546" y="307848"/>
                  </a:lnTo>
                  <a:lnTo>
                    <a:pt x="120116" y="312420"/>
                  </a:lnTo>
                  <a:lnTo>
                    <a:pt x="115514" y="300450"/>
                  </a:lnTo>
                  <a:lnTo>
                    <a:pt x="98780" y="307086"/>
                  </a:lnTo>
                  <a:lnTo>
                    <a:pt x="131546" y="337331"/>
                  </a:lnTo>
                  <a:close/>
                </a:path>
                <a:path extrusionOk="0" h="344170" w="143510">
                  <a:moveTo>
                    <a:pt x="131546" y="307848"/>
                  </a:moveTo>
                  <a:lnTo>
                    <a:pt x="126957" y="295912"/>
                  </a:lnTo>
                  <a:lnTo>
                    <a:pt x="115514" y="300450"/>
                  </a:lnTo>
                  <a:lnTo>
                    <a:pt x="120116" y="312420"/>
                  </a:lnTo>
                  <a:lnTo>
                    <a:pt x="131546" y="307848"/>
                  </a:lnTo>
                  <a:close/>
                </a:path>
                <a:path extrusionOk="0" h="344170" w="143510">
                  <a:moveTo>
                    <a:pt x="142976" y="289560"/>
                  </a:moveTo>
                  <a:lnTo>
                    <a:pt x="126957" y="295912"/>
                  </a:lnTo>
                  <a:lnTo>
                    <a:pt x="131546" y="307848"/>
                  </a:lnTo>
                  <a:lnTo>
                    <a:pt x="131546" y="337331"/>
                  </a:lnTo>
                  <a:lnTo>
                    <a:pt x="138404" y="343662"/>
                  </a:lnTo>
                  <a:lnTo>
                    <a:pt x="142976" y="28956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88" name="Google Shape;788;p10"/>
            <p:cNvSpPr/>
            <p:nvPr/>
          </p:nvSpPr>
          <p:spPr>
            <a:xfrm>
              <a:off x="5605437" y="5492495"/>
              <a:ext cx="143510" cy="344170"/>
            </a:xfrm>
            <a:custGeom>
              <a:rect b="b" l="l" r="r" t="t"/>
              <a:pathLst>
                <a:path extrusionOk="0" h="344170" w="143510">
                  <a:moveTo>
                    <a:pt x="0" y="0"/>
                  </a:moveTo>
                  <a:lnTo>
                    <a:pt x="13187" y="0"/>
                  </a:lnTo>
                  <a:lnTo>
                    <a:pt x="131546" y="307848"/>
                  </a:lnTo>
                  <a:lnTo>
                    <a:pt x="120116" y="312420"/>
                  </a:lnTo>
                  <a:lnTo>
                    <a:pt x="0" y="0"/>
                  </a:lnTo>
                </a:path>
                <a:path extrusionOk="0" h="344170" w="143510">
                  <a:moveTo>
                    <a:pt x="142976" y="289560"/>
                  </a:moveTo>
                  <a:lnTo>
                    <a:pt x="138404" y="343662"/>
                  </a:lnTo>
                  <a:lnTo>
                    <a:pt x="98780" y="307086"/>
                  </a:lnTo>
                  <a:lnTo>
                    <a:pt x="142976" y="28956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89" name="Google Shape;789;p10"/>
            <p:cNvSpPr/>
            <p:nvPr/>
          </p:nvSpPr>
          <p:spPr>
            <a:xfrm>
              <a:off x="5515285" y="5492495"/>
              <a:ext cx="237490" cy="703580"/>
            </a:xfrm>
            <a:custGeom>
              <a:rect b="b" l="l" r="r" t="t"/>
              <a:pathLst>
                <a:path extrusionOk="0" h="703579" w="237489">
                  <a:moveTo>
                    <a:pt x="219604" y="656798"/>
                  </a:moveTo>
                  <a:lnTo>
                    <a:pt x="12553" y="0"/>
                  </a:lnTo>
                  <a:lnTo>
                    <a:pt x="0" y="0"/>
                  </a:lnTo>
                  <a:lnTo>
                    <a:pt x="208298" y="660247"/>
                  </a:lnTo>
                  <a:lnTo>
                    <a:pt x="219604" y="656798"/>
                  </a:lnTo>
                  <a:close/>
                </a:path>
                <a:path extrusionOk="0" h="703579" w="237489">
                  <a:moveTo>
                    <a:pt x="223222" y="697769"/>
                  </a:moveTo>
                  <a:lnTo>
                    <a:pt x="223222" y="668274"/>
                  </a:lnTo>
                  <a:lnTo>
                    <a:pt x="211792" y="671322"/>
                  </a:lnTo>
                  <a:lnTo>
                    <a:pt x="208298" y="660247"/>
                  </a:lnTo>
                  <a:lnTo>
                    <a:pt x="191980" y="665226"/>
                  </a:lnTo>
                  <a:lnTo>
                    <a:pt x="223222" y="697769"/>
                  </a:lnTo>
                  <a:close/>
                </a:path>
                <a:path extrusionOk="0" h="703579" w="237489">
                  <a:moveTo>
                    <a:pt x="223222" y="668274"/>
                  </a:moveTo>
                  <a:lnTo>
                    <a:pt x="219604" y="656798"/>
                  </a:lnTo>
                  <a:lnTo>
                    <a:pt x="208298" y="660247"/>
                  </a:lnTo>
                  <a:lnTo>
                    <a:pt x="211792" y="671322"/>
                  </a:lnTo>
                  <a:lnTo>
                    <a:pt x="223222" y="668274"/>
                  </a:lnTo>
                  <a:close/>
                </a:path>
                <a:path extrusionOk="0" h="703579" w="237489">
                  <a:moveTo>
                    <a:pt x="236938" y="651510"/>
                  </a:moveTo>
                  <a:lnTo>
                    <a:pt x="219604" y="656798"/>
                  </a:lnTo>
                  <a:lnTo>
                    <a:pt x="223222" y="668274"/>
                  </a:lnTo>
                  <a:lnTo>
                    <a:pt x="223222" y="697769"/>
                  </a:lnTo>
                  <a:lnTo>
                    <a:pt x="228556" y="703326"/>
                  </a:lnTo>
                  <a:lnTo>
                    <a:pt x="236938" y="65151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0" name="Google Shape;790;p10"/>
            <p:cNvSpPr/>
            <p:nvPr/>
          </p:nvSpPr>
          <p:spPr>
            <a:xfrm>
              <a:off x="5515285" y="5492495"/>
              <a:ext cx="237490" cy="703580"/>
            </a:xfrm>
            <a:custGeom>
              <a:rect b="b" l="l" r="r" t="t"/>
              <a:pathLst>
                <a:path extrusionOk="0" h="703579" w="237489">
                  <a:moveTo>
                    <a:pt x="0" y="0"/>
                  </a:moveTo>
                  <a:lnTo>
                    <a:pt x="12553" y="0"/>
                  </a:lnTo>
                  <a:lnTo>
                    <a:pt x="223222" y="668274"/>
                  </a:lnTo>
                  <a:lnTo>
                    <a:pt x="211792" y="671322"/>
                  </a:lnTo>
                  <a:lnTo>
                    <a:pt x="0" y="0"/>
                  </a:lnTo>
                </a:path>
                <a:path extrusionOk="0" h="703579" w="237489">
                  <a:moveTo>
                    <a:pt x="236938" y="651510"/>
                  </a:moveTo>
                  <a:lnTo>
                    <a:pt x="228556" y="703326"/>
                  </a:lnTo>
                  <a:lnTo>
                    <a:pt x="191980" y="665226"/>
                  </a:lnTo>
                  <a:lnTo>
                    <a:pt x="236938" y="65151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1" name="Google Shape;791;p10"/>
            <p:cNvSpPr/>
            <p:nvPr/>
          </p:nvSpPr>
          <p:spPr>
            <a:xfrm>
              <a:off x="5102999" y="5492495"/>
              <a:ext cx="181610" cy="387350"/>
            </a:xfrm>
            <a:custGeom>
              <a:rect b="b" l="l" r="r" t="t"/>
              <a:pathLst>
                <a:path extrusionOk="0" h="387350" w="181610">
                  <a:moveTo>
                    <a:pt x="181410" y="0"/>
                  </a:moveTo>
                  <a:lnTo>
                    <a:pt x="168216" y="0"/>
                  </a:lnTo>
                  <a:lnTo>
                    <a:pt x="0" y="383285"/>
                  </a:lnTo>
                  <a:lnTo>
                    <a:pt x="11429" y="387095"/>
                  </a:lnTo>
                  <a:lnTo>
                    <a:pt x="181410"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2" name="Google Shape;792;p10"/>
            <p:cNvSpPr/>
            <p:nvPr/>
          </p:nvSpPr>
          <p:spPr>
            <a:xfrm>
              <a:off x="5102999" y="5492495"/>
              <a:ext cx="181610" cy="387350"/>
            </a:xfrm>
            <a:custGeom>
              <a:rect b="b" l="l" r="r" t="t"/>
              <a:pathLst>
                <a:path extrusionOk="0" h="387350" w="181610">
                  <a:moveTo>
                    <a:pt x="0" y="383285"/>
                  </a:moveTo>
                  <a:lnTo>
                    <a:pt x="168216" y="0"/>
                  </a:lnTo>
                  <a:lnTo>
                    <a:pt x="181410" y="0"/>
                  </a:lnTo>
                  <a:lnTo>
                    <a:pt x="11429" y="387095"/>
                  </a:lnTo>
                  <a:lnTo>
                    <a:pt x="0" y="383285"/>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3" name="Google Shape;793;p10"/>
            <p:cNvSpPr/>
            <p:nvPr/>
          </p:nvSpPr>
          <p:spPr>
            <a:xfrm>
              <a:off x="5106047" y="5492495"/>
              <a:ext cx="628015" cy="390525"/>
            </a:xfrm>
            <a:custGeom>
              <a:rect b="b" l="l" r="r" t="t"/>
              <a:pathLst>
                <a:path extrusionOk="0" h="390525" w="628014">
                  <a:moveTo>
                    <a:pt x="600775" y="14154"/>
                  </a:moveTo>
                  <a:lnTo>
                    <a:pt x="594616" y="3822"/>
                  </a:lnTo>
                  <a:lnTo>
                    <a:pt x="0" y="380237"/>
                  </a:lnTo>
                  <a:lnTo>
                    <a:pt x="5334" y="390143"/>
                  </a:lnTo>
                  <a:lnTo>
                    <a:pt x="600775" y="14154"/>
                  </a:lnTo>
                  <a:close/>
                </a:path>
                <a:path extrusionOk="0" h="390525" w="628014">
                  <a:moveTo>
                    <a:pt x="600654" y="0"/>
                  </a:moveTo>
                  <a:lnTo>
                    <a:pt x="592337" y="0"/>
                  </a:lnTo>
                  <a:lnTo>
                    <a:pt x="594616" y="3822"/>
                  </a:lnTo>
                  <a:lnTo>
                    <a:pt x="600654" y="0"/>
                  </a:lnTo>
                  <a:close/>
                </a:path>
                <a:path extrusionOk="0" h="390525" w="628014">
                  <a:moveTo>
                    <a:pt x="611124" y="7619"/>
                  </a:moveTo>
                  <a:lnTo>
                    <a:pt x="605848" y="0"/>
                  </a:lnTo>
                  <a:lnTo>
                    <a:pt x="600654" y="0"/>
                  </a:lnTo>
                  <a:lnTo>
                    <a:pt x="594616" y="3822"/>
                  </a:lnTo>
                  <a:lnTo>
                    <a:pt x="600775" y="14154"/>
                  </a:lnTo>
                  <a:lnTo>
                    <a:pt x="611124" y="7619"/>
                  </a:lnTo>
                  <a:close/>
                </a:path>
                <a:path extrusionOk="0" h="390525" w="628014">
                  <a:moveTo>
                    <a:pt x="611124" y="26484"/>
                  </a:moveTo>
                  <a:lnTo>
                    <a:pt x="611124" y="7619"/>
                  </a:lnTo>
                  <a:lnTo>
                    <a:pt x="600775" y="14154"/>
                  </a:lnTo>
                  <a:lnTo>
                    <a:pt x="609600" y="28955"/>
                  </a:lnTo>
                  <a:lnTo>
                    <a:pt x="611124" y="26484"/>
                  </a:lnTo>
                  <a:close/>
                </a:path>
                <a:path extrusionOk="0" h="390525" w="628014">
                  <a:moveTo>
                    <a:pt x="627456" y="0"/>
                  </a:moveTo>
                  <a:lnTo>
                    <a:pt x="605848" y="0"/>
                  </a:lnTo>
                  <a:lnTo>
                    <a:pt x="611124" y="7619"/>
                  </a:lnTo>
                  <a:lnTo>
                    <a:pt x="611124" y="26484"/>
                  </a:lnTo>
                  <a:lnTo>
                    <a:pt x="627456" y="0"/>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4" name="Google Shape;794;p10"/>
            <p:cNvSpPr/>
            <p:nvPr/>
          </p:nvSpPr>
          <p:spPr>
            <a:xfrm>
              <a:off x="5106047" y="5492495"/>
              <a:ext cx="628015" cy="390525"/>
            </a:xfrm>
            <a:custGeom>
              <a:rect b="b" l="l" r="r" t="t"/>
              <a:pathLst>
                <a:path extrusionOk="0" h="390525" w="628014">
                  <a:moveTo>
                    <a:pt x="0" y="380237"/>
                  </a:moveTo>
                  <a:lnTo>
                    <a:pt x="600654" y="0"/>
                  </a:lnTo>
                  <a:lnTo>
                    <a:pt x="605848" y="0"/>
                  </a:lnTo>
                  <a:lnTo>
                    <a:pt x="611124" y="7619"/>
                  </a:lnTo>
                  <a:lnTo>
                    <a:pt x="5334" y="390143"/>
                  </a:lnTo>
                  <a:lnTo>
                    <a:pt x="0" y="380237"/>
                  </a:lnTo>
                </a:path>
                <a:path extrusionOk="0" h="390525" w="628014">
                  <a:moveTo>
                    <a:pt x="592337" y="0"/>
                  </a:moveTo>
                  <a:lnTo>
                    <a:pt x="627456" y="0"/>
                  </a:lnTo>
                  <a:lnTo>
                    <a:pt x="609600" y="28955"/>
                  </a:lnTo>
                  <a:lnTo>
                    <a:pt x="592337" y="0"/>
                  </a:lnTo>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5" name="Google Shape;795;p10"/>
            <p:cNvSpPr/>
            <p:nvPr/>
          </p:nvSpPr>
          <p:spPr>
            <a:xfrm>
              <a:off x="5106047" y="5872733"/>
              <a:ext cx="638175" cy="323215"/>
            </a:xfrm>
            <a:custGeom>
              <a:rect b="b" l="l" r="r" t="t"/>
              <a:pathLst>
                <a:path extrusionOk="0" h="323214" w="638175">
                  <a:moveTo>
                    <a:pt x="597907" y="296661"/>
                  </a:moveTo>
                  <a:lnTo>
                    <a:pt x="5334" y="0"/>
                  </a:lnTo>
                  <a:lnTo>
                    <a:pt x="0" y="9906"/>
                  </a:lnTo>
                  <a:lnTo>
                    <a:pt x="593109" y="306086"/>
                  </a:lnTo>
                  <a:lnTo>
                    <a:pt x="597907" y="296661"/>
                  </a:lnTo>
                  <a:close/>
                </a:path>
                <a:path extrusionOk="0" h="323214" w="638175">
                  <a:moveTo>
                    <a:pt x="608076" y="323088"/>
                  </a:moveTo>
                  <a:lnTo>
                    <a:pt x="608076" y="301752"/>
                  </a:lnTo>
                  <a:lnTo>
                    <a:pt x="604266" y="311657"/>
                  </a:lnTo>
                  <a:lnTo>
                    <a:pt x="593109" y="306086"/>
                  </a:lnTo>
                  <a:lnTo>
                    <a:pt x="584454" y="323088"/>
                  </a:lnTo>
                  <a:lnTo>
                    <a:pt x="608076" y="323088"/>
                  </a:lnTo>
                  <a:close/>
                </a:path>
                <a:path extrusionOk="0" h="323214" w="638175">
                  <a:moveTo>
                    <a:pt x="608076" y="301752"/>
                  </a:moveTo>
                  <a:lnTo>
                    <a:pt x="597907" y="296661"/>
                  </a:lnTo>
                  <a:lnTo>
                    <a:pt x="593109" y="306086"/>
                  </a:lnTo>
                  <a:lnTo>
                    <a:pt x="604266" y="311657"/>
                  </a:lnTo>
                  <a:lnTo>
                    <a:pt x="608076" y="301752"/>
                  </a:lnTo>
                  <a:close/>
                </a:path>
                <a:path extrusionOk="0" h="323214" w="638175">
                  <a:moveTo>
                    <a:pt x="637794" y="323088"/>
                  </a:moveTo>
                  <a:lnTo>
                    <a:pt x="605790" y="281177"/>
                  </a:lnTo>
                  <a:lnTo>
                    <a:pt x="597907" y="296661"/>
                  </a:lnTo>
                  <a:lnTo>
                    <a:pt x="608076" y="301752"/>
                  </a:lnTo>
                  <a:lnTo>
                    <a:pt x="608076" y="323088"/>
                  </a:lnTo>
                  <a:lnTo>
                    <a:pt x="637794" y="323088"/>
                  </a:lnTo>
                  <a:close/>
                </a:path>
              </a:pathLst>
            </a:custGeom>
            <a:solidFill>
              <a:srgbClr val="081D5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6" name="Google Shape;796;p10"/>
            <p:cNvSpPr/>
            <p:nvPr/>
          </p:nvSpPr>
          <p:spPr>
            <a:xfrm>
              <a:off x="5106047" y="5872733"/>
              <a:ext cx="638175" cy="323215"/>
            </a:xfrm>
            <a:custGeom>
              <a:rect b="b" l="l" r="r" t="t"/>
              <a:pathLst>
                <a:path extrusionOk="0" h="323214" w="638175">
                  <a:moveTo>
                    <a:pt x="5334" y="0"/>
                  </a:moveTo>
                  <a:lnTo>
                    <a:pt x="608076" y="301752"/>
                  </a:lnTo>
                  <a:lnTo>
                    <a:pt x="604266" y="311657"/>
                  </a:lnTo>
                  <a:lnTo>
                    <a:pt x="0" y="9906"/>
                  </a:lnTo>
                  <a:lnTo>
                    <a:pt x="5334" y="0"/>
                  </a:lnTo>
                  <a:close/>
                </a:path>
                <a:path extrusionOk="0" h="323214" w="638175">
                  <a:moveTo>
                    <a:pt x="605790" y="281177"/>
                  </a:moveTo>
                  <a:lnTo>
                    <a:pt x="637794" y="323088"/>
                  </a:lnTo>
                  <a:lnTo>
                    <a:pt x="584454" y="323088"/>
                  </a:lnTo>
                  <a:lnTo>
                    <a:pt x="605790" y="281177"/>
                  </a:lnTo>
                  <a:close/>
                </a:path>
              </a:pathLst>
            </a:custGeom>
            <a:noFill/>
            <a:ln cap="flat" cmpd="sng" w="952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7" name="Google Shape;797;p10"/>
            <p:cNvSpPr/>
            <p:nvPr/>
          </p:nvSpPr>
          <p:spPr>
            <a:xfrm>
              <a:off x="2272169" y="6349745"/>
              <a:ext cx="6212205" cy="151130"/>
            </a:xfrm>
            <a:custGeom>
              <a:rect b="b" l="l" r="r" t="t"/>
              <a:pathLst>
                <a:path extrusionOk="0" h="151129" w="6212205">
                  <a:moveTo>
                    <a:pt x="6211824" y="150875"/>
                  </a:moveTo>
                  <a:lnTo>
                    <a:pt x="6211824" y="0"/>
                  </a:lnTo>
                  <a:lnTo>
                    <a:pt x="0" y="0"/>
                  </a:lnTo>
                  <a:lnTo>
                    <a:pt x="0" y="150876"/>
                  </a:lnTo>
                  <a:lnTo>
                    <a:pt x="6211824" y="150875"/>
                  </a:lnTo>
                  <a:close/>
                </a:path>
              </a:pathLst>
            </a:custGeom>
            <a:solidFill>
              <a:srgbClr val="CECEC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8" name="Google Shape;798;p10"/>
            <p:cNvSpPr/>
            <p:nvPr/>
          </p:nvSpPr>
          <p:spPr>
            <a:xfrm>
              <a:off x="2249309" y="6349745"/>
              <a:ext cx="6212840" cy="128905"/>
            </a:xfrm>
            <a:custGeom>
              <a:rect b="b" l="l" r="r" t="t"/>
              <a:pathLst>
                <a:path extrusionOk="0" h="128904" w="6212840">
                  <a:moveTo>
                    <a:pt x="6212585" y="128777"/>
                  </a:moveTo>
                  <a:lnTo>
                    <a:pt x="6212585" y="0"/>
                  </a:lnTo>
                  <a:lnTo>
                    <a:pt x="0" y="0"/>
                  </a:lnTo>
                  <a:lnTo>
                    <a:pt x="0" y="128778"/>
                  </a:lnTo>
                  <a:lnTo>
                    <a:pt x="6212585" y="128777"/>
                  </a:lnTo>
                  <a:close/>
                </a:path>
              </a:pathLst>
            </a:custGeom>
            <a:solidFill>
              <a:srgbClr val="FCFD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799" name="Google Shape;799;p10"/>
            <p:cNvSpPr/>
            <p:nvPr/>
          </p:nvSpPr>
          <p:spPr>
            <a:xfrm>
              <a:off x="2249309" y="6349745"/>
              <a:ext cx="6212840" cy="128905"/>
            </a:xfrm>
            <a:custGeom>
              <a:rect b="b" l="l" r="r" t="t"/>
              <a:pathLst>
                <a:path extrusionOk="0" h="128904" w="6212840">
                  <a:moveTo>
                    <a:pt x="0" y="0"/>
                  </a:moveTo>
                  <a:lnTo>
                    <a:pt x="0" y="128778"/>
                  </a:lnTo>
                  <a:lnTo>
                    <a:pt x="6212585" y="128777"/>
                  </a:lnTo>
                  <a:lnTo>
                    <a:pt x="6212585" y="0"/>
                  </a:lnTo>
                </a:path>
              </a:pathLst>
            </a:custGeom>
            <a:noFill/>
            <a:ln cap="flat" cmpd="sng" w="11275">
              <a:solidFill>
                <a:srgbClr val="081D5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800" name="Google Shape;800;p10"/>
          <p:cNvSpPr txBox="1"/>
          <p:nvPr/>
        </p:nvSpPr>
        <p:spPr>
          <a:xfrm>
            <a:off x="3747749" y="4489657"/>
            <a:ext cx="1680383"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104"/>
                </a:solidFill>
                <a:latin typeface="Arial"/>
                <a:ea typeface="Arial"/>
                <a:cs typeface="Arial"/>
                <a:sym typeface="Arial"/>
              </a:rPr>
              <a:t>Modelo de calidad del software</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1"/>
          <p:cNvSpPr txBox="1"/>
          <p:nvPr>
            <p:ph idx="4294967295" type="title"/>
          </p:nvPr>
        </p:nvSpPr>
        <p:spPr>
          <a:xfrm>
            <a:off x="893135" y="6640"/>
            <a:ext cx="7549116" cy="944875"/>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Alcance de las métricas del software (V)</a:t>
            </a:r>
            <a:endParaRPr/>
          </a:p>
        </p:txBody>
      </p:sp>
      <p:sp>
        <p:nvSpPr>
          <p:cNvPr id="806" name="Google Shape;806;p11"/>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07" name="Google Shape;807;p11"/>
          <p:cNvSpPr/>
          <p:nvPr/>
        </p:nvSpPr>
        <p:spPr>
          <a:xfrm>
            <a:off x="1462674" y="1985892"/>
            <a:ext cx="6218841" cy="1166896"/>
          </a:xfrm>
          <a:custGeom>
            <a:rect b="b" l="l" r="r" t="t"/>
            <a:pathLst>
              <a:path extrusionOk="0" h="1715770" w="9144000">
                <a:moveTo>
                  <a:pt x="9144000" y="0"/>
                </a:moveTo>
                <a:lnTo>
                  <a:pt x="0" y="0"/>
                </a:lnTo>
                <a:lnTo>
                  <a:pt x="0" y="857250"/>
                </a:lnTo>
                <a:lnTo>
                  <a:pt x="0" y="858012"/>
                </a:lnTo>
                <a:lnTo>
                  <a:pt x="0" y="1715262"/>
                </a:lnTo>
                <a:lnTo>
                  <a:pt x="9144000" y="1715262"/>
                </a:lnTo>
                <a:lnTo>
                  <a:pt x="9144000" y="858012"/>
                </a:lnTo>
                <a:lnTo>
                  <a:pt x="9144000" y="857250"/>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08" name="Google Shape;808;p11"/>
          <p:cNvSpPr txBox="1"/>
          <p:nvPr/>
        </p:nvSpPr>
        <p:spPr>
          <a:xfrm>
            <a:off x="1834937" y="1027366"/>
            <a:ext cx="5514471" cy="3542223"/>
          </a:xfrm>
          <a:prstGeom prst="rect">
            <a:avLst/>
          </a:prstGeom>
          <a:noFill/>
          <a:ln>
            <a:noFill/>
          </a:ln>
        </p:spPr>
        <p:txBody>
          <a:bodyPr anchorCtr="0" anchor="t" bIns="0" lIns="0" spcFirstLastPara="1" rIns="0" wrap="square" tIns="63900">
            <a:spAutoFit/>
          </a:bodyPr>
          <a:lstStyle/>
          <a:p>
            <a:pPr indent="-232774" lvl="0" marL="241412" marR="0" rtl="0" algn="l">
              <a:lnSpc>
                <a:spcPct val="100000"/>
              </a:lnSpc>
              <a:spcBef>
                <a:spcPts val="0"/>
              </a:spcBef>
              <a:spcAft>
                <a:spcPts val="0"/>
              </a:spcAft>
              <a:buClr>
                <a:srgbClr val="00007C"/>
              </a:buClr>
              <a:buSzPts val="1224"/>
              <a:buFont typeface="Noto Sans Symbols"/>
              <a:buChar char="■"/>
            </a:pPr>
            <a:r>
              <a:rPr b="1" i="0" lang="en-US" sz="1632" u="none" cap="none" strike="noStrike">
                <a:solidFill>
                  <a:srgbClr val="3333CC"/>
                </a:solidFill>
                <a:latin typeface="Arial"/>
                <a:ea typeface="Arial"/>
                <a:cs typeface="Arial"/>
                <a:sym typeface="Arial"/>
              </a:rPr>
              <a:t>Modelos de fiabilidad</a:t>
            </a:r>
            <a:endParaRPr b="0" i="0" sz="1632" u="none" cap="none" strike="noStrike">
              <a:solidFill>
                <a:srgbClr val="000000"/>
              </a:solidFill>
              <a:latin typeface="Arial"/>
              <a:ea typeface="Arial"/>
              <a:cs typeface="Arial"/>
              <a:sym typeface="Arial"/>
            </a:endParaRPr>
          </a:p>
          <a:p>
            <a:pPr indent="-193907" lvl="1" marL="513054" marR="0" rtl="0" algn="l">
              <a:lnSpc>
                <a:spcPct val="100000"/>
              </a:lnSpc>
              <a:spcBef>
                <a:spcPts val="360"/>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Están incluidos en la mayoría de los modelos de calidad</a:t>
            </a:r>
            <a:endParaRPr b="0" i="0" sz="1360" u="none" cap="none" strike="noStrike">
              <a:solidFill>
                <a:srgbClr val="000000"/>
              </a:solidFill>
              <a:latin typeface="Arial"/>
              <a:ea typeface="Arial"/>
              <a:cs typeface="Arial"/>
              <a:sym typeface="Arial"/>
            </a:endParaRPr>
          </a:p>
          <a:p>
            <a:pPr indent="-194339" lvl="1" marL="513918" marR="3455" rtl="0" algn="l">
              <a:lnSpc>
                <a:spcPct val="110000"/>
              </a:lnSpc>
              <a:spcBef>
                <a:spcPts val="163"/>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La especialización de los modelos de fiabilidad permite aumentar el entendimiento y control de los productos</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357"/>
              </a:spcBef>
              <a:spcAft>
                <a:spcPts val="0"/>
              </a:spcAft>
              <a:buClr>
                <a:srgbClr val="00007C"/>
              </a:buClr>
              <a:buSzPts val="1224"/>
              <a:buFont typeface="Noto Sans Symbols"/>
              <a:buChar char="■"/>
            </a:pPr>
            <a:r>
              <a:rPr b="1" i="0" lang="en-US" sz="1632" u="none" cap="none" strike="noStrike">
                <a:solidFill>
                  <a:srgbClr val="3333CC"/>
                </a:solidFill>
                <a:latin typeface="Arial"/>
                <a:ea typeface="Arial"/>
                <a:cs typeface="Arial"/>
                <a:sym typeface="Arial"/>
              </a:rPr>
              <a:t>Evaluación del rendimiento</a:t>
            </a:r>
            <a:endParaRPr b="0" i="0" sz="1632" u="none" cap="none" strike="noStrike">
              <a:solidFill>
                <a:srgbClr val="000000"/>
              </a:solidFill>
              <a:latin typeface="Arial"/>
              <a:ea typeface="Arial"/>
              <a:cs typeface="Arial"/>
              <a:sym typeface="Arial"/>
            </a:endParaRPr>
          </a:p>
          <a:p>
            <a:pPr indent="-194339" lvl="1" marL="513918" marR="8205" rtl="0" algn="l">
              <a:lnSpc>
                <a:spcPct val="110000"/>
              </a:lnSpc>
              <a:spcBef>
                <a:spcPts val="201"/>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Aunque es otro aspecto de la calidad, la valoración del rendimiento incluye características observables como tiempos de respuesta y características internas como eficiencia de los algoritmos</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354"/>
              </a:spcBef>
              <a:spcAft>
                <a:spcPts val="0"/>
              </a:spcAft>
              <a:buClr>
                <a:srgbClr val="00007C"/>
              </a:buClr>
              <a:buSzPts val="1224"/>
              <a:buFont typeface="Noto Sans Symbols"/>
              <a:buChar char="■"/>
            </a:pPr>
            <a:r>
              <a:rPr b="1" i="0" lang="en-US" sz="1632" u="none" cap="none" strike="noStrike">
                <a:solidFill>
                  <a:srgbClr val="3333CC"/>
                </a:solidFill>
                <a:latin typeface="Arial"/>
                <a:ea typeface="Arial"/>
                <a:cs typeface="Arial"/>
                <a:sym typeface="Arial"/>
              </a:rPr>
              <a:t>Métricas estructurales y de complejidad</a:t>
            </a:r>
            <a:endParaRPr b="0" i="0" sz="1632" u="none" cap="none" strike="noStrike">
              <a:solidFill>
                <a:srgbClr val="000000"/>
              </a:solidFill>
              <a:latin typeface="Arial"/>
              <a:ea typeface="Arial"/>
              <a:cs typeface="Arial"/>
              <a:sym typeface="Arial"/>
            </a:endParaRPr>
          </a:p>
          <a:p>
            <a:pPr indent="-194339" lvl="1" marL="513918" marR="91987" rtl="0" algn="l">
              <a:lnSpc>
                <a:spcPct val="110000"/>
              </a:lnSpc>
              <a:spcBef>
                <a:spcPts val="201"/>
              </a:spcBef>
              <a:spcAft>
                <a:spcPts val="0"/>
              </a:spcAft>
              <a:buClr>
                <a:srgbClr val="9A9ACC"/>
              </a:buClr>
              <a:buSzPts val="1088"/>
              <a:buFont typeface="Noto Sans Symbols"/>
              <a:buChar char="◻"/>
            </a:pPr>
            <a:r>
              <a:rPr b="0" i="0" lang="en-US" sz="1360" u="none" cap="none" strike="noStrike">
                <a:solidFill>
                  <a:srgbClr val="000000"/>
                </a:solidFill>
                <a:latin typeface="Arial"/>
                <a:ea typeface="Arial"/>
                <a:cs typeface="Arial"/>
                <a:sym typeface="Arial"/>
              </a:rPr>
              <a:t>Para realizar predicciones sobre	atributos de calidad (fiabilidad, facilidad de mantenimiento ...) se pueden medir atributos estructurales sobre representaciones del software que están disponibles antes que el código</a:t>
            </a:r>
            <a:endParaRPr b="0" i="0" sz="136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2"/>
          <p:cNvSpPr txBox="1"/>
          <p:nvPr>
            <p:ph idx="4294967295" type="title"/>
          </p:nvPr>
        </p:nvSpPr>
        <p:spPr>
          <a:xfrm>
            <a:off x="1122996" y="228483"/>
            <a:ext cx="6889898" cy="1070466"/>
          </a:xfrm>
          <a:prstGeom prst="rect">
            <a:avLst/>
          </a:prstGeom>
          <a:noFill/>
          <a:ln>
            <a:noFill/>
          </a:ln>
        </p:spPr>
        <p:txBody>
          <a:bodyPr anchorCtr="0" anchor="t" bIns="0" lIns="0" spcFirstLastPara="1" rIns="0" wrap="square" tIns="133000">
            <a:spAutoFit/>
          </a:bodyPr>
          <a:lstStyle/>
          <a:p>
            <a:pPr indent="0" lvl="0" marL="8637" rtl="0" algn="ctr">
              <a:lnSpc>
                <a:spcPct val="100000"/>
              </a:lnSpc>
              <a:spcBef>
                <a:spcPts val="68"/>
              </a:spcBef>
              <a:spcAft>
                <a:spcPts val="0"/>
              </a:spcAft>
              <a:buSzPts val="3000"/>
              <a:buNone/>
            </a:pPr>
            <a:r>
              <a:rPr lang="en-US">
                <a:solidFill>
                  <a:srgbClr val="FF0000"/>
                </a:solidFill>
              </a:rPr>
              <a:t>Clasificación de las métricas del software (II)</a:t>
            </a:r>
            <a:endParaRPr/>
          </a:p>
        </p:txBody>
      </p:sp>
      <p:sp>
        <p:nvSpPr>
          <p:cNvPr id="814" name="Google Shape;814;p12"/>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15" name="Google Shape;815;p12"/>
          <p:cNvSpPr/>
          <p:nvPr/>
        </p:nvSpPr>
        <p:spPr>
          <a:xfrm>
            <a:off x="3170783" y="1737138"/>
            <a:ext cx="4199877" cy="196498"/>
          </a:xfrm>
          <a:custGeom>
            <a:rect b="b" l="l" r="r" t="t"/>
            <a:pathLst>
              <a:path extrusionOk="0" h="288925" w="6175375">
                <a:moveTo>
                  <a:pt x="6175248" y="0"/>
                </a:moveTo>
                <a:lnTo>
                  <a:pt x="51054" y="0"/>
                </a:lnTo>
                <a:lnTo>
                  <a:pt x="0" y="0"/>
                </a:lnTo>
                <a:lnTo>
                  <a:pt x="0" y="288798"/>
                </a:lnTo>
                <a:lnTo>
                  <a:pt x="51054" y="288798"/>
                </a:lnTo>
                <a:lnTo>
                  <a:pt x="6175248" y="288798"/>
                </a:lnTo>
                <a:lnTo>
                  <a:pt x="6175248"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16" name="Google Shape;816;p12"/>
          <p:cNvSpPr txBox="1"/>
          <p:nvPr/>
        </p:nvSpPr>
        <p:spPr>
          <a:xfrm>
            <a:off x="4731880" y="1716475"/>
            <a:ext cx="1058930" cy="214933"/>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1326" u="none" cap="none" strike="noStrike">
                <a:solidFill>
                  <a:srgbClr val="FF0000"/>
                </a:solidFill>
                <a:latin typeface="Arial"/>
                <a:ea typeface="Arial"/>
                <a:cs typeface="Arial"/>
                <a:sym typeface="Arial"/>
              </a:rPr>
              <a:t>ATRIBUTOS</a:t>
            </a:r>
            <a:endParaRPr b="0" i="0" sz="1326" u="none" cap="none" strike="noStrike">
              <a:solidFill>
                <a:srgbClr val="000000"/>
              </a:solidFill>
              <a:latin typeface="Arial"/>
              <a:ea typeface="Arial"/>
              <a:cs typeface="Arial"/>
              <a:sym typeface="Arial"/>
            </a:endParaRPr>
          </a:p>
        </p:txBody>
      </p:sp>
      <p:sp>
        <p:nvSpPr>
          <p:cNvPr id="817" name="Google Shape;817;p12"/>
          <p:cNvSpPr/>
          <p:nvPr/>
        </p:nvSpPr>
        <p:spPr>
          <a:xfrm>
            <a:off x="1732675" y="1737138"/>
            <a:ext cx="1405285" cy="249617"/>
          </a:xfrm>
          <a:custGeom>
            <a:rect b="b" l="l" r="r" t="t"/>
            <a:pathLst>
              <a:path extrusionOk="0" h="367030" w="2066289">
                <a:moveTo>
                  <a:pt x="2065782" y="0"/>
                </a:moveTo>
                <a:lnTo>
                  <a:pt x="2013966" y="0"/>
                </a:lnTo>
                <a:lnTo>
                  <a:pt x="76200" y="0"/>
                </a:lnTo>
                <a:lnTo>
                  <a:pt x="0" y="0"/>
                </a:lnTo>
                <a:lnTo>
                  <a:pt x="0" y="288798"/>
                </a:lnTo>
                <a:lnTo>
                  <a:pt x="0" y="366522"/>
                </a:lnTo>
                <a:lnTo>
                  <a:pt x="2065769" y="366522"/>
                </a:lnTo>
                <a:lnTo>
                  <a:pt x="2065769" y="288798"/>
                </a:lnTo>
                <a:lnTo>
                  <a:pt x="2065782"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18" name="Google Shape;818;p12"/>
          <p:cNvSpPr txBox="1"/>
          <p:nvPr/>
        </p:nvSpPr>
        <p:spPr>
          <a:xfrm>
            <a:off x="1919409" y="1716475"/>
            <a:ext cx="1047702" cy="214933"/>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1326" u="none" cap="none" strike="noStrike">
                <a:solidFill>
                  <a:srgbClr val="FF0000"/>
                </a:solidFill>
                <a:latin typeface="Arial"/>
                <a:ea typeface="Arial"/>
                <a:cs typeface="Arial"/>
                <a:sym typeface="Arial"/>
              </a:rPr>
              <a:t>ENTIDADES</a:t>
            </a:r>
            <a:endParaRPr b="0" i="0" sz="1326" u="none" cap="none" strike="noStrike">
              <a:solidFill>
                <a:srgbClr val="000000"/>
              </a:solidFill>
              <a:latin typeface="Arial"/>
              <a:ea typeface="Arial"/>
              <a:cs typeface="Arial"/>
              <a:sym typeface="Arial"/>
            </a:endParaRPr>
          </a:p>
        </p:txBody>
      </p:sp>
      <p:sp>
        <p:nvSpPr>
          <p:cNvPr id="819" name="Google Shape;819;p12"/>
          <p:cNvSpPr/>
          <p:nvPr/>
        </p:nvSpPr>
        <p:spPr>
          <a:xfrm>
            <a:off x="3170783" y="1964644"/>
            <a:ext cx="2074675" cy="197794"/>
          </a:xfrm>
          <a:custGeom>
            <a:rect b="b" l="l" r="r" t="t"/>
            <a:pathLst>
              <a:path extrusionOk="0" h="290830" w="3050540">
                <a:moveTo>
                  <a:pt x="3050286" y="0"/>
                </a:moveTo>
                <a:lnTo>
                  <a:pt x="0" y="0"/>
                </a:lnTo>
                <a:lnTo>
                  <a:pt x="0" y="1524"/>
                </a:lnTo>
                <a:lnTo>
                  <a:pt x="0" y="32004"/>
                </a:lnTo>
                <a:lnTo>
                  <a:pt x="0" y="288798"/>
                </a:lnTo>
                <a:lnTo>
                  <a:pt x="51054" y="288798"/>
                </a:lnTo>
                <a:lnTo>
                  <a:pt x="51054" y="290322"/>
                </a:lnTo>
                <a:lnTo>
                  <a:pt x="2997708" y="290322"/>
                </a:lnTo>
                <a:lnTo>
                  <a:pt x="2997708" y="288798"/>
                </a:lnTo>
                <a:lnTo>
                  <a:pt x="3050273" y="288798"/>
                </a:lnTo>
                <a:lnTo>
                  <a:pt x="3050273" y="32004"/>
                </a:lnTo>
                <a:lnTo>
                  <a:pt x="3050286" y="1524"/>
                </a:lnTo>
                <a:lnTo>
                  <a:pt x="3050286"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20" name="Google Shape;820;p12"/>
          <p:cNvSpPr/>
          <p:nvPr/>
        </p:nvSpPr>
        <p:spPr>
          <a:xfrm>
            <a:off x="5278443" y="1964644"/>
            <a:ext cx="2092381" cy="197794"/>
          </a:xfrm>
          <a:custGeom>
            <a:rect b="b" l="l" r="r" t="t"/>
            <a:pathLst>
              <a:path extrusionOk="0" h="290830" w="3076575">
                <a:moveTo>
                  <a:pt x="3076206" y="1524"/>
                </a:moveTo>
                <a:lnTo>
                  <a:pt x="3076194" y="0"/>
                </a:lnTo>
                <a:lnTo>
                  <a:pt x="0" y="0"/>
                </a:lnTo>
                <a:lnTo>
                  <a:pt x="0" y="1524"/>
                </a:lnTo>
                <a:lnTo>
                  <a:pt x="0" y="32004"/>
                </a:lnTo>
                <a:lnTo>
                  <a:pt x="0" y="288798"/>
                </a:lnTo>
                <a:lnTo>
                  <a:pt x="52578" y="288798"/>
                </a:lnTo>
                <a:lnTo>
                  <a:pt x="52578" y="32004"/>
                </a:lnTo>
                <a:lnTo>
                  <a:pt x="52578" y="1524"/>
                </a:lnTo>
                <a:lnTo>
                  <a:pt x="52590" y="32004"/>
                </a:lnTo>
                <a:lnTo>
                  <a:pt x="52590" y="290322"/>
                </a:lnTo>
                <a:lnTo>
                  <a:pt x="2999244" y="290322"/>
                </a:lnTo>
                <a:lnTo>
                  <a:pt x="2999244" y="288798"/>
                </a:lnTo>
                <a:lnTo>
                  <a:pt x="3076206" y="288798"/>
                </a:lnTo>
                <a:lnTo>
                  <a:pt x="3076206" y="32004"/>
                </a:lnTo>
                <a:lnTo>
                  <a:pt x="3076206" y="1524"/>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21" name="Google Shape;821;p12"/>
          <p:cNvSpPr/>
          <p:nvPr/>
        </p:nvSpPr>
        <p:spPr>
          <a:xfrm>
            <a:off x="1732675" y="1986401"/>
            <a:ext cx="1405285" cy="174905"/>
          </a:xfrm>
          <a:custGeom>
            <a:rect b="b" l="l" r="r" t="t"/>
            <a:pathLst>
              <a:path extrusionOk="0" h="257175" w="2066289">
                <a:moveTo>
                  <a:pt x="2065782" y="256794"/>
                </a:moveTo>
                <a:lnTo>
                  <a:pt x="2065781" y="0"/>
                </a:lnTo>
                <a:lnTo>
                  <a:pt x="0" y="0"/>
                </a:lnTo>
                <a:lnTo>
                  <a:pt x="0" y="256794"/>
                </a:lnTo>
                <a:lnTo>
                  <a:pt x="2065782" y="256794"/>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22" name="Google Shape;822;p12"/>
          <p:cNvSpPr txBox="1"/>
          <p:nvPr/>
        </p:nvSpPr>
        <p:spPr>
          <a:xfrm>
            <a:off x="3846732" y="1945017"/>
            <a:ext cx="721213" cy="214933"/>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1326" u="none" cap="none" strike="noStrike">
                <a:solidFill>
                  <a:srgbClr val="800000"/>
                </a:solidFill>
                <a:latin typeface="Arial"/>
                <a:ea typeface="Arial"/>
                <a:cs typeface="Arial"/>
                <a:sym typeface="Arial"/>
              </a:rPr>
              <a:t>Internos</a:t>
            </a:r>
            <a:endParaRPr b="0" i="0" sz="1326" u="none" cap="none" strike="noStrike">
              <a:solidFill>
                <a:srgbClr val="000000"/>
              </a:solidFill>
              <a:latin typeface="Arial"/>
              <a:ea typeface="Arial"/>
              <a:cs typeface="Arial"/>
              <a:sym typeface="Arial"/>
            </a:endParaRPr>
          </a:p>
        </p:txBody>
      </p:sp>
      <p:sp>
        <p:nvSpPr>
          <p:cNvPr id="823" name="Google Shape;823;p12"/>
          <p:cNvSpPr txBox="1"/>
          <p:nvPr/>
        </p:nvSpPr>
        <p:spPr>
          <a:xfrm>
            <a:off x="5925380" y="1945017"/>
            <a:ext cx="780378" cy="214933"/>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1326" u="none" cap="none" strike="noStrike">
                <a:solidFill>
                  <a:srgbClr val="800000"/>
                </a:solidFill>
                <a:latin typeface="Arial"/>
                <a:ea typeface="Arial"/>
                <a:cs typeface="Arial"/>
                <a:sym typeface="Arial"/>
              </a:rPr>
              <a:t>Externos</a:t>
            </a:r>
            <a:endParaRPr b="0" i="0" sz="1326" u="none" cap="none" strike="noStrike">
              <a:solidFill>
                <a:srgbClr val="000000"/>
              </a:solidFill>
              <a:latin typeface="Arial"/>
              <a:ea typeface="Arial"/>
              <a:cs typeface="Arial"/>
              <a:sym typeface="Arial"/>
            </a:endParaRPr>
          </a:p>
        </p:txBody>
      </p:sp>
      <p:sp>
        <p:nvSpPr>
          <p:cNvPr id="824" name="Google Shape;824;p12"/>
          <p:cNvSpPr/>
          <p:nvPr/>
        </p:nvSpPr>
        <p:spPr>
          <a:xfrm>
            <a:off x="1732675" y="2192668"/>
            <a:ext cx="1405285" cy="524715"/>
          </a:xfrm>
          <a:custGeom>
            <a:rect b="b" l="l" r="r" t="t"/>
            <a:pathLst>
              <a:path extrusionOk="0" h="771525" w="2066289">
                <a:moveTo>
                  <a:pt x="2065782" y="0"/>
                </a:moveTo>
                <a:lnTo>
                  <a:pt x="0" y="0"/>
                </a:lnTo>
                <a:lnTo>
                  <a:pt x="0" y="1524"/>
                </a:lnTo>
                <a:lnTo>
                  <a:pt x="0" y="553974"/>
                </a:lnTo>
                <a:lnTo>
                  <a:pt x="0" y="770382"/>
                </a:lnTo>
                <a:lnTo>
                  <a:pt x="76200" y="770382"/>
                </a:lnTo>
                <a:lnTo>
                  <a:pt x="76200" y="771144"/>
                </a:lnTo>
                <a:lnTo>
                  <a:pt x="2013966" y="771144"/>
                </a:lnTo>
                <a:lnTo>
                  <a:pt x="2013966" y="770382"/>
                </a:lnTo>
                <a:lnTo>
                  <a:pt x="2065782" y="770382"/>
                </a:lnTo>
                <a:lnTo>
                  <a:pt x="2065782" y="553974"/>
                </a:lnTo>
                <a:lnTo>
                  <a:pt x="2065782" y="1524"/>
                </a:lnTo>
                <a:lnTo>
                  <a:pt x="2065782"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25" name="Google Shape;825;p12"/>
          <p:cNvSpPr txBox="1"/>
          <p:nvPr/>
        </p:nvSpPr>
        <p:spPr>
          <a:xfrm>
            <a:off x="1775858" y="2173042"/>
            <a:ext cx="1167760" cy="546576"/>
          </a:xfrm>
          <a:prstGeom prst="rect">
            <a:avLst/>
          </a:prstGeom>
          <a:noFill/>
          <a:ln>
            <a:noFill/>
          </a:ln>
        </p:spPr>
        <p:txBody>
          <a:bodyPr anchorCtr="0" anchor="t" bIns="0" lIns="0" spcFirstLastPara="1" rIns="0" wrap="square" tIns="19000">
            <a:spAutoFit/>
          </a:bodyPr>
          <a:lstStyle/>
          <a:p>
            <a:pPr indent="0" lvl="0" marL="8637" marR="3455" rtl="0" algn="l">
              <a:lnSpc>
                <a:spcPct val="95800"/>
              </a:lnSpc>
              <a:spcBef>
                <a:spcPts val="0"/>
              </a:spcBef>
              <a:spcAft>
                <a:spcPts val="0"/>
              </a:spcAft>
              <a:buNone/>
            </a:pPr>
            <a:r>
              <a:rPr b="1" i="0" lang="en-US" sz="1326" u="none" cap="none" strike="noStrike">
                <a:solidFill>
                  <a:srgbClr val="000080"/>
                </a:solidFill>
                <a:latin typeface="Arial"/>
                <a:ea typeface="Arial"/>
                <a:cs typeface="Arial"/>
                <a:sym typeface="Arial"/>
              </a:rPr>
              <a:t>Productos </a:t>
            </a:r>
            <a:r>
              <a:rPr b="0" i="0" lang="en-US" sz="1122" u="none" cap="none" strike="noStrike">
                <a:solidFill>
                  <a:srgbClr val="000080"/>
                </a:solidFill>
                <a:latin typeface="Arial"/>
                <a:ea typeface="Arial"/>
                <a:cs typeface="Arial"/>
                <a:sym typeface="Arial"/>
              </a:rPr>
              <a:t>Especificaciones, diseño, código...</a:t>
            </a:r>
            <a:endParaRPr b="0" i="0" sz="1122" u="none" cap="none" strike="noStrike">
              <a:solidFill>
                <a:srgbClr val="000000"/>
              </a:solidFill>
              <a:latin typeface="Arial"/>
              <a:ea typeface="Arial"/>
              <a:cs typeface="Arial"/>
              <a:sym typeface="Arial"/>
            </a:endParaRPr>
          </a:p>
        </p:txBody>
      </p:sp>
      <p:sp>
        <p:nvSpPr>
          <p:cNvPr id="826" name="Google Shape;826;p12"/>
          <p:cNvSpPr/>
          <p:nvPr/>
        </p:nvSpPr>
        <p:spPr>
          <a:xfrm>
            <a:off x="3170783" y="2192668"/>
            <a:ext cx="2074675" cy="524283"/>
          </a:xfrm>
          <a:custGeom>
            <a:rect b="b" l="l" r="r" t="t"/>
            <a:pathLst>
              <a:path extrusionOk="0" h="770889" w="3050540">
                <a:moveTo>
                  <a:pt x="3050286" y="0"/>
                </a:moveTo>
                <a:lnTo>
                  <a:pt x="0" y="0"/>
                </a:lnTo>
                <a:lnTo>
                  <a:pt x="0" y="1524"/>
                </a:lnTo>
                <a:lnTo>
                  <a:pt x="0" y="553974"/>
                </a:lnTo>
                <a:lnTo>
                  <a:pt x="0" y="722376"/>
                </a:lnTo>
                <a:lnTo>
                  <a:pt x="0" y="770382"/>
                </a:lnTo>
                <a:lnTo>
                  <a:pt x="3050286" y="770382"/>
                </a:lnTo>
                <a:lnTo>
                  <a:pt x="3050286" y="722376"/>
                </a:lnTo>
                <a:lnTo>
                  <a:pt x="3050273" y="553974"/>
                </a:lnTo>
                <a:lnTo>
                  <a:pt x="3050273" y="1524"/>
                </a:lnTo>
                <a:lnTo>
                  <a:pt x="3050286"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27" name="Google Shape;827;p12"/>
          <p:cNvSpPr txBox="1"/>
          <p:nvPr/>
        </p:nvSpPr>
        <p:spPr>
          <a:xfrm>
            <a:off x="3196863" y="2173724"/>
            <a:ext cx="1901065" cy="520196"/>
          </a:xfrm>
          <a:prstGeom prst="rect">
            <a:avLst/>
          </a:prstGeom>
          <a:noFill/>
          <a:ln>
            <a:noFill/>
          </a:ln>
        </p:spPr>
        <p:txBody>
          <a:bodyPr anchorCtr="0" anchor="t" bIns="0" lIns="0" spcFirstLastPara="1" rIns="0" wrap="square" tIns="19850">
            <a:spAutoFit/>
          </a:bodyPr>
          <a:lstStyle/>
          <a:p>
            <a:pPr indent="0" lvl="0" marL="8637" marR="3455" rtl="0" algn="l">
              <a:lnSpc>
                <a:spcPct val="115151"/>
              </a:lnSpc>
              <a:spcBef>
                <a:spcPts val="0"/>
              </a:spcBef>
              <a:spcAft>
                <a:spcPts val="0"/>
              </a:spcAft>
              <a:buNone/>
            </a:pPr>
            <a:r>
              <a:rPr b="0" i="0" lang="en-US" sz="1122" u="none" cap="none" strike="noStrike">
                <a:solidFill>
                  <a:srgbClr val="000080"/>
                </a:solidFill>
                <a:latin typeface="Arial"/>
                <a:ea typeface="Arial"/>
                <a:cs typeface="Arial"/>
                <a:sym typeface="Arial"/>
              </a:rPr>
              <a:t>Tamaño, reusabilidad, modularidad, funcionalidad, acoplamiento, complejidad...</a:t>
            </a:r>
            <a:endParaRPr b="0" i="0" sz="1122" u="none" cap="none" strike="noStrike">
              <a:solidFill>
                <a:srgbClr val="000000"/>
              </a:solidFill>
              <a:latin typeface="Arial"/>
              <a:ea typeface="Arial"/>
              <a:cs typeface="Arial"/>
              <a:sym typeface="Arial"/>
            </a:endParaRPr>
          </a:p>
        </p:txBody>
      </p:sp>
      <p:sp>
        <p:nvSpPr>
          <p:cNvPr id="828" name="Google Shape;828;p12"/>
          <p:cNvSpPr/>
          <p:nvPr/>
        </p:nvSpPr>
        <p:spPr>
          <a:xfrm>
            <a:off x="5278443" y="2193704"/>
            <a:ext cx="2092381" cy="375722"/>
          </a:xfrm>
          <a:custGeom>
            <a:rect b="b" l="l" r="r" t="t"/>
            <a:pathLst>
              <a:path extrusionOk="0" h="552450" w="3076575">
                <a:moveTo>
                  <a:pt x="3076206" y="0"/>
                </a:moveTo>
                <a:lnTo>
                  <a:pt x="2999244" y="0"/>
                </a:lnTo>
                <a:lnTo>
                  <a:pt x="52590" y="0"/>
                </a:lnTo>
                <a:lnTo>
                  <a:pt x="52590" y="240792"/>
                </a:lnTo>
                <a:lnTo>
                  <a:pt x="52590" y="481584"/>
                </a:lnTo>
                <a:lnTo>
                  <a:pt x="52578" y="0"/>
                </a:lnTo>
                <a:lnTo>
                  <a:pt x="0" y="0"/>
                </a:lnTo>
                <a:lnTo>
                  <a:pt x="0" y="481584"/>
                </a:lnTo>
                <a:lnTo>
                  <a:pt x="0" y="552450"/>
                </a:lnTo>
                <a:lnTo>
                  <a:pt x="3076194" y="552450"/>
                </a:lnTo>
                <a:lnTo>
                  <a:pt x="3076194" y="481584"/>
                </a:lnTo>
                <a:lnTo>
                  <a:pt x="3076206"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29" name="Google Shape;829;p12"/>
          <p:cNvSpPr txBox="1"/>
          <p:nvPr/>
        </p:nvSpPr>
        <p:spPr>
          <a:xfrm>
            <a:off x="5305568" y="2173724"/>
            <a:ext cx="1984847" cy="353484"/>
          </a:xfrm>
          <a:prstGeom prst="rect">
            <a:avLst/>
          </a:prstGeom>
          <a:noFill/>
          <a:ln>
            <a:noFill/>
          </a:ln>
        </p:spPr>
        <p:txBody>
          <a:bodyPr anchorCtr="0" anchor="t" bIns="0" lIns="0" spcFirstLastPara="1" rIns="0" wrap="square" tIns="19850">
            <a:spAutoFit/>
          </a:bodyPr>
          <a:lstStyle/>
          <a:p>
            <a:pPr indent="0" lvl="0" marL="8637" marR="3455" rtl="0" algn="l">
              <a:lnSpc>
                <a:spcPct val="115151"/>
              </a:lnSpc>
              <a:spcBef>
                <a:spcPts val="0"/>
              </a:spcBef>
              <a:spcAft>
                <a:spcPts val="0"/>
              </a:spcAft>
              <a:buNone/>
            </a:pPr>
            <a:r>
              <a:rPr b="0" i="0" lang="en-US" sz="1122" u="none" cap="none" strike="noStrike">
                <a:solidFill>
                  <a:srgbClr val="000080"/>
                </a:solidFill>
                <a:latin typeface="Arial"/>
                <a:ea typeface="Arial"/>
                <a:cs typeface="Arial"/>
                <a:sym typeface="Arial"/>
              </a:rPr>
              <a:t>Comprensión, mantenibilidad, calidad, fiabilidad ...</a:t>
            </a:r>
            <a:endParaRPr b="0" i="0" sz="1122" u="none" cap="none" strike="noStrike">
              <a:solidFill>
                <a:srgbClr val="000000"/>
              </a:solidFill>
              <a:latin typeface="Arial"/>
              <a:ea typeface="Arial"/>
              <a:cs typeface="Arial"/>
              <a:sym typeface="Arial"/>
            </a:endParaRPr>
          </a:p>
        </p:txBody>
      </p:sp>
      <p:sp>
        <p:nvSpPr>
          <p:cNvPr id="830" name="Google Shape;830;p12"/>
          <p:cNvSpPr/>
          <p:nvPr/>
        </p:nvSpPr>
        <p:spPr>
          <a:xfrm>
            <a:off x="5278443" y="2192668"/>
            <a:ext cx="2092381" cy="524283"/>
          </a:xfrm>
          <a:custGeom>
            <a:rect b="b" l="l" r="r" t="t"/>
            <a:pathLst>
              <a:path extrusionOk="0" h="770889" w="3076575">
                <a:moveTo>
                  <a:pt x="3076194" y="553974"/>
                </a:moveTo>
                <a:lnTo>
                  <a:pt x="0" y="553974"/>
                </a:lnTo>
                <a:lnTo>
                  <a:pt x="0" y="770382"/>
                </a:lnTo>
                <a:lnTo>
                  <a:pt x="3076194" y="770382"/>
                </a:lnTo>
                <a:lnTo>
                  <a:pt x="3076194" y="553974"/>
                </a:lnTo>
                <a:close/>
              </a:path>
              <a:path extrusionOk="0" h="770889" w="3076575">
                <a:moveTo>
                  <a:pt x="3076194" y="0"/>
                </a:moveTo>
                <a:lnTo>
                  <a:pt x="0" y="0"/>
                </a:lnTo>
                <a:lnTo>
                  <a:pt x="0" y="1524"/>
                </a:lnTo>
                <a:lnTo>
                  <a:pt x="3076194" y="1524"/>
                </a:lnTo>
                <a:lnTo>
                  <a:pt x="3076194"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31" name="Google Shape;831;p12"/>
          <p:cNvSpPr/>
          <p:nvPr/>
        </p:nvSpPr>
        <p:spPr>
          <a:xfrm>
            <a:off x="1732675" y="2747699"/>
            <a:ext cx="1405285" cy="851636"/>
          </a:xfrm>
          <a:custGeom>
            <a:rect b="b" l="l" r="r" t="t"/>
            <a:pathLst>
              <a:path extrusionOk="0" h="1252220" w="2066289">
                <a:moveTo>
                  <a:pt x="2065782" y="0"/>
                </a:moveTo>
                <a:lnTo>
                  <a:pt x="0" y="0"/>
                </a:lnTo>
                <a:lnTo>
                  <a:pt x="0" y="1524"/>
                </a:lnTo>
                <a:lnTo>
                  <a:pt x="0" y="595122"/>
                </a:lnTo>
                <a:lnTo>
                  <a:pt x="0" y="1250442"/>
                </a:lnTo>
                <a:lnTo>
                  <a:pt x="76200" y="1250442"/>
                </a:lnTo>
                <a:lnTo>
                  <a:pt x="76200" y="1251966"/>
                </a:lnTo>
                <a:lnTo>
                  <a:pt x="2013966" y="1251966"/>
                </a:lnTo>
                <a:lnTo>
                  <a:pt x="2013966" y="1250442"/>
                </a:lnTo>
                <a:lnTo>
                  <a:pt x="2065782" y="1250442"/>
                </a:lnTo>
                <a:lnTo>
                  <a:pt x="2065782" y="595122"/>
                </a:lnTo>
                <a:lnTo>
                  <a:pt x="2065782" y="1524"/>
                </a:lnTo>
                <a:lnTo>
                  <a:pt x="2065782"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32" name="Google Shape;832;p12"/>
          <p:cNvSpPr txBox="1"/>
          <p:nvPr/>
        </p:nvSpPr>
        <p:spPr>
          <a:xfrm>
            <a:off x="1775858" y="2728074"/>
            <a:ext cx="1232539" cy="878513"/>
          </a:xfrm>
          <a:prstGeom prst="rect">
            <a:avLst/>
          </a:prstGeom>
          <a:noFill/>
          <a:ln>
            <a:noFill/>
          </a:ln>
        </p:spPr>
        <p:txBody>
          <a:bodyPr anchorCtr="0" anchor="t" bIns="0" lIns="0" spcFirstLastPara="1" rIns="0" wrap="square" tIns="19425">
            <a:spAutoFit/>
          </a:bodyPr>
          <a:lstStyle/>
          <a:p>
            <a:pPr indent="0" lvl="0" marL="8637" marR="3455" rtl="0" algn="l">
              <a:lnSpc>
                <a:spcPct val="95700"/>
              </a:lnSpc>
              <a:spcBef>
                <a:spcPts val="0"/>
              </a:spcBef>
              <a:spcAft>
                <a:spcPts val="0"/>
              </a:spcAft>
              <a:buNone/>
            </a:pPr>
            <a:r>
              <a:rPr b="1" i="0" lang="en-US" sz="1326" u="none" cap="none" strike="noStrike">
                <a:solidFill>
                  <a:srgbClr val="000080"/>
                </a:solidFill>
                <a:latin typeface="Arial"/>
                <a:ea typeface="Arial"/>
                <a:cs typeface="Arial"/>
                <a:sym typeface="Arial"/>
              </a:rPr>
              <a:t>Procesos </a:t>
            </a:r>
            <a:r>
              <a:rPr b="0" i="0" lang="en-US" sz="1122" u="none" cap="none" strike="noStrike">
                <a:solidFill>
                  <a:srgbClr val="000080"/>
                </a:solidFill>
                <a:latin typeface="Arial"/>
                <a:ea typeface="Arial"/>
                <a:cs typeface="Arial"/>
                <a:sym typeface="Arial"/>
              </a:rPr>
              <a:t>Realización de la especificación, del diseño, del código...</a:t>
            </a:r>
            <a:endParaRPr b="0" i="0" sz="1122" u="none" cap="none" strike="noStrike">
              <a:solidFill>
                <a:srgbClr val="000000"/>
              </a:solidFill>
              <a:latin typeface="Arial"/>
              <a:ea typeface="Arial"/>
              <a:cs typeface="Arial"/>
              <a:sym typeface="Arial"/>
            </a:endParaRPr>
          </a:p>
        </p:txBody>
      </p:sp>
      <p:sp>
        <p:nvSpPr>
          <p:cNvPr id="833" name="Google Shape;833;p12"/>
          <p:cNvSpPr/>
          <p:nvPr/>
        </p:nvSpPr>
        <p:spPr>
          <a:xfrm>
            <a:off x="3170783" y="2747700"/>
            <a:ext cx="2074675" cy="850772"/>
          </a:xfrm>
          <a:custGeom>
            <a:rect b="b" l="l" r="r" t="t"/>
            <a:pathLst>
              <a:path extrusionOk="0" h="1250950" w="3050540">
                <a:moveTo>
                  <a:pt x="3050286" y="0"/>
                </a:moveTo>
                <a:lnTo>
                  <a:pt x="0" y="0"/>
                </a:lnTo>
                <a:lnTo>
                  <a:pt x="0" y="1524"/>
                </a:lnTo>
                <a:lnTo>
                  <a:pt x="0" y="595122"/>
                </a:lnTo>
                <a:lnTo>
                  <a:pt x="0" y="722376"/>
                </a:lnTo>
                <a:lnTo>
                  <a:pt x="0" y="1250442"/>
                </a:lnTo>
                <a:lnTo>
                  <a:pt x="3050286" y="1250442"/>
                </a:lnTo>
                <a:lnTo>
                  <a:pt x="3050286" y="722376"/>
                </a:lnTo>
                <a:lnTo>
                  <a:pt x="3050273" y="595122"/>
                </a:lnTo>
                <a:lnTo>
                  <a:pt x="3050273" y="1524"/>
                </a:lnTo>
                <a:lnTo>
                  <a:pt x="3050286"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34" name="Google Shape;834;p12"/>
          <p:cNvSpPr txBox="1"/>
          <p:nvPr/>
        </p:nvSpPr>
        <p:spPr>
          <a:xfrm>
            <a:off x="3196863" y="2729274"/>
            <a:ext cx="2009463" cy="513387"/>
          </a:xfrm>
          <a:prstGeom prst="rect">
            <a:avLst/>
          </a:prstGeom>
          <a:noFill/>
          <a:ln>
            <a:noFill/>
          </a:ln>
        </p:spPr>
        <p:txBody>
          <a:bodyPr anchorCtr="0" anchor="t" bIns="0" lIns="0" spcFirstLastPara="1" rIns="0" wrap="square" tIns="15975">
            <a:spAutoFit/>
          </a:bodyPr>
          <a:lstStyle/>
          <a:p>
            <a:pPr indent="0" lvl="0" marL="8637" marR="3455" rtl="0" algn="l">
              <a:lnSpc>
                <a:spcPct val="95500"/>
              </a:lnSpc>
              <a:spcBef>
                <a:spcPts val="0"/>
              </a:spcBef>
              <a:spcAft>
                <a:spcPts val="0"/>
              </a:spcAft>
              <a:buNone/>
            </a:pPr>
            <a:r>
              <a:rPr b="0" i="0" lang="en-US" sz="1122" u="none" cap="none" strike="noStrike">
                <a:solidFill>
                  <a:srgbClr val="000080"/>
                </a:solidFill>
                <a:latin typeface="Arial"/>
                <a:ea typeface="Arial"/>
                <a:cs typeface="Arial"/>
                <a:sym typeface="Arial"/>
              </a:rPr>
              <a:t>Tiempo, esfuerzo, cambios en requisitos, fallos en la especificación</a:t>
            </a:r>
            <a:endParaRPr b="0" i="0" sz="1122" u="none" cap="none" strike="noStrike">
              <a:solidFill>
                <a:srgbClr val="000000"/>
              </a:solidFill>
              <a:latin typeface="Arial"/>
              <a:ea typeface="Arial"/>
              <a:cs typeface="Arial"/>
              <a:sym typeface="Arial"/>
            </a:endParaRPr>
          </a:p>
        </p:txBody>
      </p:sp>
      <p:sp>
        <p:nvSpPr>
          <p:cNvPr id="835" name="Google Shape;835;p12"/>
          <p:cNvSpPr/>
          <p:nvPr/>
        </p:nvSpPr>
        <p:spPr>
          <a:xfrm>
            <a:off x="5278443" y="2748736"/>
            <a:ext cx="2092381" cy="403793"/>
          </a:xfrm>
          <a:custGeom>
            <a:rect b="b" l="l" r="r" t="t"/>
            <a:pathLst>
              <a:path extrusionOk="0" h="593725" w="3076575">
                <a:moveTo>
                  <a:pt x="3076206" y="0"/>
                </a:moveTo>
                <a:lnTo>
                  <a:pt x="2999244" y="0"/>
                </a:lnTo>
                <a:lnTo>
                  <a:pt x="52590" y="0"/>
                </a:lnTo>
                <a:lnTo>
                  <a:pt x="52590" y="240792"/>
                </a:lnTo>
                <a:lnTo>
                  <a:pt x="52578" y="0"/>
                </a:lnTo>
                <a:lnTo>
                  <a:pt x="0" y="0"/>
                </a:lnTo>
                <a:lnTo>
                  <a:pt x="0" y="240792"/>
                </a:lnTo>
                <a:lnTo>
                  <a:pt x="0" y="593598"/>
                </a:lnTo>
                <a:lnTo>
                  <a:pt x="3076194" y="593598"/>
                </a:lnTo>
                <a:lnTo>
                  <a:pt x="3076194" y="240792"/>
                </a:lnTo>
                <a:lnTo>
                  <a:pt x="3076206"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36" name="Google Shape;836;p12"/>
          <p:cNvSpPr txBox="1"/>
          <p:nvPr/>
        </p:nvSpPr>
        <p:spPr>
          <a:xfrm>
            <a:off x="5305568" y="2729273"/>
            <a:ext cx="1752504" cy="181397"/>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122" u="none" cap="none" strike="noStrike">
                <a:solidFill>
                  <a:srgbClr val="000080"/>
                </a:solidFill>
                <a:latin typeface="Arial"/>
                <a:ea typeface="Arial"/>
                <a:cs typeface="Arial"/>
                <a:sym typeface="Arial"/>
              </a:rPr>
              <a:t>Calidad, coste, estabilidad</a:t>
            </a:r>
            <a:endParaRPr b="0" i="0" sz="1122" u="none" cap="none" strike="noStrike">
              <a:solidFill>
                <a:srgbClr val="000000"/>
              </a:solidFill>
              <a:latin typeface="Arial"/>
              <a:ea typeface="Arial"/>
              <a:cs typeface="Arial"/>
              <a:sym typeface="Arial"/>
            </a:endParaRPr>
          </a:p>
        </p:txBody>
      </p:sp>
      <p:sp>
        <p:nvSpPr>
          <p:cNvPr id="837" name="Google Shape;837;p12"/>
          <p:cNvSpPr/>
          <p:nvPr/>
        </p:nvSpPr>
        <p:spPr>
          <a:xfrm>
            <a:off x="5278443" y="2747700"/>
            <a:ext cx="2092381" cy="850772"/>
          </a:xfrm>
          <a:custGeom>
            <a:rect b="b" l="l" r="r" t="t"/>
            <a:pathLst>
              <a:path extrusionOk="0" h="1250950" w="3076575">
                <a:moveTo>
                  <a:pt x="3076194" y="595122"/>
                </a:moveTo>
                <a:lnTo>
                  <a:pt x="0" y="595122"/>
                </a:lnTo>
                <a:lnTo>
                  <a:pt x="0" y="1250442"/>
                </a:lnTo>
                <a:lnTo>
                  <a:pt x="3076194" y="1250442"/>
                </a:lnTo>
                <a:lnTo>
                  <a:pt x="3076194" y="595122"/>
                </a:lnTo>
                <a:close/>
              </a:path>
              <a:path extrusionOk="0" h="1250950" w="3076575">
                <a:moveTo>
                  <a:pt x="3076194" y="0"/>
                </a:moveTo>
                <a:lnTo>
                  <a:pt x="0" y="0"/>
                </a:lnTo>
                <a:lnTo>
                  <a:pt x="0" y="1524"/>
                </a:lnTo>
                <a:lnTo>
                  <a:pt x="3076194" y="1524"/>
                </a:lnTo>
                <a:lnTo>
                  <a:pt x="3076194"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38" name="Google Shape;838;p12"/>
          <p:cNvSpPr/>
          <p:nvPr/>
        </p:nvSpPr>
        <p:spPr>
          <a:xfrm>
            <a:off x="1732675" y="3630775"/>
            <a:ext cx="1405285" cy="104943"/>
          </a:xfrm>
          <a:custGeom>
            <a:rect b="b" l="l" r="r" t="t"/>
            <a:pathLst>
              <a:path extrusionOk="0" h="154304" w="2066289">
                <a:moveTo>
                  <a:pt x="2065782" y="0"/>
                </a:moveTo>
                <a:lnTo>
                  <a:pt x="76200" y="0"/>
                </a:lnTo>
                <a:lnTo>
                  <a:pt x="0" y="0"/>
                </a:lnTo>
                <a:lnTo>
                  <a:pt x="0" y="153924"/>
                </a:lnTo>
                <a:lnTo>
                  <a:pt x="76200" y="153924"/>
                </a:lnTo>
                <a:lnTo>
                  <a:pt x="2065782" y="153924"/>
                </a:lnTo>
                <a:lnTo>
                  <a:pt x="2065782"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39" name="Google Shape;839;p12"/>
          <p:cNvSpPr txBox="1"/>
          <p:nvPr/>
        </p:nvSpPr>
        <p:spPr>
          <a:xfrm>
            <a:off x="1775858" y="3610112"/>
            <a:ext cx="828747" cy="214933"/>
          </a:xfrm>
          <a:prstGeom prst="rect">
            <a:avLst/>
          </a:prstGeom>
          <a:noFill/>
          <a:ln>
            <a:noFill/>
          </a:ln>
        </p:spPr>
        <p:txBody>
          <a:bodyPr anchorCtr="0" anchor="t" bIns="0" lIns="0" spcFirstLastPara="1" rIns="0" wrap="square" tIns="10775">
            <a:spAutoFit/>
          </a:bodyPr>
          <a:lstStyle/>
          <a:p>
            <a:pPr indent="0" lvl="0" marL="8637" marR="0" rtl="0" algn="l">
              <a:lnSpc>
                <a:spcPct val="100000"/>
              </a:lnSpc>
              <a:spcBef>
                <a:spcPts val="0"/>
              </a:spcBef>
              <a:spcAft>
                <a:spcPts val="0"/>
              </a:spcAft>
              <a:buNone/>
            </a:pPr>
            <a:r>
              <a:rPr b="1" i="0" lang="en-US" sz="1326" u="none" cap="none" strike="noStrike">
                <a:solidFill>
                  <a:srgbClr val="000080"/>
                </a:solidFill>
                <a:latin typeface="Arial"/>
                <a:ea typeface="Arial"/>
                <a:cs typeface="Arial"/>
                <a:sym typeface="Arial"/>
              </a:rPr>
              <a:t>Recursos</a:t>
            </a:r>
            <a:endParaRPr b="0" i="0" sz="1326" u="none" cap="none" strike="noStrike">
              <a:solidFill>
                <a:srgbClr val="000000"/>
              </a:solidFill>
              <a:latin typeface="Arial"/>
              <a:ea typeface="Arial"/>
              <a:cs typeface="Arial"/>
              <a:sym typeface="Arial"/>
            </a:endParaRPr>
          </a:p>
        </p:txBody>
      </p:sp>
      <p:grpSp>
        <p:nvGrpSpPr>
          <p:cNvPr id="840" name="Google Shape;840;p12"/>
          <p:cNvGrpSpPr/>
          <p:nvPr/>
        </p:nvGrpSpPr>
        <p:grpSpPr>
          <a:xfrm>
            <a:off x="1462674" y="3629739"/>
            <a:ext cx="6218841" cy="689081"/>
            <a:chOff x="774839" y="5337060"/>
            <a:chExt cx="9144000" cy="1013205"/>
          </a:xfrm>
        </p:grpSpPr>
        <p:sp>
          <p:nvSpPr>
            <p:cNvPr id="841" name="Google Shape;841;p12"/>
            <p:cNvSpPr/>
            <p:nvPr/>
          </p:nvSpPr>
          <p:spPr>
            <a:xfrm>
              <a:off x="1171841" y="5337060"/>
              <a:ext cx="8289925" cy="155575"/>
            </a:xfrm>
            <a:custGeom>
              <a:rect b="b" l="l" r="r" t="t"/>
              <a:pathLst>
                <a:path extrusionOk="0" h="155575" w="8289925">
                  <a:moveTo>
                    <a:pt x="2065782" y="0"/>
                  </a:moveTo>
                  <a:lnTo>
                    <a:pt x="0" y="0"/>
                  </a:lnTo>
                  <a:lnTo>
                    <a:pt x="0" y="1524"/>
                  </a:lnTo>
                  <a:lnTo>
                    <a:pt x="2065782" y="1524"/>
                  </a:lnTo>
                  <a:lnTo>
                    <a:pt x="2065782" y="0"/>
                  </a:lnTo>
                  <a:close/>
                </a:path>
                <a:path extrusionOk="0" h="155575" w="8289925">
                  <a:moveTo>
                    <a:pt x="5164836" y="0"/>
                  </a:moveTo>
                  <a:lnTo>
                    <a:pt x="2114550" y="0"/>
                  </a:lnTo>
                  <a:lnTo>
                    <a:pt x="2114550" y="1524"/>
                  </a:lnTo>
                  <a:lnTo>
                    <a:pt x="2114550" y="155448"/>
                  </a:lnTo>
                  <a:lnTo>
                    <a:pt x="2165604" y="155448"/>
                  </a:lnTo>
                  <a:lnTo>
                    <a:pt x="5164836" y="155448"/>
                  </a:lnTo>
                  <a:lnTo>
                    <a:pt x="5164836" y="1524"/>
                  </a:lnTo>
                  <a:lnTo>
                    <a:pt x="5164836" y="0"/>
                  </a:lnTo>
                  <a:close/>
                </a:path>
                <a:path extrusionOk="0" h="155575" w="8289925">
                  <a:moveTo>
                    <a:pt x="8289798" y="1524"/>
                  </a:moveTo>
                  <a:lnTo>
                    <a:pt x="8289785" y="0"/>
                  </a:lnTo>
                  <a:lnTo>
                    <a:pt x="5213591" y="0"/>
                  </a:lnTo>
                  <a:lnTo>
                    <a:pt x="5213591" y="1524"/>
                  </a:lnTo>
                  <a:lnTo>
                    <a:pt x="5213591" y="155448"/>
                  </a:lnTo>
                  <a:lnTo>
                    <a:pt x="5266169" y="155448"/>
                  </a:lnTo>
                  <a:lnTo>
                    <a:pt x="5266169" y="1524"/>
                  </a:lnTo>
                  <a:lnTo>
                    <a:pt x="5266182" y="155448"/>
                  </a:lnTo>
                  <a:lnTo>
                    <a:pt x="8212836" y="155448"/>
                  </a:lnTo>
                  <a:lnTo>
                    <a:pt x="8289798" y="155448"/>
                  </a:lnTo>
                  <a:lnTo>
                    <a:pt x="8289798" y="1524"/>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42" name="Google Shape;842;p12"/>
            <p:cNvSpPr/>
            <p:nvPr/>
          </p:nvSpPr>
          <p:spPr>
            <a:xfrm>
              <a:off x="774839" y="5491746"/>
              <a:ext cx="9144000" cy="858519"/>
            </a:xfrm>
            <a:custGeom>
              <a:rect b="b" l="l" r="r" t="t"/>
              <a:pathLst>
                <a:path extrusionOk="0" h="858520" w="9144000">
                  <a:moveTo>
                    <a:pt x="397002" y="0"/>
                  </a:moveTo>
                  <a:lnTo>
                    <a:pt x="0" y="0"/>
                  </a:lnTo>
                  <a:lnTo>
                    <a:pt x="0" y="858012"/>
                  </a:lnTo>
                  <a:lnTo>
                    <a:pt x="397002" y="858012"/>
                  </a:lnTo>
                  <a:lnTo>
                    <a:pt x="397002" y="0"/>
                  </a:lnTo>
                  <a:close/>
                </a:path>
                <a:path extrusionOk="0" h="858520" w="9144000">
                  <a:moveTo>
                    <a:pt x="2410968" y="0"/>
                  </a:moveTo>
                  <a:lnTo>
                    <a:pt x="473202" y="0"/>
                  </a:lnTo>
                  <a:lnTo>
                    <a:pt x="473202" y="762"/>
                  </a:lnTo>
                  <a:lnTo>
                    <a:pt x="2410968" y="762"/>
                  </a:lnTo>
                  <a:lnTo>
                    <a:pt x="2410968" y="0"/>
                  </a:lnTo>
                  <a:close/>
                </a:path>
                <a:path extrusionOk="0" h="858520" w="9144000">
                  <a:moveTo>
                    <a:pt x="9144000" y="0"/>
                  </a:moveTo>
                  <a:lnTo>
                    <a:pt x="2462784" y="0"/>
                  </a:lnTo>
                  <a:lnTo>
                    <a:pt x="2462784" y="858012"/>
                  </a:lnTo>
                  <a:lnTo>
                    <a:pt x="9144000" y="858012"/>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43" name="Google Shape;843;p12"/>
            <p:cNvSpPr/>
            <p:nvPr/>
          </p:nvSpPr>
          <p:spPr>
            <a:xfrm>
              <a:off x="1171841" y="5492508"/>
              <a:ext cx="2066289" cy="855980"/>
            </a:xfrm>
            <a:custGeom>
              <a:rect b="b" l="l" r="r" t="t"/>
              <a:pathLst>
                <a:path extrusionOk="0" h="855979" w="2066289">
                  <a:moveTo>
                    <a:pt x="2065782" y="0"/>
                  </a:moveTo>
                  <a:lnTo>
                    <a:pt x="2013966" y="0"/>
                  </a:lnTo>
                  <a:lnTo>
                    <a:pt x="76200" y="0"/>
                  </a:lnTo>
                  <a:lnTo>
                    <a:pt x="0" y="0"/>
                  </a:lnTo>
                  <a:lnTo>
                    <a:pt x="0" y="855726"/>
                  </a:lnTo>
                  <a:lnTo>
                    <a:pt x="76200" y="855726"/>
                  </a:lnTo>
                  <a:lnTo>
                    <a:pt x="2013966" y="855726"/>
                  </a:lnTo>
                  <a:lnTo>
                    <a:pt x="2065782" y="855726"/>
                  </a:lnTo>
                  <a:lnTo>
                    <a:pt x="2065782"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844" name="Google Shape;844;p12"/>
          <p:cNvSpPr txBox="1"/>
          <p:nvPr/>
        </p:nvSpPr>
        <p:spPr>
          <a:xfrm>
            <a:off x="1775857" y="3807206"/>
            <a:ext cx="1248951" cy="513387"/>
          </a:xfrm>
          <a:prstGeom prst="rect">
            <a:avLst/>
          </a:prstGeom>
          <a:noFill/>
          <a:ln>
            <a:noFill/>
          </a:ln>
        </p:spPr>
        <p:txBody>
          <a:bodyPr anchorCtr="0" anchor="t" bIns="0" lIns="0" spcFirstLastPara="1" rIns="0" wrap="square" tIns="15975">
            <a:spAutoFit/>
          </a:bodyPr>
          <a:lstStyle/>
          <a:p>
            <a:pPr indent="0" lvl="0" marL="8637" marR="3455" rtl="0" algn="l">
              <a:lnSpc>
                <a:spcPct val="95500"/>
              </a:lnSpc>
              <a:spcBef>
                <a:spcPts val="0"/>
              </a:spcBef>
              <a:spcAft>
                <a:spcPts val="0"/>
              </a:spcAft>
              <a:buNone/>
            </a:pPr>
            <a:r>
              <a:rPr b="0" i="0" lang="en-US" sz="1122" u="none" cap="none" strike="noStrike">
                <a:solidFill>
                  <a:srgbClr val="000080"/>
                </a:solidFill>
                <a:latin typeface="Arial"/>
                <a:ea typeface="Arial"/>
                <a:cs typeface="Arial"/>
                <a:sym typeface="Arial"/>
              </a:rPr>
              <a:t>Personal, equipos, hardware, software...</a:t>
            </a:r>
            <a:endParaRPr b="0" i="0" sz="1122" u="none" cap="none" strike="noStrike">
              <a:solidFill>
                <a:srgbClr val="000000"/>
              </a:solidFill>
              <a:latin typeface="Arial"/>
              <a:ea typeface="Arial"/>
              <a:cs typeface="Arial"/>
              <a:sym typeface="Arial"/>
            </a:endParaRPr>
          </a:p>
        </p:txBody>
      </p:sp>
      <p:sp>
        <p:nvSpPr>
          <p:cNvPr id="845" name="Google Shape;845;p12"/>
          <p:cNvSpPr/>
          <p:nvPr/>
        </p:nvSpPr>
        <p:spPr>
          <a:xfrm>
            <a:off x="3170783" y="3735459"/>
            <a:ext cx="2074675" cy="582153"/>
          </a:xfrm>
          <a:custGeom>
            <a:rect b="b" l="l" r="r" t="t"/>
            <a:pathLst>
              <a:path extrusionOk="0" h="855979" w="3050540">
                <a:moveTo>
                  <a:pt x="3050286" y="566928"/>
                </a:moveTo>
                <a:lnTo>
                  <a:pt x="3050273" y="0"/>
                </a:lnTo>
                <a:lnTo>
                  <a:pt x="2997708" y="0"/>
                </a:lnTo>
                <a:lnTo>
                  <a:pt x="2997695" y="86868"/>
                </a:lnTo>
                <a:lnTo>
                  <a:pt x="2997695" y="566928"/>
                </a:lnTo>
                <a:lnTo>
                  <a:pt x="51054" y="566928"/>
                </a:lnTo>
                <a:lnTo>
                  <a:pt x="51054" y="86868"/>
                </a:lnTo>
                <a:lnTo>
                  <a:pt x="2997695" y="86868"/>
                </a:lnTo>
                <a:lnTo>
                  <a:pt x="2997695" y="0"/>
                </a:lnTo>
                <a:lnTo>
                  <a:pt x="51054" y="0"/>
                </a:lnTo>
                <a:lnTo>
                  <a:pt x="0" y="0"/>
                </a:lnTo>
                <a:lnTo>
                  <a:pt x="0" y="566928"/>
                </a:lnTo>
                <a:lnTo>
                  <a:pt x="0" y="855726"/>
                </a:lnTo>
                <a:lnTo>
                  <a:pt x="3050286" y="855726"/>
                </a:lnTo>
                <a:lnTo>
                  <a:pt x="3050286" y="566928"/>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46" name="Google Shape;846;p12"/>
          <p:cNvSpPr txBox="1"/>
          <p:nvPr/>
        </p:nvSpPr>
        <p:spPr>
          <a:xfrm>
            <a:off x="3196863" y="3610794"/>
            <a:ext cx="1671745" cy="181397"/>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122" u="none" cap="none" strike="noStrike">
                <a:solidFill>
                  <a:srgbClr val="000080"/>
                </a:solidFill>
                <a:latin typeface="Arial"/>
                <a:ea typeface="Arial"/>
                <a:cs typeface="Arial"/>
                <a:sym typeface="Arial"/>
              </a:rPr>
              <a:t>Edad, precio, tamaño del</a:t>
            </a:r>
            <a:endParaRPr b="0" i="0" sz="1122" u="none" cap="none" strike="noStrike">
              <a:solidFill>
                <a:srgbClr val="000000"/>
              </a:solidFill>
              <a:latin typeface="Arial"/>
              <a:ea typeface="Arial"/>
              <a:cs typeface="Arial"/>
              <a:sym typeface="Arial"/>
            </a:endParaRPr>
          </a:p>
        </p:txBody>
      </p:sp>
      <p:sp>
        <p:nvSpPr>
          <p:cNvPr id="847" name="Google Shape;847;p12"/>
          <p:cNvSpPr/>
          <p:nvPr/>
        </p:nvSpPr>
        <p:spPr>
          <a:xfrm>
            <a:off x="3205504" y="3794538"/>
            <a:ext cx="2004281" cy="326488"/>
          </a:xfrm>
          <a:custGeom>
            <a:rect b="b" l="l" r="r" t="t"/>
            <a:pathLst>
              <a:path extrusionOk="0" h="480060" w="2947035">
                <a:moveTo>
                  <a:pt x="2946654" y="0"/>
                </a:moveTo>
                <a:lnTo>
                  <a:pt x="0" y="0"/>
                </a:lnTo>
                <a:lnTo>
                  <a:pt x="0" y="239268"/>
                </a:lnTo>
                <a:lnTo>
                  <a:pt x="0" y="480060"/>
                </a:lnTo>
                <a:lnTo>
                  <a:pt x="2946654" y="480060"/>
                </a:lnTo>
                <a:lnTo>
                  <a:pt x="2946654" y="239268"/>
                </a:lnTo>
                <a:lnTo>
                  <a:pt x="2946654"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48" name="Google Shape;848;p12"/>
          <p:cNvSpPr txBox="1"/>
          <p:nvPr/>
        </p:nvSpPr>
        <p:spPr>
          <a:xfrm>
            <a:off x="3196863" y="3775076"/>
            <a:ext cx="1960231" cy="354792"/>
          </a:xfrm>
          <a:prstGeom prst="rect">
            <a:avLst/>
          </a:prstGeom>
          <a:noFill/>
          <a:ln>
            <a:noFill/>
          </a:ln>
        </p:spPr>
        <p:txBody>
          <a:bodyPr anchorCtr="0" anchor="t" bIns="0" lIns="0" spcFirstLastPara="1" rIns="0" wrap="square" tIns="21150">
            <a:spAutoFit/>
          </a:bodyPr>
          <a:lstStyle/>
          <a:p>
            <a:pPr indent="0" lvl="0" marL="8637" marR="3455" rtl="0" algn="l">
              <a:lnSpc>
                <a:spcPct val="113992"/>
              </a:lnSpc>
              <a:spcBef>
                <a:spcPts val="0"/>
              </a:spcBef>
              <a:spcAft>
                <a:spcPts val="0"/>
              </a:spcAft>
              <a:buNone/>
            </a:pPr>
            <a:r>
              <a:rPr b="0" i="0" lang="en-US" sz="1122" u="none" cap="none" strike="noStrike">
                <a:solidFill>
                  <a:srgbClr val="000080"/>
                </a:solidFill>
                <a:latin typeface="Arial"/>
                <a:ea typeface="Arial"/>
                <a:cs typeface="Arial"/>
                <a:sym typeface="Arial"/>
              </a:rPr>
              <a:t>equipo, velocidad, tamaño de memoria</a:t>
            </a:r>
            <a:endParaRPr b="0" i="0" sz="1122" u="none" cap="none" strike="noStrike">
              <a:solidFill>
                <a:srgbClr val="000000"/>
              </a:solidFill>
              <a:latin typeface="Arial"/>
              <a:ea typeface="Arial"/>
              <a:cs typeface="Arial"/>
              <a:sym typeface="Arial"/>
            </a:endParaRPr>
          </a:p>
        </p:txBody>
      </p:sp>
      <p:sp>
        <p:nvSpPr>
          <p:cNvPr id="849" name="Google Shape;849;p12"/>
          <p:cNvSpPr/>
          <p:nvPr/>
        </p:nvSpPr>
        <p:spPr>
          <a:xfrm>
            <a:off x="5278443" y="3735459"/>
            <a:ext cx="2092381" cy="582153"/>
          </a:xfrm>
          <a:custGeom>
            <a:rect b="b" l="l" r="r" t="t"/>
            <a:pathLst>
              <a:path extrusionOk="0" h="855979" w="3076575">
                <a:moveTo>
                  <a:pt x="3076206" y="0"/>
                </a:moveTo>
                <a:lnTo>
                  <a:pt x="2999244" y="0"/>
                </a:lnTo>
                <a:lnTo>
                  <a:pt x="52590" y="0"/>
                </a:lnTo>
                <a:lnTo>
                  <a:pt x="52590" y="86868"/>
                </a:lnTo>
                <a:lnTo>
                  <a:pt x="2999244" y="86868"/>
                </a:lnTo>
                <a:lnTo>
                  <a:pt x="2999244" y="326136"/>
                </a:lnTo>
                <a:lnTo>
                  <a:pt x="52578" y="326136"/>
                </a:lnTo>
                <a:lnTo>
                  <a:pt x="52578" y="0"/>
                </a:lnTo>
                <a:lnTo>
                  <a:pt x="0" y="0"/>
                </a:lnTo>
                <a:lnTo>
                  <a:pt x="0" y="326136"/>
                </a:lnTo>
                <a:lnTo>
                  <a:pt x="0" y="855726"/>
                </a:lnTo>
                <a:lnTo>
                  <a:pt x="3076194" y="855726"/>
                </a:lnTo>
                <a:lnTo>
                  <a:pt x="3076194" y="326136"/>
                </a:lnTo>
                <a:lnTo>
                  <a:pt x="3076206"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50" name="Google Shape;850;p12"/>
          <p:cNvSpPr txBox="1"/>
          <p:nvPr/>
        </p:nvSpPr>
        <p:spPr>
          <a:xfrm>
            <a:off x="5305568" y="3610794"/>
            <a:ext cx="1804328" cy="181397"/>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122" u="none" cap="none" strike="noStrike">
                <a:solidFill>
                  <a:srgbClr val="000080"/>
                </a:solidFill>
                <a:latin typeface="Arial"/>
                <a:ea typeface="Arial"/>
                <a:cs typeface="Arial"/>
                <a:sym typeface="Arial"/>
              </a:rPr>
              <a:t>Productividad, experiencia,</a:t>
            </a:r>
            <a:endParaRPr b="0" i="0" sz="1122" u="none" cap="none" strike="noStrike">
              <a:solidFill>
                <a:srgbClr val="000000"/>
              </a:solidFill>
              <a:latin typeface="Arial"/>
              <a:ea typeface="Arial"/>
              <a:cs typeface="Arial"/>
              <a:sym typeface="Arial"/>
            </a:endParaRPr>
          </a:p>
        </p:txBody>
      </p:sp>
      <p:sp>
        <p:nvSpPr>
          <p:cNvPr id="851" name="Google Shape;851;p12"/>
          <p:cNvSpPr/>
          <p:nvPr/>
        </p:nvSpPr>
        <p:spPr>
          <a:xfrm>
            <a:off x="5314210" y="3794530"/>
            <a:ext cx="2004281" cy="162813"/>
          </a:xfrm>
          <a:custGeom>
            <a:rect b="b" l="l" r="r" t="t"/>
            <a:pathLst>
              <a:path extrusionOk="0" h="239395" w="2947034">
                <a:moveTo>
                  <a:pt x="2946654" y="239267"/>
                </a:moveTo>
                <a:lnTo>
                  <a:pt x="2946654" y="0"/>
                </a:lnTo>
                <a:lnTo>
                  <a:pt x="0" y="0"/>
                </a:lnTo>
                <a:lnTo>
                  <a:pt x="0" y="239268"/>
                </a:lnTo>
                <a:lnTo>
                  <a:pt x="2946654" y="239267"/>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52" name="Google Shape;852;p12"/>
          <p:cNvSpPr txBox="1"/>
          <p:nvPr/>
        </p:nvSpPr>
        <p:spPr>
          <a:xfrm>
            <a:off x="5305568" y="3775075"/>
            <a:ext cx="1909703" cy="181397"/>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122" u="none" cap="none" strike="noStrike">
                <a:solidFill>
                  <a:srgbClr val="000080"/>
                </a:solidFill>
                <a:latin typeface="Arial"/>
                <a:ea typeface="Arial"/>
                <a:cs typeface="Arial"/>
                <a:sym typeface="Arial"/>
              </a:rPr>
              <a:t>calidad, usabilidad, fiabilidad</a:t>
            </a:r>
            <a:endParaRPr b="0" i="0" sz="1122" u="none" cap="none" strike="noStrike">
              <a:solidFill>
                <a:srgbClr val="000000"/>
              </a:solidFill>
              <a:latin typeface="Arial"/>
              <a:ea typeface="Arial"/>
              <a:cs typeface="Arial"/>
              <a:sym typeface="Arial"/>
            </a:endParaRPr>
          </a:p>
        </p:txBody>
      </p:sp>
      <p:sp>
        <p:nvSpPr>
          <p:cNvPr id="853" name="Google Shape;853;p12"/>
          <p:cNvSpPr/>
          <p:nvPr/>
        </p:nvSpPr>
        <p:spPr>
          <a:xfrm>
            <a:off x="5245284" y="3735451"/>
            <a:ext cx="0" cy="581720"/>
          </a:xfrm>
          <a:custGeom>
            <a:rect b="b" l="l" r="r" t="t"/>
            <a:pathLst>
              <a:path extrusionOk="0" h="855345" w="120000">
                <a:moveTo>
                  <a:pt x="0" y="0"/>
                </a:moveTo>
                <a:lnTo>
                  <a:pt x="0" y="854964"/>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3"/>
          <p:cNvSpPr txBox="1"/>
          <p:nvPr>
            <p:ph idx="4294967295" type="title"/>
          </p:nvPr>
        </p:nvSpPr>
        <p:spPr>
          <a:xfrm>
            <a:off x="816071" y="349853"/>
            <a:ext cx="8155172" cy="483210"/>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Recogida de datos métricos (III)</a:t>
            </a:r>
            <a:endParaRPr/>
          </a:p>
        </p:txBody>
      </p:sp>
      <p:sp>
        <p:nvSpPr>
          <p:cNvPr id="859" name="Google Shape;859;p13"/>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60" name="Google Shape;860;p13"/>
          <p:cNvSpPr txBox="1"/>
          <p:nvPr/>
        </p:nvSpPr>
        <p:spPr>
          <a:xfrm>
            <a:off x="1834937" y="1005863"/>
            <a:ext cx="4867107" cy="1336059"/>
          </a:xfrm>
          <a:prstGeom prst="rect">
            <a:avLst/>
          </a:prstGeom>
          <a:noFill/>
          <a:ln>
            <a:noFill/>
          </a:ln>
        </p:spPr>
        <p:txBody>
          <a:bodyPr anchorCtr="0" anchor="t" bIns="0" lIns="0" spcFirstLastPara="1" rIns="0" wrap="square" tIns="91550">
            <a:spAutoFit/>
          </a:bodyPr>
          <a:lstStyle/>
          <a:p>
            <a:pPr indent="-232774" lvl="0" marL="241412" marR="0" rtl="0" algn="l">
              <a:lnSpc>
                <a:spcPct val="100000"/>
              </a:lnSpc>
              <a:spcBef>
                <a:spcPts val="0"/>
              </a:spcBef>
              <a:spcAft>
                <a:spcPts val="0"/>
              </a:spcAft>
              <a:buClr>
                <a:srgbClr val="00007C"/>
              </a:buClr>
              <a:buSzPts val="1020"/>
              <a:buFont typeface="Noto Sans Symbols"/>
              <a:buChar char="■"/>
            </a:pPr>
            <a:r>
              <a:rPr b="1" i="0" lang="en-US" sz="1360" u="none" cap="none" strike="noStrike">
                <a:solidFill>
                  <a:srgbClr val="000000"/>
                </a:solidFill>
                <a:latin typeface="Arial"/>
                <a:ea typeface="Arial"/>
                <a:cs typeface="Arial"/>
                <a:sym typeface="Arial"/>
              </a:rPr>
              <a:t>Definición de los datos</a:t>
            </a:r>
            <a:endParaRPr b="0" i="0" sz="1360" u="none" cap="none" strike="noStrike">
              <a:solidFill>
                <a:srgbClr val="000000"/>
              </a:solidFill>
              <a:latin typeface="Arial"/>
              <a:ea typeface="Arial"/>
              <a:cs typeface="Arial"/>
              <a:sym typeface="Arial"/>
            </a:endParaRPr>
          </a:p>
          <a:p>
            <a:pPr indent="0" lvl="0" marL="241412" marR="0" rtl="0" algn="l">
              <a:lnSpc>
                <a:spcPct val="100000"/>
              </a:lnSpc>
              <a:spcBef>
                <a:spcPts val="653"/>
              </a:spcBef>
              <a:spcAft>
                <a:spcPts val="0"/>
              </a:spcAft>
              <a:buNone/>
            </a:pPr>
            <a:r>
              <a:rPr b="0" i="0" lang="en-US" sz="1360" u="none" cap="none" strike="noStrike">
                <a:solidFill>
                  <a:srgbClr val="000000"/>
                </a:solidFill>
                <a:latin typeface="Arial"/>
                <a:ea typeface="Arial"/>
                <a:cs typeface="Arial"/>
                <a:sym typeface="Arial"/>
              </a:rPr>
              <a:t>Hay dos tipos de datos:</a:t>
            </a:r>
            <a:endParaRPr b="0" i="0" sz="1360" u="none" cap="none" strike="noStrike">
              <a:solidFill>
                <a:srgbClr val="000000"/>
              </a:solidFill>
              <a:latin typeface="Arial"/>
              <a:ea typeface="Arial"/>
              <a:cs typeface="Arial"/>
              <a:sym typeface="Arial"/>
            </a:endParaRPr>
          </a:p>
          <a:p>
            <a:pPr indent="-193907" lvl="1" marL="513054" marR="0" rtl="0" algn="l">
              <a:lnSpc>
                <a:spcPct val="100000"/>
              </a:lnSpc>
              <a:spcBef>
                <a:spcPts val="608"/>
              </a:spcBef>
              <a:spcAft>
                <a:spcPts val="0"/>
              </a:spcAft>
              <a:buClr>
                <a:srgbClr val="9A9ACC"/>
              </a:buClr>
              <a:buSzPts val="952"/>
              <a:buFont typeface="Noto Sans Symbols"/>
              <a:buChar char="◻"/>
            </a:pPr>
            <a:r>
              <a:rPr b="1" i="1" lang="en-US" sz="1224" u="none" cap="none" strike="noStrike">
                <a:solidFill>
                  <a:srgbClr val="3333CC"/>
                </a:solidFill>
                <a:latin typeface="Arial"/>
                <a:ea typeface="Arial"/>
                <a:cs typeface="Arial"/>
                <a:sym typeface="Arial"/>
              </a:rPr>
              <a:t>Datos sin refinar </a:t>
            </a:r>
            <a:r>
              <a:rPr b="0" i="0" lang="en-US" sz="1224" u="none" cap="none" strike="noStrike">
                <a:solidFill>
                  <a:srgbClr val="000000"/>
                </a:solidFill>
                <a:latin typeface="Arial"/>
                <a:ea typeface="Arial"/>
                <a:cs typeface="Arial"/>
                <a:sym typeface="Arial"/>
              </a:rPr>
              <a:t>resultantes de la medición inicial</a:t>
            </a:r>
            <a:endParaRPr b="0" i="0" sz="1224" u="none" cap="none" strike="noStrike">
              <a:solidFill>
                <a:srgbClr val="000000"/>
              </a:solidFill>
              <a:latin typeface="Arial"/>
              <a:ea typeface="Arial"/>
              <a:cs typeface="Arial"/>
              <a:sym typeface="Arial"/>
            </a:endParaRPr>
          </a:p>
          <a:p>
            <a:pPr indent="-194339" lvl="1" marL="513486" marR="3455" rtl="0" algn="l">
              <a:lnSpc>
                <a:spcPct val="120000"/>
              </a:lnSpc>
              <a:spcBef>
                <a:spcPts val="292"/>
              </a:spcBef>
              <a:spcAft>
                <a:spcPts val="0"/>
              </a:spcAft>
              <a:buClr>
                <a:srgbClr val="9A9ACC"/>
              </a:buClr>
              <a:buSzPts val="952"/>
              <a:buFont typeface="Noto Sans Symbols"/>
              <a:buChar char="◻"/>
            </a:pPr>
            <a:r>
              <a:rPr b="1" i="1" lang="en-US" sz="1224" u="none" cap="none" strike="noStrike">
                <a:solidFill>
                  <a:srgbClr val="3333CC"/>
                </a:solidFill>
                <a:latin typeface="Arial"/>
                <a:ea typeface="Arial"/>
                <a:cs typeface="Arial"/>
                <a:sym typeface="Arial"/>
              </a:rPr>
              <a:t>Datos refinados </a:t>
            </a:r>
            <a:r>
              <a:rPr b="0" i="0" lang="en-US" sz="1224" u="none" cap="none" strike="noStrike">
                <a:solidFill>
                  <a:srgbClr val="000000"/>
                </a:solidFill>
                <a:latin typeface="Arial"/>
                <a:ea typeface="Arial"/>
                <a:cs typeface="Arial"/>
                <a:sym typeface="Arial"/>
              </a:rPr>
              <a:t>obtenidos extrayendo los elementos de datos relevantes de los datos sin refinar</a:t>
            </a:r>
            <a:endParaRPr b="0" i="0" sz="1224" u="none" cap="none" strike="noStrike">
              <a:solidFill>
                <a:srgbClr val="000000"/>
              </a:solidFill>
              <a:latin typeface="Arial"/>
              <a:ea typeface="Arial"/>
              <a:cs typeface="Arial"/>
              <a:sym typeface="Arial"/>
            </a:endParaRPr>
          </a:p>
        </p:txBody>
      </p:sp>
      <p:grpSp>
        <p:nvGrpSpPr>
          <p:cNvPr id="861" name="Google Shape;861;p13"/>
          <p:cNvGrpSpPr/>
          <p:nvPr/>
        </p:nvGrpSpPr>
        <p:grpSpPr>
          <a:xfrm>
            <a:off x="2021334" y="2810406"/>
            <a:ext cx="5101609" cy="925053"/>
            <a:chOff x="1596275" y="4132338"/>
            <a:chExt cx="7501255" cy="1360170"/>
          </a:xfrm>
        </p:grpSpPr>
        <p:sp>
          <p:nvSpPr>
            <p:cNvPr id="862" name="Google Shape;862;p13"/>
            <p:cNvSpPr/>
            <p:nvPr/>
          </p:nvSpPr>
          <p:spPr>
            <a:xfrm>
              <a:off x="1596275" y="4132338"/>
              <a:ext cx="7501255" cy="502920"/>
            </a:xfrm>
            <a:custGeom>
              <a:rect b="b" l="l" r="r" t="t"/>
              <a:pathLst>
                <a:path extrusionOk="0" h="502920" w="7501255">
                  <a:moveTo>
                    <a:pt x="7500734" y="0"/>
                  </a:moveTo>
                  <a:lnTo>
                    <a:pt x="7500366" y="0"/>
                  </a:lnTo>
                  <a:lnTo>
                    <a:pt x="6464" y="0"/>
                  </a:lnTo>
                  <a:lnTo>
                    <a:pt x="114" y="0"/>
                  </a:lnTo>
                  <a:lnTo>
                    <a:pt x="0" y="502920"/>
                  </a:lnTo>
                  <a:lnTo>
                    <a:pt x="6096" y="502920"/>
                  </a:lnTo>
                  <a:lnTo>
                    <a:pt x="6464" y="502920"/>
                  </a:lnTo>
                  <a:lnTo>
                    <a:pt x="12179" y="502920"/>
                  </a:lnTo>
                  <a:lnTo>
                    <a:pt x="12179" y="12954"/>
                  </a:lnTo>
                  <a:lnTo>
                    <a:pt x="7488174" y="12954"/>
                  </a:lnTo>
                  <a:lnTo>
                    <a:pt x="7488174" y="502920"/>
                  </a:lnTo>
                  <a:lnTo>
                    <a:pt x="7494270" y="502920"/>
                  </a:lnTo>
                  <a:lnTo>
                    <a:pt x="7500366" y="502920"/>
                  </a:lnTo>
                  <a:lnTo>
                    <a:pt x="7500366" y="6096"/>
                  </a:lnTo>
                  <a:lnTo>
                    <a:pt x="7500734" y="6096"/>
                  </a:lnTo>
                  <a:lnTo>
                    <a:pt x="7500734" y="0"/>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63" name="Google Shape;863;p13"/>
            <p:cNvSpPr/>
            <p:nvPr/>
          </p:nvSpPr>
          <p:spPr>
            <a:xfrm>
              <a:off x="2106815" y="4451604"/>
              <a:ext cx="914400" cy="184150"/>
            </a:xfrm>
            <a:custGeom>
              <a:rect b="b" l="l" r="r" t="t"/>
              <a:pathLst>
                <a:path extrusionOk="0" h="184150" w="914400">
                  <a:moveTo>
                    <a:pt x="914400" y="183642"/>
                  </a:moveTo>
                  <a:lnTo>
                    <a:pt x="914400" y="152399"/>
                  </a:lnTo>
                  <a:lnTo>
                    <a:pt x="906670" y="104070"/>
                  </a:lnTo>
                  <a:lnTo>
                    <a:pt x="885114" y="62215"/>
                  </a:lnTo>
                  <a:lnTo>
                    <a:pt x="852184" y="29285"/>
                  </a:lnTo>
                  <a:lnTo>
                    <a:pt x="810329" y="7729"/>
                  </a:lnTo>
                  <a:lnTo>
                    <a:pt x="762000" y="0"/>
                  </a:lnTo>
                  <a:lnTo>
                    <a:pt x="152400" y="0"/>
                  </a:lnTo>
                  <a:lnTo>
                    <a:pt x="104363" y="7729"/>
                  </a:lnTo>
                  <a:lnTo>
                    <a:pt x="62544" y="29285"/>
                  </a:lnTo>
                  <a:lnTo>
                    <a:pt x="29504" y="62215"/>
                  </a:lnTo>
                  <a:lnTo>
                    <a:pt x="7802" y="104070"/>
                  </a:lnTo>
                  <a:lnTo>
                    <a:pt x="0" y="152400"/>
                  </a:lnTo>
                  <a:lnTo>
                    <a:pt x="0" y="183642"/>
                  </a:lnTo>
                  <a:lnTo>
                    <a:pt x="914400" y="183642"/>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64" name="Google Shape;864;p13"/>
            <p:cNvSpPr/>
            <p:nvPr/>
          </p:nvSpPr>
          <p:spPr>
            <a:xfrm>
              <a:off x="2100719" y="4445508"/>
              <a:ext cx="927735" cy="189865"/>
            </a:xfrm>
            <a:custGeom>
              <a:rect b="b" l="l" r="r" t="t"/>
              <a:pathLst>
                <a:path extrusionOk="0" h="189864" w="927735">
                  <a:moveTo>
                    <a:pt x="927354" y="189738"/>
                  </a:moveTo>
                  <a:lnTo>
                    <a:pt x="927354" y="158495"/>
                  </a:lnTo>
                  <a:lnTo>
                    <a:pt x="926592" y="150114"/>
                  </a:lnTo>
                  <a:lnTo>
                    <a:pt x="926592" y="141732"/>
                  </a:lnTo>
                  <a:lnTo>
                    <a:pt x="915125" y="97753"/>
                  </a:lnTo>
                  <a:lnTo>
                    <a:pt x="892396" y="59547"/>
                  </a:lnTo>
                  <a:lnTo>
                    <a:pt x="860389" y="29158"/>
                  </a:lnTo>
                  <a:lnTo>
                    <a:pt x="821088" y="8628"/>
                  </a:lnTo>
                  <a:lnTo>
                    <a:pt x="776478" y="0"/>
                  </a:lnTo>
                  <a:lnTo>
                    <a:pt x="158496" y="0"/>
                  </a:lnTo>
                  <a:lnTo>
                    <a:pt x="113286" y="6256"/>
                  </a:lnTo>
                  <a:lnTo>
                    <a:pt x="73099" y="24738"/>
                  </a:lnTo>
                  <a:lnTo>
                    <a:pt x="39819" y="53503"/>
                  </a:lnTo>
                  <a:lnTo>
                    <a:pt x="15332" y="90608"/>
                  </a:lnTo>
                  <a:lnTo>
                    <a:pt x="1524" y="134112"/>
                  </a:lnTo>
                  <a:lnTo>
                    <a:pt x="0" y="150114"/>
                  </a:lnTo>
                  <a:lnTo>
                    <a:pt x="0" y="189738"/>
                  </a:lnTo>
                  <a:lnTo>
                    <a:pt x="12954" y="189738"/>
                  </a:lnTo>
                  <a:lnTo>
                    <a:pt x="12954" y="150876"/>
                  </a:lnTo>
                  <a:lnTo>
                    <a:pt x="14478" y="135636"/>
                  </a:lnTo>
                  <a:lnTo>
                    <a:pt x="34061" y="82805"/>
                  </a:lnTo>
                  <a:lnTo>
                    <a:pt x="66294" y="45720"/>
                  </a:lnTo>
                  <a:lnTo>
                    <a:pt x="100114" y="24666"/>
                  </a:lnTo>
                  <a:lnTo>
                    <a:pt x="140057" y="13316"/>
                  </a:lnTo>
                  <a:lnTo>
                    <a:pt x="776478" y="12192"/>
                  </a:lnTo>
                  <a:lnTo>
                    <a:pt x="783336" y="12954"/>
                  </a:lnTo>
                  <a:lnTo>
                    <a:pt x="833327" y="27328"/>
                  </a:lnTo>
                  <a:lnTo>
                    <a:pt x="874247" y="57759"/>
                  </a:lnTo>
                  <a:lnTo>
                    <a:pt x="902477" y="100268"/>
                  </a:lnTo>
                  <a:lnTo>
                    <a:pt x="914400" y="150875"/>
                  </a:lnTo>
                  <a:lnTo>
                    <a:pt x="914400" y="189738"/>
                  </a:lnTo>
                  <a:lnTo>
                    <a:pt x="927354" y="18973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65" name="Google Shape;865;p13"/>
            <p:cNvSpPr/>
            <p:nvPr/>
          </p:nvSpPr>
          <p:spPr>
            <a:xfrm>
              <a:off x="7706389" y="4604004"/>
              <a:ext cx="840740" cy="31750"/>
            </a:xfrm>
            <a:custGeom>
              <a:rect b="b" l="l" r="r" t="t"/>
              <a:pathLst>
                <a:path extrusionOk="0" h="31750" w="840740">
                  <a:moveTo>
                    <a:pt x="840740" y="31242"/>
                  </a:moveTo>
                  <a:lnTo>
                    <a:pt x="807667" y="8965"/>
                  </a:lnTo>
                  <a:lnTo>
                    <a:pt x="763125" y="0"/>
                  </a:lnTo>
                  <a:lnTo>
                    <a:pt x="77325" y="0"/>
                  </a:lnTo>
                  <a:lnTo>
                    <a:pt x="33105" y="8965"/>
                  </a:lnTo>
                  <a:lnTo>
                    <a:pt x="0" y="31242"/>
                  </a:lnTo>
                  <a:lnTo>
                    <a:pt x="840740" y="31242"/>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66" name="Google Shape;866;p13"/>
            <p:cNvSpPr/>
            <p:nvPr/>
          </p:nvSpPr>
          <p:spPr>
            <a:xfrm>
              <a:off x="7698660" y="4597908"/>
              <a:ext cx="857885" cy="37465"/>
            </a:xfrm>
            <a:custGeom>
              <a:rect b="b" l="l" r="r" t="t"/>
              <a:pathLst>
                <a:path extrusionOk="0" h="37464" w="857884">
                  <a:moveTo>
                    <a:pt x="857506" y="37338"/>
                  </a:moveTo>
                  <a:lnTo>
                    <a:pt x="853879" y="32404"/>
                  </a:lnTo>
                  <a:lnTo>
                    <a:pt x="819326" y="9511"/>
                  </a:lnTo>
                  <a:lnTo>
                    <a:pt x="776951" y="0"/>
                  </a:lnTo>
                  <a:lnTo>
                    <a:pt x="85055" y="0"/>
                  </a:lnTo>
                  <a:lnTo>
                    <a:pt x="44558" y="6668"/>
                  </a:lnTo>
                  <a:lnTo>
                    <a:pt x="9083" y="26974"/>
                  </a:lnTo>
                  <a:lnTo>
                    <a:pt x="0" y="37338"/>
                  </a:lnTo>
                  <a:lnTo>
                    <a:pt x="16412" y="37338"/>
                  </a:lnTo>
                  <a:lnTo>
                    <a:pt x="17237" y="36576"/>
                  </a:lnTo>
                  <a:lnTo>
                    <a:pt x="25619" y="30480"/>
                  </a:lnTo>
                  <a:lnTo>
                    <a:pt x="72366" y="13026"/>
                  </a:lnTo>
                  <a:lnTo>
                    <a:pt x="776951" y="12192"/>
                  </a:lnTo>
                  <a:lnTo>
                    <a:pt x="782285" y="12954"/>
                  </a:lnTo>
                  <a:lnTo>
                    <a:pt x="819426" y="23622"/>
                  </a:lnTo>
                  <a:lnTo>
                    <a:pt x="837846" y="37338"/>
                  </a:lnTo>
                  <a:lnTo>
                    <a:pt x="857506" y="3733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67" name="Google Shape;867;p13"/>
            <p:cNvSpPr/>
            <p:nvPr/>
          </p:nvSpPr>
          <p:spPr>
            <a:xfrm>
              <a:off x="1596275" y="4635258"/>
              <a:ext cx="7500620" cy="857250"/>
            </a:xfrm>
            <a:custGeom>
              <a:rect b="b" l="l" r="r" t="t"/>
              <a:pathLst>
                <a:path extrusionOk="0" h="857250" w="7500620">
                  <a:moveTo>
                    <a:pt x="12179" y="0"/>
                  </a:moveTo>
                  <a:lnTo>
                    <a:pt x="6096" y="0"/>
                  </a:lnTo>
                  <a:lnTo>
                    <a:pt x="0" y="0"/>
                  </a:lnTo>
                  <a:lnTo>
                    <a:pt x="0" y="857250"/>
                  </a:lnTo>
                  <a:lnTo>
                    <a:pt x="6096" y="857250"/>
                  </a:lnTo>
                  <a:lnTo>
                    <a:pt x="12179" y="857250"/>
                  </a:lnTo>
                  <a:lnTo>
                    <a:pt x="12179" y="0"/>
                  </a:lnTo>
                  <a:close/>
                </a:path>
                <a:path extrusionOk="0" h="857250" w="7500620">
                  <a:moveTo>
                    <a:pt x="7500366" y="0"/>
                  </a:moveTo>
                  <a:lnTo>
                    <a:pt x="7494270" y="0"/>
                  </a:lnTo>
                  <a:lnTo>
                    <a:pt x="7488174" y="0"/>
                  </a:lnTo>
                  <a:lnTo>
                    <a:pt x="7488174" y="857250"/>
                  </a:lnTo>
                  <a:lnTo>
                    <a:pt x="7494270" y="857250"/>
                  </a:lnTo>
                  <a:lnTo>
                    <a:pt x="7500366" y="857250"/>
                  </a:lnTo>
                  <a:lnTo>
                    <a:pt x="7500366" y="0"/>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68" name="Google Shape;868;p13"/>
            <p:cNvSpPr/>
            <p:nvPr/>
          </p:nvSpPr>
          <p:spPr>
            <a:xfrm>
              <a:off x="2106815" y="4635245"/>
              <a:ext cx="914400" cy="807085"/>
            </a:xfrm>
            <a:custGeom>
              <a:rect b="b" l="l" r="r" t="t"/>
              <a:pathLst>
                <a:path extrusionOk="0" h="807085" w="914400">
                  <a:moveTo>
                    <a:pt x="914400" y="654557"/>
                  </a:moveTo>
                  <a:lnTo>
                    <a:pt x="914400" y="0"/>
                  </a:lnTo>
                  <a:lnTo>
                    <a:pt x="0" y="0"/>
                  </a:lnTo>
                  <a:lnTo>
                    <a:pt x="0" y="654557"/>
                  </a:lnTo>
                  <a:lnTo>
                    <a:pt x="7802" y="702594"/>
                  </a:lnTo>
                  <a:lnTo>
                    <a:pt x="29504" y="744413"/>
                  </a:lnTo>
                  <a:lnTo>
                    <a:pt x="62544" y="777453"/>
                  </a:lnTo>
                  <a:lnTo>
                    <a:pt x="104363" y="799155"/>
                  </a:lnTo>
                  <a:lnTo>
                    <a:pt x="152400" y="806957"/>
                  </a:lnTo>
                  <a:lnTo>
                    <a:pt x="762000" y="806957"/>
                  </a:lnTo>
                  <a:lnTo>
                    <a:pt x="810329" y="799155"/>
                  </a:lnTo>
                  <a:lnTo>
                    <a:pt x="852184" y="777453"/>
                  </a:lnTo>
                  <a:lnTo>
                    <a:pt x="885114" y="744413"/>
                  </a:lnTo>
                  <a:lnTo>
                    <a:pt x="906670" y="702594"/>
                  </a:lnTo>
                  <a:lnTo>
                    <a:pt x="914400" y="654557"/>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69" name="Google Shape;869;p13"/>
            <p:cNvSpPr/>
            <p:nvPr/>
          </p:nvSpPr>
          <p:spPr>
            <a:xfrm>
              <a:off x="2100719" y="4635245"/>
              <a:ext cx="927735" cy="813435"/>
            </a:xfrm>
            <a:custGeom>
              <a:rect b="b" l="l" r="r" t="t"/>
              <a:pathLst>
                <a:path extrusionOk="0" h="813435" w="927735">
                  <a:moveTo>
                    <a:pt x="927354" y="654557"/>
                  </a:moveTo>
                  <a:lnTo>
                    <a:pt x="927354" y="0"/>
                  </a:lnTo>
                  <a:lnTo>
                    <a:pt x="914400" y="0"/>
                  </a:lnTo>
                  <a:lnTo>
                    <a:pt x="914400" y="662177"/>
                  </a:lnTo>
                  <a:lnTo>
                    <a:pt x="913638" y="669797"/>
                  </a:lnTo>
                  <a:lnTo>
                    <a:pt x="899013" y="719657"/>
                  </a:lnTo>
                  <a:lnTo>
                    <a:pt x="868622" y="760571"/>
                  </a:lnTo>
                  <a:lnTo>
                    <a:pt x="826259" y="788673"/>
                  </a:lnTo>
                  <a:lnTo>
                    <a:pt x="775716" y="800099"/>
                  </a:lnTo>
                  <a:lnTo>
                    <a:pt x="768096" y="800861"/>
                  </a:lnTo>
                  <a:lnTo>
                    <a:pt x="158495" y="800861"/>
                  </a:lnTo>
                  <a:lnTo>
                    <a:pt x="106978" y="790861"/>
                  </a:lnTo>
                  <a:lnTo>
                    <a:pt x="63531" y="765138"/>
                  </a:lnTo>
                  <a:lnTo>
                    <a:pt x="31562" y="726225"/>
                  </a:lnTo>
                  <a:lnTo>
                    <a:pt x="14478" y="676655"/>
                  </a:lnTo>
                  <a:lnTo>
                    <a:pt x="12954" y="0"/>
                  </a:lnTo>
                  <a:lnTo>
                    <a:pt x="0" y="0"/>
                  </a:lnTo>
                  <a:lnTo>
                    <a:pt x="0" y="662939"/>
                  </a:lnTo>
                  <a:lnTo>
                    <a:pt x="762" y="670559"/>
                  </a:lnTo>
                  <a:lnTo>
                    <a:pt x="2286" y="678941"/>
                  </a:lnTo>
                  <a:lnTo>
                    <a:pt x="3048" y="686561"/>
                  </a:lnTo>
                  <a:lnTo>
                    <a:pt x="22879" y="736492"/>
                  </a:lnTo>
                  <a:lnTo>
                    <a:pt x="57912" y="777239"/>
                  </a:lnTo>
                  <a:lnTo>
                    <a:pt x="95222" y="800205"/>
                  </a:lnTo>
                  <a:lnTo>
                    <a:pt x="137685" y="811814"/>
                  </a:lnTo>
                  <a:lnTo>
                    <a:pt x="158495" y="813053"/>
                  </a:lnTo>
                  <a:lnTo>
                    <a:pt x="776478" y="813053"/>
                  </a:lnTo>
                  <a:lnTo>
                    <a:pt x="828737" y="801458"/>
                  </a:lnTo>
                  <a:lnTo>
                    <a:pt x="867161" y="778614"/>
                  </a:lnTo>
                  <a:lnTo>
                    <a:pt x="897819" y="746175"/>
                  </a:lnTo>
                  <a:lnTo>
                    <a:pt x="918400" y="706558"/>
                  </a:lnTo>
                  <a:lnTo>
                    <a:pt x="926592" y="662177"/>
                  </a:lnTo>
                  <a:lnTo>
                    <a:pt x="927354" y="65455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870" name="Google Shape;870;p13"/>
          <p:cNvSpPr txBox="1"/>
          <p:nvPr/>
        </p:nvSpPr>
        <p:spPr>
          <a:xfrm>
            <a:off x="2416744" y="3150016"/>
            <a:ext cx="534648" cy="416910"/>
          </a:xfrm>
          <a:prstGeom prst="rect">
            <a:avLst/>
          </a:prstGeom>
          <a:noFill/>
          <a:ln>
            <a:noFill/>
          </a:ln>
        </p:spPr>
        <p:txBody>
          <a:bodyPr anchorCtr="0" anchor="t" bIns="0" lIns="0" spcFirstLastPara="1" rIns="0" wrap="square" tIns="8625">
            <a:spAutoFit/>
          </a:bodyPr>
          <a:lstStyle/>
          <a:p>
            <a:pPr indent="24616" lvl="0" marL="0" marR="3455" rtl="0" algn="just">
              <a:lnSpc>
                <a:spcPct val="100000"/>
              </a:lnSpc>
              <a:spcBef>
                <a:spcPts val="0"/>
              </a:spcBef>
              <a:spcAft>
                <a:spcPts val="0"/>
              </a:spcAft>
              <a:buNone/>
            </a:pPr>
            <a:r>
              <a:rPr b="1" i="0" lang="en-US" sz="884" u="none" cap="none" strike="noStrike">
                <a:solidFill>
                  <a:srgbClr val="33339A"/>
                </a:solidFill>
                <a:latin typeface="Arial"/>
                <a:ea typeface="Arial"/>
                <a:cs typeface="Arial"/>
                <a:sym typeface="Arial"/>
              </a:rPr>
              <a:t>Proceso, Producto, recurso</a:t>
            </a:r>
            <a:endParaRPr b="0" i="0" sz="884" u="none" cap="none" strike="noStrike">
              <a:solidFill>
                <a:srgbClr val="000000"/>
              </a:solidFill>
              <a:latin typeface="Arial"/>
              <a:ea typeface="Arial"/>
              <a:cs typeface="Arial"/>
              <a:sym typeface="Arial"/>
            </a:endParaRPr>
          </a:p>
        </p:txBody>
      </p:sp>
      <p:grpSp>
        <p:nvGrpSpPr>
          <p:cNvPr id="871" name="Google Shape;871;p13"/>
          <p:cNvGrpSpPr/>
          <p:nvPr/>
        </p:nvGrpSpPr>
        <p:grpSpPr>
          <a:xfrm>
            <a:off x="3659998" y="3204776"/>
            <a:ext cx="1822898" cy="319579"/>
            <a:chOff x="4005719" y="4712208"/>
            <a:chExt cx="2680335" cy="469900"/>
          </a:xfrm>
        </p:grpSpPr>
        <p:sp>
          <p:nvSpPr>
            <p:cNvPr id="872" name="Google Shape;872;p13"/>
            <p:cNvSpPr/>
            <p:nvPr/>
          </p:nvSpPr>
          <p:spPr>
            <a:xfrm>
              <a:off x="4011815" y="4718304"/>
              <a:ext cx="838200" cy="457200"/>
            </a:xfrm>
            <a:custGeom>
              <a:rect b="b" l="l" r="r" t="t"/>
              <a:pathLst>
                <a:path extrusionOk="0" h="457200" w="838200">
                  <a:moveTo>
                    <a:pt x="838200" y="380999"/>
                  </a:moveTo>
                  <a:lnTo>
                    <a:pt x="838200" y="76199"/>
                  </a:lnTo>
                  <a:lnTo>
                    <a:pt x="832294" y="46612"/>
                  </a:lnTo>
                  <a:lnTo>
                    <a:pt x="816101" y="22383"/>
                  </a:lnTo>
                  <a:lnTo>
                    <a:pt x="791908" y="6012"/>
                  </a:lnTo>
                  <a:lnTo>
                    <a:pt x="762000" y="0"/>
                  </a:lnTo>
                  <a:lnTo>
                    <a:pt x="76200" y="0"/>
                  </a:lnTo>
                  <a:lnTo>
                    <a:pt x="46612" y="6012"/>
                  </a:lnTo>
                  <a:lnTo>
                    <a:pt x="22383" y="22383"/>
                  </a:lnTo>
                  <a:lnTo>
                    <a:pt x="6012" y="46612"/>
                  </a:lnTo>
                  <a:lnTo>
                    <a:pt x="0" y="76200"/>
                  </a:lnTo>
                  <a:lnTo>
                    <a:pt x="0" y="381000"/>
                  </a:lnTo>
                  <a:lnTo>
                    <a:pt x="6012" y="410587"/>
                  </a:lnTo>
                  <a:lnTo>
                    <a:pt x="22383" y="434816"/>
                  </a:lnTo>
                  <a:lnTo>
                    <a:pt x="46612" y="451187"/>
                  </a:lnTo>
                  <a:lnTo>
                    <a:pt x="76200" y="457200"/>
                  </a:lnTo>
                  <a:lnTo>
                    <a:pt x="762000" y="457200"/>
                  </a:lnTo>
                  <a:lnTo>
                    <a:pt x="791908" y="451187"/>
                  </a:lnTo>
                  <a:lnTo>
                    <a:pt x="816101" y="434816"/>
                  </a:lnTo>
                  <a:lnTo>
                    <a:pt x="832294" y="410587"/>
                  </a:lnTo>
                  <a:lnTo>
                    <a:pt x="838200" y="380999"/>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73" name="Google Shape;873;p13"/>
            <p:cNvSpPr/>
            <p:nvPr/>
          </p:nvSpPr>
          <p:spPr>
            <a:xfrm>
              <a:off x="4005719" y="4712208"/>
              <a:ext cx="851535" cy="469900"/>
            </a:xfrm>
            <a:custGeom>
              <a:rect b="b" l="l" r="r" t="t"/>
              <a:pathLst>
                <a:path extrusionOk="0" h="469900" w="851535">
                  <a:moveTo>
                    <a:pt x="851154" y="387096"/>
                  </a:moveTo>
                  <a:lnTo>
                    <a:pt x="851154" y="81534"/>
                  </a:lnTo>
                  <a:lnTo>
                    <a:pt x="850391" y="73152"/>
                  </a:lnTo>
                  <a:lnTo>
                    <a:pt x="823607" y="20807"/>
                  </a:lnTo>
                  <a:lnTo>
                    <a:pt x="776478" y="0"/>
                  </a:lnTo>
                  <a:lnTo>
                    <a:pt x="82296" y="0"/>
                  </a:lnTo>
                  <a:lnTo>
                    <a:pt x="33437" y="15959"/>
                  </a:lnTo>
                  <a:lnTo>
                    <a:pt x="3809" y="57912"/>
                  </a:lnTo>
                  <a:lnTo>
                    <a:pt x="0" y="82296"/>
                  </a:lnTo>
                  <a:lnTo>
                    <a:pt x="0" y="387096"/>
                  </a:lnTo>
                  <a:lnTo>
                    <a:pt x="1524" y="403860"/>
                  </a:lnTo>
                  <a:lnTo>
                    <a:pt x="3810" y="411480"/>
                  </a:lnTo>
                  <a:lnTo>
                    <a:pt x="9906" y="426720"/>
                  </a:lnTo>
                  <a:lnTo>
                    <a:pt x="12954" y="431292"/>
                  </a:lnTo>
                  <a:lnTo>
                    <a:pt x="12954" y="74676"/>
                  </a:lnTo>
                  <a:lnTo>
                    <a:pt x="16002" y="60960"/>
                  </a:lnTo>
                  <a:lnTo>
                    <a:pt x="38099" y="28194"/>
                  </a:lnTo>
                  <a:lnTo>
                    <a:pt x="44195" y="24384"/>
                  </a:lnTo>
                  <a:lnTo>
                    <a:pt x="49529" y="20574"/>
                  </a:lnTo>
                  <a:lnTo>
                    <a:pt x="768096" y="12192"/>
                  </a:lnTo>
                  <a:lnTo>
                    <a:pt x="777240" y="13123"/>
                  </a:lnTo>
                  <a:lnTo>
                    <a:pt x="820440" y="35371"/>
                  </a:lnTo>
                  <a:lnTo>
                    <a:pt x="838200" y="75438"/>
                  </a:lnTo>
                  <a:lnTo>
                    <a:pt x="838200" y="428982"/>
                  </a:lnTo>
                  <a:lnTo>
                    <a:pt x="844123" y="419935"/>
                  </a:lnTo>
                  <a:lnTo>
                    <a:pt x="850391" y="394716"/>
                  </a:lnTo>
                  <a:lnTo>
                    <a:pt x="851154" y="387096"/>
                  </a:lnTo>
                  <a:close/>
                </a:path>
                <a:path extrusionOk="0" h="469900" w="851535">
                  <a:moveTo>
                    <a:pt x="838200" y="428982"/>
                  </a:moveTo>
                  <a:lnTo>
                    <a:pt x="838200" y="394716"/>
                  </a:lnTo>
                  <a:lnTo>
                    <a:pt x="836676" y="401574"/>
                  </a:lnTo>
                  <a:lnTo>
                    <a:pt x="828798" y="422071"/>
                  </a:lnTo>
                  <a:lnTo>
                    <a:pt x="814754" y="439154"/>
                  </a:lnTo>
                  <a:lnTo>
                    <a:pt x="796240" y="451164"/>
                  </a:lnTo>
                  <a:lnTo>
                    <a:pt x="774954" y="456438"/>
                  </a:lnTo>
                  <a:lnTo>
                    <a:pt x="768096" y="457200"/>
                  </a:lnTo>
                  <a:lnTo>
                    <a:pt x="82296" y="457200"/>
                  </a:lnTo>
                  <a:lnTo>
                    <a:pt x="41062" y="443126"/>
                  </a:lnTo>
                  <a:lnTo>
                    <a:pt x="16002" y="407670"/>
                  </a:lnTo>
                  <a:lnTo>
                    <a:pt x="12954" y="393954"/>
                  </a:lnTo>
                  <a:lnTo>
                    <a:pt x="12954" y="431292"/>
                  </a:lnTo>
                  <a:lnTo>
                    <a:pt x="43434" y="459486"/>
                  </a:lnTo>
                  <a:lnTo>
                    <a:pt x="777240" y="469392"/>
                  </a:lnTo>
                  <a:lnTo>
                    <a:pt x="785622" y="467868"/>
                  </a:lnTo>
                  <a:lnTo>
                    <a:pt x="809756" y="458157"/>
                  </a:lnTo>
                  <a:lnTo>
                    <a:pt x="829918" y="441631"/>
                  </a:lnTo>
                  <a:lnTo>
                    <a:pt x="838200" y="42898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74" name="Google Shape;874;p13"/>
            <p:cNvSpPr/>
            <p:nvPr/>
          </p:nvSpPr>
          <p:spPr>
            <a:xfrm>
              <a:off x="5840615" y="4718304"/>
              <a:ext cx="838200" cy="457200"/>
            </a:xfrm>
            <a:custGeom>
              <a:rect b="b" l="l" r="r" t="t"/>
              <a:pathLst>
                <a:path extrusionOk="0" h="457200" w="838200">
                  <a:moveTo>
                    <a:pt x="838200" y="380999"/>
                  </a:moveTo>
                  <a:lnTo>
                    <a:pt x="838200" y="76199"/>
                  </a:lnTo>
                  <a:lnTo>
                    <a:pt x="832294" y="46612"/>
                  </a:lnTo>
                  <a:lnTo>
                    <a:pt x="816101" y="22383"/>
                  </a:lnTo>
                  <a:lnTo>
                    <a:pt x="791908" y="6012"/>
                  </a:lnTo>
                  <a:lnTo>
                    <a:pt x="762000" y="0"/>
                  </a:lnTo>
                  <a:lnTo>
                    <a:pt x="76200" y="0"/>
                  </a:lnTo>
                  <a:lnTo>
                    <a:pt x="46612" y="6012"/>
                  </a:lnTo>
                  <a:lnTo>
                    <a:pt x="22383" y="22383"/>
                  </a:lnTo>
                  <a:lnTo>
                    <a:pt x="6012" y="46612"/>
                  </a:lnTo>
                  <a:lnTo>
                    <a:pt x="0" y="76200"/>
                  </a:lnTo>
                  <a:lnTo>
                    <a:pt x="0" y="381000"/>
                  </a:lnTo>
                  <a:lnTo>
                    <a:pt x="6012" y="410587"/>
                  </a:lnTo>
                  <a:lnTo>
                    <a:pt x="22383" y="434816"/>
                  </a:lnTo>
                  <a:lnTo>
                    <a:pt x="46612" y="451187"/>
                  </a:lnTo>
                  <a:lnTo>
                    <a:pt x="76200" y="457200"/>
                  </a:lnTo>
                  <a:lnTo>
                    <a:pt x="762000" y="457200"/>
                  </a:lnTo>
                  <a:lnTo>
                    <a:pt x="791908" y="451187"/>
                  </a:lnTo>
                  <a:lnTo>
                    <a:pt x="816101" y="434816"/>
                  </a:lnTo>
                  <a:lnTo>
                    <a:pt x="832294" y="410587"/>
                  </a:lnTo>
                  <a:lnTo>
                    <a:pt x="838200" y="380999"/>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75" name="Google Shape;875;p13"/>
            <p:cNvSpPr/>
            <p:nvPr/>
          </p:nvSpPr>
          <p:spPr>
            <a:xfrm>
              <a:off x="5834519" y="4712208"/>
              <a:ext cx="851535" cy="469900"/>
            </a:xfrm>
            <a:custGeom>
              <a:rect b="b" l="l" r="r" t="t"/>
              <a:pathLst>
                <a:path extrusionOk="0" h="469900" w="851534">
                  <a:moveTo>
                    <a:pt x="851154" y="387096"/>
                  </a:moveTo>
                  <a:lnTo>
                    <a:pt x="851154" y="81534"/>
                  </a:lnTo>
                  <a:lnTo>
                    <a:pt x="850391" y="73152"/>
                  </a:lnTo>
                  <a:lnTo>
                    <a:pt x="823607" y="20807"/>
                  </a:lnTo>
                  <a:lnTo>
                    <a:pt x="776478" y="0"/>
                  </a:lnTo>
                  <a:lnTo>
                    <a:pt x="82296" y="0"/>
                  </a:lnTo>
                  <a:lnTo>
                    <a:pt x="33437" y="15959"/>
                  </a:lnTo>
                  <a:lnTo>
                    <a:pt x="3809" y="57912"/>
                  </a:lnTo>
                  <a:lnTo>
                    <a:pt x="0" y="82296"/>
                  </a:lnTo>
                  <a:lnTo>
                    <a:pt x="0" y="387096"/>
                  </a:lnTo>
                  <a:lnTo>
                    <a:pt x="1524" y="403860"/>
                  </a:lnTo>
                  <a:lnTo>
                    <a:pt x="3810" y="411480"/>
                  </a:lnTo>
                  <a:lnTo>
                    <a:pt x="9906" y="426720"/>
                  </a:lnTo>
                  <a:lnTo>
                    <a:pt x="12954" y="431292"/>
                  </a:lnTo>
                  <a:lnTo>
                    <a:pt x="12954" y="74676"/>
                  </a:lnTo>
                  <a:lnTo>
                    <a:pt x="16002" y="60960"/>
                  </a:lnTo>
                  <a:lnTo>
                    <a:pt x="38099" y="28194"/>
                  </a:lnTo>
                  <a:lnTo>
                    <a:pt x="44195" y="24384"/>
                  </a:lnTo>
                  <a:lnTo>
                    <a:pt x="49529" y="20574"/>
                  </a:lnTo>
                  <a:lnTo>
                    <a:pt x="768096" y="12192"/>
                  </a:lnTo>
                  <a:lnTo>
                    <a:pt x="777240" y="13123"/>
                  </a:lnTo>
                  <a:lnTo>
                    <a:pt x="820440" y="35371"/>
                  </a:lnTo>
                  <a:lnTo>
                    <a:pt x="838200" y="75438"/>
                  </a:lnTo>
                  <a:lnTo>
                    <a:pt x="838200" y="428982"/>
                  </a:lnTo>
                  <a:lnTo>
                    <a:pt x="844123" y="419935"/>
                  </a:lnTo>
                  <a:lnTo>
                    <a:pt x="850391" y="394716"/>
                  </a:lnTo>
                  <a:lnTo>
                    <a:pt x="851154" y="387096"/>
                  </a:lnTo>
                  <a:close/>
                </a:path>
                <a:path extrusionOk="0" h="469900" w="851534">
                  <a:moveTo>
                    <a:pt x="838200" y="428982"/>
                  </a:moveTo>
                  <a:lnTo>
                    <a:pt x="838200" y="394716"/>
                  </a:lnTo>
                  <a:lnTo>
                    <a:pt x="836676" y="401574"/>
                  </a:lnTo>
                  <a:lnTo>
                    <a:pt x="828798" y="422071"/>
                  </a:lnTo>
                  <a:lnTo>
                    <a:pt x="814754" y="439154"/>
                  </a:lnTo>
                  <a:lnTo>
                    <a:pt x="796240" y="451164"/>
                  </a:lnTo>
                  <a:lnTo>
                    <a:pt x="774954" y="456438"/>
                  </a:lnTo>
                  <a:lnTo>
                    <a:pt x="768096" y="457200"/>
                  </a:lnTo>
                  <a:lnTo>
                    <a:pt x="82296" y="457200"/>
                  </a:lnTo>
                  <a:lnTo>
                    <a:pt x="41062" y="443126"/>
                  </a:lnTo>
                  <a:lnTo>
                    <a:pt x="16002" y="407670"/>
                  </a:lnTo>
                  <a:lnTo>
                    <a:pt x="12954" y="393954"/>
                  </a:lnTo>
                  <a:lnTo>
                    <a:pt x="12954" y="431292"/>
                  </a:lnTo>
                  <a:lnTo>
                    <a:pt x="43434" y="459486"/>
                  </a:lnTo>
                  <a:lnTo>
                    <a:pt x="777240" y="469392"/>
                  </a:lnTo>
                  <a:lnTo>
                    <a:pt x="785622" y="467868"/>
                  </a:lnTo>
                  <a:lnTo>
                    <a:pt x="809756" y="458157"/>
                  </a:lnTo>
                  <a:lnTo>
                    <a:pt x="829918" y="441631"/>
                  </a:lnTo>
                  <a:lnTo>
                    <a:pt x="838200" y="42898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876" name="Google Shape;876;p13"/>
          <p:cNvSpPr txBox="1"/>
          <p:nvPr/>
        </p:nvSpPr>
        <p:spPr>
          <a:xfrm>
            <a:off x="4939515" y="3217387"/>
            <a:ext cx="515646" cy="280847"/>
          </a:xfrm>
          <a:prstGeom prst="rect">
            <a:avLst/>
          </a:prstGeom>
          <a:noFill/>
          <a:ln>
            <a:noFill/>
          </a:ln>
        </p:spPr>
        <p:txBody>
          <a:bodyPr anchorCtr="0" anchor="t" bIns="0" lIns="0" spcFirstLastPara="1" rIns="0" wrap="square" tIns="8625">
            <a:spAutoFit/>
          </a:bodyPr>
          <a:lstStyle/>
          <a:p>
            <a:pPr indent="96737" lvl="0" marL="0" marR="3455" rtl="0" algn="l">
              <a:lnSpc>
                <a:spcPct val="100000"/>
              </a:lnSpc>
              <a:spcBef>
                <a:spcPts val="0"/>
              </a:spcBef>
              <a:spcAft>
                <a:spcPts val="0"/>
              </a:spcAft>
              <a:buNone/>
            </a:pPr>
            <a:r>
              <a:rPr b="1" i="0" lang="en-US" sz="884" u="none" cap="none" strike="noStrike">
                <a:solidFill>
                  <a:srgbClr val="33339A"/>
                </a:solidFill>
                <a:latin typeface="Arial"/>
                <a:ea typeface="Arial"/>
                <a:cs typeface="Arial"/>
                <a:sym typeface="Arial"/>
              </a:rPr>
              <a:t>Datos refinados</a:t>
            </a:r>
            <a:endParaRPr b="0" i="0" sz="884" u="none" cap="none" strike="noStrike">
              <a:solidFill>
                <a:srgbClr val="000000"/>
              </a:solidFill>
              <a:latin typeface="Arial"/>
              <a:ea typeface="Arial"/>
              <a:cs typeface="Arial"/>
              <a:sym typeface="Arial"/>
            </a:endParaRPr>
          </a:p>
        </p:txBody>
      </p:sp>
      <p:grpSp>
        <p:nvGrpSpPr>
          <p:cNvPr id="877" name="Google Shape;877;p13"/>
          <p:cNvGrpSpPr/>
          <p:nvPr/>
        </p:nvGrpSpPr>
        <p:grpSpPr>
          <a:xfrm>
            <a:off x="6147535" y="3152434"/>
            <a:ext cx="630953" cy="449570"/>
            <a:chOff x="7663319" y="4635245"/>
            <a:chExt cx="927735" cy="661035"/>
          </a:xfrm>
        </p:grpSpPr>
        <p:sp>
          <p:nvSpPr>
            <p:cNvPr id="878" name="Google Shape;878;p13"/>
            <p:cNvSpPr/>
            <p:nvPr/>
          </p:nvSpPr>
          <p:spPr>
            <a:xfrm>
              <a:off x="7669416" y="4635245"/>
              <a:ext cx="914400" cy="654685"/>
            </a:xfrm>
            <a:custGeom>
              <a:rect b="b" l="l" r="r" t="t"/>
              <a:pathLst>
                <a:path extrusionOk="0" h="654685" w="914400">
                  <a:moveTo>
                    <a:pt x="914400" y="540257"/>
                  </a:moveTo>
                  <a:lnTo>
                    <a:pt x="914400" y="83057"/>
                  </a:lnTo>
                  <a:lnTo>
                    <a:pt x="905434" y="38516"/>
                  </a:lnTo>
                  <a:lnTo>
                    <a:pt x="880967" y="2190"/>
                  </a:lnTo>
                  <a:lnTo>
                    <a:pt x="877714" y="0"/>
                  </a:lnTo>
                  <a:lnTo>
                    <a:pt x="36974" y="0"/>
                  </a:lnTo>
                  <a:lnTo>
                    <a:pt x="33718" y="2190"/>
                  </a:lnTo>
                  <a:lnTo>
                    <a:pt x="9072" y="38516"/>
                  </a:lnTo>
                  <a:lnTo>
                    <a:pt x="0" y="83057"/>
                  </a:lnTo>
                  <a:lnTo>
                    <a:pt x="0" y="540257"/>
                  </a:lnTo>
                  <a:lnTo>
                    <a:pt x="9072" y="584799"/>
                  </a:lnTo>
                  <a:lnTo>
                    <a:pt x="33718" y="621125"/>
                  </a:lnTo>
                  <a:lnTo>
                    <a:pt x="70080" y="645592"/>
                  </a:lnTo>
                  <a:lnTo>
                    <a:pt x="114300" y="654557"/>
                  </a:lnTo>
                  <a:lnTo>
                    <a:pt x="800100" y="654557"/>
                  </a:lnTo>
                  <a:lnTo>
                    <a:pt x="844641" y="645592"/>
                  </a:lnTo>
                  <a:lnTo>
                    <a:pt x="880967" y="621125"/>
                  </a:lnTo>
                  <a:lnTo>
                    <a:pt x="905434" y="584799"/>
                  </a:lnTo>
                  <a:lnTo>
                    <a:pt x="914400" y="540257"/>
                  </a:lnTo>
                  <a:close/>
                </a:path>
              </a:pathLst>
            </a:custGeom>
            <a:solidFill>
              <a:srgbClr val="DDDDD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79" name="Google Shape;879;p13"/>
            <p:cNvSpPr/>
            <p:nvPr/>
          </p:nvSpPr>
          <p:spPr>
            <a:xfrm>
              <a:off x="7663319" y="4635245"/>
              <a:ext cx="927735" cy="661035"/>
            </a:xfrm>
            <a:custGeom>
              <a:rect b="b" l="l" r="r" t="t"/>
              <a:pathLst>
                <a:path extrusionOk="0" h="661035" w="927734">
                  <a:moveTo>
                    <a:pt x="51752" y="0"/>
                  </a:moveTo>
                  <a:lnTo>
                    <a:pt x="35340" y="0"/>
                  </a:lnTo>
                  <a:lnTo>
                    <a:pt x="17408" y="20458"/>
                  </a:lnTo>
                  <a:lnTo>
                    <a:pt x="2285" y="58674"/>
                  </a:lnTo>
                  <a:lnTo>
                    <a:pt x="0" y="76962"/>
                  </a:lnTo>
                  <a:lnTo>
                    <a:pt x="0" y="546353"/>
                  </a:lnTo>
                  <a:lnTo>
                    <a:pt x="2285" y="564642"/>
                  </a:lnTo>
                  <a:lnTo>
                    <a:pt x="5333" y="576071"/>
                  </a:lnTo>
                  <a:lnTo>
                    <a:pt x="12492" y="593745"/>
                  </a:lnTo>
                  <a:lnTo>
                    <a:pt x="12953" y="594580"/>
                  </a:lnTo>
                  <a:lnTo>
                    <a:pt x="12953" y="71627"/>
                  </a:lnTo>
                  <a:lnTo>
                    <a:pt x="17525" y="50291"/>
                  </a:lnTo>
                  <a:lnTo>
                    <a:pt x="23788" y="35203"/>
                  </a:lnTo>
                  <a:lnTo>
                    <a:pt x="31213" y="22107"/>
                  </a:lnTo>
                  <a:lnTo>
                    <a:pt x="40557" y="10340"/>
                  </a:lnTo>
                  <a:lnTo>
                    <a:pt x="51752" y="0"/>
                  </a:lnTo>
                  <a:close/>
                </a:path>
                <a:path extrusionOk="0" h="661035" w="927734">
                  <a:moveTo>
                    <a:pt x="914400" y="592475"/>
                  </a:moveTo>
                  <a:lnTo>
                    <a:pt x="914400" y="545591"/>
                  </a:lnTo>
                  <a:lnTo>
                    <a:pt x="913637" y="551687"/>
                  </a:lnTo>
                  <a:lnTo>
                    <a:pt x="903241" y="588178"/>
                  </a:lnTo>
                  <a:lnTo>
                    <a:pt x="880367" y="618715"/>
                  </a:lnTo>
                  <a:lnTo>
                    <a:pt x="811529" y="647699"/>
                  </a:lnTo>
                  <a:lnTo>
                    <a:pt x="120396" y="648462"/>
                  </a:lnTo>
                  <a:lnTo>
                    <a:pt x="83862" y="641552"/>
                  </a:lnTo>
                  <a:lnTo>
                    <a:pt x="52311" y="623587"/>
                  </a:lnTo>
                  <a:lnTo>
                    <a:pt x="28513" y="596342"/>
                  </a:lnTo>
                  <a:lnTo>
                    <a:pt x="15240" y="561594"/>
                  </a:lnTo>
                  <a:lnTo>
                    <a:pt x="12953" y="550926"/>
                  </a:lnTo>
                  <a:lnTo>
                    <a:pt x="12953" y="594580"/>
                  </a:lnTo>
                  <a:lnTo>
                    <a:pt x="44196" y="633221"/>
                  </a:lnTo>
                  <a:lnTo>
                    <a:pt x="90858" y="656934"/>
                  </a:lnTo>
                  <a:lnTo>
                    <a:pt x="120396" y="660653"/>
                  </a:lnTo>
                  <a:lnTo>
                    <a:pt x="813053" y="660653"/>
                  </a:lnTo>
                  <a:lnTo>
                    <a:pt x="819150" y="659891"/>
                  </a:lnTo>
                  <a:lnTo>
                    <a:pt x="860456" y="648225"/>
                  </a:lnTo>
                  <a:lnTo>
                    <a:pt x="894045" y="623235"/>
                  </a:lnTo>
                  <a:lnTo>
                    <a:pt x="914400" y="592475"/>
                  </a:lnTo>
                  <a:close/>
                </a:path>
                <a:path extrusionOk="0" h="661035" w="927734">
                  <a:moveTo>
                    <a:pt x="927353" y="546353"/>
                  </a:moveTo>
                  <a:lnTo>
                    <a:pt x="927353" y="76199"/>
                  </a:lnTo>
                  <a:lnTo>
                    <a:pt x="926592" y="70103"/>
                  </a:lnTo>
                  <a:lnTo>
                    <a:pt x="913885" y="28616"/>
                  </a:lnTo>
                  <a:lnTo>
                    <a:pt x="892847" y="0"/>
                  </a:lnTo>
                  <a:lnTo>
                    <a:pt x="873187" y="0"/>
                  </a:lnTo>
                  <a:lnTo>
                    <a:pt x="884815" y="8658"/>
                  </a:lnTo>
                  <a:lnTo>
                    <a:pt x="905461" y="40038"/>
                  </a:lnTo>
                  <a:lnTo>
                    <a:pt x="914400" y="77723"/>
                  </a:lnTo>
                  <a:lnTo>
                    <a:pt x="914400" y="592475"/>
                  </a:lnTo>
                  <a:lnTo>
                    <a:pt x="917237" y="588188"/>
                  </a:lnTo>
                  <a:lnTo>
                    <a:pt x="927353" y="54635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880" name="Google Shape;880;p13"/>
          <p:cNvSpPr txBox="1"/>
          <p:nvPr/>
        </p:nvSpPr>
        <p:spPr>
          <a:xfrm>
            <a:off x="6181734" y="3150016"/>
            <a:ext cx="570924" cy="416910"/>
          </a:xfrm>
          <a:prstGeom prst="rect">
            <a:avLst/>
          </a:prstGeom>
          <a:noFill/>
          <a:ln>
            <a:noFill/>
          </a:ln>
        </p:spPr>
        <p:txBody>
          <a:bodyPr anchorCtr="0" anchor="t" bIns="0" lIns="0" spcFirstLastPara="1" rIns="0" wrap="square" tIns="8625">
            <a:spAutoFit/>
          </a:bodyPr>
          <a:lstStyle/>
          <a:p>
            <a:pPr indent="-14683" lvl="0" marL="14683" marR="3455" rtl="0" algn="just">
              <a:lnSpc>
                <a:spcPct val="100000"/>
              </a:lnSpc>
              <a:spcBef>
                <a:spcPts val="0"/>
              </a:spcBef>
              <a:spcAft>
                <a:spcPts val="0"/>
              </a:spcAft>
              <a:buNone/>
            </a:pPr>
            <a:r>
              <a:rPr b="1" i="0" lang="en-US" sz="884" u="none" cap="none" strike="noStrike">
                <a:solidFill>
                  <a:srgbClr val="33339A"/>
                </a:solidFill>
                <a:latin typeface="Arial"/>
                <a:ea typeface="Arial"/>
                <a:cs typeface="Arial"/>
                <a:sym typeface="Arial"/>
              </a:rPr>
              <a:t>Valores de atributos derivados</a:t>
            </a:r>
            <a:endParaRPr b="0" i="0" sz="884" u="none" cap="none" strike="noStrike">
              <a:solidFill>
                <a:srgbClr val="000000"/>
              </a:solidFill>
              <a:latin typeface="Arial"/>
              <a:ea typeface="Arial"/>
              <a:cs typeface="Arial"/>
              <a:sym typeface="Arial"/>
            </a:endParaRPr>
          </a:p>
        </p:txBody>
      </p:sp>
      <p:sp>
        <p:nvSpPr>
          <p:cNvPr id="881" name="Google Shape;881;p13"/>
          <p:cNvSpPr/>
          <p:nvPr/>
        </p:nvSpPr>
        <p:spPr>
          <a:xfrm>
            <a:off x="2990436" y="3346782"/>
            <a:ext cx="3161244" cy="34981"/>
          </a:xfrm>
          <a:custGeom>
            <a:rect b="b" l="l" r="r" t="t"/>
            <a:pathLst>
              <a:path extrusionOk="0" h="51435" w="4648200">
                <a:moveTo>
                  <a:pt x="990600" y="25908"/>
                </a:moveTo>
                <a:lnTo>
                  <a:pt x="940308" y="0"/>
                </a:lnTo>
                <a:lnTo>
                  <a:pt x="940308" y="19050"/>
                </a:lnTo>
                <a:lnTo>
                  <a:pt x="0" y="19050"/>
                </a:lnTo>
                <a:lnTo>
                  <a:pt x="0" y="32004"/>
                </a:lnTo>
                <a:lnTo>
                  <a:pt x="940308" y="32004"/>
                </a:lnTo>
                <a:lnTo>
                  <a:pt x="940308" y="51054"/>
                </a:lnTo>
                <a:lnTo>
                  <a:pt x="952487" y="44958"/>
                </a:lnTo>
                <a:lnTo>
                  <a:pt x="990600" y="25908"/>
                </a:lnTo>
                <a:close/>
              </a:path>
              <a:path extrusionOk="0" h="51435" w="4648200">
                <a:moveTo>
                  <a:pt x="2819400" y="25908"/>
                </a:moveTo>
                <a:lnTo>
                  <a:pt x="2769108" y="0"/>
                </a:lnTo>
                <a:lnTo>
                  <a:pt x="2769108" y="19050"/>
                </a:lnTo>
                <a:lnTo>
                  <a:pt x="1828800" y="19050"/>
                </a:lnTo>
                <a:lnTo>
                  <a:pt x="1828800" y="32004"/>
                </a:lnTo>
                <a:lnTo>
                  <a:pt x="2769108" y="32004"/>
                </a:lnTo>
                <a:lnTo>
                  <a:pt x="2769108" y="51054"/>
                </a:lnTo>
                <a:lnTo>
                  <a:pt x="2781300" y="44958"/>
                </a:lnTo>
                <a:lnTo>
                  <a:pt x="2819400" y="25908"/>
                </a:lnTo>
                <a:close/>
              </a:path>
              <a:path extrusionOk="0" h="51435" w="4648200">
                <a:moveTo>
                  <a:pt x="4648200" y="25908"/>
                </a:moveTo>
                <a:lnTo>
                  <a:pt x="4597908" y="0"/>
                </a:lnTo>
                <a:lnTo>
                  <a:pt x="4597908" y="19050"/>
                </a:lnTo>
                <a:lnTo>
                  <a:pt x="3657600" y="19050"/>
                </a:lnTo>
                <a:lnTo>
                  <a:pt x="3657600" y="32004"/>
                </a:lnTo>
                <a:lnTo>
                  <a:pt x="4597908" y="32004"/>
                </a:lnTo>
                <a:lnTo>
                  <a:pt x="4597908" y="51054"/>
                </a:lnTo>
                <a:lnTo>
                  <a:pt x="4610100" y="44958"/>
                </a:lnTo>
                <a:lnTo>
                  <a:pt x="4648200" y="2590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82" name="Google Shape;882;p13"/>
          <p:cNvSpPr txBox="1"/>
          <p:nvPr/>
        </p:nvSpPr>
        <p:spPr>
          <a:xfrm>
            <a:off x="3056076" y="3082856"/>
            <a:ext cx="1837581" cy="391775"/>
          </a:xfrm>
          <a:prstGeom prst="rect">
            <a:avLst/>
          </a:prstGeom>
          <a:noFill/>
          <a:ln>
            <a:noFill/>
          </a:ln>
        </p:spPr>
        <p:txBody>
          <a:bodyPr anchorCtr="0" anchor="t" bIns="0" lIns="0" spcFirstLastPara="1" rIns="0" wrap="square" tIns="8625">
            <a:spAutoFit/>
          </a:bodyPr>
          <a:lstStyle/>
          <a:p>
            <a:pPr indent="-22457" lvl="0" marL="39300" marR="29367" rtl="0" algn="l">
              <a:lnSpc>
                <a:spcPct val="150000"/>
              </a:lnSpc>
              <a:spcBef>
                <a:spcPts val="0"/>
              </a:spcBef>
              <a:spcAft>
                <a:spcPts val="0"/>
              </a:spcAft>
              <a:buNone/>
            </a:pPr>
            <a:r>
              <a:rPr b="1" i="0" lang="en-US" sz="884" u="none" cap="none" strike="noStrike">
                <a:solidFill>
                  <a:srgbClr val="000000"/>
                </a:solidFill>
                <a:latin typeface="Arial"/>
                <a:ea typeface="Arial"/>
                <a:cs typeface="Arial"/>
                <a:sym typeface="Arial"/>
              </a:rPr>
              <a:t>Recogida	</a:t>
            </a:r>
            <a:r>
              <a:rPr b="1" baseline="-25000" i="0" lang="en-US" sz="1326" u="none" cap="none" strike="noStrike">
                <a:solidFill>
                  <a:srgbClr val="33339A"/>
                </a:solidFill>
                <a:latin typeface="Arial"/>
                <a:ea typeface="Arial"/>
                <a:cs typeface="Arial"/>
                <a:sym typeface="Arial"/>
              </a:rPr>
              <a:t>Datos sin	</a:t>
            </a:r>
            <a:r>
              <a:rPr b="1" i="0" lang="en-US" sz="884" u="none" cap="none" strike="noStrike">
                <a:solidFill>
                  <a:srgbClr val="000000"/>
                </a:solidFill>
                <a:latin typeface="Arial"/>
                <a:ea typeface="Arial"/>
                <a:cs typeface="Arial"/>
                <a:sym typeface="Arial"/>
              </a:rPr>
              <a:t>Extracción de datos		</a:t>
            </a:r>
            <a:r>
              <a:rPr b="1" i="0" lang="en-US" sz="884" u="none" cap="none" strike="noStrike">
                <a:solidFill>
                  <a:srgbClr val="33339A"/>
                </a:solidFill>
                <a:latin typeface="Arial"/>
                <a:ea typeface="Arial"/>
                <a:cs typeface="Arial"/>
                <a:sym typeface="Arial"/>
              </a:rPr>
              <a:t>refinar</a:t>
            </a:r>
            <a:endParaRPr b="0" i="0" sz="884" u="none" cap="none" strike="noStrike">
              <a:solidFill>
                <a:srgbClr val="000000"/>
              </a:solidFill>
              <a:latin typeface="Arial"/>
              <a:ea typeface="Arial"/>
              <a:cs typeface="Arial"/>
              <a:sym typeface="Arial"/>
            </a:endParaRPr>
          </a:p>
        </p:txBody>
      </p:sp>
      <p:sp>
        <p:nvSpPr>
          <p:cNvPr id="883" name="Google Shape;883;p13"/>
          <p:cNvSpPr txBox="1"/>
          <p:nvPr/>
        </p:nvSpPr>
        <p:spPr>
          <a:xfrm>
            <a:off x="5598727" y="3165569"/>
            <a:ext cx="440069" cy="144784"/>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884" u="none" cap="none" strike="noStrike">
                <a:solidFill>
                  <a:srgbClr val="000000"/>
                </a:solidFill>
                <a:latin typeface="Arial"/>
                <a:ea typeface="Arial"/>
                <a:cs typeface="Arial"/>
                <a:sym typeface="Arial"/>
              </a:rPr>
              <a:t>Análisis</a:t>
            </a:r>
            <a:endParaRPr b="0" i="0" sz="884" u="none" cap="none" strike="noStrike">
              <a:solidFill>
                <a:srgbClr val="000000"/>
              </a:solidFill>
              <a:latin typeface="Arial"/>
              <a:ea typeface="Arial"/>
              <a:cs typeface="Arial"/>
              <a:sym typeface="Arial"/>
            </a:endParaRPr>
          </a:p>
        </p:txBody>
      </p:sp>
      <p:grpSp>
        <p:nvGrpSpPr>
          <p:cNvPr id="884" name="Google Shape;884;p13"/>
          <p:cNvGrpSpPr/>
          <p:nvPr/>
        </p:nvGrpSpPr>
        <p:grpSpPr>
          <a:xfrm>
            <a:off x="2021334" y="3675343"/>
            <a:ext cx="5101609" cy="439724"/>
            <a:chOff x="1596275" y="5404116"/>
            <a:chExt cx="7501255" cy="646557"/>
          </a:xfrm>
        </p:grpSpPr>
        <p:sp>
          <p:nvSpPr>
            <p:cNvPr id="885" name="Google Shape;885;p13"/>
            <p:cNvSpPr/>
            <p:nvPr/>
          </p:nvSpPr>
          <p:spPr>
            <a:xfrm>
              <a:off x="3021215" y="5404116"/>
              <a:ext cx="5105400" cy="76200"/>
            </a:xfrm>
            <a:custGeom>
              <a:rect b="b" l="l" r="r" t="t"/>
              <a:pathLst>
                <a:path extrusionOk="0" h="76200" w="5105400">
                  <a:moveTo>
                    <a:pt x="3200400" y="38100"/>
                  </a:moveTo>
                  <a:lnTo>
                    <a:pt x="3124200" y="0"/>
                  </a:lnTo>
                  <a:lnTo>
                    <a:pt x="3124200" y="31242"/>
                  </a:lnTo>
                  <a:lnTo>
                    <a:pt x="76200" y="31242"/>
                  </a:lnTo>
                  <a:lnTo>
                    <a:pt x="76200" y="0"/>
                  </a:lnTo>
                  <a:lnTo>
                    <a:pt x="0" y="38100"/>
                  </a:lnTo>
                  <a:lnTo>
                    <a:pt x="64008" y="70104"/>
                  </a:lnTo>
                  <a:lnTo>
                    <a:pt x="76200" y="76200"/>
                  </a:lnTo>
                  <a:lnTo>
                    <a:pt x="76200" y="44196"/>
                  </a:lnTo>
                  <a:lnTo>
                    <a:pt x="3124200" y="44196"/>
                  </a:lnTo>
                  <a:lnTo>
                    <a:pt x="3124200" y="76200"/>
                  </a:lnTo>
                  <a:lnTo>
                    <a:pt x="3137154" y="69723"/>
                  </a:lnTo>
                  <a:lnTo>
                    <a:pt x="3200400" y="38100"/>
                  </a:lnTo>
                  <a:close/>
                </a:path>
                <a:path extrusionOk="0" h="76200" w="5105400">
                  <a:moveTo>
                    <a:pt x="5105400" y="38100"/>
                  </a:moveTo>
                  <a:lnTo>
                    <a:pt x="5029200" y="0"/>
                  </a:lnTo>
                  <a:lnTo>
                    <a:pt x="5029200" y="31242"/>
                  </a:lnTo>
                  <a:lnTo>
                    <a:pt x="3352800" y="31242"/>
                  </a:lnTo>
                  <a:lnTo>
                    <a:pt x="3352800" y="0"/>
                  </a:lnTo>
                  <a:lnTo>
                    <a:pt x="3276600" y="38100"/>
                  </a:lnTo>
                  <a:lnTo>
                    <a:pt x="3340608" y="70104"/>
                  </a:lnTo>
                  <a:lnTo>
                    <a:pt x="3352800" y="76200"/>
                  </a:lnTo>
                  <a:lnTo>
                    <a:pt x="3352800" y="44196"/>
                  </a:lnTo>
                  <a:lnTo>
                    <a:pt x="5029200" y="44196"/>
                  </a:lnTo>
                  <a:lnTo>
                    <a:pt x="5029200" y="76200"/>
                  </a:lnTo>
                  <a:lnTo>
                    <a:pt x="5042154" y="69723"/>
                  </a:lnTo>
                  <a:lnTo>
                    <a:pt x="5105400" y="3810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886" name="Google Shape;886;p13"/>
            <p:cNvSpPr/>
            <p:nvPr/>
          </p:nvSpPr>
          <p:spPr>
            <a:xfrm>
              <a:off x="1596275" y="5492508"/>
              <a:ext cx="7501255" cy="558165"/>
            </a:xfrm>
            <a:custGeom>
              <a:rect b="b" l="l" r="r" t="t"/>
              <a:pathLst>
                <a:path extrusionOk="0" h="558164" w="7501255">
                  <a:moveTo>
                    <a:pt x="7500734" y="550926"/>
                  </a:moveTo>
                  <a:lnTo>
                    <a:pt x="7500366" y="550926"/>
                  </a:lnTo>
                  <a:lnTo>
                    <a:pt x="7500366" y="0"/>
                  </a:lnTo>
                  <a:lnTo>
                    <a:pt x="7494270" y="0"/>
                  </a:lnTo>
                  <a:lnTo>
                    <a:pt x="7488174" y="0"/>
                  </a:lnTo>
                  <a:lnTo>
                    <a:pt x="7488174" y="544830"/>
                  </a:lnTo>
                  <a:lnTo>
                    <a:pt x="12192" y="544830"/>
                  </a:lnTo>
                  <a:lnTo>
                    <a:pt x="12192" y="0"/>
                  </a:lnTo>
                  <a:lnTo>
                    <a:pt x="6464" y="0"/>
                  </a:lnTo>
                  <a:lnTo>
                    <a:pt x="114" y="0"/>
                  </a:lnTo>
                  <a:lnTo>
                    <a:pt x="0" y="557784"/>
                  </a:lnTo>
                  <a:lnTo>
                    <a:pt x="6096" y="557784"/>
                  </a:lnTo>
                  <a:lnTo>
                    <a:pt x="7500734" y="557784"/>
                  </a:lnTo>
                  <a:lnTo>
                    <a:pt x="7500734" y="550926"/>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887" name="Google Shape;887;p13"/>
          <p:cNvSpPr txBox="1"/>
          <p:nvPr/>
        </p:nvSpPr>
        <p:spPr>
          <a:xfrm>
            <a:off x="3634082" y="3720077"/>
            <a:ext cx="897845" cy="144784"/>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884" u="none" cap="none" strike="noStrike">
                <a:solidFill>
                  <a:srgbClr val="CF0E30"/>
                </a:solidFill>
                <a:latin typeface="Arial"/>
                <a:ea typeface="Arial"/>
                <a:cs typeface="Arial"/>
                <a:sym typeface="Arial"/>
              </a:rPr>
              <a:t>Medición directa</a:t>
            </a:r>
            <a:endParaRPr b="0" i="0" sz="884" u="none" cap="none" strike="noStrike">
              <a:solidFill>
                <a:srgbClr val="000000"/>
              </a:solidFill>
              <a:latin typeface="Arial"/>
              <a:ea typeface="Arial"/>
              <a:cs typeface="Arial"/>
              <a:sym typeface="Arial"/>
            </a:endParaRPr>
          </a:p>
        </p:txBody>
      </p:sp>
      <p:sp>
        <p:nvSpPr>
          <p:cNvPr id="888" name="Google Shape;888;p13"/>
          <p:cNvSpPr txBox="1"/>
          <p:nvPr/>
        </p:nvSpPr>
        <p:spPr>
          <a:xfrm>
            <a:off x="5372347" y="3720077"/>
            <a:ext cx="997606" cy="144784"/>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884" u="none" cap="none" strike="noStrike">
                <a:solidFill>
                  <a:srgbClr val="CF0E30"/>
                </a:solidFill>
                <a:latin typeface="Arial"/>
                <a:ea typeface="Arial"/>
                <a:cs typeface="Arial"/>
                <a:sym typeface="Arial"/>
              </a:rPr>
              <a:t>Medición indirecta</a:t>
            </a:r>
            <a:endParaRPr b="0" i="0" sz="884" u="none" cap="none" strike="noStrike">
              <a:solidFill>
                <a:srgbClr val="000000"/>
              </a:solidFill>
              <a:latin typeface="Arial"/>
              <a:ea typeface="Arial"/>
              <a:cs typeface="Arial"/>
              <a:sym typeface="Arial"/>
            </a:endParaRPr>
          </a:p>
        </p:txBody>
      </p:sp>
      <p:sp>
        <p:nvSpPr>
          <p:cNvPr id="889" name="Google Shape;889;p13"/>
          <p:cNvSpPr txBox="1"/>
          <p:nvPr/>
        </p:nvSpPr>
        <p:spPr>
          <a:xfrm>
            <a:off x="3675195" y="4242977"/>
            <a:ext cx="1791372"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816" u="none" cap="none" strike="noStrike">
                <a:solidFill>
                  <a:srgbClr val="000104"/>
                </a:solidFill>
                <a:latin typeface="Arial"/>
                <a:ea typeface="Arial"/>
                <a:cs typeface="Arial"/>
                <a:sym typeface="Arial"/>
              </a:rPr>
              <a:t>Recolección de datos para la medición</a:t>
            </a:r>
            <a:endParaRPr b="0" i="0" sz="816"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4"/>
          <p:cNvSpPr txBox="1"/>
          <p:nvPr>
            <p:ph idx="4294967295" type="title"/>
          </p:nvPr>
        </p:nvSpPr>
        <p:spPr>
          <a:xfrm>
            <a:off x="1146607" y="184691"/>
            <a:ext cx="7772400" cy="608801"/>
          </a:xfrm>
          <a:prstGeom prst="rect">
            <a:avLst/>
          </a:prstGeom>
          <a:noFill/>
          <a:ln>
            <a:noFill/>
          </a:ln>
        </p:spPr>
        <p:txBody>
          <a:bodyPr anchorCtr="0" anchor="t" bIns="0" lIns="0" spcFirstLastPara="1" rIns="0" wrap="square" tIns="133000">
            <a:spAutoFit/>
          </a:bodyPr>
          <a:lstStyle/>
          <a:p>
            <a:pPr indent="0" lvl="0" marL="8637" rtl="0" algn="ctr">
              <a:lnSpc>
                <a:spcPct val="100000"/>
              </a:lnSpc>
              <a:spcBef>
                <a:spcPts val="68"/>
              </a:spcBef>
              <a:spcAft>
                <a:spcPts val="0"/>
              </a:spcAft>
              <a:buSzPts val="3000"/>
              <a:buNone/>
            </a:pPr>
            <a:r>
              <a:rPr lang="en-US">
                <a:solidFill>
                  <a:srgbClr val="FF0000"/>
                </a:solidFill>
              </a:rPr>
              <a:t>Recogida de datos métricos (V)</a:t>
            </a:r>
            <a:endParaRPr/>
          </a:p>
        </p:txBody>
      </p:sp>
      <p:sp>
        <p:nvSpPr>
          <p:cNvPr id="895" name="Google Shape;895;p14"/>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96" name="Google Shape;896;p14"/>
          <p:cNvSpPr txBox="1"/>
          <p:nvPr/>
        </p:nvSpPr>
        <p:spPr>
          <a:xfrm>
            <a:off x="2821660" y="1694288"/>
            <a:ext cx="3406975"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1088" u="none" cap="none" strike="noStrike">
                <a:solidFill>
                  <a:srgbClr val="CB132D"/>
                </a:solidFill>
                <a:latin typeface="Times New Roman"/>
                <a:ea typeface="Times New Roman"/>
                <a:cs typeface="Times New Roman"/>
                <a:sym typeface="Times New Roman"/>
              </a:rPr>
              <a:t>OBJETIVO</a:t>
            </a:r>
            <a:r>
              <a:rPr b="0" i="0" lang="en-US" sz="1020" u="none" cap="none" strike="noStrike">
                <a:solidFill>
                  <a:srgbClr val="33339A"/>
                </a:solidFill>
                <a:latin typeface="Times New Roman"/>
                <a:ea typeface="Times New Roman"/>
                <a:cs typeface="Times New Roman"/>
                <a:sym typeface="Times New Roman"/>
              </a:rPr>
              <a:t>: Evaluar la efectividad del estándar de codificación</a:t>
            </a:r>
            <a:endParaRPr b="0" i="0" sz="1020" u="none" cap="none" strike="noStrike">
              <a:solidFill>
                <a:srgbClr val="000000"/>
              </a:solidFill>
              <a:latin typeface="Times New Roman"/>
              <a:ea typeface="Times New Roman"/>
              <a:cs typeface="Times New Roman"/>
              <a:sym typeface="Times New Roman"/>
            </a:endParaRPr>
          </a:p>
        </p:txBody>
      </p:sp>
      <p:sp>
        <p:nvSpPr>
          <p:cNvPr id="897" name="Google Shape;897;p14"/>
          <p:cNvSpPr txBox="1"/>
          <p:nvPr/>
        </p:nvSpPr>
        <p:spPr>
          <a:xfrm>
            <a:off x="2349546" y="2157592"/>
            <a:ext cx="896981"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1088" u="none" cap="none" strike="noStrike">
                <a:solidFill>
                  <a:srgbClr val="CB132D"/>
                </a:solidFill>
                <a:latin typeface="Times New Roman"/>
                <a:ea typeface="Times New Roman"/>
                <a:cs typeface="Times New Roman"/>
                <a:sym typeface="Times New Roman"/>
              </a:rPr>
              <a:t>PREGUNTAS</a:t>
            </a:r>
            <a:r>
              <a:rPr b="0" i="0" lang="en-US" sz="1088" u="none" cap="none" strike="noStrike">
                <a:solidFill>
                  <a:srgbClr val="33339A"/>
                </a:solidFill>
                <a:latin typeface="Times New Roman"/>
                <a:ea typeface="Times New Roman"/>
                <a:cs typeface="Times New Roman"/>
                <a:sym typeface="Times New Roman"/>
              </a:rPr>
              <a:t>:</a:t>
            </a:r>
            <a:endParaRPr b="0" i="0" sz="1088" u="none" cap="none" strike="noStrike">
              <a:solidFill>
                <a:srgbClr val="000000"/>
              </a:solidFill>
              <a:latin typeface="Times New Roman"/>
              <a:ea typeface="Times New Roman"/>
              <a:cs typeface="Times New Roman"/>
              <a:sym typeface="Times New Roman"/>
            </a:endParaRPr>
          </a:p>
        </p:txBody>
      </p:sp>
      <p:sp>
        <p:nvSpPr>
          <p:cNvPr id="898" name="Google Shape;898;p14"/>
          <p:cNvSpPr txBox="1"/>
          <p:nvPr/>
        </p:nvSpPr>
        <p:spPr>
          <a:xfrm>
            <a:off x="3330568" y="2157592"/>
            <a:ext cx="1148758" cy="322653"/>
          </a:xfrm>
          <a:prstGeom prst="rect">
            <a:avLst/>
          </a:prstGeom>
          <a:noFill/>
          <a:ln>
            <a:noFill/>
          </a:ln>
        </p:spPr>
        <p:txBody>
          <a:bodyPr anchorCtr="0" anchor="t" bIns="0" lIns="0" spcFirstLastPara="1" rIns="0" wrap="square" tIns="8625">
            <a:spAutoFit/>
          </a:bodyPr>
          <a:lstStyle/>
          <a:p>
            <a:pPr indent="-321306" lvl="0" marL="329512" marR="3455" rtl="0" algn="l">
              <a:lnSpc>
                <a:spcPct val="100000"/>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¿Quien está usando el estándar?</a:t>
            </a:r>
            <a:endParaRPr b="0" i="0" sz="1020" u="none" cap="none" strike="noStrike">
              <a:solidFill>
                <a:srgbClr val="000000"/>
              </a:solidFill>
              <a:latin typeface="Times New Roman"/>
              <a:ea typeface="Times New Roman"/>
              <a:cs typeface="Times New Roman"/>
              <a:sym typeface="Times New Roman"/>
            </a:endParaRPr>
          </a:p>
        </p:txBody>
      </p:sp>
      <p:sp>
        <p:nvSpPr>
          <p:cNvPr id="899" name="Google Shape;899;p14"/>
          <p:cNvSpPr txBox="1"/>
          <p:nvPr/>
        </p:nvSpPr>
        <p:spPr>
          <a:xfrm>
            <a:off x="4629787" y="2157592"/>
            <a:ext cx="925053" cy="479619"/>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¿Cual es la productividad del codificador?</a:t>
            </a:r>
            <a:endParaRPr b="0" i="0" sz="1020" u="none" cap="none" strike="noStrike">
              <a:solidFill>
                <a:srgbClr val="000000"/>
              </a:solidFill>
              <a:latin typeface="Times New Roman"/>
              <a:ea typeface="Times New Roman"/>
              <a:cs typeface="Times New Roman"/>
              <a:sym typeface="Times New Roman"/>
            </a:endParaRPr>
          </a:p>
        </p:txBody>
      </p:sp>
      <p:sp>
        <p:nvSpPr>
          <p:cNvPr id="900" name="Google Shape;900;p14"/>
          <p:cNvSpPr txBox="1"/>
          <p:nvPr/>
        </p:nvSpPr>
        <p:spPr>
          <a:xfrm>
            <a:off x="5785456" y="2157592"/>
            <a:ext cx="989400" cy="322653"/>
          </a:xfrm>
          <a:prstGeom prst="rect">
            <a:avLst/>
          </a:prstGeom>
          <a:noFill/>
          <a:ln>
            <a:noFill/>
          </a:ln>
        </p:spPr>
        <p:txBody>
          <a:bodyPr anchorCtr="0" anchor="t" bIns="0" lIns="0" spcFirstLastPara="1" rIns="0" wrap="square" tIns="8625">
            <a:spAutoFit/>
          </a:bodyPr>
          <a:lstStyle/>
          <a:p>
            <a:pPr indent="-186133" lvl="0" marL="194339" marR="3455" rtl="0" algn="l">
              <a:lnSpc>
                <a:spcPct val="100000"/>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¿Cual es la calidad del código?</a:t>
            </a:r>
            <a:endParaRPr b="0" i="0" sz="1020" u="none" cap="none" strike="noStrike">
              <a:solidFill>
                <a:srgbClr val="000000"/>
              </a:solidFill>
              <a:latin typeface="Times New Roman"/>
              <a:ea typeface="Times New Roman"/>
              <a:cs typeface="Times New Roman"/>
              <a:sym typeface="Times New Roman"/>
            </a:endParaRPr>
          </a:p>
        </p:txBody>
      </p:sp>
      <p:sp>
        <p:nvSpPr>
          <p:cNvPr id="901" name="Google Shape;901;p14"/>
          <p:cNvSpPr txBox="1"/>
          <p:nvPr/>
        </p:nvSpPr>
        <p:spPr>
          <a:xfrm>
            <a:off x="3121718" y="2912664"/>
            <a:ext cx="1187626" cy="165687"/>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Proporción	de	codi-</a:t>
            </a:r>
            <a:endParaRPr b="0" i="0" sz="1020" u="none" cap="none" strike="noStrike">
              <a:solidFill>
                <a:srgbClr val="000000"/>
              </a:solidFill>
              <a:latin typeface="Times New Roman"/>
              <a:ea typeface="Times New Roman"/>
              <a:cs typeface="Times New Roman"/>
              <a:sym typeface="Times New Roman"/>
            </a:endParaRPr>
          </a:p>
        </p:txBody>
      </p:sp>
      <p:sp>
        <p:nvSpPr>
          <p:cNvPr id="902" name="Google Shape;902;p14"/>
          <p:cNvSpPr txBox="1"/>
          <p:nvPr/>
        </p:nvSpPr>
        <p:spPr>
          <a:xfrm>
            <a:off x="2287185" y="3028230"/>
            <a:ext cx="1777984" cy="176139"/>
          </a:xfrm>
          <a:prstGeom prst="rect">
            <a:avLst/>
          </a:prstGeom>
          <a:noFill/>
          <a:ln>
            <a:noFill/>
          </a:ln>
        </p:spPr>
        <p:txBody>
          <a:bodyPr anchorCtr="0" anchor="t" bIns="0" lIns="0" spcFirstLastPara="1" rIns="0" wrap="square" tIns="8625">
            <a:spAutoFit/>
          </a:bodyPr>
          <a:lstStyle/>
          <a:p>
            <a:pPr indent="0" lvl="0" marL="25912" marR="0" rtl="0" algn="l">
              <a:lnSpc>
                <a:spcPct val="100000"/>
              </a:lnSpc>
              <a:spcBef>
                <a:spcPts val="0"/>
              </a:spcBef>
              <a:spcAft>
                <a:spcPts val="0"/>
              </a:spcAft>
              <a:buNone/>
            </a:pPr>
            <a:r>
              <a:rPr b="1" baseline="-25000" i="0" lang="en-US" sz="1632" u="none" cap="none" strike="noStrike">
                <a:solidFill>
                  <a:srgbClr val="CB132D"/>
                </a:solidFill>
                <a:latin typeface="Palatino Linotype"/>
                <a:ea typeface="Palatino Linotype"/>
                <a:cs typeface="Palatino Linotype"/>
                <a:sym typeface="Palatino Linotype"/>
              </a:rPr>
              <a:t>MÉTRICAS</a:t>
            </a:r>
            <a:r>
              <a:rPr b="0" baseline="-25000" i="0" lang="en-US" sz="1632" u="none" cap="none" strike="noStrike">
                <a:solidFill>
                  <a:srgbClr val="33339A"/>
                </a:solidFill>
                <a:latin typeface="Palatino Linotype"/>
                <a:ea typeface="Palatino Linotype"/>
                <a:cs typeface="Palatino Linotype"/>
                <a:sym typeface="Palatino Linotype"/>
              </a:rPr>
              <a:t>: </a:t>
            </a:r>
            <a:r>
              <a:rPr b="0" i="0" lang="en-US" sz="1020" u="none" cap="none" strike="noStrike">
                <a:solidFill>
                  <a:srgbClr val="33339A"/>
                </a:solidFill>
                <a:latin typeface="Times New Roman"/>
                <a:ea typeface="Times New Roman"/>
                <a:cs typeface="Times New Roman"/>
                <a:sym typeface="Times New Roman"/>
              </a:rPr>
              <a:t>ficadores usando:</a:t>
            </a:r>
            <a:endParaRPr b="0" i="0" sz="1020" u="none" cap="none" strike="noStrike">
              <a:solidFill>
                <a:srgbClr val="000000"/>
              </a:solidFill>
              <a:latin typeface="Times New Roman"/>
              <a:ea typeface="Times New Roman"/>
              <a:cs typeface="Times New Roman"/>
              <a:sym typeface="Times New Roman"/>
            </a:endParaRPr>
          </a:p>
        </p:txBody>
      </p:sp>
      <p:sp>
        <p:nvSpPr>
          <p:cNvPr id="903" name="Google Shape;903;p14"/>
          <p:cNvSpPr txBox="1"/>
          <p:nvPr/>
        </p:nvSpPr>
        <p:spPr>
          <a:xfrm>
            <a:off x="3255424" y="3191993"/>
            <a:ext cx="580425" cy="308294"/>
          </a:xfrm>
          <a:prstGeom prst="rect">
            <a:avLst/>
          </a:prstGeom>
          <a:noFill/>
          <a:ln>
            <a:noFill/>
          </a:ln>
        </p:spPr>
        <p:txBody>
          <a:bodyPr anchorCtr="0" anchor="t" bIns="0" lIns="0" spcFirstLastPara="1" rIns="0" wrap="square" tIns="25900">
            <a:spAutoFit/>
          </a:bodyPr>
          <a:lstStyle/>
          <a:p>
            <a:pPr indent="0" lvl="0" marL="8637" marR="3455" rtl="0" algn="l">
              <a:lnSpc>
                <a:spcPct val="108039"/>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el estándar el lenguaje</a:t>
            </a:r>
            <a:endParaRPr b="0" i="0" sz="1020" u="none" cap="none" strike="noStrike">
              <a:solidFill>
                <a:srgbClr val="000000"/>
              </a:solidFill>
              <a:latin typeface="Times New Roman"/>
              <a:ea typeface="Times New Roman"/>
              <a:cs typeface="Times New Roman"/>
              <a:sym typeface="Times New Roman"/>
            </a:endParaRPr>
          </a:p>
        </p:txBody>
      </p:sp>
      <p:sp>
        <p:nvSpPr>
          <p:cNvPr id="904" name="Google Shape;904;p14"/>
          <p:cNvSpPr txBox="1"/>
          <p:nvPr/>
        </p:nvSpPr>
        <p:spPr>
          <a:xfrm>
            <a:off x="5605109" y="2984180"/>
            <a:ext cx="638295" cy="308294"/>
          </a:xfrm>
          <a:prstGeom prst="rect">
            <a:avLst/>
          </a:prstGeom>
          <a:noFill/>
          <a:ln>
            <a:noFill/>
          </a:ln>
        </p:spPr>
        <p:txBody>
          <a:bodyPr anchorCtr="0" anchor="t" bIns="0" lIns="0" spcFirstLastPara="1" rIns="0" wrap="square" tIns="25900">
            <a:spAutoFit/>
          </a:bodyPr>
          <a:lstStyle/>
          <a:p>
            <a:pPr indent="0" lvl="0" marL="8637" marR="3455" rtl="0" algn="l">
              <a:lnSpc>
                <a:spcPct val="108039"/>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Cantidad de código</a:t>
            </a:r>
            <a:endParaRPr b="0" i="0" sz="1020" u="none" cap="none" strike="noStrike">
              <a:solidFill>
                <a:srgbClr val="000000"/>
              </a:solidFill>
              <a:latin typeface="Times New Roman"/>
              <a:ea typeface="Times New Roman"/>
              <a:cs typeface="Times New Roman"/>
              <a:sym typeface="Times New Roman"/>
            </a:endParaRPr>
          </a:p>
        </p:txBody>
      </p:sp>
      <p:sp>
        <p:nvSpPr>
          <p:cNvPr id="905" name="Google Shape;905;p14"/>
          <p:cNvSpPr txBox="1"/>
          <p:nvPr/>
        </p:nvSpPr>
        <p:spPr>
          <a:xfrm>
            <a:off x="6306802" y="3041186"/>
            <a:ext cx="496212" cy="165687"/>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Errores...</a:t>
            </a:r>
            <a:endParaRPr b="0" i="0" sz="1020" u="none" cap="none" strike="noStrike">
              <a:solidFill>
                <a:srgbClr val="000000"/>
              </a:solidFill>
              <a:latin typeface="Times New Roman"/>
              <a:ea typeface="Times New Roman"/>
              <a:cs typeface="Times New Roman"/>
              <a:sym typeface="Times New Roman"/>
            </a:endParaRPr>
          </a:p>
        </p:txBody>
      </p:sp>
      <p:sp>
        <p:nvSpPr>
          <p:cNvPr id="906" name="Google Shape;906;p14"/>
          <p:cNvSpPr txBox="1"/>
          <p:nvPr/>
        </p:nvSpPr>
        <p:spPr>
          <a:xfrm>
            <a:off x="4471208" y="2912664"/>
            <a:ext cx="903891" cy="693503"/>
          </a:xfrm>
          <a:prstGeom prst="rect">
            <a:avLst/>
          </a:prstGeom>
          <a:noFill/>
          <a:ln>
            <a:noFill/>
          </a:ln>
        </p:spPr>
        <p:txBody>
          <a:bodyPr anchorCtr="0" anchor="t" bIns="0" lIns="0" spcFirstLastPara="1" rIns="0" wrap="square" tIns="39725">
            <a:spAutoFit/>
          </a:bodyPr>
          <a:lstStyle/>
          <a:p>
            <a:pPr indent="0" lvl="0" marL="8637" marR="3455" rtl="0" algn="just">
              <a:lnSpc>
                <a:spcPct val="80000"/>
              </a:lnSpc>
              <a:spcBef>
                <a:spcPts val="0"/>
              </a:spcBef>
              <a:spcAft>
                <a:spcPts val="0"/>
              </a:spcAft>
              <a:buNone/>
            </a:pPr>
            <a:r>
              <a:rPr b="0" i="0" lang="en-US" sz="1020" u="none" cap="none" strike="noStrike">
                <a:solidFill>
                  <a:srgbClr val="33339A"/>
                </a:solidFill>
                <a:latin typeface="Times New Roman"/>
                <a:ea typeface="Times New Roman"/>
                <a:cs typeface="Times New Roman"/>
                <a:sym typeface="Times New Roman"/>
              </a:rPr>
              <a:t>Experiencia de codificadores en:</a:t>
            </a:r>
            <a:endParaRPr b="0" i="0" sz="1020" u="none" cap="none" strike="noStrike">
              <a:solidFill>
                <a:srgbClr val="000000"/>
              </a:solidFill>
              <a:latin typeface="Times New Roman"/>
              <a:ea typeface="Times New Roman"/>
              <a:cs typeface="Times New Roman"/>
              <a:sym typeface="Times New Roman"/>
            </a:endParaRPr>
          </a:p>
          <a:p>
            <a:pPr indent="0" lvl="0" marL="142083" marR="137764" rtl="0" algn="just">
              <a:lnSpc>
                <a:spcPct val="80000"/>
              </a:lnSpc>
              <a:spcBef>
                <a:spcPts val="150"/>
              </a:spcBef>
              <a:spcAft>
                <a:spcPts val="0"/>
              </a:spcAft>
              <a:buNone/>
            </a:pPr>
            <a:r>
              <a:rPr b="0" i="0" lang="en-US" sz="1020" u="none" cap="none" strike="noStrike">
                <a:solidFill>
                  <a:srgbClr val="33339A"/>
                </a:solidFill>
                <a:latin typeface="Times New Roman"/>
                <a:ea typeface="Times New Roman"/>
                <a:cs typeface="Times New Roman"/>
                <a:sym typeface="Times New Roman"/>
              </a:rPr>
              <a:t>el estándar el lenguaje el entorno...</a:t>
            </a:r>
            <a:endParaRPr b="0" i="0" sz="1020" u="none" cap="none" strike="noStrike">
              <a:solidFill>
                <a:srgbClr val="000000"/>
              </a:solidFill>
              <a:latin typeface="Times New Roman"/>
              <a:ea typeface="Times New Roman"/>
              <a:cs typeface="Times New Roman"/>
              <a:sym typeface="Times New Roman"/>
            </a:endParaRPr>
          </a:p>
        </p:txBody>
      </p:sp>
      <p:sp>
        <p:nvSpPr>
          <p:cNvPr id="907" name="Google Shape;907;p14"/>
          <p:cNvSpPr/>
          <p:nvPr/>
        </p:nvSpPr>
        <p:spPr>
          <a:xfrm>
            <a:off x="1923810" y="3735459"/>
            <a:ext cx="5248443" cy="161517"/>
          </a:xfrm>
          <a:custGeom>
            <a:rect b="b" l="l" r="r" t="t"/>
            <a:pathLst>
              <a:path extrusionOk="0" h="237489" w="7717155">
                <a:moveTo>
                  <a:pt x="7716914" y="0"/>
                </a:moveTo>
                <a:lnTo>
                  <a:pt x="7710805" y="0"/>
                </a:lnTo>
                <a:lnTo>
                  <a:pt x="7703947" y="0"/>
                </a:lnTo>
                <a:lnTo>
                  <a:pt x="7703947" y="224028"/>
                </a:lnTo>
                <a:lnTo>
                  <a:pt x="13093" y="224028"/>
                </a:lnTo>
                <a:lnTo>
                  <a:pt x="13093" y="0"/>
                </a:lnTo>
                <a:lnTo>
                  <a:pt x="6350" y="0"/>
                </a:lnTo>
                <a:lnTo>
                  <a:pt x="139" y="0"/>
                </a:lnTo>
                <a:lnTo>
                  <a:pt x="0" y="0"/>
                </a:lnTo>
                <a:lnTo>
                  <a:pt x="0" y="236982"/>
                </a:lnTo>
                <a:lnTo>
                  <a:pt x="7716914" y="236982"/>
                </a:lnTo>
                <a:lnTo>
                  <a:pt x="7716914" y="230886"/>
                </a:lnTo>
                <a:lnTo>
                  <a:pt x="7716914" y="0"/>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08" name="Google Shape;908;p14"/>
          <p:cNvSpPr txBox="1"/>
          <p:nvPr/>
        </p:nvSpPr>
        <p:spPr>
          <a:xfrm>
            <a:off x="2844462" y="4106680"/>
            <a:ext cx="3407839"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000"/>
                </a:solidFill>
                <a:latin typeface="Arial"/>
                <a:ea typeface="Arial"/>
                <a:cs typeface="Arial"/>
                <a:sym typeface="Arial"/>
              </a:rPr>
              <a:t>Ejemplo de métricas derivadas de objetivos y preguntas (GQM)</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5"/>
          <p:cNvSpPr txBox="1"/>
          <p:nvPr>
            <p:ph idx="4294967295" type="title"/>
          </p:nvPr>
        </p:nvSpPr>
        <p:spPr>
          <a:xfrm>
            <a:off x="967563" y="0"/>
            <a:ext cx="7581014" cy="944875"/>
          </a:xfrm>
          <a:prstGeom prst="rect">
            <a:avLst/>
          </a:prstGeom>
          <a:noFill/>
          <a:ln>
            <a:noFill/>
          </a:ln>
        </p:spPr>
        <p:txBody>
          <a:bodyPr anchorCtr="0" anchor="t" bIns="0" lIns="0" spcFirstLastPara="1" rIns="0" wrap="square" tIns="8625">
            <a:spAutoFit/>
          </a:bodyPr>
          <a:lstStyle/>
          <a:p>
            <a:pPr indent="0" lvl="0" marL="8637" marR="3455" rtl="0" algn="l">
              <a:lnSpc>
                <a:spcPct val="100000"/>
              </a:lnSpc>
              <a:spcBef>
                <a:spcPts val="68"/>
              </a:spcBef>
              <a:spcAft>
                <a:spcPts val="0"/>
              </a:spcAft>
              <a:buSzPts val="3000"/>
              <a:buNone/>
            </a:pPr>
            <a:r>
              <a:rPr lang="en-US">
                <a:solidFill>
                  <a:srgbClr val="FF0000"/>
                </a:solidFill>
              </a:rPr>
              <a:t>Medición de atributos internos del producto (IV) Longitud (II)</a:t>
            </a:r>
            <a:endParaRPr/>
          </a:p>
        </p:txBody>
      </p:sp>
      <p:sp>
        <p:nvSpPr>
          <p:cNvPr id="914" name="Google Shape;914;p15"/>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15" name="Google Shape;915;p15"/>
          <p:cNvSpPr/>
          <p:nvPr/>
        </p:nvSpPr>
        <p:spPr>
          <a:xfrm>
            <a:off x="1462674" y="4317949"/>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16" name="Google Shape;916;p15"/>
          <p:cNvSpPr txBox="1"/>
          <p:nvPr/>
        </p:nvSpPr>
        <p:spPr>
          <a:xfrm>
            <a:off x="1834937" y="987146"/>
            <a:ext cx="5427666" cy="3559431"/>
          </a:xfrm>
          <a:prstGeom prst="rect">
            <a:avLst/>
          </a:prstGeom>
          <a:noFill/>
          <a:ln>
            <a:noFill/>
          </a:ln>
        </p:spPr>
        <p:txBody>
          <a:bodyPr anchorCtr="0" anchor="t" bIns="0" lIns="0" spcFirstLastPara="1" rIns="0" wrap="square" tIns="139050">
            <a:spAutoFit/>
          </a:bodyPr>
          <a:lstStyle/>
          <a:p>
            <a:pPr indent="0" lvl="0" marL="8637" marR="0" rtl="0" algn="l">
              <a:lnSpc>
                <a:spcPct val="100000"/>
              </a:lnSpc>
              <a:spcBef>
                <a:spcPts val="0"/>
              </a:spcBef>
              <a:spcAft>
                <a:spcPts val="0"/>
              </a:spcAft>
              <a:buNone/>
            </a:pPr>
            <a:r>
              <a:rPr b="1" i="0" lang="en-US" sz="1496" u="none" cap="none" strike="noStrike">
                <a:solidFill>
                  <a:srgbClr val="CB132D"/>
                </a:solidFill>
                <a:latin typeface="Arial"/>
                <a:ea typeface="Arial"/>
                <a:cs typeface="Arial"/>
                <a:sym typeface="Arial"/>
              </a:rPr>
              <a:t>Código (II)</a:t>
            </a:r>
            <a:endParaRPr b="0" i="0" sz="1496" u="none" cap="none" strike="noStrike">
              <a:solidFill>
                <a:srgbClr val="000000"/>
              </a:solidFill>
              <a:latin typeface="Arial"/>
              <a:ea typeface="Arial"/>
              <a:cs typeface="Arial"/>
              <a:sym typeface="Arial"/>
            </a:endParaRPr>
          </a:p>
          <a:p>
            <a:pPr indent="-194339" lvl="0" marL="513486" marR="3455" rtl="0" algn="l">
              <a:lnSpc>
                <a:spcPct val="100000"/>
              </a:lnSpc>
              <a:spcBef>
                <a:spcPts val="840"/>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Es útil medir por separado las </a:t>
            </a:r>
            <a:r>
              <a:rPr b="1" i="0" lang="en-US" sz="1224" u="none" cap="none" strike="noStrike">
                <a:solidFill>
                  <a:srgbClr val="3333CC"/>
                </a:solidFill>
                <a:latin typeface="Arial"/>
                <a:ea typeface="Arial"/>
                <a:cs typeface="Arial"/>
                <a:sym typeface="Arial"/>
              </a:rPr>
              <a:t>líneas comentadas </a:t>
            </a:r>
            <a:r>
              <a:rPr b="0" i="0" lang="en-US" sz="1224" u="none" cap="none" strike="noStrike">
                <a:solidFill>
                  <a:srgbClr val="000000"/>
                </a:solidFill>
                <a:latin typeface="Arial"/>
                <a:ea typeface="Arial"/>
                <a:cs typeface="Arial"/>
                <a:sym typeface="Arial"/>
              </a:rPr>
              <a:t>(CLOC) de las no comentadas para calcular esfuerzo, productividad, etc. La longitud total será:</a:t>
            </a:r>
            <a:endParaRPr b="0" i="0" sz="1224" u="none" cap="none" strike="noStrike">
              <a:solidFill>
                <a:srgbClr val="000000"/>
              </a:solidFill>
              <a:latin typeface="Arial"/>
              <a:ea typeface="Arial"/>
              <a:cs typeface="Arial"/>
              <a:sym typeface="Arial"/>
            </a:endParaRPr>
          </a:p>
          <a:p>
            <a:pPr indent="0" lvl="0" marL="2193003" marR="0" rtl="0" algn="l">
              <a:lnSpc>
                <a:spcPct val="100000"/>
              </a:lnSpc>
              <a:spcBef>
                <a:spcPts val="735"/>
              </a:spcBef>
              <a:spcAft>
                <a:spcPts val="0"/>
              </a:spcAft>
              <a:buNone/>
            </a:pPr>
            <a:r>
              <a:rPr b="0" i="0" lang="en-US" sz="1224" u="none" cap="none" strike="noStrike">
                <a:solidFill>
                  <a:srgbClr val="000000"/>
                </a:solidFill>
                <a:latin typeface="Arial"/>
                <a:ea typeface="Arial"/>
                <a:cs typeface="Arial"/>
                <a:sym typeface="Arial"/>
              </a:rPr>
              <a:t>LOC = NCLOC + CLOC</a:t>
            </a:r>
            <a:endParaRPr b="0" i="0" sz="1224" u="none" cap="none" strike="noStrike">
              <a:solidFill>
                <a:srgbClr val="000000"/>
              </a:solidFill>
              <a:latin typeface="Arial"/>
              <a:ea typeface="Arial"/>
              <a:cs typeface="Arial"/>
              <a:sym typeface="Arial"/>
            </a:endParaRPr>
          </a:p>
          <a:p>
            <a:pPr indent="-193907" lvl="0" marL="513486" marR="0" rtl="0" algn="l">
              <a:lnSpc>
                <a:spcPct val="100000"/>
              </a:lnSpc>
              <a:spcBef>
                <a:spcPts val="735"/>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También puede se útil calcular la </a:t>
            </a:r>
            <a:r>
              <a:rPr b="1" i="0" lang="en-US" sz="1224" u="none" cap="none" strike="noStrike">
                <a:solidFill>
                  <a:srgbClr val="3333CC"/>
                </a:solidFill>
                <a:latin typeface="Arial"/>
                <a:ea typeface="Arial"/>
                <a:cs typeface="Arial"/>
                <a:sym typeface="Arial"/>
              </a:rPr>
              <a:t>densidad de comentarios</a:t>
            </a:r>
            <a:r>
              <a:rPr b="0" i="0" lang="en-US" sz="1224" u="none" cap="none" strike="noStrike">
                <a:solidFill>
                  <a:srgbClr val="000000"/>
                </a:solidFill>
                <a:latin typeface="Arial"/>
                <a:ea typeface="Arial"/>
                <a:cs typeface="Arial"/>
                <a:sym typeface="Arial"/>
              </a:rPr>
              <a:t>:</a:t>
            </a:r>
            <a:endParaRPr b="0" i="0" sz="1224" u="none" cap="none" strike="noStrike">
              <a:solidFill>
                <a:srgbClr val="000000"/>
              </a:solidFill>
              <a:latin typeface="Arial"/>
              <a:ea typeface="Arial"/>
              <a:cs typeface="Arial"/>
              <a:sym typeface="Arial"/>
            </a:endParaRPr>
          </a:p>
          <a:p>
            <a:pPr indent="0" lvl="0" marL="371403" marR="0" rtl="0" algn="ctr">
              <a:lnSpc>
                <a:spcPct val="100000"/>
              </a:lnSpc>
              <a:spcBef>
                <a:spcPts val="735"/>
              </a:spcBef>
              <a:spcAft>
                <a:spcPts val="0"/>
              </a:spcAft>
              <a:buNone/>
            </a:pPr>
            <a:r>
              <a:rPr b="0" i="0" lang="en-US" sz="1224" u="none" cap="none" strike="noStrike">
                <a:solidFill>
                  <a:srgbClr val="000000"/>
                </a:solidFill>
                <a:latin typeface="Arial"/>
                <a:ea typeface="Arial"/>
                <a:cs typeface="Arial"/>
                <a:sym typeface="Arial"/>
              </a:rPr>
              <a:t>CLOC/LOC</a:t>
            </a:r>
            <a:endParaRPr b="0" i="0" sz="1224" u="none" cap="none" strike="noStrike">
              <a:solidFill>
                <a:srgbClr val="000000"/>
              </a:solidFill>
              <a:latin typeface="Arial"/>
              <a:ea typeface="Arial"/>
              <a:cs typeface="Arial"/>
              <a:sym typeface="Arial"/>
            </a:endParaRPr>
          </a:p>
          <a:p>
            <a:pPr indent="-194339" lvl="0" marL="513918" marR="247458" rtl="0" algn="l">
              <a:lnSpc>
                <a:spcPct val="100000"/>
              </a:lnSpc>
              <a:spcBef>
                <a:spcPts val="735"/>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Para propósitos tales como la prueba es importante conocer cuanto código ejecutable se produce, para ello se mide el </a:t>
            </a:r>
            <a:r>
              <a:rPr b="1" i="0" lang="en-US" sz="1224" u="none" cap="none" strike="noStrike">
                <a:solidFill>
                  <a:srgbClr val="3333CC"/>
                </a:solidFill>
                <a:latin typeface="Arial"/>
                <a:ea typeface="Arial"/>
                <a:cs typeface="Arial"/>
                <a:sym typeface="Arial"/>
              </a:rPr>
              <a:t>número de sentencias ejecutables </a:t>
            </a:r>
            <a:r>
              <a:rPr b="0" i="0" lang="en-US" sz="1224" u="none" cap="none" strike="noStrike">
                <a:solidFill>
                  <a:srgbClr val="000000"/>
                </a:solidFill>
                <a:latin typeface="Arial"/>
                <a:ea typeface="Arial"/>
                <a:cs typeface="Arial"/>
                <a:sym typeface="Arial"/>
              </a:rPr>
              <a:t>(ES), ignorando los comentarios, declaraciones de datos y cabeceras</a:t>
            </a:r>
            <a:endParaRPr b="0" i="0" sz="1224" u="none" cap="none" strike="noStrike">
              <a:solidFill>
                <a:srgbClr val="000000"/>
              </a:solidFill>
              <a:latin typeface="Arial"/>
              <a:ea typeface="Arial"/>
              <a:cs typeface="Arial"/>
              <a:sym typeface="Arial"/>
            </a:endParaRPr>
          </a:p>
          <a:p>
            <a:pPr indent="-194339" lvl="0" marL="513486" marR="28935" rtl="0" algn="l">
              <a:lnSpc>
                <a:spcPct val="100000"/>
              </a:lnSpc>
              <a:spcBef>
                <a:spcPts val="735"/>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Otra propuesta consiste en contabilizar únicamente el </a:t>
            </a:r>
            <a:r>
              <a:rPr b="1" i="0" lang="en-US" sz="1224" u="none" cap="none" strike="noStrike">
                <a:solidFill>
                  <a:srgbClr val="3333CC"/>
                </a:solidFill>
                <a:latin typeface="Arial"/>
                <a:ea typeface="Arial"/>
                <a:cs typeface="Arial"/>
                <a:sym typeface="Arial"/>
              </a:rPr>
              <a:t>código entregado al cliente</a:t>
            </a:r>
            <a:r>
              <a:rPr b="0" i="0" lang="en-US" sz="1224" u="none" cap="none" strike="noStrike">
                <a:solidFill>
                  <a:srgbClr val="000000"/>
                </a:solidFill>
                <a:latin typeface="Arial"/>
                <a:ea typeface="Arial"/>
                <a:cs typeface="Arial"/>
                <a:sym typeface="Arial"/>
              </a:rPr>
              <a:t>. Se cuenta el número de DSI (</a:t>
            </a:r>
            <a:r>
              <a:rPr b="0" i="1" lang="en-US" sz="1224" u="none" cap="none" strike="noStrike">
                <a:solidFill>
                  <a:srgbClr val="000000"/>
                </a:solidFill>
                <a:latin typeface="Arial"/>
                <a:ea typeface="Arial"/>
                <a:cs typeface="Arial"/>
                <a:sym typeface="Arial"/>
              </a:rPr>
              <a:t>delivered source instruction</a:t>
            </a:r>
            <a:r>
              <a:rPr b="0" i="0" lang="en-US" sz="1224" u="none" cap="none" strike="noStrike">
                <a:solidFill>
                  <a:srgbClr val="000000"/>
                </a:solidFill>
                <a:latin typeface="Arial"/>
                <a:ea typeface="Arial"/>
                <a:cs typeface="Arial"/>
                <a:sym typeface="Arial"/>
              </a:rPr>
              <a:t>) que incluye las declaraciones de datos, las cabeceras y las instrucciones fuente</a:t>
            </a:r>
            <a:endParaRPr b="0" i="0" sz="1224"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6"/>
          <p:cNvSpPr txBox="1"/>
          <p:nvPr>
            <p:ph idx="4294967295" type="title"/>
          </p:nvPr>
        </p:nvSpPr>
        <p:spPr>
          <a:xfrm>
            <a:off x="946298" y="45665"/>
            <a:ext cx="7681515" cy="944875"/>
          </a:xfrm>
          <a:prstGeom prst="rect">
            <a:avLst/>
          </a:prstGeom>
          <a:noFill/>
          <a:ln>
            <a:noFill/>
          </a:ln>
        </p:spPr>
        <p:txBody>
          <a:bodyPr anchorCtr="0" anchor="t" bIns="0" lIns="0" spcFirstLastPara="1" rIns="0" wrap="square" tIns="8625">
            <a:spAutoFit/>
          </a:bodyPr>
          <a:lstStyle/>
          <a:p>
            <a:pPr indent="0" lvl="0" marL="8637" marR="3455" rtl="0" algn="l">
              <a:lnSpc>
                <a:spcPct val="100000"/>
              </a:lnSpc>
              <a:spcBef>
                <a:spcPts val="68"/>
              </a:spcBef>
              <a:spcAft>
                <a:spcPts val="0"/>
              </a:spcAft>
              <a:buSzPts val="3000"/>
              <a:buNone/>
            </a:pPr>
            <a:r>
              <a:rPr lang="en-US">
                <a:solidFill>
                  <a:srgbClr val="FF0000"/>
                </a:solidFill>
              </a:rPr>
              <a:t>Medición de atributos internos del producto (VII) Longitud (V)</a:t>
            </a:r>
            <a:endParaRPr/>
          </a:p>
        </p:txBody>
      </p:sp>
      <p:sp>
        <p:nvSpPr>
          <p:cNvPr id="922" name="Google Shape;922;p16"/>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23" name="Google Shape;923;p16"/>
          <p:cNvSpPr txBox="1"/>
          <p:nvPr/>
        </p:nvSpPr>
        <p:spPr>
          <a:xfrm>
            <a:off x="1834937" y="1055575"/>
            <a:ext cx="5438895" cy="2024382"/>
          </a:xfrm>
          <a:prstGeom prst="rect">
            <a:avLst/>
          </a:prstGeom>
          <a:noFill/>
          <a:ln>
            <a:noFill/>
          </a:ln>
        </p:spPr>
        <p:txBody>
          <a:bodyPr anchorCtr="0" anchor="t" bIns="0" lIns="0" spcFirstLastPara="1" rIns="0" wrap="square" tIns="5052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Especificaciones y diseño</a:t>
            </a:r>
            <a:endParaRPr b="0" i="0" sz="1360" u="none" cap="none" strike="noStrike">
              <a:solidFill>
                <a:srgbClr val="000000"/>
              </a:solidFill>
              <a:latin typeface="Arial"/>
              <a:ea typeface="Arial"/>
              <a:cs typeface="Arial"/>
              <a:sym typeface="Arial"/>
            </a:endParaRPr>
          </a:p>
          <a:p>
            <a:pPr indent="-233206" lvl="0" marL="241412" marR="587766" rtl="0" algn="l">
              <a:lnSpc>
                <a:spcPct val="100000"/>
              </a:lnSpc>
              <a:spcBef>
                <a:spcPts val="299"/>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Los documentos de especificación de requisitos y de diseño tienen representaciones de muchos tipos (texto, gráficos, símbolos...)</a:t>
            </a:r>
            <a:endParaRPr b="0" i="0" sz="1224" u="none" cap="none" strike="noStrike">
              <a:solidFill>
                <a:srgbClr val="000000"/>
              </a:solidFill>
              <a:latin typeface="Arial"/>
              <a:ea typeface="Arial"/>
              <a:cs typeface="Arial"/>
              <a:sym typeface="Arial"/>
            </a:endParaRPr>
          </a:p>
          <a:p>
            <a:pPr indent="-233206" lvl="0" marL="241844" marR="460366" rtl="0" algn="l">
              <a:lnSpc>
                <a:spcPct val="100000"/>
              </a:lnSpc>
              <a:spcBef>
                <a:spcPts val="292"/>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La medición del atributo longitud exige la identificación de elementos atómicos que puedan contarse. Ejemplo:</a:t>
            </a:r>
            <a:endParaRPr b="0" i="0" sz="1224" u="none" cap="none" strike="noStrike">
              <a:solidFill>
                <a:srgbClr val="000000"/>
              </a:solidFill>
              <a:latin typeface="Arial"/>
              <a:ea typeface="Arial"/>
              <a:cs typeface="Arial"/>
              <a:sym typeface="Arial"/>
            </a:endParaRPr>
          </a:p>
          <a:p>
            <a:pPr indent="-194339" lvl="1" marL="513918" marR="3455" rtl="0" algn="l">
              <a:lnSpc>
                <a:spcPct val="108180"/>
              </a:lnSpc>
              <a:spcBef>
                <a:spcPts val="278"/>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Diagramas de flujo de datos: procesos, entidades externas, almacenes de datos y flujo de datos</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112"/>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Especificaciones algebraicas: salidas, funciones, operaciones y axiomas</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133"/>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Esquemas Z: líneas de especificación (declaraciones y predicados)</a:t>
            </a:r>
            <a:endParaRPr b="0" i="0" sz="1088" u="none" cap="none" strike="noStrike">
              <a:solidFill>
                <a:srgbClr val="000000"/>
              </a:solidFill>
              <a:latin typeface="Arial"/>
              <a:ea typeface="Arial"/>
              <a:cs typeface="Arial"/>
              <a:sym typeface="Arial"/>
            </a:endParaRPr>
          </a:p>
          <a:p>
            <a:pPr indent="-232774" lvl="0" marL="241412" marR="0" rtl="0" algn="l">
              <a:lnSpc>
                <a:spcPct val="100000"/>
              </a:lnSpc>
              <a:spcBef>
                <a:spcPts val="292"/>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Se pueden definir páginas de documentación como objetos atómicos</a:t>
            </a:r>
            <a:endParaRPr b="0" i="0" sz="1224" u="none" cap="none" strike="noStrike">
              <a:solidFill>
                <a:srgbClr val="000000"/>
              </a:solidFill>
              <a:latin typeface="Arial"/>
              <a:ea typeface="Arial"/>
              <a:cs typeface="Arial"/>
              <a:sym typeface="Arial"/>
            </a:endParaRPr>
          </a:p>
        </p:txBody>
      </p:sp>
      <p:sp>
        <p:nvSpPr>
          <p:cNvPr id="924" name="Google Shape;924;p16"/>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25" name="Google Shape;925;p16"/>
          <p:cNvSpPr/>
          <p:nvPr/>
        </p:nvSpPr>
        <p:spPr>
          <a:xfrm>
            <a:off x="1462674" y="4317949"/>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aphicFrame>
        <p:nvGraphicFramePr>
          <p:cNvPr id="926" name="Google Shape;926;p16"/>
          <p:cNvGraphicFramePr/>
          <p:nvPr/>
        </p:nvGraphicFramePr>
        <p:xfrm>
          <a:off x="2172140" y="3201148"/>
          <a:ext cx="3000000" cy="3000000"/>
        </p:xfrm>
        <a:graphic>
          <a:graphicData uri="http://schemas.openxmlformats.org/drawingml/2006/table">
            <a:tbl>
              <a:tblPr bandRow="1" firstRow="1">
                <a:noFill/>
                <a:tableStyleId>{FF63AD9A-016F-4C48-BA4E-4A51AB7C9AD3}</a:tableStyleId>
              </a:tblPr>
              <a:tblGrid>
                <a:gridCol w="887475"/>
                <a:gridCol w="2351075"/>
                <a:gridCol w="1639775"/>
              </a:tblGrid>
              <a:tr h="332100">
                <a:tc>
                  <a:txBody>
                    <a:bodyPr/>
                    <a:lstStyle/>
                    <a:p>
                      <a:pPr indent="0" lvl="0" marL="1270" marR="0" rtl="0" algn="ctr">
                        <a:lnSpc>
                          <a:spcPct val="100000"/>
                        </a:lnSpc>
                        <a:spcBef>
                          <a:spcPts val="0"/>
                        </a:spcBef>
                        <a:spcAft>
                          <a:spcPts val="0"/>
                        </a:spcAft>
                        <a:buNone/>
                      </a:pPr>
                      <a:r>
                        <a:rPr b="1" lang="en-US" sz="800" u="none" cap="none" strike="noStrike">
                          <a:solidFill>
                            <a:srgbClr val="33339A"/>
                          </a:solidFill>
                          <a:latin typeface="Arial"/>
                          <a:ea typeface="Arial"/>
                          <a:cs typeface="Arial"/>
                          <a:sym typeface="Arial"/>
                        </a:rPr>
                        <a:t>Vista</a:t>
                      </a:r>
                      <a:endParaRPr sz="800" u="none" cap="none" strike="noStrike">
                        <a:latin typeface="Arial"/>
                        <a:ea typeface="Arial"/>
                        <a:cs typeface="Arial"/>
                        <a:sym typeface="Arial"/>
                      </a:endParaRPr>
                    </a:p>
                  </a:txBody>
                  <a:tcPr marT="92850" marB="0" marR="0" marL="0">
                    <a:lnR cap="flat" cmpd="sng" w="38100">
                      <a:solidFill>
                        <a:srgbClr val="FFFFFF"/>
                      </a:solidFill>
                      <a:prstDash val="solid"/>
                      <a:round/>
                      <a:headEnd len="sm" w="sm" type="none"/>
                      <a:tailEnd len="sm" w="sm" type="none"/>
                    </a:lnR>
                    <a:lnB cap="flat" cmpd="sng" w="38100">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US" sz="800" u="none" cap="none" strike="noStrike">
                          <a:solidFill>
                            <a:srgbClr val="33339A"/>
                          </a:solidFill>
                          <a:latin typeface="Arial"/>
                          <a:ea typeface="Arial"/>
                          <a:cs typeface="Arial"/>
                          <a:sym typeface="Arial"/>
                        </a:rPr>
                        <a:t>Diagrama</a:t>
                      </a:r>
                      <a:endParaRPr sz="800" u="none" cap="none" strike="noStrike">
                        <a:latin typeface="Arial"/>
                        <a:ea typeface="Arial"/>
                        <a:cs typeface="Arial"/>
                        <a:sym typeface="Arial"/>
                      </a:endParaRPr>
                    </a:p>
                  </a:txBody>
                  <a:tcPr marT="9285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B cap="flat" cmpd="sng" w="38100">
                      <a:solidFill>
                        <a:srgbClr val="FFFFFF"/>
                      </a:solidFill>
                      <a:prstDash val="solid"/>
                      <a:round/>
                      <a:headEnd len="sm" w="sm" type="none"/>
                      <a:tailEnd len="sm" w="sm" type="none"/>
                    </a:lnB>
                    <a:solidFill>
                      <a:srgbClr val="CCCCCC"/>
                    </a:solidFill>
                  </a:tcPr>
                </a:tc>
                <a:tc>
                  <a:txBody>
                    <a:bodyPr/>
                    <a:lstStyle/>
                    <a:p>
                      <a:pPr indent="0" lvl="0" marL="544195" marR="0" rtl="0" algn="l">
                        <a:lnSpc>
                          <a:spcPct val="100000"/>
                        </a:lnSpc>
                        <a:spcBef>
                          <a:spcPts val="0"/>
                        </a:spcBef>
                        <a:spcAft>
                          <a:spcPts val="0"/>
                        </a:spcAft>
                        <a:buNone/>
                      </a:pPr>
                      <a:r>
                        <a:rPr b="1" lang="en-US" sz="800" u="none" cap="none" strike="noStrike">
                          <a:solidFill>
                            <a:srgbClr val="33339A"/>
                          </a:solidFill>
                          <a:latin typeface="Arial"/>
                          <a:ea typeface="Arial"/>
                          <a:cs typeface="Arial"/>
                          <a:sym typeface="Arial"/>
                        </a:rPr>
                        <a:t>Objetos atómicos</a:t>
                      </a:r>
                      <a:endParaRPr sz="800" u="none" cap="none" strike="noStrike">
                        <a:latin typeface="Arial"/>
                        <a:ea typeface="Arial"/>
                        <a:cs typeface="Arial"/>
                        <a:sym typeface="Arial"/>
                      </a:endParaRPr>
                    </a:p>
                  </a:txBody>
                  <a:tcPr marT="92850" marB="0" marR="0" marL="0">
                    <a:lnL cap="flat" cmpd="sng" w="38100">
                      <a:solidFill>
                        <a:srgbClr val="FFFFFF"/>
                      </a:solidFill>
                      <a:prstDash val="solid"/>
                      <a:round/>
                      <a:headEnd len="sm" w="sm" type="none"/>
                      <a:tailEnd len="sm" w="sm" type="none"/>
                    </a:lnL>
                    <a:lnB cap="flat" cmpd="sng" w="38100">
                      <a:solidFill>
                        <a:srgbClr val="FFFFFF"/>
                      </a:solidFill>
                      <a:prstDash val="solid"/>
                      <a:round/>
                      <a:headEnd len="sm" w="sm" type="none"/>
                      <a:tailEnd len="sm" w="sm" type="none"/>
                    </a:lnB>
                    <a:solidFill>
                      <a:srgbClr val="CCCCCC"/>
                    </a:solidFill>
                  </a:tcPr>
                </a:tc>
              </a:tr>
              <a:tr h="308775">
                <a:tc>
                  <a:txBody>
                    <a:bodyPr/>
                    <a:lstStyle/>
                    <a:p>
                      <a:pPr indent="0" lvl="0" marL="85090" marR="0" rtl="0" algn="l">
                        <a:lnSpc>
                          <a:spcPct val="100000"/>
                        </a:lnSpc>
                        <a:spcBef>
                          <a:spcPts val="0"/>
                        </a:spcBef>
                        <a:spcAft>
                          <a:spcPts val="0"/>
                        </a:spcAft>
                        <a:buNone/>
                      </a:pPr>
                      <a:r>
                        <a:rPr lang="en-US" sz="800" u="none" cap="none" strike="noStrike">
                          <a:solidFill>
                            <a:srgbClr val="33339A"/>
                          </a:solidFill>
                          <a:latin typeface="Arial"/>
                          <a:ea typeface="Arial"/>
                          <a:cs typeface="Arial"/>
                          <a:sym typeface="Arial"/>
                        </a:rPr>
                        <a:t>Funcional</a:t>
                      </a:r>
                      <a:endParaRPr sz="800" u="none" cap="none" strike="noStrike">
                        <a:latin typeface="Arial"/>
                        <a:ea typeface="Arial"/>
                        <a:cs typeface="Arial"/>
                        <a:sym typeface="Arial"/>
                      </a:endParaRPr>
                    </a:p>
                  </a:txBody>
                  <a:tcPr marT="94150"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1F1F1"/>
                    </a:solidFill>
                  </a:tcPr>
                </a:tc>
                <a:tc>
                  <a:txBody>
                    <a:bodyPr/>
                    <a:lstStyle/>
                    <a:p>
                      <a:pPr indent="0" lvl="0" marL="85090" marR="1483360" rtl="0" algn="l">
                        <a:lnSpc>
                          <a:spcPct val="177500"/>
                        </a:lnSpc>
                        <a:spcBef>
                          <a:spcPts val="0"/>
                        </a:spcBef>
                        <a:spcAft>
                          <a:spcPts val="0"/>
                        </a:spcAft>
                        <a:buNone/>
                      </a:pPr>
                      <a:r>
                        <a:rPr lang="en-US" sz="800" u="none" cap="none" strike="noStrike">
                          <a:solidFill>
                            <a:srgbClr val="33339A"/>
                          </a:solidFill>
                          <a:latin typeface="Arial"/>
                          <a:ea typeface="Arial"/>
                          <a:cs typeface="Arial"/>
                          <a:sym typeface="Arial"/>
                        </a:rPr>
                        <a:t>Diagrama de flujo de datos Diccionario de datos</a:t>
                      </a:r>
                      <a:endParaRPr sz="800" u="none" cap="none" strike="noStrike">
                        <a:latin typeface="Arial"/>
                        <a:ea typeface="Arial"/>
                        <a:cs typeface="Arial"/>
                        <a:sym typeface="Arial"/>
                      </a:endParaRPr>
                    </a:p>
                  </a:txBody>
                  <a:tcPr marT="3800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F1F1F1"/>
                    </a:solidFill>
                  </a:tcPr>
                </a:tc>
                <a:tc>
                  <a:txBody>
                    <a:bodyPr/>
                    <a:lstStyle/>
                    <a:p>
                      <a:pPr indent="0" lvl="0" marL="84455" marR="927735" rtl="0" algn="l">
                        <a:lnSpc>
                          <a:spcPct val="177500"/>
                        </a:lnSpc>
                        <a:spcBef>
                          <a:spcPts val="0"/>
                        </a:spcBef>
                        <a:spcAft>
                          <a:spcPts val="0"/>
                        </a:spcAft>
                        <a:buNone/>
                      </a:pPr>
                      <a:r>
                        <a:rPr lang="en-US" sz="800" u="none" cap="none" strike="noStrike">
                          <a:solidFill>
                            <a:srgbClr val="33339A"/>
                          </a:solidFill>
                          <a:latin typeface="Arial"/>
                          <a:ea typeface="Arial"/>
                          <a:cs typeface="Arial"/>
                          <a:sym typeface="Arial"/>
                        </a:rPr>
                        <a:t>Burbujas  Elementos de datos</a:t>
                      </a:r>
                      <a:endParaRPr sz="800" u="none" cap="none" strike="noStrike">
                        <a:latin typeface="Arial"/>
                        <a:ea typeface="Arial"/>
                        <a:cs typeface="Arial"/>
                        <a:sym typeface="Arial"/>
                      </a:endParaRPr>
                    </a:p>
                  </a:txBody>
                  <a:tcPr marT="38000"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solidFill>
                      <a:srgbClr val="F1F1F1"/>
                    </a:solidFill>
                  </a:tcPr>
                </a:tc>
              </a:tr>
              <a:tr h="254800">
                <a:tc>
                  <a:txBody>
                    <a:bodyPr/>
                    <a:lstStyle/>
                    <a:p>
                      <a:pPr indent="0" lvl="0" marL="85090" marR="0" rtl="0" algn="l">
                        <a:lnSpc>
                          <a:spcPct val="100000"/>
                        </a:lnSpc>
                        <a:spcBef>
                          <a:spcPts val="0"/>
                        </a:spcBef>
                        <a:spcAft>
                          <a:spcPts val="0"/>
                        </a:spcAft>
                        <a:buNone/>
                      </a:pPr>
                      <a:r>
                        <a:rPr lang="en-US" sz="800" u="none" cap="none" strike="noStrike">
                          <a:solidFill>
                            <a:srgbClr val="33339A"/>
                          </a:solidFill>
                          <a:latin typeface="Arial"/>
                          <a:ea typeface="Arial"/>
                          <a:cs typeface="Arial"/>
                          <a:sym typeface="Arial"/>
                        </a:rPr>
                        <a:t>Datos</a:t>
                      </a:r>
                      <a:endParaRPr sz="800" u="none" cap="none" strike="noStrike">
                        <a:latin typeface="Arial"/>
                        <a:ea typeface="Arial"/>
                        <a:cs typeface="Arial"/>
                        <a:sym typeface="Arial"/>
                      </a:endParaRPr>
                    </a:p>
                  </a:txBody>
                  <a:tcPr marT="73425" marB="0" marR="0" marL="0">
                    <a:lnR cap="flat" cmpd="sng" w="38100">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1F1F1"/>
                    </a:solidFill>
                  </a:tcPr>
                </a:tc>
                <a:tc>
                  <a:txBody>
                    <a:bodyPr/>
                    <a:lstStyle/>
                    <a:p>
                      <a:pPr indent="0" lvl="0" marL="85090" marR="0" rtl="0" algn="l">
                        <a:lnSpc>
                          <a:spcPct val="100000"/>
                        </a:lnSpc>
                        <a:spcBef>
                          <a:spcPts val="0"/>
                        </a:spcBef>
                        <a:spcAft>
                          <a:spcPts val="0"/>
                        </a:spcAft>
                        <a:buNone/>
                      </a:pPr>
                      <a:r>
                        <a:rPr lang="en-US" sz="800" u="none" cap="none" strike="noStrike">
                          <a:solidFill>
                            <a:srgbClr val="33339A"/>
                          </a:solidFill>
                          <a:latin typeface="Arial"/>
                          <a:ea typeface="Arial"/>
                          <a:cs typeface="Arial"/>
                          <a:sym typeface="Arial"/>
                        </a:rPr>
                        <a:t>Diagrama entidad relación</a:t>
                      </a:r>
                      <a:endParaRPr sz="800" u="none" cap="none" strike="noStrike">
                        <a:latin typeface="Arial"/>
                        <a:ea typeface="Arial"/>
                        <a:cs typeface="Arial"/>
                        <a:sym typeface="Arial"/>
                      </a:endParaRPr>
                    </a:p>
                  </a:txBody>
                  <a:tcPr marT="734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B cap="flat" cmpd="sng" w="9525">
                      <a:solidFill>
                        <a:srgbClr val="FFFFFF"/>
                      </a:solidFill>
                      <a:prstDash val="solid"/>
                      <a:round/>
                      <a:headEnd len="sm" w="sm" type="none"/>
                      <a:tailEnd len="sm" w="sm" type="none"/>
                    </a:lnB>
                    <a:solidFill>
                      <a:srgbClr val="F1F1F1"/>
                    </a:solidFill>
                  </a:tcPr>
                </a:tc>
                <a:tc>
                  <a:txBody>
                    <a:bodyPr/>
                    <a:lstStyle/>
                    <a:p>
                      <a:pPr indent="0" lvl="0" marL="84455" marR="0" rtl="0" algn="l">
                        <a:lnSpc>
                          <a:spcPct val="100000"/>
                        </a:lnSpc>
                        <a:spcBef>
                          <a:spcPts val="0"/>
                        </a:spcBef>
                        <a:spcAft>
                          <a:spcPts val="0"/>
                        </a:spcAft>
                        <a:buNone/>
                      </a:pPr>
                      <a:r>
                        <a:rPr lang="en-US" sz="800" u="none" cap="none" strike="noStrike">
                          <a:solidFill>
                            <a:srgbClr val="33339A"/>
                          </a:solidFill>
                          <a:latin typeface="Arial"/>
                          <a:ea typeface="Arial"/>
                          <a:cs typeface="Arial"/>
                          <a:sym typeface="Arial"/>
                        </a:rPr>
                        <a:t>Objetos, relaciones</a:t>
                      </a:r>
                      <a:endParaRPr sz="800" u="none" cap="none" strike="noStrike">
                        <a:latin typeface="Arial"/>
                        <a:ea typeface="Arial"/>
                        <a:cs typeface="Arial"/>
                        <a:sym typeface="Arial"/>
                      </a:endParaRPr>
                    </a:p>
                  </a:txBody>
                  <a:tcPr marT="73425" marB="0" marR="0" marL="0">
                    <a:lnL cap="flat" cmpd="sng" w="38100">
                      <a:solidFill>
                        <a:srgbClr val="FFFFFF"/>
                      </a:solidFill>
                      <a:prstDash val="solid"/>
                      <a:round/>
                      <a:headEnd len="sm" w="sm" type="none"/>
                      <a:tailEnd len="sm" w="sm" type="none"/>
                    </a:lnL>
                    <a:solidFill>
                      <a:srgbClr val="F1F1F1"/>
                    </a:solidFill>
                  </a:tcPr>
                </a:tc>
              </a:tr>
              <a:tr h="320875">
                <a:tc>
                  <a:txBody>
                    <a:bodyPr/>
                    <a:lstStyle/>
                    <a:p>
                      <a:pPr indent="0" lvl="0" marL="85090" marR="0" rtl="0" algn="l">
                        <a:lnSpc>
                          <a:spcPct val="100000"/>
                        </a:lnSpc>
                        <a:spcBef>
                          <a:spcPts val="0"/>
                        </a:spcBef>
                        <a:spcAft>
                          <a:spcPts val="0"/>
                        </a:spcAft>
                        <a:buNone/>
                      </a:pPr>
                      <a:r>
                        <a:rPr lang="en-US" sz="800" u="none" cap="none" strike="noStrike">
                          <a:solidFill>
                            <a:srgbClr val="33339A"/>
                          </a:solidFill>
                          <a:latin typeface="Arial"/>
                          <a:ea typeface="Arial"/>
                          <a:cs typeface="Arial"/>
                          <a:sym typeface="Arial"/>
                        </a:rPr>
                        <a:t>Estado</a:t>
                      </a:r>
                      <a:endParaRPr sz="800" u="none" cap="none" strike="noStrike">
                        <a:latin typeface="Arial"/>
                        <a:ea typeface="Arial"/>
                        <a:cs typeface="Arial"/>
                        <a:sym typeface="Arial"/>
                      </a:endParaRPr>
                    </a:p>
                  </a:txBody>
                  <a:tcPr marT="105800" marB="0" marR="0" marL="0">
                    <a:lnR cap="flat" cmpd="sng" w="38100">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85090" marR="0" rtl="0" algn="l">
                        <a:lnSpc>
                          <a:spcPct val="100000"/>
                        </a:lnSpc>
                        <a:spcBef>
                          <a:spcPts val="0"/>
                        </a:spcBef>
                        <a:spcAft>
                          <a:spcPts val="0"/>
                        </a:spcAft>
                        <a:buNone/>
                      </a:pPr>
                      <a:r>
                        <a:rPr lang="en-US" sz="800" u="none" cap="none" strike="noStrike">
                          <a:solidFill>
                            <a:srgbClr val="33339A"/>
                          </a:solidFill>
                          <a:latin typeface="Arial"/>
                          <a:ea typeface="Arial"/>
                          <a:cs typeface="Arial"/>
                          <a:sym typeface="Arial"/>
                        </a:rPr>
                        <a:t>Diagrama de transición de estados</a:t>
                      </a:r>
                      <a:endParaRPr sz="800" u="none" cap="none" strike="noStrike">
                        <a:latin typeface="Arial"/>
                        <a:ea typeface="Arial"/>
                        <a:cs typeface="Arial"/>
                        <a:sym typeface="Arial"/>
                      </a:endParaRPr>
                    </a:p>
                  </a:txBody>
                  <a:tcPr marT="10580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84455" marR="0" rtl="0" algn="l">
                        <a:lnSpc>
                          <a:spcPct val="100000"/>
                        </a:lnSpc>
                        <a:spcBef>
                          <a:spcPts val="0"/>
                        </a:spcBef>
                        <a:spcAft>
                          <a:spcPts val="0"/>
                        </a:spcAft>
                        <a:buNone/>
                      </a:pPr>
                      <a:r>
                        <a:rPr lang="en-US" sz="800" u="none" cap="none" strike="noStrike">
                          <a:solidFill>
                            <a:srgbClr val="33339A"/>
                          </a:solidFill>
                          <a:latin typeface="Arial"/>
                          <a:ea typeface="Arial"/>
                          <a:cs typeface="Arial"/>
                          <a:sym typeface="Arial"/>
                        </a:rPr>
                        <a:t>Estados, transiciones</a:t>
                      </a:r>
                      <a:endParaRPr sz="800" u="none" cap="none" strike="noStrike">
                        <a:latin typeface="Arial"/>
                        <a:ea typeface="Arial"/>
                        <a:cs typeface="Arial"/>
                        <a:sym typeface="Arial"/>
                      </a:endParaRPr>
                    </a:p>
                  </a:txBody>
                  <a:tcPr marT="105800" marB="0" marR="0" marL="0">
                    <a:lnL cap="flat" cmpd="sng" w="38100">
                      <a:solidFill>
                        <a:srgbClr val="FFFFFF"/>
                      </a:solidFill>
                      <a:prstDash val="solid"/>
                      <a:round/>
                      <a:headEnd len="sm" w="sm" type="none"/>
                      <a:tailEnd len="sm" w="sm" type="none"/>
                    </a:lnL>
                    <a:solidFill>
                      <a:srgbClr val="CCCCCC"/>
                    </a:solidFill>
                  </a:tcPr>
                </a:tc>
              </a:tr>
            </a:tbl>
          </a:graphicData>
        </a:graphic>
      </p:graphicFrame>
      <p:sp>
        <p:nvSpPr>
          <p:cNvPr id="927" name="Google Shape;927;p16"/>
          <p:cNvSpPr txBox="1"/>
          <p:nvPr/>
        </p:nvSpPr>
        <p:spPr>
          <a:xfrm>
            <a:off x="3307248" y="4498466"/>
            <a:ext cx="2619255"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000"/>
                </a:solidFill>
                <a:latin typeface="Arial"/>
                <a:ea typeface="Arial"/>
                <a:cs typeface="Arial"/>
                <a:sym typeface="Arial"/>
              </a:rPr>
              <a:t>Componentes atómicos del análisis estructurado</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
          <p:cNvSpPr txBox="1"/>
          <p:nvPr>
            <p:ph idx="4294967295" type="title"/>
          </p:nvPr>
        </p:nvSpPr>
        <p:spPr>
          <a:xfrm>
            <a:off x="861237" y="87103"/>
            <a:ext cx="7953153"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y Funcionalidad</a:t>
            </a:r>
            <a:endParaRPr>
              <a:solidFill>
                <a:srgbClr val="FF0000"/>
              </a:solidFill>
            </a:endParaRPr>
          </a:p>
        </p:txBody>
      </p:sp>
      <p:sp>
        <p:nvSpPr>
          <p:cNvPr id="933" name="Google Shape;933;p17"/>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34" name="Google Shape;934;p17"/>
          <p:cNvSpPr txBox="1"/>
          <p:nvPr/>
        </p:nvSpPr>
        <p:spPr>
          <a:xfrm>
            <a:off x="1834937" y="1040961"/>
            <a:ext cx="5000553" cy="997829"/>
          </a:xfrm>
          <a:prstGeom prst="rect">
            <a:avLst/>
          </a:prstGeom>
          <a:noFill/>
          <a:ln>
            <a:noFill/>
          </a:ln>
        </p:spPr>
        <p:txBody>
          <a:bodyPr anchorCtr="0" anchor="t" bIns="0" lIns="0" spcFirstLastPara="1" rIns="0" wrap="square" tIns="11962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Puntos de función (II)</a:t>
            </a:r>
            <a:endParaRPr b="0" i="0" sz="1360" u="none" cap="none" strike="noStrike">
              <a:solidFill>
                <a:srgbClr val="000000"/>
              </a:solidFill>
              <a:latin typeface="Arial"/>
              <a:ea typeface="Arial"/>
              <a:cs typeface="Arial"/>
              <a:sym typeface="Arial"/>
            </a:endParaRPr>
          </a:p>
          <a:p>
            <a:pPr indent="-233206" lvl="0" marL="241412" marR="3455" rtl="0" algn="l">
              <a:lnSpc>
                <a:spcPct val="100000"/>
              </a:lnSpc>
              <a:spcBef>
                <a:spcPts val="789"/>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A cada item se le asigna un índice de complejidad (simple, medio o complejo) y un factor de peso en función del índice, cuyos valores se recogen en la tabla siguiente</a:t>
            </a:r>
            <a:endParaRPr b="0" i="0" sz="1224" u="none" cap="none" strike="noStrike">
              <a:solidFill>
                <a:srgbClr val="000000"/>
              </a:solidFill>
              <a:latin typeface="Arial"/>
              <a:ea typeface="Arial"/>
              <a:cs typeface="Arial"/>
              <a:sym typeface="Arial"/>
            </a:endParaRPr>
          </a:p>
        </p:txBody>
      </p:sp>
      <p:sp>
        <p:nvSpPr>
          <p:cNvPr id="935" name="Google Shape;935;p17"/>
          <p:cNvSpPr/>
          <p:nvPr/>
        </p:nvSpPr>
        <p:spPr>
          <a:xfrm>
            <a:off x="1462674" y="1985883"/>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36" name="Google Shape;936;p17"/>
          <p:cNvSpPr/>
          <p:nvPr/>
        </p:nvSpPr>
        <p:spPr>
          <a:xfrm>
            <a:off x="2564445" y="2516566"/>
            <a:ext cx="3781401" cy="17275"/>
          </a:xfrm>
          <a:custGeom>
            <a:rect b="b" l="l" r="r" t="t"/>
            <a:pathLst>
              <a:path extrusionOk="0" h="25400" w="5560059">
                <a:moveTo>
                  <a:pt x="1563624" y="0"/>
                </a:moveTo>
                <a:lnTo>
                  <a:pt x="0" y="0"/>
                </a:lnTo>
                <a:lnTo>
                  <a:pt x="0" y="25146"/>
                </a:lnTo>
                <a:lnTo>
                  <a:pt x="1563624" y="25146"/>
                </a:lnTo>
                <a:lnTo>
                  <a:pt x="1563624" y="0"/>
                </a:lnTo>
                <a:close/>
              </a:path>
              <a:path extrusionOk="0" h="25400" w="5560059">
                <a:moveTo>
                  <a:pt x="2974086" y="0"/>
                </a:moveTo>
                <a:lnTo>
                  <a:pt x="1589532" y="0"/>
                </a:lnTo>
                <a:lnTo>
                  <a:pt x="1589532" y="25146"/>
                </a:lnTo>
                <a:lnTo>
                  <a:pt x="2974086" y="25146"/>
                </a:lnTo>
                <a:lnTo>
                  <a:pt x="2974086" y="0"/>
                </a:lnTo>
                <a:close/>
              </a:path>
              <a:path extrusionOk="0" h="25400" w="5560059">
                <a:moveTo>
                  <a:pt x="4414266" y="0"/>
                </a:moveTo>
                <a:lnTo>
                  <a:pt x="2999994" y="0"/>
                </a:lnTo>
                <a:lnTo>
                  <a:pt x="2999994" y="25146"/>
                </a:lnTo>
                <a:lnTo>
                  <a:pt x="4414266" y="25146"/>
                </a:lnTo>
                <a:lnTo>
                  <a:pt x="4414266" y="0"/>
                </a:lnTo>
                <a:close/>
              </a:path>
              <a:path extrusionOk="0" h="25400" w="5560059">
                <a:moveTo>
                  <a:pt x="5559539" y="0"/>
                </a:moveTo>
                <a:lnTo>
                  <a:pt x="4439399" y="0"/>
                </a:lnTo>
                <a:lnTo>
                  <a:pt x="4439399" y="25146"/>
                </a:lnTo>
                <a:lnTo>
                  <a:pt x="5559539" y="25146"/>
                </a:lnTo>
                <a:lnTo>
                  <a:pt x="55595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37" name="Google Shape;937;p17"/>
          <p:cNvSpPr/>
          <p:nvPr/>
        </p:nvSpPr>
        <p:spPr>
          <a:xfrm>
            <a:off x="1462674" y="3151924"/>
            <a:ext cx="6218841" cy="1166896"/>
          </a:xfrm>
          <a:custGeom>
            <a:rect b="b" l="l" r="r" t="t"/>
            <a:pathLst>
              <a:path extrusionOk="0" h="1715770" w="9144000">
                <a:moveTo>
                  <a:pt x="9144000" y="0"/>
                </a:moveTo>
                <a:lnTo>
                  <a:pt x="0" y="0"/>
                </a:lnTo>
                <a:lnTo>
                  <a:pt x="0" y="857250"/>
                </a:lnTo>
                <a:lnTo>
                  <a:pt x="0" y="858012"/>
                </a:lnTo>
                <a:lnTo>
                  <a:pt x="0" y="1715262"/>
                </a:lnTo>
                <a:lnTo>
                  <a:pt x="9144000" y="1715262"/>
                </a:lnTo>
                <a:lnTo>
                  <a:pt x="9144000" y="858012"/>
                </a:lnTo>
                <a:lnTo>
                  <a:pt x="9144000" y="857250"/>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aphicFrame>
        <p:nvGraphicFramePr>
          <p:cNvPr id="938" name="Google Shape;938;p17"/>
          <p:cNvGraphicFramePr/>
          <p:nvPr/>
        </p:nvGraphicFramePr>
        <p:xfrm>
          <a:off x="1834937" y="2351758"/>
          <a:ext cx="3000000" cy="3000000"/>
        </p:xfrm>
        <a:graphic>
          <a:graphicData uri="http://schemas.openxmlformats.org/drawingml/2006/table">
            <a:tbl>
              <a:tblPr bandRow="1" firstRow="1">
                <a:noFill/>
                <a:tableStyleId>{FF63AD9A-016F-4C48-BA4E-4A51AB7C9AD3}</a:tableStyleId>
              </a:tblPr>
              <a:tblGrid>
                <a:gridCol w="1439900"/>
                <a:gridCol w="983600"/>
                <a:gridCol w="1162800"/>
                <a:gridCol w="923750"/>
              </a:tblGrid>
              <a:tr h="164100">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R cap="flat" cmpd="sng" w="28575">
                      <a:solidFill>
                        <a:srgbClr val="FFFFFF"/>
                      </a:solidFill>
                      <a:prstDash val="solid"/>
                      <a:round/>
                      <a:headEnd len="sm" w="sm" type="none"/>
                      <a:tailEnd len="sm" w="sm" type="none"/>
                    </a:lnR>
                    <a:lnB cap="flat" cmpd="sng" w="9525">
                      <a:solidFill>
                        <a:srgbClr val="FFFFFF"/>
                      </a:solidFill>
                      <a:prstDash val="solid"/>
                      <a:round/>
                      <a:headEnd len="sm" w="sm" type="none"/>
                      <a:tailEnd len="sm" w="sm" type="none"/>
                    </a:lnB>
                    <a:solidFill>
                      <a:srgbClr val="CCCCCC"/>
                    </a:solidFill>
                  </a:tcPr>
                </a:tc>
                <a:tc gridSpan="3">
                  <a:txBody>
                    <a:bodyPr/>
                    <a:lstStyle/>
                    <a:p>
                      <a:pPr indent="0" lvl="0" marL="1241425" marR="0" rtl="0" algn="l">
                        <a:lnSpc>
                          <a:spcPct val="163636"/>
                        </a:lnSpc>
                        <a:spcBef>
                          <a:spcPts val="0"/>
                        </a:spcBef>
                        <a:spcAft>
                          <a:spcPts val="0"/>
                        </a:spcAft>
                        <a:buNone/>
                      </a:pPr>
                      <a:r>
                        <a:rPr b="1" lang="en-US" sz="1100" u="none" cap="none" strike="noStrike">
                          <a:solidFill>
                            <a:srgbClr val="33339A"/>
                          </a:solidFill>
                          <a:latin typeface="Arial"/>
                          <a:ea typeface="Arial"/>
                          <a:cs typeface="Arial"/>
                          <a:sym typeface="Arial"/>
                        </a:rPr>
                        <a:t>Factor de peso</a:t>
                      </a:r>
                      <a:endParaRPr sz="1100" u="none" cap="none" strike="noStrike">
                        <a:latin typeface="Arial"/>
                        <a:ea typeface="Arial"/>
                        <a:cs typeface="Arial"/>
                        <a:sym typeface="Arial"/>
                      </a:endParaRPr>
                    </a:p>
                  </a:txBody>
                  <a:tcPr marT="0" marB="0" marR="0" marL="0">
                    <a:lnL cap="flat" cmpd="sng" w="28575">
                      <a:solidFill>
                        <a:srgbClr val="FFFFFF"/>
                      </a:solidFill>
                      <a:prstDash val="solid"/>
                      <a:round/>
                      <a:headEnd len="sm" w="sm" type="none"/>
                      <a:tailEnd len="sm" w="sm" type="none"/>
                    </a:lnL>
                    <a:lnB cap="flat" cmpd="sng" w="9525">
                      <a:solidFill>
                        <a:srgbClr val="FFFFFF"/>
                      </a:solidFill>
                      <a:prstDash val="solid"/>
                      <a:round/>
                      <a:headEnd len="sm" w="sm" type="none"/>
                      <a:tailEnd len="sm" w="sm" type="none"/>
                    </a:lnB>
                    <a:solidFill>
                      <a:srgbClr val="CCCCCC"/>
                    </a:solidFill>
                  </a:tcPr>
                </a:tc>
                <a:tc hMerge="1"/>
                <a:tc hMerge="1"/>
              </a:tr>
              <a:tr h="190875">
                <a:tc>
                  <a:txBody>
                    <a:bodyPr/>
                    <a:lstStyle/>
                    <a:p>
                      <a:pPr indent="0" lvl="0" marL="0" marR="0" rtl="0" algn="ctr">
                        <a:lnSpc>
                          <a:spcPct val="100000"/>
                        </a:lnSpc>
                        <a:spcBef>
                          <a:spcPts val="0"/>
                        </a:spcBef>
                        <a:spcAft>
                          <a:spcPts val="0"/>
                        </a:spcAft>
                        <a:buNone/>
                      </a:pPr>
                      <a:r>
                        <a:rPr b="1" lang="en-US" sz="1100" u="none" cap="none" strike="noStrike">
                          <a:solidFill>
                            <a:srgbClr val="33339A"/>
                          </a:solidFill>
                          <a:latin typeface="Arial"/>
                          <a:ea typeface="Arial"/>
                          <a:cs typeface="Arial"/>
                          <a:sym typeface="Arial"/>
                        </a:rPr>
                        <a:t>Item</a:t>
                      </a:r>
                      <a:endParaRPr sz="1100" u="none" cap="none" strike="noStrike">
                        <a:latin typeface="Arial"/>
                        <a:ea typeface="Arial"/>
                        <a:cs typeface="Arial"/>
                        <a:sym typeface="Arial"/>
                      </a:endParaRPr>
                    </a:p>
                  </a:txBody>
                  <a:tcPr marT="7350" marB="0" marR="0" marL="0">
                    <a:lnR cap="flat" cmpd="sng" w="2857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33339A"/>
                          </a:solidFill>
                          <a:latin typeface="Arial"/>
                          <a:ea typeface="Arial"/>
                          <a:cs typeface="Arial"/>
                          <a:sym typeface="Arial"/>
                        </a:rPr>
                        <a:t>Simple</a:t>
                      </a:r>
                      <a:endParaRPr sz="1100" u="none" cap="none" strike="noStrike">
                        <a:latin typeface="Arial"/>
                        <a:ea typeface="Arial"/>
                        <a:cs typeface="Arial"/>
                        <a:sym typeface="Arial"/>
                      </a:endParaRPr>
                    </a:p>
                  </a:txBody>
                  <a:tcPr marT="73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4445" marR="0" rtl="0" algn="ctr">
                        <a:lnSpc>
                          <a:spcPct val="100000"/>
                        </a:lnSpc>
                        <a:spcBef>
                          <a:spcPts val="0"/>
                        </a:spcBef>
                        <a:spcAft>
                          <a:spcPts val="0"/>
                        </a:spcAft>
                        <a:buNone/>
                      </a:pPr>
                      <a:r>
                        <a:rPr b="1" lang="en-US" sz="1100" u="none" cap="none" strike="noStrike">
                          <a:solidFill>
                            <a:srgbClr val="33339A"/>
                          </a:solidFill>
                          <a:latin typeface="Arial"/>
                          <a:ea typeface="Arial"/>
                          <a:cs typeface="Arial"/>
                          <a:sym typeface="Arial"/>
                        </a:rPr>
                        <a:t>Medio</a:t>
                      </a:r>
                      <a:endParaRPr sz="1100" u="none" cap="none" strike="noStrike">
                        <a:latin typeface="Arial"/>
                        <a:ea typeface="Arial"/>
                        <a:cs typeface="Arial"/>
                        <a:sym typeface="Arial"/>
                      </a:endParaRPr>
                    </a:p>
                  </a:txBody>
                  <a:tcPr marT="73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15" marR="0" rtl="0" algn="ctr">
                        <a:lnSpc>
                          <a:spcPct val="100000"/>
                        </a:lnSpc>
                        <a:spcBef>
                          <a:spcPts val="0"/>
                        </a:spcBef>
                        <a:spcAft>
                          <a:spcPts val="0"/>
                        </a:spcAft>
                        <a:buNone/>
                      </a:pPr>
                      <a:r>
                        <a:rPr b="1" lang="en-US" sz="1100" u="none" cap="none" strike="noStrike">
                          <a:solidFill>
                            <a:srgbClr val="33339A"/>
                          </a:solidFill>
                          <a:latin typeface="Arial"/>
                          <a:ea typeface="Arial"/>
                          <a:cs typeface="Arial"/>
                          <a:sym typeface="Arial"/>
                        </a:rPr>
                        <a:t>Complejo</a:t>
                      </a:r>
                      <a:endParaRPr sz="1100" u="none" cap="none" strike="noStrike">
                        <a:latin typeface="Arial"/>
                        <a:ea typeface="Arial"/>
                        <a:cs typeface="Arial"/>
                        <a:sym typeface="Arial"/>
                      </a:endParaRPr>
                    </a:p>
                  </a:txBody>
                  <a:tcPr marT="7350" marB="0" marR="0" marL="0">
                    <a:lnL cap="flat" cmpd="sng" w="28575">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r>
              <a:tr h="310075">
                <a:tc>
                  <a:txBody>
                    <a:bodyPr/>
                    <a:lstStyle/>
                    <a:p>
                      <a:pPr indent="0" lvl="0" marL="62865" marR="757555" rtl="0" algn="l">
                        <a:lnSpc>
                          <a:spcPct val="168900"/>
                        </a:lnSpc>
                        <a:spcBef>
                          <a:spcPts val="0"/>
                        </a:spcBef>
                        <a:spcAft>
                          <a:spcPts val="0"/>
                        </a:spcAft>
                        <a:buNone/>
                      </a:pPr>
                      <a:r>
                        <a:rPr lang="en-US" sz="1000" u="none" cap="none" strike="noStrike">
                          <a:solidFill>
                            <a:srgbClr val="33339A"/>
                          </a:solidFill>
                          <a:latin typeface="Arial"/>
                          <a:ea typeface="Arial"/>
                          <a:cs typeface="Arial"/>
                          <a:sym typeface="Arial"/>
                        </a:rPr>
                        <a:t>Entradas externas</a:t>
                      </a:r>
                      <a:endParaRPr sz="1000" u="none" cap="none" strike="noStrike">
                        <a:latin typeface="Arial"/>
                        <a:ea typeface="Arial"/>
                        <a:cs typeface="Arial"/>
                        <a:sym typeface="Arial"/>
                      </a:endParaRPr>
                    </a:p>
                  </a:txBody>
                  <a:tcPr marT="950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3</a:t>
                      </a:r>
                      <a:endParaRPr sz="1000" u="none" cap="none" strike="noStrike">
                        <a:latin typeface="Arial"/>
                        <a:ea typeface="Arial"/>
                        <a:cs typeface="Arial"/>
                        <a:sym typeface="Arial"/>
                      </a:endParaRPr>
                    </a:p>
                  </a:txBody>
                  <a:tcPr marT="130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08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4</a:t>
                      </a:r>
                      <a:endParaRPr sz="1000" u="none" cap="none" strike="noStrike">
                        <a:latin typeface="Arial"/>
                        <a:ea typeface="Arial"/>
                        <a:cs typeface="Arial"/>
                        <a:sym typeface="Arial"/>
                      </a:endParaRPr>
                    </a:p>
                  </a:txBody>
                  <a:tcPr marT="734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635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6</a:t>
                      </a:r>
                      <a:endParaRPr sz="1000" u="none" cap="none" strike="noStrike">
                        <a:latin typeface="Arial"/>
                        <a:ea typeface="Arial"/>
                        <a:cs typeface="Arial"/>
                        <a:sym typeface="Arial"/>
                      </a:endParaRPr>
                    </a:p>
                  </a:txBody>
                  <a:tcPr marT="7342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r>
              <a:tr h="175775">
                <a:tc>
                  <a:txBody>
                    <a:bodyPr/>
                    <a:lstStyle/>
                    <a:p>
                      <a:pPr indent="0" lvl="0" marL="0" marR="58419"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Salidas externas</a:t>
                      </a:r>
                      <a:endParaRPr sz="1000" u="none" cap="none" strike="noStrike">
                        <a:latin typeface="Arial"/>
                        <a:ea typeface="Arial"/>
                        <a:cs typeface="Arial"/>
                        <a:sym typeface="Arial"/>
                      </a:endParaRPr>
                    </a:p>
                  </a:txBody>
                  <a:tcPr marT="690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4</a:t>
                      </a:r>
                      <a:endParaRPr sz="1000" u="none" cap="none" strike="noStrike">
                        <a:latin typeface="Arial"/>
                        <a:ea typeface="Arial"/>
                        <a:cs typeface="Arial"/>
                        <a:sym typeface="Arial"/>
                      </a:endParaRPr>
                    </a:p>
                  </a:txBody>
                  <a:tcPr marT="130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gridSpan="2">
                  <a:txBody>
                    <a:bodyPr/>
                    <a:lstStyle/>
                    <a:p>
                      <a:pPr indent="0" lvl="0" marL="667385" marR="0" rtl="0" algn="l">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5	7</a:t>
                      </a:r>
                      <a:endParaRPr sz="1000" u="none" cap="none" strike="noStrike">
                        <a:latin typeface="Arial"/>
                        <a:ea typeface="Arial"/>
                        <a:cs typeface="Arial"/>
                        <a:sym typeface="Arial"/>
                      </a:endParaRPr>
                    </a:p>
                  </a:txBody>
                  <a:tcPr marT="690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hMerge="1"/>
              </a:tr>
              <a:tr h="300575">
                <a:tc>
                  <a:txBody>
                    <a:bodyPr/>
                    <a:lstStyle/>
                    <a:p>
                      <a:pPr indent="0" lvl="0" marL="62865" marR="673100" rtl="0" algn="l">
                        <a:lnSpc>
                          <a:spcPct val="168900"/>
                        </a:lnSpc>
                        <a:spcBef>
                          <a:spcPts val="0"/>
                        </a:spcBef>
                        <a:spcAft>
                          <a:spcPts val="0"/>
                        </a:spcAft>
                        <a:buNone/>
                      </a:pPr>
                      <a:r>
                        <a:rPr lang="en-US" sz="1000" u="none" cap="none" strike="noStrike">
                          <a:solidFill>
                            <a:srgbClr val="33339A"/>
                          </a:solidFill>
                          <a:latin typeface="Arial"/>
                          <a:ea typeface="Arial"/>
                          <a:cs typeface="Arial"/>
                          <a:sym typeface="Arial"/>
                        </a:rPr>
                        <a:t>Consultas externas</a:t>
                      </a:r>
                      <a:endParaRPr sz="1000" u="none" cap="none" strike="noStrike">
                        <a:latin typeface="Arial"/>
                        <a:ea typeface="Arial"/>
                        <a:cs typeface="Arial"/>
                        <a:sym typeface="Arial"/>
                      </a:endParaRPr>
                    </a:p>
                  </a:txBody>
                  <a:tcPr marT="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F1F1F1"/>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3</a:t>
                      </a:r>
                      <a:endParaRPr sz="1000" u="none" cap="none" strike="noStrike">
                        <a:latin typeface="Arial"/>
                        <a:ea typeface="Arial"/>
                        <a:cs typeface="Arial"/>
                        <a:sym typeface="Arial"/>
                      </a:endParaRPr>
                    </a:p>
                  </a:txBody>
                  <a:tcPr marT="130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1F1F1"/>
                    </a:solidFill>
                  </a:tcPr>
                </a:tc>
                <a:tc gridSpan="2">
                  <a:txBody>
                    <a:bodyPr/>
                    <a:lstStyle/>
                    <a:p>
                      <a:pPr indent="0" lvl="0" marL="667385" marR="0" rtl="0" algn="l">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4	6</a:t>
                      </a:r>
                      <a:endParaRPr sz="1000" u="none" cap="none" strike="noStrike">
                        <a:latin typeface="Arial"/>
                        <a:ea typeface="Arial"/>
                        <a:cs typeface="Arial"/>
                        <a:sym typeface="Arial"/>
                      </a:endParaRPr>
                    </a:p>
                  </a:txBody>
                  <a:tcPr marT="7385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1F1F1"/>
                    </a:solidFill>
                  </a:tcPr>
                </a:tc>
                <a:tc hMerge="1"/>
              </a:tr>
              <a:tr h="241400">
                <a:tc rowSpan="2">
                  <a:txBody>
                    <a:bodyPr/>
                    <a:lstStyle/>
                    <a:p>
                      <a:pPr indent="0" lvl="0" marL="62865" marR="787400" rtl="0" algn="l">
                        <a:lnSpc>
                          <a:spcPct val="170000"/>
                        </a:lnSpc>
                        <a:spcBef>
                          <a:spcPts val="0"/>
                        </a:spcBef>
                        <a:spcAft>
                          <a:spcPts val="0"/>
                        </a:spcAft>
                        <a:buNone/>
                      </a:pPr>
                      <a:r>
                        <a:rPr lang="en-US" sz="1000" u="none" cap="none" strike="noStrike">
                          <a:solidFill>
                            <a:srgbClr val="33339A"/>
                          </a:solidFill>
                          <a:latin typeface="Arial"/>
                          <a:ea typeface="Arial"/>
                          <a:cs typeface="Arial"/>
                          <a:sym typeface="Arial"/>
                        </a:rPr>
                        <a:t>Ficheros externos</a:t>
                      </a:r>
                      <a:endParaRPr sz="1000" u="none" cap="none" strike="noStrike">
                        <a:latin typeface="Arial"/>
                        <a:ea typeface="Arial"/>
                        <a:cs typeface="Arial"/>
                        <a:sym typeface="Arial"/>
                      </a:endParaRPr>
                    </a:p>
                  </a:txBody>
                  <a:tcPr marT="16400" marB="0" marR="0" marL="0">
                    <a:lnR cap="flat" cmpd="sng" w="28575">
                      <a:solidFill>
                        <a:srgbClr val="FFFFFF"/>
                      </a:solidFill>
                      <a:prstDash val="solid"/>
                      <a:round/>
                      <a:headEnd len="sm" w="sm" type="none"/>
                      <a:tailEnd len="sm" w="sm" type="none"/>
                    </a:lnR>
                    <a:solidFill>
                      <a:srgbClr val="CCCCCC"/>
                    </a:solidFill>
                  </a:tcPr>
                </a:tc>
                <a:tc rowSpan="2">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7</a:t>
                      </a:r>
                      <a:endParaRPr sz="1000" u="none" cap="none" strike="noStrike">
                        <a:latin typeface="Arial"/>
                        <a:ea typeface="Arial"/>
                        <a:cs typeface="Arial"/>
                        <a:sym typeface="Arial"/>
                      </a:endParaRPr>
                    </a:p>
                  </a:txBody>
                  <a:tcPr marT="99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gridSpan="2">
                  <a:txBody>
                    <a:bodyPr/>
                    <a:lstStyle/>
                    <a:p>
                      <a:pPr indent="0" lvl="0" marL="615315" marR="0" rtl="0" algn="l">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10	15</a:t>
                      </a:r>
                      <a:endParaRPr sz="1000" u="none" cap="none" strike="noStrike">
                        <a:latin typeface="Arial"/>
                        <a:ea typeface="Arial"/>
                        <a:cs typeface="Arial"/>
                        <a:sym typeface="Arial"/>
                      </a:endParaRPr>
                    </a:p>
                  </a:txBody>
                  <a:tcPr marT="82475" marB="0" marR="0" marL="0">
                    <a:lnL cap="flat" cmpd="sng" w="28575">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solidFill>
                      <a:srgbClr val="CCCCCC"/>
                    </a:solidFill>
                  </a:tcPr>
                </a:tc>
                <a:tc hMerge="1"/>
              </a:tr>
              <a:tr h="77300">
                <a:tc vMerge="1"/>
                <a:tc vMerge="1"/>
                <a:tc>
                  <a:txBody>
                    <a:bodyPr/>
                    <a:lstStyle/>
                    <a:p>
                      <a:pPr indent="0" lvl="0" marL="0" marR="0" rtl="0" algn="l">
                        <a:lnSpc>
                          <a:spcPct val="100000"/>
                        </a:lnSpc>
                        <a:spcBef>
                          <a:spcPts val="0"/>
                        </a:spcBef>
                        <a:spcAft>
                          <a:spcPts val="0"/>
                        </a:spcAft>
                        <a:buNone/>
                      </a:pPr>
                      <a:r>
                        <a:t/>
                      </a:r>
                      <a:endParaRPr sz="4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None/>
                      </a:pPr>
                      <a:r>
                        <a:t/>
                      </a:r>
                      <a:endParaRPr sz="400" u="none" cap="none" strike="noStrike">
                        <a:latin typeface="Times New Roman"/>
                        <a:ea typeface="Times New Roman"/>
                        <a:cs typeface="Times New Roman"/>
                        <a:sym typeface="Times New Roman"/>
                      </a:endParaRPr>
                    </a:p>
                  </a:txBody>
                  <a:tcPr marT="0" marB="0" marR="0" marL="0">
                    <a:lnL cap="flat" cmpd="sng" w="9525">
                      <a:solidFill>
                        <a:srgbClr val="FFFFFF"/>
                      </a:solidFill>
                      <a:prstDash val="solid"/>
                      <a:round/>
                      <a:headEnd len="sm" w="sm" type="none"/>
                      <a:tailEnd len="sm" w="sm" type="none"/>
                    </a:lnL>
                    <a:lnB cap="flat" cmpd="sng" w="28575">
                      <a:solidFill>
                        <a:srgbClr val="FFFFFF"/>
                      </a:solidFill>
                      <a:prstDash val="solid"/>
                      <a:round/>
                      <a:headEnd len="sm" w="sm" type="none"/>
                      <a:tailEnd len="sm" w="sm" type="none"/>
                    </a:lnB>
                    <a:solidFill>
                      <a:srgbClr val="CCCCCC"/>
                    </a:solidFill>
                  </a:tcPr>
                </a:tc>
              </a:tr>
              <a:tr h="167575">
                <a:tc>
                  <a:txBody>
                    <a:bodyPr/>
                    <a:lstStyle/>
                    <a:p>
                      <a:pPr indent="0" lvl="0" marL="0" marR="635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Ficheros internos</a:t>
                      </a:r>
                      <a:endParaRPr sz="1000" u="none" cap="none" strike="noStrike">
                        <a:latin typeface="Arial"/>
                        <a:ea typeface="Arial"/>
                        <a:cs typeface="Arial"/>
                        <a:sym typeface="Arial"/>
                      </a:endParaRPr>
                    </a:p>
                  </a:txBody>
                  <a:tcPr marT="7350" marB="0" marR="0" marL="0">
                    <a:lnR cap="flat" cmpd="sng" w="28575">
                      <a:solidFill>
                        <a:srgbClr val="FFFFFF"/>
                      </a:solidFill>
                      <a:prstDash val="solid"/>
                      <a:round/>
                      <a:headEnd len="sm" w="sm" type="none"/>
                      <a:tailEnd len="sm" w="sm" type="none"/>
                    </a:lnR>
                    <a:solidFill>
                      <a:srgbClr val="F1F1F1"/>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5</a:t>
                      </a:r>
                      <a:endParaRPr sz="1000" u="none" cap="none" strike="noStrike">
                        <a:latin typeface="Arial"/>
                        <a:ea typeface="Arial"/>
                        <a:cs typeface="Arial"/>
                        <a:sym typeface="Arial"/>
                      </a:endParaRPr>
                    </a:p>
                  </a:txBody>
                  <a:tcPr marT="130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F1F1F1"/>
                    </a:solidFill>
                  </a:tcPr>
                </a:tc>
                <a:tc>
                  <a:txBody>
                    <a:bodyPr/>
                    <a:lstStyle/>
                    <a:p>
                      <a:pPr indent="0" lvl="0" marL="508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7</a:t>
                      </a:r>
                      <a:endParaRPr sz="1000" u="none" cap="none" strike="noStrike">
                        <a:latin typeface="Arial"/>
                        <a:ea typeface="Arial"/>
                        <a:cs typeface="Arial"/>
                        <a:sym typeface="Arial"/>
                      </a:endParaRPr>
                    </a:p>
                  </a:txBody>
                  <a:tcPr marT="7350" marB="0" marR="0" marL="0">
                    <a:lnL cap="flat" cmpd="sng" w="2857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F1F1F1"/>
                    </a:solidFill>
                  </a:tcPr>
                </a:tc>
                <a:tc>
                  <a:txBody>
                    <a:bodyPr/>
                    <a:lstStyle/>
                    <a:p>
                      <a:pPr indent="0" lvl="0" marL="5715"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10</a:t>
                      </a:r>
                      <a:endParaRPr sz="1000" u="none" cap="none" strike="noStrike">
                        <a:latin typeface="Arial"/>
                        <a:ea typeface="Arial"/>
                        <a:cs typeface="Arial"/>
                        <a:sym typeface="Arial"/>
                      </a:endParaRPr>
                    </a:p>
                  </a:txBody>
                  <a:tcPr marT="7350" marB="0" marR="0" marL="0">
                    <a:lnL cap="flat" cmpd="sng" w="952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solidFill>
                      <a:srgbClr val="F1F1F1"/>
                    </a:solidFill>
                  </a:tcPr>
                </a:tc>
              </a:tr>
            </a:tbl>
          </a:graphicData>
        </a:graphic>
      </p:graphicFrame>
      <p:grpSp>
        <p:nvGrpSpPr>
          <p:cNvPr id="939" name="Google Shape;939;p17"/>
          <p:cNvGrpSpPr/>
          <p:nvPr/>
        </p:nvGrpSpPr>
        <p:grpSpPr>
          <a:xfrm>
            <a:off x="2564445" y="3152434"/>
            <a:ext cx="3781228" cy="652114"/>
            <a:chOff x="2394851" y="4635245"/>
            <a:chExt cx="5559806" cy="958850"/>
          </a:xfrm>
        </p:grpSpPr>
        <p:sp>
          <p:nvSpPr>
            <p:cNvPr id="940" name="Google Shape;940;p17"/>
            <p:cNvSpPr/>
            <p:nvPr/>
          </p:nvSpPr>
          <p:spPr>
            <a:xfrm>
              <a:off x="6809117" y="4635245"/>
              <a:ext cx="25400" cy="47625"/>
            </a:xfrm>
            <a:custGeom>
              <a:rect b="b" l="l" r="r" t="t"/>
              <a:pathLst>
                <a:path extrusionOk="0" h="47625" w="25400">
                  <a:moveTo>
                    <a:pt x="25146" y="47244"/>
                  </a:moveTo>
                  <a:lnTo>
                    <a:pt x="25146" y="0"/>
                  </a:lnTo>
                  <a:lnTo>
                    <a:pt x="0" y="0"/>
                  </a:lnTo>
                  <a:lnTo>
                    <a:pt x="0" y="47244"/>
                  </a:lnTo>
                  <a:lnTo>
                    <a:pt x="25146" y="47244"/>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1" name="Google Shape;941;p17"/>
            <p:cNvSpPr/>
            <p:nvPr/>
          </p:nvSpPr>
          <p:spPr>
            <a:xfrm>
              <a:off x="6809117" y="4635245"/>
              <a:ext cx="0" cy="47625"/>
            </a:xfrm>
            <a:custGeom>
              <a:rect b="b" l="l" r="r" t="t"/>
              <a:pathLst>
                <a:path extrusionOk="0" h="47625" w="120000">
                  <a:moveTo>
                    <a:pt x="0" y="0"/>
                  </a:moveTo>
                  <a:lnTo>
                    <a:pt x="0" y="47243"/>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2" name="Google Shape;942;p17"/>
            <p:cNvSpPr/>
            <p:nvPr/>
          </p:nvSpPr>
          <p:spPr>
            <a:xfrm>
              <a:off x="6809117" y="4709159"/>
              <a:ext cx="25400" cy="428625"/>
            </a:xfrm>
            <a:custGeom>
              <a:rect b="b" l="l" r="r" t="t"/>
              <a:pathLst>
                <a:path extrusionOk="0" h="428625" w="25400">
                  <a:moveTo>
                    <a:pt x="25146" y="428243"/>
                  </a:moveTo>
                  <a:lnTo>
                    <a:pt x="25146" y="0"/>
                  </a:lnTo>
                  <a:lnTo>
                    <a:pt x="0" y="0"/>
                  </a:lnTo>
                  <a:lnTo>
                    <a:pt x="0" y="428243"/>
                  </a:lnTo>
                  <a:lnTo>
                    <a:pt x="25146" y="428243"/>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3" name="Google Shape;943;p17"/>
            <p:cNvSpPr/>
            <p:nvPr/>
          </p:nvSpPr>
          <p:spPr>
            <a:xfrm>
              <a:off x="6809117" y="4709159"/>
              <a:ext cx="0" cy="428625"/>
            </a:xfrm>
            <a:custGeom>
              <a:rect b="b" l="l" r="r" t="t"/>
              <a:pathLst>
                <a:path extrusionOk="0" h="428625" w="120000">
                  <a:moveTo>
                    <a:pt x="0" y="0"/>
                  </a:moveTo>
                  <a:lnTo>
                    <a:pt x="0" y="428244"/>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4" name="Google Shape;944;p17"/>
            <p:cNvSpPr/>
            <p:nvPr/>
          </p:nvSpPr>
          <p:spPr>
            <a:xfrm>
              <a:off x="2394851" y="5137416"/>
              <a:ext cx="4439920" cy="26670"/>
            </a:xfrm>
            <a:custGeom>
              <a:rect b="b" l="l" r="r" t="t"/>
              <a:pathLst>
                <a:path extrusionOk="0" h="26670" w="4439920">
                  <a:moveTo>
                    <a:pt x="1563624" y="0"/>
                  </a:moveTo>
                  <a:lnTo>
                    <a:pt x="0" y="0"/>
                  </a:lnTo>
                  <a:lnTo>
                    <a:pt x="0" y="25146"/>
                  </a:lnTo>
                  <a:lnTo>
                    <a:pt x="1563624" y="25146"/>
                  </a:lnTo>
                  <a:lnTo>
                    <a:pt x="1563624" y="0"/>
                  </a:lnTo>
                  <a:close/>
                </a:path>
                <a:path extrusionOk="0" h="26670" w="4439920">
                  <a:moveTo>
                    <a:pt x="2974086" y="0"/>
                  </a:moveTo>
                  <a:lnTo>
                    <a:pt x="1589532" y="0"/>
                  </a:lnTo>
                  <a:lnTo>
                    <a:pt x="1589532" y="25146"/>
                  </a:lnTo>
                  <a:lnTo>
                    <a:pt x="2974086" y="25146"/>
                  </a:lnTo>
                  <a:lnTo>
                    <a:pt x="2974086" y="0"/>
                  </a:lnTo>
                  <a:close/>
                </a:path>
                <a:path extrusionOk="0" h="26670" w="4439920">
                  <a:moveTo>
                    <a:pt x="4439412" y="0"/>
                  </a:moveTo>
                  <a:lnTo>
                    <a:pt x="4414266" y="0"/>
                  </a:lnTo>
                  <a:lnTo>
                    <a:pt x="2999994" y="0"/>
                  </a:lnTo>
                  <a:lnTo>
                    <a:pt x="2999994" y="25146"/>
                  </a:lnTo>
                  <a:lnTo>
                    <a:pt x="4414266" y="25146"/>
                  </a:lnTo>
                  <a:lnTo>
                    <a:pt x="4414266" y="26670"/>
                  </a:lnTo>
                  <a:lnTo>
                    <a:pt x="4439412" y="26670"/>
                  </a:lnTo>
                  <a:lnTo>
                    <a:pt x="443941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5" name="Google Shape;945;p17"/>
            <p:cNvSpPr/>
            <p:nvPr/>
          </p:nvSpPr>
          <p:spPr>
            <a:xfrm>
              <a:off x="6809117" y="5137403"/>
              <a:ext cx="0" cy="26670"/>
            </a:xfrm>
            <a:custGeom>
              <a:rect b="b" l="l" r="r" t="t"/>
              <a:pathLst>
                <a:path extrusionOk="0" h="26670" w="120000">
                  <a:moveTo>
                    <a:pt x="0" y="0"/>
                  </a:moveTo>
                  <a:lnTo>
                    <a:pt x="0" y="2667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6" name="Google Shape;946;p17"/>
            <p:cNvSpPr/>
            <p:nvPr/>
          </p:nvSpPr>
          <p:spPr>
            <a:xfrm>
              <a:off x="6809117" y="5137416"/>
              <a:ext cx="1145540" cy="355600"/>
            </a:xfrm>
            <a:custGeom>
              <a:rect b="b" l="l" r="r" t="t"/>
              <a:pathLst>
                <a:path extrusionOk="0" h="355600" w="1145540">
                  <a:moveTo>
                    <a:pt x="25146" y="26670"/>
                  </a:moveTo>
                  <a:lnTo>
                    <a:pt x="0" y="26670"/>
                  </a:lnTo>
                  <a:lnTo>
                    <a:pt x="0" y="355092"/>
                  </a:lnTo>
                  <a:lnTo>
                    <a:pt x="25146" y="355092"/>
                  </a:lnTo>
                  <a:lnTo>
                    <a:pt x="25146" y="26670"/>
                  </a:lnTo>
                  <a:close/>
                </a:path>
                <a:path extrusionOk="0" h="355600" w="1145540">
                  <a:moveTo>
                    <a:pt x="1145273" y="0"/>
                  </a:moveTo>
                  <a:lnTo>
                    <a:pt x="25133" y="0"/>
                  </a:lnTo>
                  <a:lnTo>
                    <a:pt x="25133" y="25146"/>
                  </a:lnTo>
                  <a:lnTo>
                    <a:pt x="1145273" y="25146"/>
                  </a:lnTo>
                  <a:lnTo>
                    <a:pt x="114527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7" name="Google Shape;947;p17"/>
            <p:cNvSpPr/>
            <p:nvPr/>
          </p:nvSpPr>
          <p:spPr>
            <a:xfrm>
              <a:off x="6809117" y="5164073"/>
              <a:ext cx="0" cy="328930"/>
            </a:xfrm>
            <a:custGeom>
              <a:rect b="b" l="l" r="r" t="t"/>
              <a:pathLst>
                <a:path extrusionOk="0" h="328929" w="120000">
                  <a:moveTo>
                    <a:pt x="0" y="0"/>
                  </a:moveTo>
                  <a:lnTo>
                    <a:pt x="0" y="328422"/>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48" name="Google Shape;948;p17"/>
            <p:cNvSpPr/>
            <p:nvPr/>
          </p:nvSpPr>
          <p:spPr>
            <a:xfrm>
              <a:off x="6809117" y="5492495"/>
              <a:ext cx="25400" cy="101600"/>
            </a:xfrm>
            <a:custGeom>
              <a:rect b="b" l="l" r="r" t="t"/>
              <a:pathLst>
                <a:path extrusionOk="0" h="101600" w="25400">
                  <a:moveTo>
                    <a:pt x="25146" y="101346"/>
                  </a:moveTo>
                  <a:lnTo>
                    <a:pt x="25146" y="0"/>
                  </a:lnTo>
                  <a:lnTo>
                    <a:pt x="0" y="0"/>
                  </a:lnTo>
                  <a:lnTo>
                    <a:pt x="0" y="101346"/>
                  </a:lnTo>
                  <a:lnTo>
                    <a:pt x="25146" y="101346"/>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949" name="Google Shape;949;p17"/>
          <p:cNvSpPr/>
          <p:nvPr/>
        </p:nvSpPr>
        <p:spPr>
          <a:xfrm>
            <a:off x="5566591" y="3822514"/>
            <a:ext cx="17275" cy="158062"/>
          </a:xfrm>
          <a:custGeom>
            <a:rect b="b" l="l" r="r" t="t"/>
            <a:pathLst>
              <a:path extrusionOk="0" h="232410" w="25400">
                <a:moveTo>
                  <a:pt x="25146" y="232410"/>
                </a:moveTo>
                <a:lnTo>
                  <a:pt x="25146" y="0"/>
                </a:lnTo>
                <a:lnTo>
                  <a:pt x="0" y="0"/>
                </a:lnTo>
                <a:lnTo>
                  <a:pt x="0" y="232410"/>
                </a:lnTo>
                <a:lnTo>
                  <a:pt x="25146" y="23241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8"/>
          <p:cNvSpPr txBox="1"/>
          <p:nvPr>
            <p:ph idx="4294967295" type="title"/>
          </p:nvPr>
        </p:nvSpPr>
        <p:spPr>
          <a:xfrm>
            <a:off x="672134" y="26864"/>
            <a:ext cx="8048847"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Funcionalidad</a:t>
            </a:r>
            <a:endParaRPr>
              <a:solidFill>
                <a:srgbClr val="FF0000"/>
              </a:solidFill>
            </a:endParaRPr>
          </a:p>
        </p:txBody>
      </p:sp>
      <p:sp>
        <p:nvSpPr>
          <p:cNvPr id="955" name="Google Shape;955;p18"/>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56" name="Google Shape;956;p18"/>
          <p:cNvSpPr txBox="1"/>
          <p:nvPr/>
        </p:nvSpPr>
        <p:spPr>
          <a:xfrm>
            <a:off x="1834937" y="1048175"/>
            <a:ext cx="3419931" cy="540723"/>
          </a:xfrm>
          <a:prstGeom prst="rect">
            <a:avLst/>
          </a:prstGeom>
          <a:noFill/>
          <a:ln>
            <a:noFill/>
          </a:ln>
        </p:spPr>
        <p:txBody>
          <a:bodyPr anchorCtr="0" anchor="t" bIns="0" lIns="0" spcFirstLastPara="1" rIns="0" wrap="square" tIns="78150">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Puntos de función (III)</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496"/>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UFC se calcula mediante la siguiente fórmula:</a:t>
            </a:r>
            <a:endParaRPr b="0" i="0" sz="1224" u="none" cap="none" strike="noStrike">
              <a:solidFill>
                <a:srgbClr val="000000"/>
              </a:solidFill>
              <a:latin typeface="Arial"/>
              <a:ea typeface="Arial"/>
              <a:cs typeface="Arial"/>
              <a:sym typeface="Arial"/>
            </a:endParaRPr>
          </a:p>
        </p:txBody>
      </p:sp>
      <p:sp>
        <p:nvSpPr>
          <p:cNvPr id="957" name="Google Shape;957;p18"/>
          <p:cNvSpPr txBox="1"/>
          <p:nvPr/>
        </p:nvSpPr>
        <p:spPr>
          <a:xfrm>
            <a:off x="2650641" y="1802600"/>
            <a:ext cx="120058" cy="119931"/>
          </a:xfrm>
          <a:prstGeom prst="rect">
            <a:avLst/>
          </a:prstGeom>
          <a:noFill/>
          <a:ln>
            <a:noFill/>
          </a:ln>
        </p:spPr>
        <p:txBody>
          <a:bodyPr anchorCtr="0" anchor="t" bIns="0" lIns="0" spcFirstLastPara="1" rIns="0" wrap="square" tIns="9925">
            <a:spAutoFit/>
          </a:bodyPr>
          <a:lstStyle/>
          <a:p>
            <a:pPr indent="0" lvl="0" marL="8637" marR="0" rtl="0" algn="l">
              <a:lnSpc>
                <a:spcPct val="100000"/>
              </a:lnSpc>
              <a:spcBef>
                <a:spcPts val="0"/>
              </a:spcBef>
              <a:spcAft>
                <a:spcPts val="0"/>
              </a:spcAft>
              <a:buNone/>
            </a:pPr>
            <a:r>
              <a:rPr b="0" i="0" lang="en-US" sz="714" u="none" cap="none" strike="noStrike">
                <a:solidFill>
                  <a:srgbClr val="000000"/>
                </a:solidFill>
                <a:latin typeface="Arial"/>
                <a:ea typeface="Arial"/>
                <a:cs typeface="Arial"/>
                <a:sym typeface="Arial"/>
              </a:rPr>
              <a:t>15</a:t>
            </a:r>
            <a:endParaRPr b="0" i="0" sz="714" u="none" cap="none" strike="noStrike">
              <a:solidFill>
                <a:srgbClr val="000000"/>
              </a:solidFill>
              <a:latin typeface="Arial"/>
              <a:ea typeface="Arial"/>
              <a:cs typeface="Arial"/>
              <a:sym typeface="Arial"/>
            </a:endParaRPr>
          </a:p>
        </p:txBody>
      </p:sp>
      <p:sp>
        <p:nvSpPr>
          <p:cNvPr id="958" name="Google Shape;958;p18"/>
          <p:cNvSpPr txBox="1"/>
          <p:nvPr/>
        </p:nvSpPr>
        <p:spPr>
          <a:xfrm>
            <a:off x="1817662" y="1877744"/>
            <a:ext cx="5424212" cy="973922"/>
          </a:xfrm>
          <a:prstGeom prst="rect">
            <a:avLst/>
          </a:prstGeom>
          <a:blipFill rotWithShape="1">
            <a:blip r:embed="rId3">
              <a:alphaModFix/>
            </a:blip>
            <a:stretch>
              <a:fillRect b="-8750" l="-787" r="-1348" t="-437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grpSp>
        <p:nvGrpSpPr>
          <p:cNvPr id="959" name="Google Shape;959;p18"/>
          <p:cNvGrpSpPr/>
          <p:nvPr/>
        </p:nvGrpSpPr>
        <p:grpSpPr>
          <a:xfrm>
            <a:off x="1462674" y="3582061"/>
            <a:ext cx="6218841" cy="736751"/>
            <a:chOff x="774839" y="5266956"/>
            <a:chExt cx="9144000" cy="1083297"/>
          </a:xfrm>
        </p:grpSpPr>
        <p:sp>
          <p:nvSpPr>
            <p:cNvPr id="960" name="Google Shape;960;p18"/>
            <p:cNvSpPr/>
            <p:nvPr/>
          </p:nvSpPr>
          <p:spPr>
            <a:xfrm>
              <a:off x="6959231" y="5266956"/>
              <a:ext cx="2620010" cy="226060"/>
            </a:xfrm>
            <a:custGeom>
              <a:rect b="b" l="l" r="r" t="t"/>
              <a:pathLst>
                <a:path extrusionOk="0" h="226060" w="2620009">
                  <a:moveTo>
                    <a:pt x="2619756" y="0"/>
                  </a:moveTo>
                  <a:lnTo>
                    <a:pt x="0" y="0"/>
                  </a:lnTo>
                  <a:lnTo>
                    <a:pt x="0" y="1524"/>
                  </a:lnTo>
                  <a:lnTo>
                    <a:pt x="0" y="57150"/>
                  </a:lnTo>
                  <a:lnTo>
                    <a:pt x="0" y="225552"/>
                  </a:lnTo>
                  <a:lnTo>
                    <a:pt x="2619756" y="225552"/>
                  </a:lnTo>
                  <a:lnTo>
                    <a:pt x="2619756" y="57150"/>
                  </a:lnTo>
                  <a:lnTo>
                    <a:pt x="2619756" y="1524"/>
                  </a:lnTo>
                  <a:lnTo>
                    <a:pt x="2619756"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61" name="Google Shape;961;p18"/>
            <p:cNvSpPr/>
            <p:nvPr/>
          </p:nvSpPr>
          <p:spPr>
            <a:xfrm>
              <a:off x="774839" y="5491734"/>
              <a:ext cx="9144000" cy="85851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grpSp>
        <p:nvGrpSpPr>
          <p:cNvPr id="962" name="Google Shape;962;p18"/>
          <p:cNvGrpSpPr/>
          <p:nvPr/>
        </p:nvGrpSpPr>
        <p:grpSpPr>
          <a:xfrm>
            <a:off x="1942562" y="3735459"/>
            <a:ext cx="5507993" cy="756971"/>
            <a:chOff x="1480451" y="5492508"/>
            <a:chExt cx="8098790" cy="1113028"/>
          </a:xfrm>
        </p:grpSpPr>
        <p:sp>
          <p:nvSpPr>
            <p:cNvPr id="963" name="Google Shape;963;p18"/>
            <p:cNvSpPr/>
            <p:nvPr/>
          </p:nvSpPr>
          <p:spPr>
            <a:xfrm>
              <a:off x="6959231" y="5492508"/>
              <a:ext cx="2620010" cy="83820"/>
            </a:xfrm>
            <a:custGeom>
              <a:rect b="b" l="l" r="r" t="t"/>
              <a:pathLst>
                <a:path extrusionOk="0" h="83820" w="2620009">
                  <a:moveTo>
                    <a:pt x="2619756" y="0"/>
                  </a:moveTo>
                  <a:lnTo>
                    <a:pt x="2535174" y="0"/>
                  </a:lnTo>
                  <a:lnTo>
                    <a:pt x="2535174" y="25908"/>
                  </a:lnTo>
                  <a:lnTo>
                    <a:pt x="2535161" y="0"/>
                  </a:lnTo>
                  <a:lnTo>
                    <a:pt x="66294" y="0"/>
                  </a:lnTo>
                  <a:lnTo>
                    <a:pt x="0" y="0"/>
                  </a:lnTo>
                  <a:lnTo>
                    <a:pt x="0" y="25908"/>
                  </a:lnTo>
                  <a:lnTo>
                    <a:pt x="0" y="83820"/>
                  </a:lnTo>
                  <a:lnTo>
                    <a:pt x="2619756" y="83820"/>
                  </a:lnTo>
                  <a:lnTo>
                    <a:pt x="2619756" y="25908"/>
                  </a:lnTo>
                  <a:lnTo>
                    <a:pt x="2619756"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64" name="Google Shape;964;p18"/>
            <p:cNvSpPr/>
            <p:nvPr/>
          </p:nvSpPr>
          <p:spPr>
            <a:xfrm>
              <a:off x="1480451" y="5609094"/>
              <a:ext cx="5445760" cy="309880"/>
            </a:xfrm>
            <a:custGeom>
              <a:rect b="b" l="l" r="r" t="t"/>
              <a:pathLst>
                <a:path extrusionOk="0" h="309879" w="5445759">
                  <a:moveTo>
                    <a:pt x="2719578" y="0"/>
                  </a:moveTo>
                  <a:lnTo>
                    <a:pt x="0" y="0"/>
                  </a:lnTo>
                  <a:lnTo>
                    <a:pt x="0" y="2286"/>
                  </a:lnTo>
                  <a:lnTo>
                    <a:pt x="0" y="57912"/>
                  </a:lnTo>
                  <a:lnTo>
                    <a:pt x="0" y="252222"/>
                  </a:lnTo>
                  <a:lnTo>
                    <a:pt x="0" y="309372"/>
                  </a:lnTo>
                  <a:lnTo>
                    <a:pt x="2719578" y="309372"/>
                  </a:lnTo>
                  <a:lnTo>
                    <a:pt x="2719578" y="252222"/>
                  </a:lnTo>
                  <a:lnTo>
                    <a:pt x="2719565" y="57912"/>
                  </a:lnTo>
                  <a:lnTo>
                    <a:pt x="2719578" y="2286"/>
                  </a:lnTo>
                  <a:lnTo>
                    <a:pt x="2719578" y="0"/>
                  </a:lnTo>
                  <a:close/>
                </a:path>
                <a:path extrusionOk="0" h="309879" w="5445759">
                  <a:moveTo>
                    <a:pt x="5445252" y="0"/>
                  </a:moveTo>
                  <a:lnTo>
                    <a:pt x="2753106" y="0"/>
                  </a:lnTo>
                  <a:lnTo>
                    <a:pt x="2753106" y="2286"/>
                  </a:lnTo>
                  <a:lnTo>
                    <a:pt x="2753106" y="196596"/>
                  </a:lnTo>
                  <a:lnTo>
                    <a:pt x="2753106" y="309372"/>
                  </a:lnTo>
                  <a:lnTo>
                    <a:pt x="5445252" y="309372"/>
                  </a:lnTo>
                  <a:lnTo>
                    <a:pt x="5445252" y="196596"/>
                  </a:lnTo>
                  <a:lnTo>
                    <a:pt x="5445239" y="2286"/>
                  </a:lnTo>
                  <a:lnTo>
                    <a:pt x="5445252"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65" name="Google Shape;965;p18"/>
            <p:cNvSpPr/>
            <p:nvPr/>
          </p:nvSpPr>
          <p:spPr>
            <a:xfrm>
              <a:off x="1480451" y="5951994"/>
              <a:ext cx="2719705" cy="311150"/>
            </a:xfrm>
            <a:custGeom>
              <a:rect b="b" l="l" r="r" t="t"/>
              <a:pathLst>
                <a:path extrusionOk="0" h="311150" w="2719704">
                  <a:moveTo>
                    <a:pt x="2719578" y="0"/>
                  </a:moveTo>
                  <a:lnTo>
                    <a:pt x="0" y="0"/>
                  </a:lnTo>
                  <a:lnTo>
                    <a:pt x="0" y="1524"/>
                  </a:lnTo>
                  <a:lnTo>
                    <a:pt x="0" y="57150"/>
                  </a:lnTo>
                  <a:lnTo>
                    <a:pt x="0" y="252984"/>
                  </a:lnTo>
                  <a:lnTo>
                    <a:pt x="0" y="310896"/>
                  </a:lnTo>
                  <a:lnTo>
                    <a:pt x="2719578" y="310896"/>
                  </a:lnTo>
                  <a:lnTo>
                    <a:pt x="2719578" y="252984"/>
                  </a:lnTo>
                  <a:lnTo>
                    <a:pt x="2719565" y="57150"/>
                  </a:lnTo>
                  <a:lnTo>
                    <a:pt x="2719578" y="1524"/>
                  </a:lnTo>
                  <a:lnTo>
                    <a:pt x="2719578" y="0"/>
                  </a:lnTo>
                  <a:close/>
                </a:path>
              </a:pathLst>
            </a:custGeom>
            <a:solidFill>
              <a:srgbClr val="CCCC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66" name="Google Shape;966;p18"/>
            <p:cNvSpPr/>
            <p:nvPr/>
          </p:nvSpPr>
          <p:spPr>
            <a:xfrm>
              <a:off x="1480451" y="6297942"/>
              <a:ext cx="8098790" cy="52069"/>
            </a:xfrm>
            <a:custGeom>
              <a:rect b="b" l="l" r="r" t="t"/>
              <a:pathLst>
                <a:path extrusionOk="0" h="52070" w="8098790">
                  <a:moveTo>
                    <a:pt x="2719578" y="0"/>
                  </a:moveTo>
                  <a:lnTo>
                    <a:pt x="0" y="0"/>
                  </a:lnTo>
                  <a:lnTo>
                    <a:pt x="0" y="51816"/>
                  </a:lnTo>
                  <a:lnTo>
                    <a:pt x="2719578" y="51816"/>
                  </a:lnTo>
                  <a:lnTo>
                    <a:pt x="2719578" y="0"/>
                  </a:lnTo>
                  <a:close/>
                </a:path>
                <a:path extrusionOk="0" h="52070" w="8098790">
                  <a:moveTo>
                    <a:pt x="5445252" y="0"/>
                  </a:moveTo>
                  <a:lnTo>
                    <a:pt x="2753106" y="0"/>
                  </a:lnTo>
                  <a:lnTo>
                    <a:pt x="2753106" y="51816"/>
                  </a:lnTo>
                  <a:lnTo>
                    <a:pt x="5445252" y="51816"/>
                  </a:lnTo>
                  <a:lnTo>
                    <a:pt x="5445252" y="0"/>
                  </a:lnTo>
                  <a:close/>
                </a:path>
                <a:path extrusionOk="0" h="52070" w="8098790">
                  <a:moveTo>
                    <a:pt x="8098536" y="0"/>
                  </a:moveTo>
                  <a:lnTo>
                    <a:pt x="5478780" y="0"/>
                  </a:lnTo>
                  <a:lnTo>
                    <a:pt x="5478780" y="51816"/>
                  </a:lnTo>
                  <a:lnTo>
                    <a:pt x="8098536" y="51816"/>
                  </a:lnTo>
                  <a:lnTo>
                    <a:pt x="8098536"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67" name="Google Shape;967;p18"/>
            <p:cNvSpPr/>
            <p:nvPr/>
          </p:nvSpPr>
          <p:spPr>
            <a:xfrm>
              <a:off x="1480451" y="6262116"/>
              <a:ext cx="2719705" cy="0"/>
            </a:xfrm>
            <a:custGeom>
              <a:rect b="b" l="l" r="r" t="t"/>
              <a:pathLst>
                <a:path extrusionOk="0" h="120000" w="2719704">
                  <a:moveTo>
                    <a:pt x="0" y="0"/>
                  </a:moveTo>
                  <a:lnTo>
                    <a:pt x="2719578"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68" name="Google Shape;968;p18"/>
            <p:cNvSpPr/>
            <p:nvPr/>
          </p:nvSpPr>
          <p:spPr>
            <a:xfrm>
              <a:off x="1480451" y="6295656"/>
              <a:ext cx="8098790" cy="309880"/>
            </a:xfrm>
            <a:custGeom>
              <a:rect b="b" l="l" r="r" t="t"/>
              <a:pathLst>
                <a:path extrusionOk="0" h="309879" w="8098790">
                  <a:moveTo>
                    <a:pt x="2719578" y="54102"/>
                  </a:moveTo>
                  <a:lnTo>
                    <a:pt x="0" y="54102"/>
                  </a:lnTo>
                  <a:lnTo>
                    <a:pt x="0" y="57912"/>
                  </a:lnTo>
                  <a:lnTo>
                    <a:pt x="0" y="252222"/>
                  </a:lnTo>
                  <a:lnTo>
                    <a:pt x="0" y="309372"/>
                  </a:lnTo>
                  <a:lnTo>
                    <a:pt x="2719578" y="309372"/>
                  </a:lnTo>
                  <a:lnTo>
                    <a:pt x="2719578" y="252222"/>
                  </a:lnTo>
                  <a:lnTo>
                    <a:pt x="2719578" y="57912"/>
                  </a:lnTo>
                  <a:lnTo>
                    <a:pt x="2719578" y="54102"/>
                  </a:lnTo>
                  <a:close/>
                </a:path>
                <a:path extrusionOk="0" h="309879" w="8098790">
                  <a:moveTo>
                    <a:pt x="2719578" y="0"/>
                  </a:moveTo>
                  <a:lnTo>
                    <a:pt x="0" y="0"/>
                  </a:lnTo>
                  <a:lnTo>
                    <a:pt x="0" y="2286"/>
                  </a:lnTo>
                  <a:lnTo>
                    <a:pt x="2719578" y="2286"/>
                  </a:lnTo>
                  <a:lnTo>
                    <a:pt x="2719578" y="0"/>
                  </a:lnTo>
                  <a:close/>
                </a:path>
                <a:path extrusionOk="0" h="309879" w="8098790">
                  <a:moveTo>
                    <a:pt x="5445252" y="196596"/>
                  </a:moveTo>
                  <a:lnTo>
                    <a:pt x="5445239" y="54102"/>
                  </a:lnTo>
                  <a:lnTo>
                    <a:pt x="5378958" y="54102"/>
                  </a:lnTo>
                  <a:lnTo>
                    <a:pt x="2819400" y="54102"/>
                  </a:lnTo>
                  <a:lnTo>
                    <a:pt x="2753106" y="54102"/>
                  </a:lnTo>
                  <a:lnTo>
                    <a:pt x="2753106" y="196596"/>
                  </a:lnTo>
                  <a:lnTo>
                    <a:pt x="2753106" y="309372"/>
                  </a:lnTo>
                  <a:lnTo>
                    <a:pt x="5445252" y="309372"/>
                  </a:lnTo>
                  <a:lnTo>
                    <a:pt x="5445252" y="196596"/>
                  </a:lnTo>
                  <a:close/>
                </a:path>
                <a:path extrusionOk="0" h="309879" w="8098790">
                  <a:moveTo>
                    <a:pt x="5445252" y="0"/>
                  </a:moveTo>
                  <a:lnTo>
                    <a:pt x="2753106" y="0"/>
                  </a:lnTo>
                  <a:lnTo>
                    <a:pt x="2753106" y="2286"/>
                  </a:lnTo>
                  <a:lnTo>
                    <a:pt x="5445252" y="2286"/>
                  </a:lnTo>
                  <a:lnTo>
                    <a:pt x="5445252" y="0"/>
                  </a:lnTo>
                  <a:close/>
                </a:path>
                <a:path extrusionOk="0" h="309879" w="8098790">
                  <a:moveTo>
                    <a:pt x="8098536" y="0"/>
                  </a:moveTo>
                  <a:lnTo>
                    <a:pt x="5478780" y="0"/>
                  </a:lnTo>
                  <a:lnTo>
                    <a:pt x="5478780" y="2286"/>
                  </a:lnTo>
                  <a:lnTo>
                    <a:pt x="8098536" y="2286"/>
                  </a:lnTo>
                  <a:lnTo>
                    <a:pt x="8098536"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graphicFrame>
        <p:nvGraphicFramePr>
          <p:cNvPr id="969" name="Google Shape;969;p18"/>
          <p:cNvGraphicFramePr/>
          <p:nvPr/>
        </p:nvGraphicFramePr>
        <p:xfrm>
          <a:off x="1942561" y="3059670"/>
          <a:ext cx="3000000" cy="3000000"/>
        </p:xfrm>
        <a:graphic>
          <a:graphicData uri="http://schemas.openxmlformats.org/drawingml/2006/table">
            <a:tbl>
              <a:tblPr bandRow="1" firstRow="1">
                <a:noFill/>
                <a:tableStyleId>{FF63AD9A-016F-4C48-BA4E-4A51AB7C9AD3}</a:tableStyleId>
              </a:tblPr>
              <a:tblGrid>
                <a:gridCol w="1849675"/>
                <a:gridCol w="1865225"/>
                <a:gridCol w="1793525"/>
              </a:tblGrid>
              <a:tr h="221550">
                <a:tc gridSpan="3">
                  <a:txBody>
                    <a:bodyPr/>
                    <a:lstStyle/>
                    <a:p>
                      <a:pPr indent="0" lvl="0" marL="0" marR="0" rtl="0" algn="ctr">
                        <a:lnSpc>
                          <a:spcPct val="100000"/>
                        </a:lnSpc>
                        <a:spcBef>
                          <a:spcPts val="0"/>
                        </a:spcBef>
                        <a:spcAft>
                          <a:spcPts val="0"/>
                        </a:spcAft>
                        <a:buNone/>
                      </a:pPr>
                      <a:r>
                        <a:rPr b="1" lang="en-US" sz="1000" u="none" cap="none" strike="noStrike">
                          <a:solidFill>
                            <a:srgbClr val="33339A"/>
                          </a:solidFill>
                          <a:latin typeface="Arial"/>
                          <a:ea typeface="Arial"/>
                          <a:cs typeface="Arial"/>
                          <a:sym typeface="Arial"/>
                        </a:rPr>
                        <a:t>Componentes del factor de complejidad técnica</a:t>
                      </a:r>
                      <a:endParaRPr sz="1000" u="none" cap="none" strike="noStrike">
                        <a:latin typeface="Arial"/>
                        <a:ea typeface="Arial"/>
                        <a:cs typeface="Arial"/>
                        <a:sym typeface="Arial"/>
                      </a:endParaRPr>
                    </a:p>
                  </a:txBody>
                  <a:tcPr marT="23325" marB="0" marR="0" marL="0">
                    <a:lnB cap="flat" cmpd="sng" w="38100">
                      <a:solidFill>
                        <a:srgbClr val="FFFFFF"/>
                      </a:solidFill>
                      <a:prstDash val="solid"/>
                      <a:round/>
                      <a:headEnd len="sm" w="sm" type="none"/>
                      <a:tailEnd len="sm" w="sm" type="none"/>
                    </a:lnB>
                    <a:solidFill>
                      <a:srgbClr val="CCCCCC"/>
                    </a:solidFill>
                  </a:tcPr>
                </a:tc>
                <a:tc hMerge="1"/>
                <a:tc hMerge="1"/>
              </a:tr>
              <a:tr h="289350">
                <a:tc>
                  <a:txBody>
                    <a:bodyPr/>
                    <a:lstStyle/>
                    <a:p>
                      <a:pPr indent="-354330" lvl="0" marL="436880" marR="684530" rtl="0" algn="l">
                        <a:lnSpc>
                          <a:spcPct val="171111"/>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1 </a:t>
                      </a:r>
                      <a:r>
                        <a:rPr lang="en-US" sz="900" u="none" cap="none" strike="noStrike">
                          <a:solidFill>
                            <a:srgbClr val="000080"/>
                          </a:solidFill>
                          <a:latin typeface="Arial"/>
                          <a:ea typeface="Arial"/>
                          <a:cs typeface="Arial"/>
                          <a:sym typeface="Arial"/>
                        </a:rPr>
                        <a:t>Copias de seguridad y recuperación fiables</a:t>
                      </a:r>
                      <a:endParaRPr sz="900" u="none" cap="none" strike="noStrike">
                        <a:latin typeface="Arial"/>
                        <a:ea typeface="Arial"/>
                        <a:cs typeface="Arial"/>
                        <a:sym typeface="Arial"/>
                      </a:endParaRPr>
                    </a:p>
                  </a:txBody>
                  <a:tcPr marT="12100" marB="0" marR="0" marL="0">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1F1"/>
                    </a:solidFill>
                  </a:tcPr>
                </a:tc>
                <a:tc>
                  <a:txBody>
                    <a:bodyPr/>
                    <a:lstStyle/>
                    <a:p>
                      <a:pPr indent="0" lvl="0" marL="9969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6 </a:t>
                      </a:r>
                      <a:r>
                        <a:rPr lang="en-US" sz="900" u="none" cap="none" strike="noStrike">
                          <a:solidFill>
                            <a:srgbClr val="000080"/>
                          </a:solidFill>
                          <a:latin typeface="Arial"/>
                          <a:ea typeface="Arial"/>
                          <a:cs typeface="Arial"/>
                          <a:sym typeface="Arial"/>
                        </a:rPr>
                        <a:t>Entrada interactiva de datos</a:t>
                      </a:r>
                      <a:endParaRPr sz="900" u="none" cap="none" strike="noStrike">
                        <a:latin typeface="Arial"/>
                        <a:ea typeface="Arial"/>
                        <a:cs typeface="Arial"/>
                        <a:sym typeface="Arial"/>
                      </a:endParaRPr>
                    </a:p>
                  </a:txBody>
                  <a:tcPr marT="172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1F1"/>
                    </a:solidFill>
                  </a:tcPr>
                </a:tc>
                <a:tc>
                  <a:txBody>
                    <a:bodyPr/>
                    <a:lstStyle/>
                    <a:p>
                      <a:pPr indent="0" lvl="0" marL="8318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11 </a:t>
                      </a:r>
                      <a:r>
                        <a:rPr lang="en-US" sz="900" u="none" cap="none" strike="noStrike">
                          <a:solidFill>
                            <a:srgbClr val="000080"/>
                          </a:solidFill>
                          <a:latin typeface="Arial"/>
                          <a:ea typeface="Arial"/>
                          <a:cs typeface="Arial"/>
                          <a:sym typeface="Arial"/>
                        </a:rPr>
                        <a:t>Reusabilidad</a:t>
                      </a:r>
                      <a:endParaRPr sz="900" u="none" cap="none" strike="noStrike">
                        <a:latin typeface="Arial"/>
                        <a:ea typeface="Arial"/>
                        <a:cs typeface="Arial"/>
                        <a:sym typeface="Arial"/>
                      </a:endParaRPr>
                    </a:p>
                  </a:txBody>
                  <a:tcPr marT="68675"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1F1"/>
                    </a:solidFill>
                  </a:tcPr>
                </a:tc>
              </a:tr>
              <a:tr h="221125">
                <a:tc>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2 </a:t>
                      </a:r>
                      <a:r>
                        <a:rPr lang="en-US" sz="900" u="none" cap="none" strike="noStrike">
                          <a:solidFill>
                            <a:srgbClr val="000080"/>
                          </a:solidFill>
                          <a:latin typeface="Arial"/>
                          <a:ea typeface="Arial"/>
                          <a:cs typeface="Arial"/>
                          <a:sym typeface="Arial"/>
                        </a:rPr>
                        <a:t>Comunicación de datos</a:t>
                      </a:r>
                      <a:endParaRPr sz="900" u="none" cap="none" strike="noStrike">
                        <a:latin typeface="Arial"/>
                        <a:ea typeface="Arial"/>
                        <a:cs typeface="Arial"/>
                        <a:sym typeface="Arial"/>
                      </a:endParaRPr>
                    </a:p>
                  </a:txBody>
                  <a:tcPr marT="39300" marB="0" marR="0" marL="0">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CCCCCC"/>
                    </a:solidFill>
                  </a:tcPr>
                </a:tc>
                <a:tc>
                  <a:txBody>
                    <a:bodyPr/>
                    <a:lstStyle/>
                    <a:p>
                      <a:pPr indent="0" lvl="0" marL="9969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7  </a:t>
                      </a:r>
                      <a:r>
                        <a:rPr lang="en-US" sz="900" u="none" cap="none" strike="noStrike">
                          <a:solidFill>
                            <a:srgbClr val="000080"/>
                          </a:solidFill>
                          <a:latin typeface="Arial"/>
                          <a:ea typeface="Arial"/>
                          <a:cs typeface="Arial"/>
                          <a:sym typeface="Arial"/>
                        </a:rPr>
                        <a:t>Facilidad operativa</a:t>
                      </a:r>
                      <a:endParaRPr sz="900" u="none" cap="none" strike="noStrike">
                        <a:latin typeface="Arial"/>
                        <a:ea typeface="Arial"/>
                        <a:cs typeface="Arial"/>
                        <a:sym typeface="Arial"/>
                      </a:endParaRPr>
                    </a:p>
                  </a:txBody>
                  <a:tcPr marT="1300" marB="0" marR="0" marL="0">
                    <a:lnL cap="flat" cmpd="sng" w="9525">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CCCCCC"/>
                    </a:solidFill>
                  </a:tcPr>
                </a:tc>
                <a:tc>
                  <a:txBody>
                    <a:bodyPr/>
                    <a:lstStyle/>
                    <a:p>
                      <a:pPr indent="0" lvl="0" marL="8318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12 </a:t>
                      </a:r>
                      <a:r>
                        <a:rPr lang="en-US" sz="900" u="none" cap="none" strike="noStrike">
                          <a:solidFill>
                            <a:srgbClr val="000080"/>
                          </a:solidFill>
                          <a:latin typeface="Arial"/>
                          <a:ea typeface="Arial"/>
                          <a:cs typeface="Arial"/>
                          <a:sym typeface="Arial"/>
                        </a:rPr>
                        <a:t>Facilidad de instalación</a:t>
                      </a:r>
                      <a:endParaRPr sz="900" u="none" cap="none" strike="noStrike">
                        <a:latin typeface="Arial"/>
                        <a:ea typeface="Arial"/>
                        <a:cs typeface="Arial"/>
                        <a:sym typeface="Arial"/>
                      </a:endParaRPr>
                    </a:p>
                  </a:txBody>
                  <a:tcPr marT="39300"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32350">
                <a:tc>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3 </a:t>
                      </a:r>
                      <a:r>
                        <a:rPr lang="en-US" sz="900" u="none" cap="none" strike="noStrike">
                          <a:solidFill>
                            <a:srgbClr val="000080"/>
                          </a:solidFill>
                          <a:latin typeface="Arial"/>
                          <a:ea typeface="Arial"/>
                          <a:cs typeface="Arial"/>
                          <a:sym typeface="Arial"/>
                        </a:rPr>
                        <a:t>Funciones distribuidas</a:t>
                      </a:r>
                      <a:endParaRPr sz="900" u="none" cap="none" strike="noStrike">
                        <a:latin typeface="Arial"/>
                        <a:ea typeface="Arial"/>
                        <a:cs typeface="Arial"/>
                        <a:sym typeface="Arial"/>
                      </a:endParaRPr>
                    </a:p>
                  </a:txBody>
                  <a:tcPr marT="51400" marB="0" marR="0" marL="0">
                    <a:lnR cap="flat" cmpd="sng" w="9525">
                      <a:solidFill>
                        <a:srgbClr val="FFFFFF"/>
                      </a:solidFill>
                      <a:prstDash val="solid"/>
                      <a:round/>
                      <a:headEnd len="sm" w="sm" type="none"/>
                      <a:tailEnd len="sm" w="sm" type="none"/>
                    </a:lnR>
                    <a:lnB cap="flat" cmpd="sng" w="9525">
                      <a:solidFill>
                        <a:srgbClr val="FFFFFF"/>
                      </a:solidFill>
                      <a:prstDash val="solid"/>
                      <a:round/>
                      <a:headEnd len="sm" w="sm" type="none"/>
                      <a:tailEnd len="sm" w="sm" type="none"/>
                    </a:lnB>
                    <a:solidFill>
                      <a:srgbClr val="F1F1F1"/>
                    </a:solidFill>
                  </a:tcPr>
                </a:tc>
                <a:tc>
                  <a:txBody>
                    <a:bodyPr/>
                    <a:lstStyle/>
                    <a:p>
                      <a:pPr indent="0" lvl="0" marL="9969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8 </a:t>
                      </a:r>
                      <a:r>
                        <a:rPr lang="en-US" sz="900" u="none" cap="none" strike="noStrike">
                          <a:solidFill>
                            <a:srgbClr val="000080"/>
                          </a:solidFill>
                          <a:latin typeface="Arial"/>
                          <a:ea typeface="Arial"/>
                          <a:cs typeface="Arial"/>
                          <a:sym typeface="Arial"/>
                        </a:rPr>
                        <a:t>Actualización interactiva</a:t>
                      </a:r>
                      <a:endParaRPr sz="900" u="none" cap="none" strike="noStrike">
                        <a:latin typeface="Arial"/>
                        <a:ea typeface="Arial"/>
                        <a:cs typeface="Arial"/>
                        <a:sym typeface="Arial"/>
                      </a:endParaRPr>
                    </a:p>
                  </a:txBody>
                  <a:tcPr marT="13400" marB="0" marR="0" marL="0">
                    <a:lnL cap="flat" cmpd="sng" w="9525">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B cap="flat" cmpd="sng" w="9525">
                      <a:solidFill>
                        <a:srgbClr val="FFFFFF"/>
                      </a:solidFill>
                      <a:prstDash val="solid"/>
                      <a:round/>
                      <a:headEnd len="sm" w="sm" type="none"/>
                      <a:tailEnd len="sm" w="sm" type="none"/>
                    </a:lnB>
                    <a:solidFill>
                      <a:srgbClr val="F1F1F1"/>
                    </a:solidFill>
                  </a:tcPr>
                </a:tc>
                <a:tc>
                  <a:txBody>
                    <a:bodyPr/>
                    <a:lstStyle/>
                    <a:p>
                      <a:pPr indent="0" lvl="0" marL="8318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13 </a:t>
                      </a:r>
                      <a:r>
                        <a:rPr lang="en-US" sz="900" u="none" cap="none" strike="noStrike">
                          <a:solidFill>
                            <a:srgbClr val="000080"/>
                          </a:solidFill>
                          <a:latin typeface="Arial"/>
                          <a:ea typeface="Arial"/>
                          <a:cs typeface="Arial"/>
                          <a:sym typeface="Arial"/>
                        </a:rPr>
                        <a:t>Múltiples sitios</a:t>
                      </a:r>
                      <a:endParaRPr sz="900" u="none" cap="none" strike="noStrike">
                        <a:latin typeface="Arial"/>
                        <a:ea typeface="Arial"/>
                        <a:cs typeface="Arial"/>
                        <a:sym typeface="Arial"/>
                      </a:endParaRPr>
                    </a:p>
                  </a:txBody>
                  <a:tcPr marT="51400" marB="0" marR="0" marL="0">
                    <a:lnL cap="flat" cmpd="sng" w="38100">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1F1F1"/>
                    </a:solidFill>
                  </a:tcPr>
                </a:tc>
              </a:tr>
              <a:tr h="234075">
                <a:tc rowSpan="2">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4 </a:t>
                      </a:r>
                      <a:r>
                        <a:rPr lang="en-US" sz="900" u="none" cap="none" strike="noStrike">
                          <a:solidFill>
                            <a:srgbClr val="000080"/>
                          </a:solidFill>
                          <a:latin typeface="Arial"/>
                          <a:ea typeface="Arial"/>
                          <a:cs typeface="Arial"/>
                          <a:sym typeface="Arial"/>
                        </a:rPr>
                        <a:t>Rendimiento</a:t>
                      </a:r>
                      <a:endParaRPr sz="900" u="none" cap="none" strike="noStrike">
                        <a:latin typeface="Arial"/>
                        <a:ea typeface="Arial"/>
                        <a:cs typeface="Arial"/>
                        <a:sym typeface="Arial"/>
                      </a:endParaRPr>
                    </a:p>
                    <a:p>
                      <a:pPr indent="0" lvl="0" marL="82550" marR="0" rtl="0" algn="l">
                        <a:lnSpc>
                          <a:spcPct val="100000"/>
                        </a:lnSpc>
                        <a:spcBef>
                          <a:spcPts val="109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5 </a:t>
                      </a:r>
                      <a:r>
                        <a:rPr lang="en-US" sz="900" u="none" cap="none" strike="noStrike">
                          <a:solidFill>
                            <a:srgbClr val="000080"/>
                          </a:solidFill>
                          <a:latin typeface="Arial"/>
                          <a:ea typeface="Arial"/>
                          <a:cs typeface="Arial"/>
                          <a:sym typeface="Arial"/>
                        </a:rPr>
                        <a:t>Configuración muy usada</a:t>
                      </a:r>
                      <a:endParaRPr sz="900" u="none" cap="none" strike="noStrike">
                        <a:latin typeface="Arial"/>
                        <a:ea typeface="Arial"/>
                        <a:cs typeface="Arial"/>
                        <a:sym typeface="Arial"/>
                      </a:endParaRPr>
                    </a:p>
                  </a:txBody>
                  <a:tcPr marT="51400" marB="0" marR="0" marL="0">
                    <a:lnT cap="flat" cmpd="sng" w="9525">
                      <a:solidFill>
                        <a:srgbClr val="FFFFFF"/>
                      </a:solidFill>
                      <a:prstDash val="solid"/>
                      <a:round/>
                      <a:headEnd len="sm" w="sm" type="none"/>
                      <a:tailEnd len="sm" w="sm" type="none"/>
                    </a:lnT>
                  </a:tcPr>
                </a:tc>
                <a:tc>
                  <a:txBody>
                    <a:bodyPr/>
                    <a:lstStyle/>
                    <a:p>
                      <a:pPr indent="0" lvl="0" marL="9969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9  </a:t>
                      </a:r>
                      <a:r>
                        <a:rPr lang="en-US" sz="900" u="none" cap="none" strike="noStrike">
                          <a:solidFill>
                            <a:srgbClr val="000080"/>
                          </a:solidFill>
                          <a:latin typeface="Arial"/>
                          <a:ea typeface="Arial"/>
                          <a:cs typeface="Arial"/>
                          <a:sym typeface="Arial"/>
                        </a:rPr>
                        <a:t>Interfaces complejas</a:t>
                      </a:r>
                      <a:endParaRPr sz="900" u="none" cap="none" strike="noStrike">
                        <a:latin typeface="Arial"/>
                        <a:ea typeface="Arial"/>
                        <a:cs typeface="Arial"/>
                        <a:sym typeface="Arial"/>
                      </a:endParaRPr>
                    </a:p>
                  </a:txBody>
                  <a:tcPr marT="13400" marB="0" marR="0" marL="0">
                    <a:lnR cap="flat" cmpd="sng" w="38100">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solidFill>
                      <a:srgbClr val="CCCCCC"/>
                    </a:solidFill>
                  </a:tcPr>
                </a:tc>
                <a:tc>
                  <a:txBody>
                    <a:bodyPr/>
                    <a:lstStyle/>
                    <a:p>
                      <a:pPr indent="0" lvl="0" marL="8318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14 </a:t>
                      </a:r>
                      <a:r>
                        <a:rPr lang="en-US" sz="900" u="none" cap="none" strike="noStrike">
                          <a:solidFill>
                            <a:srgbClr val="000080"/>
                          </a:solidFill>
                          <a:latin typeface="Arial"/>
                          <a:ea typeface="Arial"/>
                          <a:cs typeface="Arial"/>
                          <a:sym typeface="Arial"/>
                        </a:rPr>
                        <a:t>Facilidad de cambios</a:t>
                      </a:r>
                      <a:endParaRPr sz="900" u="none" cap="none" strike="noStrike">
                        <a:latin typeface="Arial"/>
                        <a:ea typeface="Arial"/>
                        <a:cs typeface="Arial"/>
                        <a:sym typeface="Arial"/>
                      </a:endParaRPr>
                    </a:p>
                  </a:txBody>
                  <a:tcPr marT="51400" marB="0" marR="0" marL="0">
                    <a:lnL cap="flat" cmpd="sng" w="38100">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33200">
                <a:tc vMerge="1"/>
                <a:tc>
                  <a:txBody>
                    <a:bodyPr/>
                    <a:lstStyle/>
                    <a:p>
                      <a:pPr indent="0" lvl="0" marL="9969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F</a:t>
                      </a:r>
                      <a:r>
                        <a:rPr b="1" baseline="-25000" lang="en-US" sz="900" u="none" cap="none" strike="noStrike">
                          <a:solidFill>
                            <a:srgbClr val="000080"/>
                          </a:solidFill>
                          <a:latin typeface="Arial"/>
                          <a:ea typeface="Arial"/>
                          <a:cs typeface="Arial"/>
                          <a:sym typeface="Arial"/>
                        </a:rPr>
                        <a:t>10 </a:t>
                      </a:r>
                      <a:r>
                        <a:rPr lang="en-US" sz="900" u="none" cap="none" strike="noStrike">
                          <a:solidFill>
                            <a:srgbClr val="000080"/>
                          </a:solidFill>
                          <a:latin typeface="Arial"/>
                          <a:ea typeface="Arial"/>
                          <a:cs typeface="Arial"/>
                          <a:sym typeface="Arial"/>
                        </a:rPr>
                        <a:t>Procesamiento complejo</a:t>
                      </a:r>
                      <a:endParaRPr sz="900" u="none" cap="none" strike="noStrike">
                        <a:latin typeface="Arial"/>
                        <a:ea typeface="Arial"/>
                        <a:cs typeface="Arial"/>
                        <a:sym typeface="Arial"/>
                      </a:endParaRPr>
                    </a:p>
                  </a:txBody>
                  <a:tcPr marT="13400" marB="0" marR="0" marL="0">
                    <a:lnR cap="flat" cmpd="sng" w="38100">
                      <a:solidFill>
                        <a:srgbClr val="FFFFFF"/>
                      </a:solidFill>
                      <a:prstDash val="solid"/>
                      <a:round/>
                      <a:headEnd len="sm" w="sm" type="none"/>
                      <a:tailEnd len="sm" w="sm" type="none"/>
                    </a:lnR>
                    <a:solidFill>
                      <a:srgbClr val="F1F1F1"/>
                    </a:solidFill>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38100">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solidFill>
                      <a:srgbClr val="F1F1F1"/>
                    </a:solidFill>
                  </a:tcPr>
                </a:tc>
              </a:tr>
            </a:tbl>
          </a:graphicData>
        </a:graphic>
      </p:graphicFrame>
      <p:sp>
        <p:nvSpPr>
          <p:cNvPr id="970" name="Google Shape;970;p18"/>
          <p:cNvSpPr/>
          <p:nvPr/>
        </p:nvSpPr>
        <p:spPr>
          <a:xfrm>
            <a:off x="5668683" y="4318475"/>
            <a:ext cx="1781871" cy="173609"/>
          </a:xfrm>
          <a:custGeom>
            <a:rect b="b" l="l" r="r" t="t"/>
            <a:pathLst>
              <a:path extrusionOk="0" h="255270" w="2620009">
                <a:moveTo>
                  <a:pt x="2619756" y="0"/>
                </a:moveTo>
                <a:lnTo>
                  <a:pt x="2535174" y="0"/>
                </a:lnTo>
                <a:lnTo>
                  <a:pt x="2535174" y="3810"/>
                </a:lnTo>
                <a:lnTo>
                  <a:pt x="2535174" y="198120"/>
                </a:lnTo>
                <a:lnTo>
                  <a:pt x="2535161" y="3810"/>
                </a:lnTo>
                <a:lnTo>
                  <a:pt x="2535174" y="0"/>
                </a:lnTo>
                <a:lnTo>
                  <a:pt x="0" y="0"/>
                </a:lnTo>
                <a:lnTo>
                  <a:pt x="0" y="3810"/>
                </a:lnTo>
                <a:lnTo>
                  <a:pt x="0" y="198120"/>
                </a:lnTo>
                <a:lnTo>
                  <a:pt x="0" y="255270"/>
                </a:lnTo>
                <a:lnTo>
                  <a:pt x="2619756" y="255270"/>
                </a:lnTo>
                <a:lnTo>
                  <a:pt x="2619756" y="198120"/>
                </a:lnTo>
                <a:lnTo>
                  <a:pt x="2619756" y="3810"/>
                </a:lnTo>
                <a:lnTo>
                  <a:pt x="2619756"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9"/>
          <p:cNvSpPr txBox="1"/>
          <p:nvPr>
            <p:ph idx="4294967295" type="title"/>
          </p:nvPr>
        </p:nvSpPr>
        <p:spPr>
          <a:xfrm>
            <a:off x="402469" y="236251"/>
            <a:ext cx="8484781"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Funcionalidad</a:t>
            </a:r>
            <a:endParaRPr>
              <a:solidFill>
                <a:srgbClr val="FF0000"/>
              </a:solidFill>
            </a:endParaRPr>
          </a:p>
        </p:txBody>
      </p:sp>
      <p:sp>
        <p:nvSpPr>
          <p:cNvPr id="976" name="Google Shape;976;p19"/>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77" name="Google Shape;977;p19"/>
          <p:cNvSpPr txBox="1"/>
          <p:nvPr/>
        </p:nvSpPr>
        <p:spPr>
          <a:xfrm>
            <a:off x="1834937" y="1366764"/>
            <a:ext cx="5619846" cy="382266"/>
          </a:xfrm>
          <a:prstGeom prst="rect">
            <a:avLst/>
          </a:prstGeom>
          <a:noFill/>
          <a:ln>
            <a:noFill/>
          </a:ln>
        </p:spPr>
        <p:txBody>
          <a:bodyPr anchorCtr="0" anchor="t" bIns="0" lIns="0" spcFirstLastPara="1" rIns="0" wrap="square" tIns="48350">
            <a:spAutoFit/>
          </a:bodyPr>
          <a:lstStyle/>
          <a:p>
            <a:pPr indent="-233206" lvl="0" marL="241412" marR="3455" rtl="0" algn="l">
              <a:lnSpc>
                <a:spcPct val="96029"/>
              </a:lnSpc>
              <a:spcBef>
                <a:spcPts val="0"/>
              </a:spcBef>
              <a:spcAft>
                <a:spcPts val="0"/>
              </a:spcAft>
              <a:buClr>
                <a:srgbClr val="00007C"/>
              </a:buClr>
              <a:buSzPts val="1020"/>
              <a:buFont typeface="Noto Sans Symbols"/>
              <a:buChar char="■"/>
            </a:pPr>
            <a:r>
              <a:rPr b="0" i="0" lang="en-US" sz="1360" u="none" cap="none" strike="noStrike">
                <a:solidFill>
                  <a:srgbClr val="000000"/>
                </a:solidFill>
                <a:latin typeface="Arial"/>
                <a:ea typeface="Arial"/>
                <a:cs typeface="Arial"/>
                <a:sym typeface="Arial"/>
              </a:rPr>
              <a:t>Cada componente de la tabla anterior se sitúa en una escala entre 0 y 5 según su influencia:</a:t>
            </a:r>
            <a:endParaRPr b="0" i="0" sz="1360" u="none" cap="none" strike="noStrike">
              <a:solidFill>
                <a:srgbClr val="000000"/>
              </a:solidFill>
              <a:latin typeface="Arial"/>
              <a:ea typeface="Arial"/>
              <a:cs typeface="Arial"/>
              <a:sym typeface="Arial"/>
            </a:endParaRPr>
          </a:p>
        </p:txBody>
      </p:sp>
      <p:sp>
        <p:nvSpPr>
          <p:cNvPr id="978" name="Google Shape;978;p19"/>
          <p:cNvSpPr txBox="1"/>
          <p:nvPr/>
        </p:nvSpPr>
        <p:spPr>
          <a:xfrm>
            <a:off x="2145879" y="1823329"/>
            <a:ext cx="1918772" cy="176139"/>
          </a:xfrm>
          <a:prstGeom prst="rect">
            <a:avLst/>
          </a:prstGeom>
          <a:noFill/>
          <a:ln>
            <a:noFill/>
          </a:ln>
        </p:spPr>
        <p:txBody>
          <a:bodyPr anchorCtr="0" anchor="t" bIns="0" lIns="0" spcFirstLastPara="1" rIns="0" wrap="square" tIns="8625">
            <a:spAutoFit/>
          </a:bodyPr>
          <a:lstStyle/>
          <a:p>
            <a:pPr indent="-193907" lvl="0" marL="202544" marR="0" rtl="0" algn="l">
              <a:lnSpc>
                <a:spcPct val="100000"/>
              </a:lnSpc>
              <a:spcBef>
                <a:spcPts val="0"/>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Ninguna influencia	0</a:t>
            </a:r>
            <a:endParaRPr b="0" i="0" sz="1088" u="none" cap="none" strike="noStrike">
              <a:solidFill>
                <a:srgbClr val="000000"/>
              </a:solidFill>
              <a:latin typeface="Arial"/>
              <a:ea typeface="Arial"/>
              <a:cs typeface="Arial"/>
              <a:sym typeface="Arial"/>
            </a:endParaRPr>
          </a:p>
        </p:txBody>
      </p:sp>
      <p:sp>
        <p:nvSpPr>
          <p:cNvPr id="979" name="Google Shape;979;p19"/>
          <p:cNvSpPr txBox="1"/>
          <p:nvPr/>
        </p:nvSpPr>
        <p:spPr>
          <a:xfrm>
            <a:off x="4838119" y="1835767"/>
            <a:ext cx="1427742" cy="176139"/>
          </a:xfrm>
          <a:prstGeom prst="rect">
            <a:avLst/>
          </a:prstGeom>
          <a:noFill/>
          <a:ln>
            <a:noFill/>
          </a:ln>
        </p:spPr>
        <p:txBody>
          <a:bodyPr anchorCtr="0" anchor="t" bIns="0" lIns="0" spcFirstLastPara="1" rIns="0" wrap="square" tIns="8625">
            <a:spAutoFit/>
          </a:bodyPr>
          <a:lstStyle/>
          <a:p>
            <a:pPr indent="-193907" lvl="0" marL="202544" marR="0" rtl="0" algn="l">
              <a:lnSpc>
                <a:spcPct val="100000"/>
              </a:lnSpc>
              <a:spcBef>
                <a:spcPts val="0"/>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Medio	3</a:t>
            </a:r>
            <a:endParaRPr b="0" i="0" sz="1088" u="none" cap="none" strike="noStrike">
              <a:solidFill>
                <a:srgbClr val="000000"/>
              </a:solidFill>
              <a:latin typeface="Arial"/>
              <a:ea typeface="Arial"/>
              <a:cs typeface="Arial"/>
              <a:sym typeface="Arial"/>
            </a:endParaRPr>
          </a:p>
        </p:txBody>
      </p:sp>
      <p:sp>
        <p:nvSpPr>
          <p:cNvPr id="980" name="Google Shape;980;p19"/>
          <p:cNvSpPr/>
          <p:nvPr/>
        </p:nvSpPr>
        <p:spPr>
          <a:xfrm>
            <a:off x="1462674" y="1985883"/>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81" name="Google Shape;981;p19"/>
          <p:cNvSpPr txBox="1"/>
          <p:nvPr/>
        </p:nvSpPr>
        <p:spPr>
          <a:xfrm>
            <a:off x="2145879" y="1989166"/>
            <a:ext cx="833066" cy="343557"/>
          </a:xfrm>
          <a:prstGeom prst="rect">
            <a:avLst/>
          </a:prstGeom>
          <a:noFill/>
          <a:ln>
            <a:noFill/>
          </a:ln>
        </p:spPr>
        <p:txBody>
          <a:bodyPr anchorCtr="0" anchor="t" bIns="0" lIns="0" spcFirstLastPara="1" rIns="0" wrap="square" tIns="8625">
            <a:spAutoFit/>
          </a:bodyPr>
          <a:lstStyle/>
          <a:p>
            <a:pPr indent="-193907" lvl="0" marL="202544" marR="0" rtl="0" algn="l">
              <a:lnSpc>
                <a:spcPct val="100000"/>
              </a:lnSpc>
              <a:spcBef>
                <a:spcPts val="0"/>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Incidental</a:t>
            </a:r>
            <a:endParaRPr b="0" i="0" sz="1088" u="none" cap="none" strike="noStrike">
              <a:solidFill>
                <a:srgbClr val="000000"/>
              </a:solidFill>
              <a:latin typeface="Arial"/>
              <a:ea typeface="Arial"/>
              <a:cs typeface="Arial"/>
              <a:sym typeface="Arial"/>
            </a:endParaRPr>
          </a:p>
          <a:p>
            <a:pPr indent="-193907" lvl="0" marL="202544" marR="0" rtl="0" algn="l">
              <a:lnSpc>
                <a:spcPct val="100000"/>
              </a:lnSpc>
              <a:spcBef>
                <a:spcPts val="0"/>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Moderado</a:t>
            </a:r>
            <a:endParaRPr b="0" i="0" sz="1088" u="none" cap="none" strike="noStrike">
              <a:solidFill>
                <a:srgbClr val="000000"/>
              </a:solidFill>
              <a:latin typeface="Arial"/>
              <a:ea typeface="Arial"/>
              <a:cs typeface="Arial"/>
              <a:sym typeface="Arial"/>
            </a:endParaRPr>
          </a:p>
        </p:txBody>
      </p:sp>
      <p:sp>
        <p:nvSpPr>
          <p:cNvPr id="982" name="Google Shape;982;p19"/>
          <p:cNvSpPr txBox="1"/>
          <p:nvPr/>
        </p:nvSpPr>
        <p:spPr>
          <a:xfrm>
            <a:off x="3970255" y="1989166"/>
            <a:ext cx="94578" cy="343557"/>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1</a:t>
            </a:r>
            <a:endParaRPr b="0" i="0" sz="1088" u="none" cap="none" strike="noStrike">
              <a:solidFill>
                <a:srgbClr val="000000"/>
              </a:solidFill>
              <a:latin typeface="Arial"/>
              <a:ea typeface="Arial"/>
              <a:cs typeface="Arial"/>
              <a:sym typeface="Arial"/>
            </a:endParaRPr>
          </a:p>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2</a:t>
            </a:r>
            <a:endParaRPr b="0" i="0" sz="1088" u="none" cap="none" strike="noStrike">
              <a:solidFill>
                <a:srgbClr val="000000"/>
              </a:solidFill>
              <a:latin typeface="Arial"/>
              <a:ea typeface="Arial"/>
              <a:cs typeface="Arial"/>
              <a:sym typeface="Arial"/>
            </a:endParaRPr>
          </a:p>
        </p:txBody>
      </p:sp>
      <p:sp>
        <p:nvSpPr>
          <p:cNvPr id="983" name="Google Shape;983;p19"/>
          <p:cNvSpPr txBox="1"/>
          <p:nvPr/>
        </p:nvSpPr>
        <p:spPr>
          <a:xfrm>
            <a:off x="4838119" y="2001810"/>
            <a:ext cx="948805" cy="372952"/>
          </a:xfrm>
          <a:prstGeom prst="rect">
            <a:avLst/>
          </a:prstGeom>
          <a:noFill/>
          <a:ln>
            <a:noFill/>
          </a:ln>
        </p:spPr>
        <p:txBody>
          <a:bodyPr anchorCtr="0" anchor="t" bIns="0" lIns="0" spcFirstLastPara="1" rIns="0" wrap="square" tIns="25025">
            <a:spAutoFit/>
          </a:bodyPr>
          <a:lstStyle/>
          <a:p>
            <a:pPr indent="-193907" lvl="0" marL="202544" marR="0" rtl="0" algn="l">
              <a:lnSpc>
                <a:spcPct val="100000"/>
              </a:lnSpc>
              <a:spcBef>
                <a:spcPts val="0"/>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Significativo</a:t>
            </a:r>
            <a:endParaRPr b="0" i="0" sz="1088" u="none" cap="none" strike="noStrike">
              <a:solidFill>
                <a:srgbClr val="000000"/>
              </a:solidFill>
              <a:latin typeface="Arial"/>
              <a:ea typeface="Arial"/>
              <a:cs typeface="Arial"/>
              <a:sym typeface="Arial"/>
            </a:endParaRPr>
          </a:p>
          <a:p>
            <a:pPr indent="-193907" lvl="0" marL="202544" marR="0" rtl="0" algn="l">
              <a:lnSpc>
                <a:spcPct val="100000"/>
              </a:lnSpc>
              <a:spcBef>
                <a:spcPts val="129"/>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Esencial</a:t>
            </a:r>
            <a:endParaRPr b="0" i="0" sz="1088" u="none" cap="none" strike="noStrike">
              <a:solidFill>
                <a:srgbClr val="000000"/>
              </a:solidFill>
              <a:latin typeface="Arial"/>
              <a:ea typeface="Arial"/>
              <a:cs typeface="Arial"/>
              <a:sym typeface="Arial"/>
            </a:endParaRPr>
          </a:p>
        </p:txBody>
      </p:sp>
      <p:sp>
        <p:nvSpPr>
          <p:cNvPr id="984" name="Google Shape;984;p19"/>
          <p:cNvSpPr txBox="1"/>
          <p:nvPr/>
        </p:nvSpPr>
        <p:spPr>
          <a:xfrm>
            <a:off x="6171423" y="2001810"/>
            <a:ext cx="94578" cy="372952"/>
          </a:xfrm>
          <a:prstGeom prst="rect">
            <a:avLst/>
          </a:prstGeom>
          <a:noFill/>
          <a:ln>
            <a:noFill/>
          </a:ln>
        </p:spPr>
        <p:txBody>
          <a:bodyPr anchorCtr="0" anchor="t" bIns="0" lIns="0" spcFirstLastPara="1" rIns="0" wrap="square" tIns="250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4</a:t>
            </a:r>
            <a:endParaRPr b="0" i="0" sz="1088" u="none" cap="none" strike="noStrike">
              <a:solidFill>
                <a:srgbClr val="000000"/>
              </a:solidFill>
              <a:latin typeface="Arial"/>
              <a:ea typeface="Arial"/>
              <a:cs typeface="Arial"/>
              <a:sym typeface="Arial"/>
            </a:endParaRPr>
          </a:p>
          <a:p>
            <a:pPr indent="0" lvl="0" marL="8637" marR="0" rtl="0" algn="l">
              <a:lnSpc>
                <a:spcPct val="100000"/>
              </a:lnSpc>
              <a:spcBef>
                <a:spcPts val="129"/>
              </a:spcBef>
              <a:spcAft>
                <a:spcPts val="0"/>
              </a:spcAft>
              <a:buNone/>
            </a:pPr>
            <a:r>
              <a:rPr b="0" i="0" lang="en-US" sz="1088" u="none" cap="none" strike="noStrike">
                <a:solidFill>
                  <a:srgbClr val="000000"/>
                </a:solidFill>
                <a:latin typeface="Arial"/>
                <a:ea typeface="Arial"/>
                <a:cs typeface="Arial"/>
                <a:sym typeface="Arial"/>
              </a:rPr>
              <a:t>5</a:t>
            </a:r>
            <a:endParaRPr b="0" i="0" sz="1088" u="none" cap="none" strike="noStrike">
              <a:solidFill>
                <a:srgbClr val="000000"/>
              </a:solidFill>
              <a:latin typeface="Arial"/>
              <a:ea typeface="Arial"/>
              <a:cs typeface="Arial"/>
              <a:sym typeface="Arial"/>
            </a:endParaRPr>
          </a:p>
        </p:txBody>
      </p:sp>
      <p:sp>
        <p:nvSpPr>
          <p:cNvPr id="985" name="Google Shape;985;p19"/>
          <p:cNvSpPr/>
          <p:nvPr/>
        </p:nvSpPr>
        <p:spPr>
          <a:xfrm>
            <a:off x="1462674" y="2568900"/>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86" name="Google Shape;986;p19"/>
          <p:cNvSpPr txBox="1"/>
          <p:nvPr/>
        </p:nvSpPr>
        <p:spPr>
          <a:xfrm>
            <a:off x="5086354" y="2706405"/>
            <a:ext cx="120058" cy="119931"/>
          </a:xfrm>
          <a:prstGeom prst="rect">
            <a:avLst/>
          </a:prstGeom>
          <a:noFill/>
          <a:ln>
            <a:noFill/>
          </a:ln>
        </p:spPr>
        <p:txBody>
          <a:bodyPr anchorCtr="0" anchor="t" bIns="0" lIns="0" spcFirstLastPara="1" rIns="0" wrap="square" tIns="9925">
            <a:spAutoFit/>
          </a:bodyPr>
          <a:lstStyle/>
          <a:p>
            <a:pPr indent="0" lvl="0" marL="8637" marR="0" rtl="0" algn="l">
              <a:lnSpc>
                <a:spcPct val="100000"/>
              </a:lnSpc>
              <a:spcBef>
                <a:spcPts val="0"/>
              </a:spcBef>
              <a:spcAft>
                <a:spcPts val="0"/>
              </a:spcAft>
              <a:buNone/>
            </a:pPr>
            <a:r>
              <a:rPr b="0" i="0" lang="en-US" sz="714" u="none" cap="none" strike="noStrike">
                <a:solidFill>
                  <a:srgbClr val="000000"/>
                </a:solidFill>
                <a:latin typeface="Arial"/>
                <a:ea typeface="Arial"/>
                <a:cs typeface="Arial"/>
                <a:sym typeface="Arial"/>
              </a:rPr>
              <a:t>14</a:t>
            </a:r>
            <a:endParaRPr b="0" i="0" sz="714" u="none" cap="none" strike="noStrike">
              <a:solidFill>
                <a:srgbClr val="000000"/>
              </a:solidFill>
              <a:latin typeface="Arial"/>
              <a:ea typeface="Arial"/>
              <a:cs typeface="Arial"/>
              <a:sym typeface="Arial"/>
            </a:endParaRPr>
          </a:p>
        </p:txBody>
      </p:sp>
      <p:sp>
        <p:nvSpPr>
          <p:cNvPr id="987" name="Google Shape;987;p19"/>
          <p:cNvSpPr txBox="1"/>
          <p:nvPr/>
        </p:nvSpPr>
        <p:spPr>
          <a:xfrm>
            <a:off x="1817662" y="2436404"/>
            <a:ext cx="5511448" cy="896542"/>
          </a:xfrm>
          <a:prstGeom prst="rect">
            <a:avLst/>
          </a:prstGeom>
          <a:noFill/>
          <a:ln>
            <a:noFill/>
          </a:ln>
        </p:spPr>
        <p:txBody>
          <a:bodyPr anchorCtr="0" anchor="t" bIns="0" lIns="0" spcFirstLastPara="1" rIns="0" wrap="square" tIns="8200">
            <a:spAutoFit/>
          </a:bodyPr>
          <a:lstStyle/>
          <a:p>
            <a:pPr indent="-232774" lvl="0" marL="258686" marR="0" rtl="0" algn="l">
              <a:lnSpc>
                <a:spcPct val="100000"/>
              </a:lnSpc>
              <a:spcBef>
                <a:spcPts val="0"/>
              </a:spcBef>
              <a:spcAft>
                <a:spcPts val="0"/>
              </a:spcAft>
              <a:buClr>
                <a:srgbClr val="00007C"/>
              </a:buClr>
              <a:buSzPts val="1020"/>
              <a:buFont typeface="Noto Sans Symbols"/>
              <a:buChar char="■"/>
            </a:pPr>
            <a:r>
              <a:rPr b="0" i="0" lang="en-US" sz="1360" u="none" cap="none" strike="noStrike">
                <a:solidFill>
                  <a:srgbClr val="000000"/>
                </a:solidFill>
                <a:latin typeface="Arial"/>
                <a:ea typeface="Arial"/>
                <a:cs typeface="Arial"/>
                <a:sym typeface="Arial"/>
              </a:rPr>
              <a:t>La siguiente fórmula combina los 14 factores:</a:t>
            </a:r>
            <a:endParaRPr b="0" i="0" sz="1360" u="none" cap="none" strike="noStrike">
              <a:solidFill>
                <a:srgbClr val="000000"/>
              </a:solidFill>
              <a:latin typeface="Arial"/>
              <a:ea typeface="Arial"/>
              <a:cs typeface="Arial"/>
              <a:sym typeface="Arial"/>
            </a:endParaRPr>
          </a:p>
          <a:p>
            <a:pPr indent="0" lvl="0" marL="193043" marR="0" rtl="0" algn="ctr">
              <a:lnSpc>
                <a:spcPct val="100000"/>
              </a:lnSpc>
              <a:spcBef>
                <a:spcPts val="1088"/>
              </a:spcBef>
              <a:spcAft>
                <a:spcPts val="0"/>
              </a:spcAft>
              <a:buNone/>
            </a:pPr>
            <a:r>
              <a:rPr b="0" i="0" lang="en-US" sz="1088" u="none" cap="none" strike="noStrike">
                <a:solidFill>
                  <a:srgbClr val="000000"/>
                </a:solidFill>
                <a:latin typeface="Arial"/>
                <a:ea typeface="Arial"/>
                <a:cs typeface="Arial"/>
                <a:sym typeface="Arial"/>
              </a:rPr>
              <a:t>TCF = 0.65 + 0.01 </a:t>
            </a:r>
            <a:r>
              <a:rPr b="0" i="0" lang="en-US" sz="1088" u="none" cap="none" strike="noStrike">
                <a:solidFill>
                  <a:srgbClr val="000000"/>
                </a:solidFill>
                <a:latin typeface="Noto Sans Symbols"/>
                <a:ea typeface="Noto Sans Symbols"/>
                <a:cs typeface="Noto Sans Symbols"/>
                <a:sym typeface="Noto Sans Symbols"/>
              </a:rPr>
              <a:t>Σ</a:t>
            </a:r>
            <a:r>
              <a:rPr b="0" i="0" lang="en-US" sz="1088" u="none" cap="none" strike="noStrike">
                <a:solidFill>
                  <a:srgbClr val="000000"/>
                </a:solidFill>
                <a:latin typeface="Times New Roman"/>
                <a:ea typeface="Times New Roman"/>
                <a:cs typeface="Times New Roman"/>
                <a:sym typeface="Times New Roman"/>
              </a:rPr>
              <a:t> </a:t>
            </a:r>
            <a:r>
              <a:rPr b="0" i="0" lang="en-US" sz="1088" u="none" cap="none" strike="noStrike">
                <a:solidFill>
                  <a:srgbClr val="000000"/>
                </a:solidFill>
                <a:latin typeface="Arial"/>
                <a:ea typeface="Arial"/>
                <a:cs typeface="Arial"/>
                <a:sym typeface="Arial"/>
              </a:rPr>
              <a:t>F</a:t>
            </a:r>
            <a:r>
              <a:rPr b="0" baseline="-25000" i="0" lang="en-US" sz="1071" u="none" cap="none" strike="noStrike">
                <a:solidFill>
                  <a:srgbClr val="000000"/>
                </a:solidFill>
                <a:latin typeface="Arial"/>
                <a:ea typeface="Arial"/>
                <a:cs typeface="Arial"/>
                <a:sym typeface="Arial"/>
              </a:rPr>
              <a:t>i</a:t>
            </a:r>
            <a:endParaRPr b="0" baseline="-25000" i="0" sz="1071" u="none" cap="none" strike="noStrike">
              <a:solidFill>
                <a:srgbClr val="000000"/>
              </a:solidFill>
              <a:latin typeface="Arial"/>
              <a:ea typeface="Arial"/>
              <a:cs typeface="Arial"/>
              <a:sym typeface="Arial"/>
            </a:endParaRPr>
          </a:p>
          <a:p>
            <a:pPr indent="0" lvl="0" marL="1194966" marR="0" rtl="0" algn="ctr">
              <a:lnSpc>
                <a:spcPct val="100000"/>
              </a:lnSpc>
              <a:spcBef>
                <a:spcPts val="44"/>
              </a:spcBef>
              <a:spcAft>
                <a:spcPts val="0"/>
              </a:spcAft>
              <a:buNone/>
            </a:pPr>
            <a:r>
              <a:rPr b="0" i="0" lang="en-US" sz="714" u="none" cap="none" strike="noStrike">
                <a:solidFill>
                  <a:srgbClr val="000000"/>
                </a:solidFill>
                <a:latin typeface="Arial"/>
                <a:ea typeface="Arial"/>
                <a:cs typeface="Arial"/>
                <a:sym typeface="Arial"/>
              </a:rPr>
              <a:t>i=1</a:t>
            </a:r>
            <a:endParaRPr b="0" i="0" sz="714" u="none" cap="none" strike="noStrike">
              <a:solidFill>
                <a:srgbClr val="000000"/>
              </a:solidFill>
              <a:latin typeface="Arial"/>
              <a:ea typeface="Arial"/>
              <a:cs typeface="Arial"/>
              <a:sym typeface="Arial"/>
            </a:endParaRPr>
          </a:p>
          <a:p>
            <a:pPr indent="-232774" lvl="0" marL="258686" marR="0" rtl="0" algn="l">
              <a:lnSpc>
                <a:spcPct val="100000"/>
              </a:lnSpc>
              <a:spcBef>
                <a:spcPts val="394"/>
              </a:spcBef>
              <a:spcAft>
                <a:spcPts val="0"/>
              </a:spcAft>
              <a:buClr>
                <a:srgbClr val="00007C"/>
              </a:buClr>
              <a:buSzPts val="1020"/>
              <a:buFont typeface="Noto Sans Symbols"/>
              <a:buChar char="■"/>
            </a:pPr>
            <a:r>
              <a:rPr b="0" i="0" lang="en-US" sz="1360" u="none" cap="none" strike="noStrike">
                <a:solidFill>
                  <a:srgbClr val="000000"/>
                </a:solidFill>
                <a:latin typeface="Arial"/>
                <a:ea typeface="Arial"/>
                <a:cs typeface="Arial"/>
                <a:sym typeface="Arial"/>
              </a:rPr>
              <a:t>Los valores constantes de la ecuación y los factores de ponderación</a:t>
            </a:r>
            <a:endParaRPr b="0" i="0" sz="1360" u="none" cap="none" strike="noStrike">
              <a:solidFill>
                <a:srgbClr val="000000"/>
              </a:solidFill>
              <a:latin typeface="Arial"/>
              <a:ea typeface="Arial"/>
              <a:cs typeface="Arial"/>
              <a:sym typeface="Arial"/>
            </a:endParaRPr>
          </a:p>
        </p:txBody>
      </p:sp>
      <p:sp>
        <p:nvSpPr>
          <p:cNvPr id="988" name="Google Shape;988;p19"/>
          <p:cNvSpPr/>
          <p:nvPr/>
        </p:nvSpPr>
        <p:spPr>
          <a:xfrm>
            <a:off x="1462674" y="4317949"/>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989" name="Google Shape;989;p19"/>
          <p:cNvSpPr txBox="1"/>
          <p:nvPr/>
        </p:nvSpPr>
        <p:spPr>
          <a:xfrm>
            <a:off x="1834937" y="3278026"/>
            <a:ext cx="5650940" cy="1302999"/>
          </a:xfrm>
          <a:prstGeom prst="rect">
            <a:avLst/>
          </a:prstGeom>
          <a:noFill/>
          <a:ln>
            <a:noFill/>
          </a:ln>
        </p:spPr>
        <p:txBody>
          <a:bodyPr anchorCtr="0" anchor="t" bIns="0" lIns="0" spcFirstLastPara="1" rIns="0" wrap="square" tIns="8200">
            <a:spAutoFit/>
          </a:bodyPr>
          <a:lstStyle/>
          <a:p>
            <a:pPr indent="0" lvl="0" marL="241844" marR="0" rtl="0" algn="l">
              <a:lnSpc>
                <a:spcPct val="100000"/>
              </a:lnSpc>
              <a:spcBef>
                <a:spcPts val="0"/>
              </a:spcBef>
              <a:spcAft>
                <a:spcPts val="0"/>
              </a:spcAft>
              <a:buNone/>
            </a:pPr>
            <a:r>
              <a:rPr b="0" i="0" lang="en-US" sz="1360" u="none" cap="none" strike="noStrike">
                <a:solidFill>
                  <a:srgbClr val="000000"/>
                </a:solidFill>
                <a:latin typeface="Arial"/>
                <a:ea typeface="Arial"/>
                <a:cs typeface="Arial"/>
                <a:sym typeface="Arial"/>
              </a:rPr>
              <a:t>se obtienen empíricamente</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0"/>
              </a:spcBef>
              <a:spcAft>
                <a:spcPts val="0"/>
              </a:spcAft>
              <a:buClr>
                <a:srgbClr val="00007C"/>
              </a:buClr>
              <a:buSzPts val="1020"/>
              <a:buFont typeface="Noto Sans Symbols"/>
              <a:buChar char="■"/>
            </a:pPr>
            <a:r>
              <a:rPr b="0" i="0" lang="en-US" sz="1360" u="none" cap="none" strike="noStrike">
                <a:solidFill>
                  <a:srgbClr val="000000"/>
                </a:solidFill>
                <a:latin typeface="Arial"/>
                <a:ea typeface="Arial"/>
                <a:cs typeface="Arial"/>
                <a:sym typeface="Arial"/>
              </a:rPr>
              <a:t>Cálculo final de los puntos de función:</a:t>
            </a:r>
            <a:endParaRPr b="0" i="0" sz="1360" u="none" cap="none" strike="noStrike">
              <a:solidFill>
                <a:srgbClr val="000000"/>
              </a:solidFill>
              <a:latin typeface="Arial"/>
              <a:ea typeface="Arial"/>
              <a:cs typeface="Arial"/>
              <a:sym typeface="Arial"/>
            </a:endParaRPr>
          </a:p>
          <a:p>
            <a:pPr indent="0" lvl="0" marL="19002" marR="0" rtl="0" algn="ctr">
              <a:lnSpc>
                <a:spcPct val="100000"/>
              </a:lnSpc>
              <a:spcBef>
                <a:spcPts val="326"/>
              </a:spcBef>
              <a:spcAft>
                <a:spcPts val="0"/>
              </a:spcAft>
              <a:buNone/>
            </a:pPr>
            <a:r>
              <a:rPr b="0" i="0" lang="en-US" sz="1360" u="none" cap="none" strike="noStrike">
                <a:solidFill>
                  <a:srgbClr val="000000"/>
                </a:solidFill>
                <a:latin typeface="Arial"/>
                <a:ea typeface="Arial"/>
                <a:cs typeface="Arial"/>
                <a:sym typeface="Arial"/>
              </a:rPr>
              <a:t>FP = UFC * TCF</a:t>
            </a:r>
            <a:endParaRPr b="0" i="0" sz="1360" u="none" cap="none" strike="noStrike">
              <a:solidFill>
                <a:srgbClr val="000000"/>
              </a:solidFill>
              <a:latin typeface="Arial"/>
              <a:ea typeface="Arial"/>
              <a:cs typeface="Arial"/>
              <a:sym typeface="Arial"/>
            </a:endParaRPr>
          </a:p>
          <a:p>
            <a:pPr indent="-233206" lvl="0" marL="241844" marR="3455" rtl="0" algn="l">
              <a:lnSpc>
                <a:spcPct val="96029"/>
              </a:lnSpc>
              <a:spcBef>
                <a:spcPts val="969"/>
              </a:spcBef>
              <a:spcAft>
                <a:spcPts val="0"/>
              </a:spcAft>
              <a:buClr>
                <a:srgbClr val="00007C"/>
              </a:buClr>
              <a:buSzPts val="1020"/>
              <a:buFont typeface="Noto Sans Symbols"/>
              <a:buChar char="■"/>
            </a:pPr>
            <a:r>
              <a:rPr b="0" i="0" lang="en-US" sz="1360" u="none" cap="none" strike="noStrike">
                <a:solidFill>
                  <a:srgbClr val="000000"/>
                </a:solidFill>
                <a:latin typeface="Arial"/>
                <a:ea typeface="Arial"/>
                <a:cs typeface="Arial"/>
                <a:sym typeface="Arial"/>
              </a:rPr>
              <a:t>La técnica de puntos de función presenta muchos problemas debido fundamentalmente a la subjetividad en la aplicación de los factores y a la inexactitud de las medidas</a:t>
            </a:r>
            <a:endParaRPr b="0" i="0" sz="136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20"/>
          <p:cNvSpPr txBox="1"/>
          <p:nvPr>
            <p:ph idx="4294967295" type="title"/>
          </p:nvPr>
        </p:nvSpPr>
        <p:spPr>
          <a:xfrm>
            <a:off x="983466" y="70227"/>
            <a:ext cx="7681515"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Funcionalidad</a:t>
            </a:r>
            <a:endParaRPr>
              <a:solidFill>
                <a:srgbClr val="FF0000"/>
              </a:solidFill>
            </a:endParaRPr>
          </a:p>
        </p:txBody>
      </p:sp>
      <p:sp>
        <p:nvSpPr>
          <p:cNvPr id="995" name="Google Shape;995;p20"/>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grpSp>
        <p:nvGrpSpPr>
          <p:cNvPr id="996" name="Google Shape;996;p20"/>
          <p:cNvGrpSpPr/>
          <p:nvPr/>
        </p:nvGrpSpPr>
        <p:grpSpPr>
          <a:xfrm>
            <a:off x="4372566" y="1330322"/>
            <a:ext cx="3237252" cy="1929654"/>
            <a:chOff x="5053457" y="1956066"/>
            <a:chExt cx="4759960" cy="2837307"/>
          </a:xfrm>
        </p:grpSpPr>
        <p:pic>
          <p:nvPicPr>
            <p:cNvPr id="997" name="Google Shape;997;p20"/>
            <p:cNvPicPr preferRelativeResize="0"/>
            <p:nvPr/>
          </p:nvPicPr>
          <p:blipFill rotWithShape="1">
            <a:blip r:embed="rId3">
              <a:alphaModFix/>
            </a:blip>
            <a:srcRect b="0" l="0" r="0" t="0"/>
            <a:stretch/>
          </p:blipFill>
          <p:spPr>
            <a:xfrm>
              <a:off x="5409435" y="2030171"/>
              <a:ext cx="616255" cy="33324"/>
            </a:xfrm>
            <a:prstGeom prst="rect">
              <a:avLst/>
            </a:prstGeom>
            <a:noFill/>
            <a:ln>
              <a:noFill/>
            </a:ln>
          </p:spPr>
        </p:pic>
        <p:sp>
          <p:nvSpPr>
            <p:cNvPr id="998" name="Google Shape;998;p20"/>
            <p:cNvSpPr/>
            <p:nvPr/>
          </p:nvSpPr>
          <p:spPr>
            <a:xfrm>
              <a:off x="5053457" y="1956066"/>
              <a:ext cx="4759960" cy="1822450"/>
            </a:xfrm>
            <a:custGeom>
              <a:rect b="b" l="l" r="r" t="t"/>
              <a:pathLst>
                <a:path extrusionOk="0" h="1822450" w="4759959">
                  <a:moveTo>
                    <a:pt x="4759464" y="0"/>
                  </a:moveTo>
                  <a:lnTo>
                    <a:pt x="0" y="0"/>
                  </a:lnTo>
                  <a:lnTo>
                    <a:pt x="0" y="107442"/>
                  </a:lnTo>
                  <a:lnTo>
                    <a:pt x="0" y="964692"/>
                  </a:lnTo>
                  <a:lnTo>
                    <a:pt x="0" y="1821942"/>
                  </a:lnTo>
                  <a:lnTo>
                    <a:pt x="12954" y="1821942"/>
                  </a:lnTo>
                  <a:lnTo>
                    <a:pt x="12954" y="964692"/>
                  </a:lnTo>
                  <a:lnTo>
                    <a:pt x="12954" y="107442"/>
                  </a:lnTo>
                  <a:lnTo>
                    <a:pt x="12954" y="12192"/>
                  </a:lnTo>
                  <a:lnTo>
                    <a:pt x="4746510" y="12192"/>
                  </a:lnTo>
                  <a:lnTo>
                    <a:pt x="4746510" y="107442"/>
                  </a:lnTo>
                  <a:lnTo>
                    <a:pt x="4746510" y="964692"/>
                  </a:lnTo>
                  <a:lnTo>
                    <a:pt x="4746510" y="1821942"/>
                  </a:lnTo>
                  <a:lnTo>
                    <a:pt x="4759464" y="1821942"/>
                  </a:lnTo>
                  <a:lnTo>
                    <a:pt x="4759464" y="964692"/>
                  </a:lnTo>
                  <a:lnTo>
                    <a:pt x="4759464" y="107442"/>
                  </a:lnTo>
                  <a:lnTo>
                    <a:pt x="475946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999" name="Google Shape;999;p20"/>
            <p:cNvPicPr preferRelativeResize="0"/>
            <p:nvPr/>
          </p:nvPicPr>
          <p:blipFill rotWithShape="1">
            <a:blip r:embed="rId4">
              <a:alphaModFix/>
            </a:blip>
            <a:srcRect b="0" l="0" r="0" t="0"/>
            <a:stretch/>
          </p:blipFill>
          <p:spPr>
            <a:xfrm>
              <a:off x="5309501" y="2063496"/>
              <a:ext cx="4330446" cy="2685288"/>
            </a:xfrm>
            <a:prstGeom prst="rect">
              <a:avLst/>
            </a:prstGeom>
            <a:noFill/>
            <a:ln>
              <a:noFill/>
            </a:ln>
          </p:spPr>
        </p:pic>
        <p:sp>
          <p:nvSpPr>
            <p:cNvPr id="1000" name="Google Shape;1000;p20"/>
            <p:cNvSpPr/>
            <p:nvPr/>
          </p:nvSpPr>
          <p:spPr>
            <a:xfrm>
              <a:off x="5053457" y="3778008"/>
              <a:ext cx="4759960" cy="1015365"/>
            </a:xfrm>
            <a:custGeom>
              <a:rect b="b" l="l" r="r" t="t"/>
              <a:pathLst>
                <a:path extrusionOk="0" h="1015364" w="4759959">
                  <a:moveTo>
                    <a:pt x="4759464" y="0"/>
                  </a:moveTo>
                  <a:lnTo>
                    <a:pt x="4746510" y="0"/>
                  </a:lnTo>
                  <a:lnTo>
                    <a:pt x="4746510" y="857250"/>
                  </a:lnTo>
                  <a:lnTo>
                    <a:pt x="4746510" y="1002030"/>
                  </a:lnTo>
                  <a:lnTo>
                    <a:pt x="12954" y="1002030"/>
                  </a:lnTo>
                  <a:lnTo>
                    <a:pt x="12954" y="857250"/>
                  </a:lnTo>
                  <a:lnTo>
                    <a:pt x="12954" y="0"/>
                  </a:lnTo>
                  <a:lnTo>
                    <a:pt x="0" y="0"/>
                  </a:lnTo>
                  <a:lnTo>
                    <a:pt x="0" y="857250"/>
                  </a:lnTo>
                  <a:lnTo>
                    <a:pt x="0" y="1014984"/>
                  </a:lnTo>
                  <a:lnTo>
                    <a:pt x="4759464" y="1014984"/>
                  </a:lnTo>
                  <a:lnTo>
                    <a:pt x="4759464" y="857250"/>
                  </a:lnTo>
                  <a:lnTo>
                    <a:pt x="475946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01" name="Google Shape;1001;p20"/>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02" name="Google Shape;1002;p20"/>
          <p:cNvSpPr txBox="1"/>
          <p:nvPr/>
        </p:nvSpPr>
        <p:spPr>
          <a:xfrm>
            <a:off x="1834937" y="1041526"/>
            <a:ext cx="5400459" cy="3507597"/>
          </a:xfrm>
          <a:prstGeom prst="rect">
            <a:avLst/>
          </a:prstGeom>
          <a:noFill/>
          <a:ln>
            <a:noFill/>
          </a:ln>
        </p:spPr>
        <p:txBody>
          <a:bodyPr anchorCtr="0" anchor="t" bIns="0" lIns="0" spcFirstLastPara="1" rIns="0" wrap="square" tIns="50950">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Medición del tamaño funcional</a:t>
            </a:r>
            <a:endParaRPr b="0" i="0" sz="1360" u="none" cap="none" strike="noStrike">
              <a:solidFill>
                <a:srgbClr val="000000"/>
              </a:solidFill>
              <a:latin typeface="Arial"/>
              <a:ea typeface="Arial"/>
              <a:cs typeface="Arial"/>
              <a:sym typeface="Arial"/>
            </a:endParaRPr>
          </a:p>
          <a:p>
            <a:pPr indent="-233206" lvl="0" marL="290644" marR="3203563" rtl="0" algn="l">
              <a:lnSpc>
                <a:spcPct val="119444"/>
              </a:lnSpc>
              <a:spcBef>
                <a:spcPts val="360"/>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Conjunto de estándares [ISO/IEC 14143 parts 1 </a:t>
            </a:r>
            <a:r>
              <a:rPr b="0" i="0" lang="en-US" sz="1224" u="none" cap="none" strike="noStrike">
                <a:solidFill>
                  <a:srgbClr val="000000"/>
                </a:solidFill>
                <a:latin typeface="Times New Roman"/>
                <a:ea typeface="Times New Roman"/>
                <a:cs typeface="Times New Roman"/>
                <a:sym typeface="Times New Roman"/>
              </a:rPr>
              <a:t>– </a:t>
            </a:r>
            <a:r>
              <a:rPr b="0" i="0" lang="en-US" sz="1224" u="none" cap="none" strike="noStrike">
                <a:solidFill>
                  <a:srgbClr val="000000"/>
                </a:solidFill>
                <a:latin typeface="Arial"/>
                <a:ea typeface="Arial"/>
                <a:cs typeface="Arial"/>
                <a:sym typeface="Arial"/>
              </a:rPr>
              <a:t>5]</a:t>
            </a:r>
            <a:endParaRPr b="0" i="0" sz="1224" u="none" cap="none" strike="noStrike">
              <a:solidFill>
                <a:srgbClr val="000000"/>
              </a:solidFill>
              <a:latin typeface="Arial"/>
              <a:ea typeface="Arial"/>
              <a:cs typeface="Arial"/>
              <a:sym typeface="Arial"/>
            </a:endParaRPr>
          </a:p>
          <a:p>
            <a:pPr indent="-432" lvl="0" marL="291076" marR="3109417" rtl="0" algn="l">
              <a:lnSpc>
                <a:spcPct val="120016"/>
              </a:lnSpc>
              <a:spcBef>
                <a:spcPts val="7"/>
              </a:spcBef>
              <a:spcAft>
                <a:spcPts val="0"/>
              </a:spcAft>
              <a:buNone/>
            </a:pPr>
            <a:r>
              <a:rPr b="0" i="0" lang="en-US" sz="1224" u="none" cap="none" strike="noStrike">
                <a:solidFill>
                  <a:srgbClr val="000000"/>
                </a:solidFill>
                <a:latin typeface="Arial"/>
                <a:ea typeface="Arial"/>
                <a:cs typeface="Arial"/>
                <a:sym typeface="Arial"/>
              </a:rPr>
              <a:t>creados como respuesta a la gran proliferación de propuestas de FP</a:t>
            </a:r>
            <a:endParaRPr b="0" i="0" sz="1224" u="none" cap="none" strike="noStrike">
              <a:solidFill>
                <a:srgbClr val="000000"/>
              </a:solidFill>
              <a:latin typeface="Arial"/>
              <a:ea typeface="Arial"/>
              <a:cs typeface="Arial"/>
              <a:sym typeface="Arial"/>
            </a:endParaRPr>
          </a:p>
          <a:p>
            <a:pPr indent="-232774" lvl="0" marL="290644" marR="0" rtl="0" algn="l">
              <a:lnSpc>
                <a:spcPct val="100000"/>
              </a:lnSpc>
              <a:spcBef>
                <a:spcPts val="557"/>
              </a:spcBef>
              <a:spcAft>
                <a:spcPts val="0"/>
              </a:spcAft>
              <a:buClr>
                <a:srgbClr val="00007C"/>
              </a:buClr>
              <a:buSzPts val="918"/>
              <a:buFont typeface="Noto Sans Symbols"/>
              <a:buChar char="■"/>
            </a:pPr>
            <a:r>
              <a:rPr b="1" i="0" lang="en-US" sz="1224" u="none" cap="none" strike="noStrike">
                <a:solidFill>
                  <a:srgbClr val="000000"/>
                </a:solidFill>
                <a:latin typeface="Arial"/>
                <a:ea typeface="Arial"/>
                <a:cs typeface="Arial"/>
                <a:sym typeface="Arial"/>
              </a:rPr>
              <a:t>Definiciones </a:t>
            </a:r>
            <a:r>
              <a:rPr b="0" i="0" lang="en-US" sz="1224" u="none" cap="none" strike="noStrike">
                <a:solidFill>
                  <a:srgbClr val="000000"/>
                </a:solidFill>
                <a:latin typeface="Arial"/>
                <a:ea typeface="Arial"/>
                <a:cs typeface="Arial"/>
                <a:sym typeface="Arial"/>
              </a:rPr>
              <a:t>(parte 1):</a:t>
            </a:r>
            <a:endParaRPr b="0" i="0" sz="1224" u="none" cap="none" strike="noStrike">
              <a:solidFill>
                <a:srgbClr val="000000"/>
              </a:solidFill>
              <a:latin typeface="Arial"/>
              <a:ea typeface="Arial"/>
              <a:cs typeface="Arial"/>
              <a:sym typeface="Arial"/>
            </a:endParaRPr>
          </a:p>
          <a:p>
            <a:pPr indent="-194339" lvl="1" marL="563150" marR="2958697" rtl="0" algn="l">
              <a:lnSpc>
                <a:spcPct val="100000"/>
              </a:lnSpc>
              <a:spcBef>
                <a:spcPts val="758"/>
              </a:spcBef>
              <a:spcAft>
                <a:spcPts val="0"/>
              </a:spcAft>
              <a:buClr>
                <a:srgbClr val="9A9ACC"/>
              </a:buClr>
              <a:buSzPts val="850"/>
              <a:buFont typeface="Noto Sans Symbols"/>
              <a:buChar char="◻"/>
            </a:pPr>
            <a:r>
              <a:rPr b="1" i="0" lang="en-US" sz="1088" u="none" cap="none" strike="noStrike">
                <a:solidFill>
                  <a:srgbClr val="3333CC"/>
                </a:solidFill>
                <a:latin typeface="Arial"/>
                <a:ea typeface="Arial"/>
                <a:cs typeface="Arial"/>
                <a:sym typeface="Arial"/>
              </a:rPr>
              <a:t>Tamaño funcional</a:t>
            </a:r>
            <a:r>
              <a:rPr b="0" i="0" lang="en-US" sz="1088" u="none" cap="none" strike="noStrike">
                <a:solidFill>
                  <a:srgbClr val="000000"/>
                </a:solidFill>
                <a:latin typeface="Arial"/>
                <a:ea typeface="Arial"/>
                <a:cs typeface="Arial"/>
                <a:sym typeface="Arial"/>
              </a:rPr>
              <a:t>: tamaño del software derivado de la cuantificación de los requisitos funcionales de usuario</a:t>
            </a:r>
            <a:endParaRPr b="0" i="0" sz="1088" u="none" cap="none" strike="noStrike">
              <a:solidFill>
                <a:srgbClr val="000000"/>
              </a:solidFill>
              <a:latin typeface="Arial"/>
              <a:ea typeface="Arial"/>
              <a:cs typeface="Arial"/>
              <a:sym typeface="Arial"/>
            </a:endParaRPr>
          </a:p>
          <a:p>
            <a:pPr indent="-193907" lvl="1" marL="557536" marR="0" rtl="0" algn="l">
              <a:lnSpc>
                <a:spcPct val="100000"/>
              </a:lnSpc>
              <a:spcBef>
                <a:spcPts val="782"/>
              </a:spcBef>
              <a:spcAft>
                <a:spcPts val="0"/>
              </a:spcAft>
              <a:buClr>
                <a:srgbClr val="9A9ACC"/>
              </a:buClr>
              <a:buSzPts val="850"/>
              <a:buFont typeface="Noto Sans Symbols"/>
              <a:buChar char="◻"/>
            </a:pPr>
            <a:r>
              <a:rPr b="1" i="0" lang="en-US" sz="1088" u="none" cap="none" strike="noStrike">
                <a:solidFill>
                  <a:srgbClr val="3333CC"/>
                </a:solidFill>
                <a:latin typeface="Arial"/>
                <a:ea typeface="Arial"/>
                <a:cs typeface="Arial"/>
                <a:sym typeface="Arial"/>
              </a:rPr>
              <a:t>Medición del tamaño funcional</a:t>
            </a:r>
            <a:r>
              <a:rPr b="0" i="0" lang="en-US" sz="1088" u="none" cap="none" strike="noStrike">
                <a:solidFill>
                  <a:srgbClr val="000000"/>
                </a:solidFill>
                <a:latin typeface="Arial"/>
                <a:ea typeface="Arial"/>
                <a:cs typeface="Arial"/>
                <a:sym typeface="Arial"/>
              </a:rPr>
              <a:t>: proceso de medir el tamaño funcional</a:t>
            </a:r>
            <a:endParaRPr b="0" i="0" sz="1088" u="none" cap="none" strike="noStrike">
              <a:solidFill>
                <a:srgbClr val="000000"/>
              </a:solidFill>
              <a:latin typeface="Arial"/>
              <a:ea typeface="Arial"/>
              <a:cs typeface="Arial"/>
              <a:sym typeface="Arial"/>
            </a:endParaRPr>
          </a:p>
          <a:p>
            <a:pPr indent="-193907" lvl="1" marL="557536" marR="0" rtl="0" algn="l">
              <a:lnSpc>
                <a:spcPct val="100000"/>
              </a:lnSpc>
              <a:spcBef>
                <a:spcPts val="524"/>
              </a:spcBef>
              <a:spcAft>
                <a:spcPts val="0"/>
              </a:spcAft>
              <a:buClr>
                <a:srgbClr val="9A9ACC"/>
              </a:buClr>
              <a:buSzPts val="850"/>
              <a:buFont typeface="Noto Sans Symbols"/>
              <a:buChar char="◻"/>
            </a:pPr>
            <a:r>
              <a:rPr b="1" i="0" lang="en-US" sz="1088" u="none" cap="none" strike="noStrike">
                <a:solidFill>
                  <a:srgbClr val="3333CC"/>
                </a:solidFill>
                <a:latin typeface="Arial"/>
                <a:ea typeface="Arial"/>
                <a:cs typeface="Arial"/>
                <a:sym typeface="Arial"/>
              </a:rPr>
              <a:t>Índices de productividad</a:t>
            </a:r>
            <a:r>
              <a:rPr b="0" i="0" lang="en-US" sz="1088" u="none" cap="none" strike="noStrike">
                <a:solidFill>
                  <a:srgbClr val="000000"/>
                </a:solidFill>
                <a:latin typeface="Arial"/>
                <a:ea typeface="Arial"/>
                <a:cs typeface="Arial"/>
                <a:sym typeface="Arial"/>
              </a:rPr>
              <a:t>: tamaño del producto software entregado / esfuerzo</a:t>
            </a:r>
            <a:endParaRPr b="0" i="0" sz="1088" u="none" cap="none" strike="noStrike">
              <a:solidFill>
                <a:srgbClr val="000000"/>
              </a:solidFill>
              <a:latin typeface="Arial"/>
              <a:ea typeface="Arial"/>
              <a:cs typeface="Arial"/>
              <a:sym typeface="Arial"/>
            </a:endParaRPr>
          </a:p>
          <a:p>
            <a:pPr indent="-193907" lvl="1" marL="557536" marR="0" rtl="0" algn="l">
              <a:lnSpc>
                <a:spcPct val="100000"/>
              </a:lnSpc>
              <a:spcBef>
                <a:spcPts val="520"/>
              </a:spcBef>
              <a:spcAft>
                <a:spcPts val="0"/>
              </a:spcAft>
              <a:buClr>
                <a:srgbClr val="9A9ACC"/>
              </a:buClr>
              <a:buSzPts val="850"/>
              <a:buFont typeface="Noto Sans Symbols"/>
              <a:buChar char="◻"/>
            </a:pPr>
            <a:r>
              <a:rPr b="1" i="0" lang="en-US" sz="1088" u="none" cap="none" strike="noStrike">
                <a:solidFill>
                  <a:srgbClr val="3333CC"/>
                </a:solidFill>
                <a:latin typeface="Arial"/>
                <a:ea typeface="Arial"/>
                <a:cs typeface="Arial"/>
                <a:sym typeface="Arial"/>
              </a:rPr>
              <a:t>Efectividad del coste</a:t>
            </a:r>
            <a:r>
              <a:rPr b="0" i="0" lang="en-US" sz="1088" u="none" cap="none" strike="noStrike">
                <a:solidFill>
                  <a:srgbClr val="000000"/>
                </a:solidFill>
                <a:latin typeface="Arial"/>
                <a:ea typeface="Arial"/>
                <a:cs typeface="Arial"/>
                <a:sym typeface="Arial"/>
              </a:rPr>
              <a:t>: tamaño del producto software entregado / coste</a:t>
            </a:r>
            <a:endParaRPr b="0" i="0" sz="1088" u="none" cap="none" strike="noStrike">
              <a:solidFill>
                <a:srgbClr val="000000"/>
              </a:solidFill>
              <a:latin typeface="Arial"/>
              <a:ea typeface="Arial"/>
              <a:cs typeface="Arial"/>
              <a:sym typeface="Arial"/>
            </a:endParaRPr>
          </a:p>
          <a:p>
            <a:pPr indent="-193907" lvl="1" marL="557536" marR="0" rtl="0" algn="l">
              <a:lnSpc>
                <a:spcPct val="100000"/>
              </a:lnSpc>
              <a:spcBef>
                <a:spcPts val="524"/>
              </a:spcBef>
              <a:spcAft>
                <a:spcPts val="0"/>
              </a:spcAft>
              <a:buClr>
                <a:srgbClr val="9A9ACC"/>
              </a:buClr>
              <a:buSzPts val="850"/>
              <a:buFont typeface="Noto Sans Symbols"/>
              <a:buChar char="◻"/>
            </a:pPr>
            <a:r>
              <a:rPr b="1" i="0" lang="en-US" sz="1088" u="none" cap="none" strike="noStrike">
                <a:solidFill>
                  <a:srgbClr val="3333CC"/>
                </a:solidFill>
                <a:latin typeface="Arial"/>
                <a:ea typeface="Arial"/>
                <a:cs typeface="Arial"/>
                <a:sym typeface="Arial"/>
              </a:rPr>
              <a:t>Calidad del producto</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0" lvl="0" marL="557967" marR="0" rtl="0" algn="l">
              <a:lnSpc>
                <a:spcPct val="100000"/>
              </a:lnSpc>
              <a:spcBef>
                <a:spcPts val="524"/>
              </a:spcBef>
              <a:spcAft>
                <a:spcPts val="0"/>
              </a:spcAft>
              <a:buNone/>
            </a:pPr>
            <a:r>
              <a:rPr b="0" i="0" lang="en-US" sz="1088" u="none" cap="none" strike="noStrike">
                <a:solidFill>
                  <a:srgbClr val="000000"/>
                </a:solidFill>
                <a:latin typeface="Arial"/>
                <a:ea typeface="Arial"/>
                <a:cs typeface="Arial"/>
                <a:sym typeface="Arial"/>
              </a:rPr>
              <a:t>defectos entregados / tamaño del producto software entregado</a:t>
            </a:r>
            <a:endParaRPr b="0" i="0" sz="1088"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21"/>
          <p:cNvSpPr txBox="1"/>
          <p:nvPr>
            <p:ph idx="4294967295" type="title"/>
          </p:nvPr>
        </p:nvSpPr>
        <p:spPr>
          <a:xfrm>
            <a:off x="148856" y="127215"/>
            <a:ext cx="8218967"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Funcionalidad</a:t>
            </a:r>
            <a:endParaRPr>
              <a:solidFill>
                <a:srgbClr val="FF0000"/>
              </a:solidFill>
            </a:endParaRPr>
          </a:p>
        </p:txBody>
      </p:sp>
      <p:sp>
        <p:nvSpPr>
          <p:cNvPr id="1008" name="Google Shape;1008;p21"/>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09" name="Google Shape;1009;p21"/>
          <p:cNvSpPr txBox="1"/>
          <p:nvPr/>
        </p:nvSpPr>
        <p:spPr>
          <a:xfrm>
            <a:off x="1834937" y="1079000"/>
            <a:ext cx="5516199" cy="1556672"/>
          </a:xfrm>
          <a:prstGeom prst="rect">
            <a:avLst/>
          </a:prstGeom>
          <a:noFill/>
          <a:ln>
            <a:noFill/>
          </a:ln>
        </p:spPr>
        <p:txBody>
          <a:bodyPr anchorCtr="0" anchor="t" bIns="0" lIns="0" spcFirstLastPara="1" rIns="0" wrap="square" tIns="9672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COSMIC-FFP </a:t>
            </a:r>
            <a:r>
              <a:rPr b="0" i="0" lang="en-US" sz="1360" u="none" cap="none" strike="noStrike">
                <a:solidFill>
                  <a:srgbClr val="000000"/>
                </a:solidFill>
                <a:latin typeface="Arial"/>
                <a:ea typeface="Arial"/>
                <a:cs typeface="Arial"/>
                <a:sym typeface="Arial"/>
              </a:rPr>
              <a:t>[ISO/IEC 19761:2003]</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626"/>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Propuesta del </a:t>
            </a:r>
            <a:r>
              <a:rPr b="1" i="0" lang="en-US" sz="1224" u="none" cap="none" strike="noStrike">
                <a:solidFill>
                  <a:srgbClr val="000000"/>
                </a:solidFill>
                <a:latin typeface="Arial"/>
                <a:ea typeface="Arial"/>
                <a:cs typeface="Arial"/>
                <a:sym typeface="Arial"/>
              </a:rPr>
              <a:t>CO</a:t>
            </a:r>
            <a:r>
              <a:rPr b="0" i="0" lang="en-US" sz="1224" u="none" cap="none" strike="noStrike">
                <a:solidFill>
                  <a:srgbClr val="000000"/>
                </a:solidFill>
                <a:latin typeface="Arial"/>
                <a:ea typeface="Arial"/>
                <a:cs typeface="Arial"/>
                <a:sym typeface="Arial"/>
              </a:rPr>
              <a:t>mmon </a:t>
            </a:r>
            <a:r>
              <a:rPr b="1" i="0" lang="en-US" sz="1224" u="none" cap="none" strike="noStrike">
                <a:solidFill>
                  <a:srgbClr val="000000"/>
                </a:solidFill>
                <a:latin typeface="Arial"/>
                <a:ea typeface="Arial"/>
                <a:cs typeface="Arial"/>
                <a:sym typeface="Arial"/>
              </a:rPr>
              <a:t>S</a:t>
            </a:r>
            <a:r>
              <a:rPr b="0" i="0" lang="en-US" sz="1224" u="none" cap="none" strike="noStrike">
                <a:solidFill>
                  <a:srgbClr val="000000"/>
                </a:solidFill>
                <a:latin typeface="Arial"/>
                <a:ea typeface="Arial"/>
                <a:cs typeface="Arial"/>
                <a:sym typeface="Arial"/>
              </a:rPr>
              <a:t>oftware </a:t>
            </a:r>
            <a:r>
              <a:rPr b="1" i="0" lang="en-US" sz="1224" u="none" cap="none" strike="noStrike">
                <a:solidFill>
                  <a:srgbClr val="000000"/>
                </a:solidFill>
                <a:latin typeface="Arial"/>
                <a:ea typeface="Arial"/>
                <a:cs typeface="Arial"/>
                <a:sym typeface="Arial"/>
              </a:rPr>
              <a:t>M</a:t>
            </a:r>
            <a:r>
              <a:rPr b="0" i="0" lang="en-US" sz="1224" u="none" cap="none" strike="noStrike">
                <a:solidFill>
                  <a:srgbClr val="000000"/>
                </a:solidFill>
                <a:latin typeface="Arial"/>
                <a:ea typeface="Arial"/>
                <a:cs typeface="Arial"/>
                <a:sym typeface="Arial"/>
              </a:rPr>
              <a:t>easurement </a:t>
            </a:r>
            <a:r>
              <a:rPr b="1" i="0" lang="en-US" sz="1224" u="none" cap="none" strike="noStrike">
                <a:solidFill>
                  <a:srgbClr val="000000"/>
                </a:solidFill>
                <a:latin typeface="Arial"/>
                <a:ea typeface="Arial"/>
                <a:cs typeface="Arial"/>
                <a:sym typeface="Arial"/>
              </a:rPr>
              <a:t>I</a:t>
            </a:r>
            <a:r>
              <a:rPr b="0" i="0" lang="en-US" sz="1224" u="none" cap="none" strike="noStrike">
                <a:solidFill>
                  <a:srgbClr val="000000"/>
                </a:solidFill>
                <a:latin typeface="Arial"/>
                <a:ea typeface="Arial"/>
                <a:cs typeface="Arial"/>
                <a:sym typeface="Arial"/>
              </a:rPr>
              <a:t>nternational </a:t>
            </a:r>
            <a:r>
              <a:rPr b="1" i="0" lang="en-US" sz="1224" u="none" cap="none" strike="noStrike">
                <a:solidFill>
                  <a:srgbClr val="000000"/>
                </a:solidFill>
                <a:latin typeface="Arial"/>
                <a:ea typeface="Arial"/>
                <a:cs typeface="Arial"/>
                <a:sym typeface="Arial"/>
              </a:rPr>
              <a:t>C</a:t>
            </a:r>
            <a:r>
              <a:rPr b="0" i="0" lang="en-US" sz="1224" u="none" cap="none" strike="noStrike">
                <a:solidFill>
                  <a:srgbClr val="000000"/>
                </a:solidFill>
                <a:latin typeface="Arial"/>
                <a:ea typeface="Arial"/>
                <a:cs typeface="Arial"/>
                <a:sym typeface="Arial"/>
              </a:rPr>
              <a:t>onsortium</a:t>
            </a:r>
            <a:endParaRPr b="0" i="0" sz="1224" u="none" cap="none" strike="noStrike">
              <a:solidFill>
                <a:srgbClr val="000000"/>
              </a:solidFill>
              <a:latin typeface="Arial"/>
              <a:ea typeface="Arial"/>
              <a:cs typeface="Arial"/>
              <a:sym typeface="Arial"/>
            </a:endParaRPr>
          </a:p>
          <a:p>
            <a:pPr indent="-232774" lvl="0" marL="241412" marR="0" rtl="0" algn="l">
              <a:lnSpc>
                <a:spcPct val="100000"/>
              </a:lnSpc>
              <a:spcBef>
                <a:spcPts val="585"/>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Para sistemas cliente servidor y aplicaciones multicapa</a:t>
            </a:r>
            <a:endParaRPr b="0" i="0" sz="1224" u="none" cap="none" strike="noStrike">
              <a:solidFill>
                <a:srgbClr val="000000"/>
              </a:solidFill>
              <a:latin typeface="Arial"/>
              <a:ea typeface="Arial"/>
              <a:cs typeface="Arial"/>
              <a:sym typeface="Arial"/>
            </a:endParaRPr>
          </a:p>
          <a:p>
            <a:pPr indent="-233206" lvl="0" marL="241844" marR="3455" rtl="0" algn="l">
              <a:lnSpc>
                <a:spcPct val="100000"/>
              </a:lnSpc>
              <a:spcBef>
                <a:spcPts val="588"/>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Compatible con técnicas actuales de especificación de requisistos (casos de uso y prototipado)</a:t>
            </a:r>
            <a:endParaRPr b="0" i="0" sz="1224" u="none" cap="none" strike="noStrike">
              <a:solidFill>
                <a:srgbClr val="000000"/>
              </a:solidFill>
              <a:latin typeface="Arial"/>
              <a:ea typeface="Arial"/>
              <a:cs typeface="Arial"/>
              <a:sym typeface="Arial"/>
            </a:endParaRPr>
          </a:p>
          <a:p>
            <a:pPr indent="-232774" lvl="0" marL="241412" marR="0" rtl="0" algn="l">
              <a:lnSpc>
                <a:spcPct val="100000"/>
              </a:lnSpc>
              <a:spcBef>
                <a:spcPts val="588"/>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Aplicable en proyectos que usan COTS</a:t>
            </a:r>
            <a:endParaRPr b="0" i="0" sz="1224" u="none" cap="none" strike="noStrike">
              <a:solidFill>
                <a:srgbClr val="000000"/>
              </a:solidFill>
              <a:latin typeface="Arial"/>
              <a:ea typeface="Arial"/>
              <a:cs typeface="Arial"/>
              <a:sym typeface="Arial"/>
            </a:endParaRPr>
          </a:p>
        </p:txBody>
      </p:sp>
      <p:grpSp>
        <p:nvGrpSpPr>
          <p:cNvPr id="1010" name="Google Shape;1010;p21"/>
          <p:cNvGrpSpPr/>
          <p:nvPr/>
        </p:nvGrpSpPr>
        <p:grpSpPr>
          <a:xfrm>
            <a:off x="1462579" y="2693102"/>
            <a:ext cx="6218841" cy="1609644"/>
            <a:chOff x="774839" y="3777234"/>
            <a:chExt cx="9144000" cy="2366772"/>
          </a:xfrm>
        </p:grpSpPr>
        <p:sp>
          <p:nvSpPr>
            <p:cNvPr id="1011" name="Google Shape;1011;p21"/>
            <p:cNvSpPr/>
            <p:nvPr/>
          </p:nvSpPr>
          <p:spPr>
            <a:xfrm>
              <a:off x="774839" y="3777234"/>
              <a:ext cx="9144000" cy="85851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12" name="Google Shape;1012;p21"/>
            <p:cNvPicPr preferRelativeResize="0"/>
            <p:nvPr/>
          </p:nvPicPr>
          <p:blipFill rotWithShape="1">
            <a:blip r:embed="rId3">
              <a:alphaModFix/>
            </a:blip>
            <a:srcRect b="0" l="0" r="0" t="0"/>
            <a:stretch/>
          </p:blipFill>
          <p:spPr>
            <a:xfrm>
              <a:off x="1016393" y="4354830"/>
              <a:ext cx="4978146" cy="280416"/>
            </a:xfrm>
            <a:prstGeom prst="rect">
              <a:avLst/>
            </a:prstGeom>
            <a:noFill/>
            <a:ln>
              <a:noFill/>
            </a:ln>
          </p:spPr>
        </p:pic>
        <p:sp>
          <p:nvSpPr>
            <p:cNvPr id="1013" name="Google Shape;1013;p21"/>
            <p:cNvSpPr/>
            <p:nvPr/>
          </p:nvSpPr>
          <p:spPr>
            <a:xfrm>
              <a:off x="1007249" y="4344924"/>
              <a:ext cx="4997450" cy="290830"/>
            </a:xfrm>
            <a:custGeom>
              <a:rect b="b" l="l" r="r" t="t"/>
              <a:pathLst>
                <a:path extrusionOk="0" h="290829" w="4997450">
                  <a:moveTo>
                    <a:pt x="4997196" y="290322"/>
                  </a:moveTo>
                  <a:lnTo>
                    <a:pt x="4997196" y="0"/>
                  </a:lnTo>
                  <a:lnTo>
                    <a:pt x="0" y="0"/>
                  </a:lnTo>
                  <a:lnTo>
                    <a:pt x="0" y="290322"/>
                  </a:lnTo>
                  <a:lnTo>
                    <a:pt x="4572" y="290322"/>
                  </a:lnTo>
                  <a:lnTo>
                    <a:pt x="4571" y="9906"/>
                  </a:lnTo>
                  <a:lnTo>
                    <a:pt x="9143" y="4572"/>
                  </a:lnTo>
                  <a:lnTo>
                    <a:pt x="9144" y="9906"/>
                  </a:lnTo>
                  <a:lnTo>
                    <a:pt x="4987289" y="9905"/>
                  </a:lnTo>
                  <a:lnTo>
                    <a:pt x="4987289" y="4572"/>
                  </a:lnTo>
                  <a:lnTo>
                    <a:pt x="4992623" y="9905"/>
                  </a:lnTo>
                  <a:lnTo>
                    <a:pt x="4992623" y="290322"/>
                  </a:lnTo>
                  <a:lnTo>
                    <a:pt x="4997196" y="290322"/>
                  </a:lnTo>
                  <a:close/>
                </a:path>
                <a:path extrusionOk="0" h="290829" w="4997450">
                  <a:moveTo>
                    <a:pt x="9143" y="9906"/>
                  </a:moveTo>
                  <a:lnTo>
                    <a:pt x="9143" y="4572"/>
                  </a:lnTo>
                  <a:lnTo>
                    <a:pt x="4571" y="9906"/>
                  </a:lnTo>
                  <a:lnTo>
                    <a:pt x="9143" y="9906"/>
                  </a:lnTo>
                  <a:close/>
                </a:path>
                <a:path extrusionOk="0" h="290829" w="4997450">
                  <a:moveTo>
                    <a:pt x="9144" y="290322"/>
                  </a:moveTo>
                  <a:lnTo>
                    <a:pt x="9143" y="9906"/>
                  </a:lnTo>
                  <a:lnTo>
                    <a:pt x="4571" y="9906"/>
                  </a:lnTo>
                  <a:lnTo>
                    <a:pt x="4572" y="290322"/>
                  </a:lnTo>
                  <a:lnTo>
                    <a:pt x="9144" y="290322"/>
                  </a:lnTo>
                  <a:close/>
                </a:path>
                <a:path extrusionOk="0" h="290829" w="4997450">
                  <a:moveTo>
                    <a:pt x="4992623" y="9905"/>
                  </a:moveTo>
                  <a:lnTo>
                    <a:pt x="4987289" y="4572"/>
                  </a:lnTo>
                  <a:lnTo>
                    <a:pt x="4987289" y="9905"/>
                  </a:lnTo>
                  <a:lnTo>
                    <a:pt x="4992623" y="9905"/>
                  </a:lnTo>
                  <a:close/>
                </a:path>
                <a:path extrusionOk="0" h="290829" w="4997450">
                  <a:moveTo>
                    <a:pt x="4992623" y="290322"/>
                  </a:moveTo>
                  <a:lnTo>
                    <a:pt x="4992623" y="9905"/>
                  </a:lnTo>
                  <a:lnTo>
                    <a:pt x="4987289" y="9905"/>
                  </a:lnTo>
                  <a:lnTo>
                    <a:pt x="4987289" y="290322"/>
                  </a:lnTo>
                  <a:lnTo>
                    <a:pt x="4992623" y="29032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14" name="Google Shape;1014;p21"/>
            <p:cNvPicPr preferRelativeResize="0"/>
            <p:nvPr/>
          </p:nvPicPr>
          <p:blipFill rotWithShape="1">
            <a:blip r:embed="rId4">
              <a:alphaModFix/>
            </a:blip>
            <a:srcRect b="0" l="0" r="0" t="0"/>
            <a:stretch/>
          </p:blipFill>
          <p:spPr>
            <a:xfrm>
              <a:off x="6139319" y="4354830"/>
              <a:ext cx="3637026" cy="280416"/>
            </a:xfrm>
            <a:prstGeom prst="rect">
              <a:avLst/>
            </a:prstGeom>
            <a:noFill/>
            <a:ln>
              <a:noFill/>
            </a:ln>
          </p:spPr>
        </p:pic>
        <p:sp>
          <p:nvSpPr>
            <p:cNvPr id="1015" name="Google Shape;1015;p21"/>
            <p:cNvSpPr/>
            <p:nvPr/>
          </p:nvSpPr>
          <p:spPr>
            <a:xfrm>
              <a:off x="6130175" y="4344924"/>
              <a:ext cx="3655695" cy="290830"/>
            </a:xfrm>
            <a:custGeom>
              <a:rect b="b" l="l" r="r" t="t"/>
              <a:pathLst>
                <a:path extrusionOk="0" h="290829" w="3655695">
                  <a:moveTo>
                    <a:pt x="3655314" y="290322"/>
                  </a:moveTo>
                  <a:lnTo>
                    <a:pt x="3655314" y="0"/>
                  </a:lnTo>
                  <a:lnTo>
                    <a:pt x="0" y="0"/>
                  </a:lnTo>
                  <a:lnTo>
                    <a:pt x="0" y="290322"/>
                  </a:lnTo>
                  <a:lnTo>
                    <a:pt x="4572" y="290322"/>
                  </a:lnTo>
                  <a:lnTo>
                    <a:pt x="4572" y="9905"/>
                  </a:lnTo>
                  <a:lnTo>
                    <a:pt x="9144" y="4572"/>
                  </a:lnTo>
                  <a:lnTo>
                    <a:pt x="9144" y="9905"/>
                  </a:lnTo>
                  <a:lnTo>
                    <a:pt x="3646170" y="9905"/>
                  </a:lnTo>
                  <a:lnTo>
                    <a:pt x="3646170" y="4572"/>
                  </a:lnTo>
                  <a:lnTo>
                    <a:pt x="3650742" y="9905"/>
                  </a:lnTo>
                  <a:lnTo>
                    <a:pt x="3650742" y="290322"/>
                  </a:lnTo>
                  <a:lnTo>
                    <a:pt x="3655314" y="290322"/>
                  </a:lnTo>
                  <a:close/>
                </a:path>
                <a:path extrusionOk="0" h="290829" w="3655695">
                  <a:moveTo>
                    <a:pt x="9144" y="9905"/>
                  </a:moveTo>
                  <a:lnTo>
                    <a:pt x="9144" y="4572"/>
                  </a:lnTo>
                  <a:lnTo>
                    <a:pt x="4572" y="9905"/>
                  </a:lnTo>
                  <a:lnTo>
                    <a:pt x="9144" y="9905"/>
                  </a:lnTo>
                  <a:close/>
                </a:path>
                <a:path extrusionOk="0" h="290829" w="3655695">
                  <a:moveTo>
                    <a:pt x="9144" y="290322"/>
                  </a:moveTo>
                  <a:lnTo>
                    <a:pt x="9144" y="9905"/>
                  </a:lnTo>
                  <a:lnTo>
                    <a:pt x="4572" y="9905"/>
                  </a:lnTo>
                  <a:lnTo>
                    <a:pt x="4572" y="290322"/>
                  </a:lnTo>
                  <a:lnTo>
                    <a:pt x="9144" y="290322"/>
                  </a:lnTo>
                  <a:close/>
                </a:path>
                <a:path extrusionOk="0" h="290829" w="3655695">
                  <a:moveTo>
                    <a:pt x="3650742" y="9905"/>
                  </a:moveTo>
                  <a:lnTo>
                    <a:pt x="3646170" y="4572"/>
                  </a:lnTo>
                  <a:lnTo>
                    <a:pt x="3646170" y="9905"/>
                  </a:lnTo>
                  <a:lnTo>
                    <a:pt x="3650742" y="9905"/>
                  </a:lnTo>
                  <a:close/>
                </a:path>
                <a:path extrusionOk="0" h="290829" w="3655695">
                  <a:moveTo>
                    <a:pt x="3650742" y="290322"/>
                  </a:moveTo>
                  <a:lnTo>
                    <a:pt x="3650742" y="9905"/>
                  </a:lnTo>
                  <a:lnTo>
                    <a:pt x="3646170" y="9905"/>
                  </a:lnTo>
                  <a:lnTo>
                    <a:pt x="3646170" y="290322"/>
                  </a:lnTo>
                  <a:lnTo>
                    <a:pt x="3650742" y="29032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16" name="Google Shape;1016;p21"/>
            <p:cNvPicPr preferRelativeResize="0"/>
            <p:nvPr/>
          </p:nvPicPr>
          <p:blipFill rotWithShape="1">
            <a:blip r:embed="rId5">
              <a:alphaModFix/>
            </a:blip>
            <a:srcRect b="0" l="0" r="0" t="0"/>
            <a:stretch/>
          </p:blipFill>
          <p:spPr>
            <a:xfrm>
              <a:off x="1016393" y="4635246"/>
              <a:ext cx="4809655" cy="857250"/>
            </a:xfrm>
            <a:prstGeom prst="rect">
              <a:avLst/>
            </a:prstGeom>
            <a:noFill/>
            <a:ln>
              <a:noFill/>
            </a:ln>
          </p:spPr>
        </p:pic>
        <p:sp>
          <p:nvSpPr>
            <p:cNvPr id="1017" name="Google Shape;1017;p21"/>
            <p:cNvSpPr/>
            <p:nvPr/>
          </p:nvSpPr>
          <p:spPr>
            <a:xfrm>
              <a:off x="1007249" y="4635258"/>
              <a:ext cx="4997450" cy="857250"/>
            </a:xfrm>
            <a:custGeom>
              <a:rect b="b" l="l" r="r" t="t"/>
              <a:pathLst>
                <a:path extrusionOk="0" h="857250" w="4997450">
                  <a:moveTo>
                    <a:pt x="9144" y="0"/>
                  </a:moveTo>
                  <a:lnTo>
                    <a:pt x="0" y="0"/>
                  </a:lnTo>
                  <a:lnTo>
                    <a:pt x="0" y="857250"/>
                  </a:lnTo>
                  <a:lnTo>
                    <a:pt x="9144" y="857250"/>
                  </a:lnTo>
                  <a:lnTo>
                    <a:pt x="9144" y="0"/>
                  </a:lnTo>
                  <a:close/>
                </a:path>
                <a:path extrusionOk="0" h="857250" w="4997450">
                  <a:moveTo>
                    <a:pt x="4997196" y="0"/>
                  </a:moveTo>
                  <a:lnTo>
                    <a:pt x="4987277" y="0"/>
                  </a:lnTo>
                  <a:lnTo>
                    <a:pt x="4987277" y="857250"/>
                  </a:lnTo>
                  <a:lnTo>
                    <a:pt x="4997196" y="857250"/>
                  </a:lnTo>
                  <a:lnTo>
                    <a:pt x="499719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18" name="Google Shape;1018;p21"/>
            <p:cNvPicPr preferRelativeResize="0"/>
            <p:nvPr/>
          </p:nvPicPr>
          <p:blipFill rotWithShape="1">
            <a:blip r:embed="rId6">
              <a:alphaModFix/>
            </a:blip>
            <a:srcRect b="0" l="0" r="0" t="0"/>
            <a:stretch/>
          </p:blipFill>
          <p:spPr>
            <a:xfrm>
              <a:off x="6177470" y="4635246"/>
              <a:ext cx="3548007" cy="857250"/>
            </a:xfrm>
            <a:prstGeom prst="rect">
              <a:avLst/>
            </a:prstGeom>
            <a:noFill/>
            <a:ln>
              <a:noFill/>
            </a:ln>
          </p:spPr>
        </p:pic>
        <p:sp>
          <p:nvSpPr>
            <p:cNvPr id="1019" name="Google Shape;1019;p21"/>
            <p:cNvSpPr/>
            <p:nvPr/>
          </p:nvSpPr>
          <p:spPr>
            <a:xfrm>
              <a:off x="6130163" y="4635258"/>
              <a:ext cx="3655695" cy="857250"/>
            </a:xfrm>
            <a:custGeom>
              <a:rect b="b" l="l" r="r" t="t"/>
              <a:pathLst>
                <a:path extrusionOk="0" h="857250" w="3655695">
                  <a:moveTo>
                    <a:pt x="9144" y="0"/>
                  </a:moveTo>
                  <a:lnTo>
                    <a:pt x="0" y="0"/>
                  </a:lnTo>
                  <a:lnTo>
                    <a:pt x="0" y="857250"/>
                  </a:lnTo>
                  <a:lnTo>
                    <a:pt x="9144" y="857250"/>
                  </a:lnTo>
                  <a:lnTo>
                    <a:pt x="9144" y="0"/>
                  </a:lnTo>
                  <a:close/>
                </a:path>
                <a:path extrusionOk="0" h="857250" w="3655695">
                  <a:moveTo>
                    <a:pt x="3655326" y="0"/>
                  </a:moveTo>
                  <a:lnTo>
                    <a:pt x="3646182" y="0"/>
                  </a:lnTo>
                  <a:lnTo>
                    <a:pt x="3646182" y="857250"/>
                  </a:lnTo>
                  <a:lnTo>
                    <a:pt x="3655326" y="857250"/>
                  </a:lnTo>
                  <a:lnTo>
                    <a:pt x="365532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20" name="Google Shape;1020;p21"/>
            <p:cNvPicPr preferRelativeResize="0"/>
            <p:nvPr/>
          </p:nvPicPr>
          <p:blipFill rotWithShape="1">
            <a:blip r:embed="rId7">
              <a:alphaModFix/>
            </a:blip>
            <a:srcRect b="0" l="0" r="0" t="0"/>
            <a:stretch/>
          </p:blipFill>
          <p:spPr>
            <a:xfrm>
              <a:off x="1246154" y="5492496"/>
              <a:ext cx="4733068" cy="640080"/>
            </a:xfrm>
            <a:prstGeom prst="rect">
              <a:avLst/>
            </a:prstGeom>
            <a:noFill/>
            <a:ln>
              <a:noFill/>
            </a:ln>
          </p:spPr>
        </p:pic>
        <p:sp>
          <p:nvSpPr>
            <p:cNvPr id="1021" name="Google Shape;1021;p21"/>
            <p:cNvSpPr/>
            <p:nvPr/>
          </p:nvSpPr>
          <p:spPr>
            <a:xfrm>
              <a:off x="1007249" y="5492496"/>
              <a:ext cx="4997450" cy="650240"/>
            </a:xfrm>
            <a:custGeom>
              <a:rect b="b" l="l" r="r" t="t"/>
              <a:pathLst>
                <a:path extrusionOk="0" h="650239" w="4997450">
                  <a:moveTo>
                    <a:pt x="9144" y="640080"/>
                  </a:moveTo>
                  <a:lnTo>
                    <a:pt x="9144" y="0"/>
                  </a:lnTo>
                  <a:lnTo>
                    <a:pt x="0" y="0"/>
                  </a:lnTo>
                  <a:lnTo>
                    <a:pt x="0" y="649986"/>
                  </a:lnTo>
                  <a:lnTo>
                    <a:pt x="4572" y="649986"/>
                  </a:lnTo>
                  <a:lnTo>
                    <a:pt x="4572" y="640080"/>
                  </a:lnTo>
                  <a:lnTo>
                    <a:pt x="9144" y="640080"/>
                  </a:lnTo>
                  <a:close/>
                </a:path>
                <a:path extrusionOk="0" h="650239" w="4997450">
                  <a:moveTo>
                    <a:pt x="4992624" y="640079"/>
                  </a:moveTo>
                  <a:lnTo>
                    <a:pt x="4572" y="640080"/>
                  </a:lnTo>
                  <a:lnTo>
                    <a:pt x="9144" y="644652"/>
                  </a:lnTo>
                  <a:lnTo>
                    <a:pt x="9144" y="649986"/>
                  </a:lnTo>
                  <a:lnTo>
                    <a:pt x="4987290" y="649985"/>
                  </a:lnTo>
                  <a:lnTo>
                    <a:pt x="4987290" y="644651"/>
                  </a:lnTo>
                  <a:lnTo>
                    <a:pt x="4992624" y="640079"/>
                  </a:lnTo>
                  <a:close/>
                </a:path>
                <a:path extrusionOk="0" h="650239" w="4997450">
                  <a:moveTo>
                    <a:pt x="9144" y="649986"/>
                  </a:moveTo>
                  <a:lnTo>
                    <a:pt x="9144" y="644652"/>
                  </a:lnTo>
                  <a:lnTo>
                    <a:pt x="4572" y="640080"/>
                  </a:lnTo>
                  <a:lnTo>
                    <a:pt x="4572" y="649986"/>
                  </a:lnTo>
                  <a:lnTo>
                    <a:pt x="9144" y="649986"/>
                  </a:lnTo>
                  <a:close/>
                </a:path>
                <a:path extrusionOk="0" h="650239" w="4997450">
                  <a:moveTo>
                    <a:pt x="4997196" y="649985"/>
                  </a:moveTo>
                  <a:lnTo>
                    <a:pt x="4997196" y="0"/>
                  </a:lnTo>
                  <a:lnTo>
                    <a:pt x="4987290" y="0"/>
                  </a:lnTo>
                  <a:lnTo>
                    <a:pt x="4987290" y="640079"/>
                  </a:lnTo>
                  <a:lnTo>
                    <a:pt x="4992624" y="640079"/>
                  </a:lnTo>
                  <a:lnTo>
                    <a:pt x="4992624" y="649985"/>
                  </a:lnTo>
                  <a:lnTo>
                    <a:pt x="4997196" y="649985"/>
                  </a:lnTo>
                  <a:close/>
                </a:path>
                <a:path extrusionOk="0" h="650239" w="4997450">
                  <a:moveTo>
                    <a:pt x="4992624" y="649985"/>
                  </a:moveTo>
                  <a:lnTo>
                    <a:pt x="4992624" y="640079"/>
                  </a:lnTo>
                  <a:lnTo>
                    <a:pt x="4987290" y="644651"/>
                  </a:lnTo>
                  <a:lnTo>
                    <a:pt x="4987290" y="649985"/>
                  </a:lnTo>
                  <a:lnTo>
                    <a:pt x="4992624" y="64998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22" name="Google Shape;1022;p21"/>
            <p:cNvPicPr preferRelativeResize="0"/>
            <p:nvPr/>
          </p:nvPicPr>
          <p:blipFill rotWithShape="1">
            <a:blip r:embed="rId8">
              <a:alphaModFix/>
            </a:blip>
            <a:srcRect b="0" l="0" r="0" t="0"/>
            <a:stretch/>
          </p:blipFill>
          <p:spPr>
            <a:xfrm>
              <a:off x="6190187" y="5492496"/>
              <a:ext cx="3535291" cy="592997"/>
            </a:xfrm>
            <a:prstGeom prst="rect">
              <a:avLst/>
            </a:prstGeom>
            <a:noFill/>
            <a:ln>
              <a:noFill/>
            </a:ln>
          </p:spPr>
        </p:pic>
        <p:sp>
          <p:nvSpPr>
            <p:cNvPr id="1023" name="Google Shape;1023;p21"/>
            <p:cNvSpPr/>
            <p:nvPr/>
          </p:nvSpPr>
          <p:spPr>
            <a:xfrm>
              <a:off x="6130175" y="5492496"/>
              <a:ext cx="3655695" cy="651510"/>
            </a:xfrm>
            <a:custGeom>
              <a:rect b="b" l="l" r="r" t="t"/>
              <a:pathLst>
                <a:path extrusionOk="0" h="651510" w="3655695">
                  <a:moveTo>
                    <a:pt x="9144" y="641603"/>
                  </a:moveTo>
                  <a:lnTo>
                    <a:pt x="9144" y="0"/>
                  </a:lnTo>
                  <a:lnTo>
                    <a:pt x="0" y="0"/>
                  </a:lnTo>
                  <a:lnTo>
                    <a:pt x="0" y="651509"/>
                  </a:lnTo>
                  <a:lnTo>
                    <a:pt x="4572" y="651509"/>
                  </a:lnTo>
                  <a:lnTo>
                    <a:pt x="4572" y="641603"/>
                  </a:lnTo>
                  <a:lnTo>
                    <a:pt x="9144" y="641603"/>
                  </a:lnTo>
                  <a:close/>
                </a:path>
                <a:path extrusionOk="0" h="651510" w="3655695">
                  <a:moveTo>
                    <a:pt x="3650741" y="641603"/>
                  </a:moveTo>
                  <a:lnTo>
                    <a:pt x="4572" y="641603"/>
                  </a:lnTo>
                  <a:lnTo>
                    <a:pt x="9144" y="646176"/>
                  </a:lnTo>
                  <a:lnTo>
                    <a:pt x="9144" y="651509"/>
                  </a:lnTo>
                  <a:lnTo>
                    <a:pt x="3646170" y="651509"/>
                  </a:lnTo>
                  <a:lnTo>
                    <a:pt x="3646170" y="646176"/>
                  </a:lnTo>
                  <a:lnTo>
                    <a:pt x="3650741" y="641603"/>
                  </a:lnTo>
                  <a:close/>
                </a:path>
                <a:path extrusionOk="0" h="651510" w="3655695">
                  <a:moveTo>
                    <a:pt x="9144" y="651509"/>
                  </a:moveTo>
                  <a:lnTo>
                    <a:pt x="9144" y="646176"/>
                  </a:lnTo>
                  <a:lnTo>
                    <a:pt x="4572" y="641603"/>
                  </a:lnTo>
                  <a:lnTo>
                    <a:pt x="4572" y="651509"/>
                  </a:lnTo>
                  <a:lnTo>
                    <a:pt x="9144" y="651509"/>
                  </a:lnTo>
                  <a:close/>
                </a:path>
                <a:path extrusionOk="0" h="651510" w="3655695">
                  <a:moveTo>
                    <a:pt x="3655314" y="651509"/>
                  </a:moveTo>
                  <a:lnTo>
                    <a:pt x="3655314" y="0"/>
                  </a:lnTo>
                  <a:lnTo>
                    <a:pt x="3646170" y="0"/>
                  </a:lnTo>
                  <a:lnTo>
                    <a:pt x="3646170" y="641603"/>
                  </a:lnTo>
                  <a:lnTo>
                    <a:pt x="3650741" y="641603"/>
                  </a:lnTo>
                  <a:lnTo>
                    <a:pt x="3650741" y="651509"/>
                  </a:lnTo>
                  <a:lnTo>
                    <a:pt x="3655314" y="651509"/>
                  </a:lnTo>
                  <a:close/>
                </a:path>
                <a:path extrusionOk="0" h="651510" w="3655695">
                  <a:moveTo>
                    <a:pt x="3650741" y="651509"/>
                  </a:moveTo>
                  <a:lnTo>
                    <a:pt x="3650741" y="641603"/>
                  </a:lnTo>
                  <a:lnTo>
                    <a:pt x="3646170" y="646176"/>
                  </a:lnTo>
                  <a:lnTo>
                    <a:pt x="3646170" y="651509"/>
                  </a:lnTo>
                  <a:lnTo>
                    <a:pt x="3650741" y="65150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24" name="Google Shape;1024;p21"/>
          <p:cNvSpPr txBox="1"/>
          <p:nvPr/>
        </p:nvSpPr>
        <p:spPr>
          <a:xfrm>
            <a:off x="2071253" y="4303091"/>
            <a:ext cx="2444350"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000"/>
                </a:solidFill>
                <a:latin typeface="Arial"/>
                <a:ea typeface="Arial"/>
                <a:cs typeface="Arial"/>
                <a:sym typeface="Arial"/>
              </a:rPr>
              <a:t>Ejemplo de un sistema cliente-servidor actual</a:t>
            </a:r>
            <a:endParaRPr b="0" i="0" sz="952" u="none" cap="none" strike="noStrike">
              <a:solidFill>
                <a:srgbClr val="000000"/>
              </a:solidFill>
              <a:latin typeface="Arial"/>
              <a:ea typeface="Arial"/>
              <a:cs typeface="Arial"/>
              <a:sym typeface="Arial"/>
            </a:endParaRPr>
          </a:p>
        </p:txBody>
      </p:sp>
      <p:sp>
        <p:nvSpPr>
          <p:cNvPr id="1025" name="Google Shape;1025;p21"/>
          <p:cNvSpPr txBox="1"/>
          <p:nvPr/>
        </p:nvSpPr>
        <p:spPr>
          <a:xfrm>
            <a:off x="5465680" y="4303091"/>
            <a:ext cx="1819443"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000"/>
                </a:solidFill>
                <a:latin typeface="Arial"/>
                <a:ea typeface="Arial"/>
                <a:cs typeface="Arial"/>
                <a:sym typeface="Arial"/>
              </a:rPr>
              <a:t>Capas de la arquitectura software</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22"/>
          <p:cNvSpPr txBox="1"/>
          <p:nvPr>
            <p:ph idx="4294967295" type="title"/>
          </p:nvPr>
        </p:nvSpPr>
        <p:spPr>
          <a:xfrm>
            <a:off x="457200" y="127837"/>
            <a:ext cx="8548577"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Funcionalidad</a:t>
            </a:r>
            <a:endParaRPr>
              <a:solidFill>
                <a:srgbClr val="FF0000"/>
              </a:solidFill>
            </a:endParaRPr>
          </a:p>
        </p:txBody>
      </p:sp>
      <p:sp>
        <p:nvSpPr>
          <p:cNvPr id="1031" name="Google Shape;1031;p22"/>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32" name="Google Shape;1032;p22"/>
          <p:cNvSpPr txBox="1"/>
          <p:nvPr/>
        </p:nvSpPr>
        <p:spPr>
          <a:xfrm>
            <a:off x="1834937" y="1167241"/>
            <a:ext cx="2205529" cy="217573"/>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UCP (</a:t>
            </a:r>
            <a:r>
              <a:rPr b="1" i="1" lang="en-US" sz="1360" u="none" cap="none" strike="noStrike">
                <a:solidFill>
                  <a:srgbClr val="CB132D"/>
                </a:solidFill>
                <a:latin typeface="Arial"/>
                <a:ea typeface="Arial"/>
                <a:cs typeface="Arial"/>
                <a:sym typeface="Arial"/>
              </a:rPr>
              <a:t>Use Case Points</a:t>
            </a:r>
            <a:r>
              <a:rPr b="1" i="0" lang="en-US" sz="1360" u="none" cap="none" strike="noStrike">
                <a:solidFill>
                  <a:srgbClr val="CB132D"/>
                </a:solidFill>
                <a:latin typeface="Arial"/>
                <a:ea typeface="Arial"/>
                <a:cs typeface="Arial"/>
                <a:sym typeface="Arial"/>
              </a:rPr>
              <a:t>) (III)</a:t>
            </a:r>
            <a:endParaRPr b="0" i="0" sz="1360" u="none" cap="none" strike="noStrike">
              <a:solidFill>
                <a:srgbClr val="000000"/>
              </a:solidFill>
              <a:latin typeface="Arial"/>
              <a:ea typeface="Arial"/>
              <a:cs typeface="Arial"/>
              <a:sym typeface="Arial"/>
            </a:endParaRPr>
          </a:p>
        </p:txBody>
      </p:sp>
      <p:sp>
        <p:nvSpPr>
          <p:cNvPr id="1033" name="Google Shape;1033;p22"/>
          <p:cNvSpPr/>
          <p:nvPr/>
        </p:nvSpPr>
        <p:spPr>
          <a:xfrm>
            <a:off x="1462674" y="1985883"/>
            <a:ext cx="6218841" cy="58387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aphicFrame>
        <p:nvGraphicFramePr>
          <p:cNvPr id="1034" name="Google Shape;1034;p22"/>
          <p:cNvGraphicFramePr/>
          <p:nvPr/>
        </p:nvGraphicFramePr>
        <p:xfrm>
          <a:off x="1839950" y="1558856"/>
          <a:ext cx="3000000" cy="3000000"/>
        </p:xfrm>
        <a:graphic>
          <a:graphicData uri="http://schemas.openxmlformats.org/drawingml/2006/table">
            <a:tbl>
              <a:tblPr bandRow="1" firstRow="1">
                <a:noFill/>
                <a:tableStyleId>{FF63AD9A-016F-4C48-BA4E-4A51AB7C9AD3}</a:tableStyleId>
              </a:tblPr>
              <a:tblGrid>
                <a:gridCol w="196075"/>
                <a:gridCol w="1726600"/>
                <a:gridCol w="196500"/>
                <a:gridCol w="1302500"/>
                <a:gridCol w="2128225"/>
              </a:tblGrid>
              <a:tr h="216375">
                <a:tc gridSpan="5">
                  <a:txBody>
                    <a:bodyPr/>
                    <a:lstStyle/>
                    <a:p>
                      <a:pPr indent="0" lvl="0" marL="0" marR="0" rtl="0" algn="ctr">
                        <a:lnSpc>
                          <a:spcPct val="100000"/>
                        </a:lnSpc>
                        <a:spcBef>
                          <a:spcPts val="0"/>
                        </a:spcBef>
                        <a:spcAft>
                          <a:spcPts val="0"/>
                        </a:spcAft>
                        <a:buNone/>
                      </a:pPr>
                      <a:r>
                        <a:rPr b="1" lang="en-US" sz="1000" u="none" cap="none" strike="noStrike">
                          <a:solidFill>
                            <a:srgbClr val="33339A"/>
                          </a:solidFill>
                          <a:latin typeface="Arial"/>
                          <a:ea typeface="Arial"/>
                          <a:cs typeface="Arial"/>
                          <a:sym typeface="Arial"/>
                        </a:rPr>
                        <a:t>Factores de complejidad técnica</a:t>
                      </a:r>
                      <a:endParaRPr sz="1000" u="none" cap="none" strike="noStrike">
                        <a:latin typeface="Arial"/>
                        <a:ea typeface="Arial"/>
                        <a:cs typeface="Arial"/>
                        <a:sym typeface="Arial"/>
                      </a:endParaRPr>
                    </a:p>
                  </a:txBody>
                  <a:tcPr marT="24175" marB="0" marR="0" marL="0">
                    <a:lnB cap="flat" cmpd="sng" w="38100">
                      <a:solidFill>
                        <a:srgbClr val="FFFFFF"/>
                      </a:solidFill>
                      <a:prstDash val="solid"/>
                      <a:round/>
                      <a:headEnd len="sm" w="sm" type="none"/>
                      <a:tailEnd len="sm" w="sm" type="none"/>
                    </a:lnB>
                    <a:solidFill>
                      <a:srgbClr val="CCCCCC"/>
                    </a:solidFill>
                  </a:tcPr>
                </a:tc>
                <a:tc hMerge="1"/>
                <a:tc hMerge="1"/>
                <a:tc hMerge="1"/>
                <a:tc hMerge="1"/>
              </a:tr>
              <a:tr h="228025">
                <a:tc gridSpan="2">
                  <a:txBody>
                    <a:bodyPr/>
                    <a:lstStyle/>
                    <a:p>
                      <a:pPr indent="0" lvl="0" marL="8191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1  </a:t>
                      </a:r>
                      <a:r>
                        <a:rPr lang="en-US" sz="900" u="none" cap="none" strike="noStrike">
                          <a:solidFill>
                            <a:srgbClr val="000080"/>
                          </a:solidFill>
                          <a:latin typeface="Arial"/>
                          <a:ea typeface="Arial"/>
                          <a:cs typeface="Arial"/>
                          <a:sym typeface="Arial"/>
                        </a:rPr>
                        <a:t>Sistemas distribuidos</a:t>
                      </a:r>
                      <a:endParaRPr sz="900" u="none" cap="none" strike="noStrike">
                        <a:latin typeface="Arial"/>
                        <a:ea typeface="Arial"/>
                        <a:cs typeface="Arial"/>
                        <a:sym typeface="Arial"/>
                      </a:endParaRPr>
                    </a:p>
                  </a:txBody>
                  <a:tcPr marT="3972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hMerge="1"/>
                <a:tc gridSpan="2">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6 </a:t>
                      </a:r>
                      <a:r>
                        <a:rPr lang="en-US" sz="900" u="none" cap="none" strike="noStrike">
                          <a:solidFill>
                            <a:srgbClr val="000080"/>
                          </a:solidFill>
                          <a:latin typeface="Arial"/>
                          <a:ea typeface="Arial"/>
                          <a:cs typeface="Arial"/>
                          <a:sym typeface="Arial"/>
                        </a:rPr>
                        <a:t>Facilidad de instalación</a:t>
                      </a:r>
                      <a:endParaRPr sz="900" u="none" cap="none" strike="noStrike">
                        <a:latin typeface="Arial"/>
                        <a:ea typeface="Arial"/>
                        <a:cs typeface="Arial"/>
                        <a:sym typeface="Arial"/>
                      </a:endParaRPr>
                    </a:p>
                  </a:txBody>
                  <a:tcPr marT="39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hMerge="1"/>
                <a:tc rowSpan="2">
                  <a:txBody>
                    <a:bodyPr/>
                    <a:lstStyle/>
                    <a:p>
                      <a:pPr indent="-350520" lvl="0" marL="433070" marR="582930" rtl="0" algn="l">
                        <a:lnSpc>
                          <a:spcPct val="167777"/>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11 </a:t>
                      </a:r>
                      <a:r>
                        <a:rPr lang="en-US" sz="900" u="none" cap="none" strike="noStrike">
                          <a:solidFill>
                            <a:srgbClr val="000080"/>
                          </a:solidFill>
                          <a:latin typeface="Arial"/>
                          <a:ea typeface="Arial"/>
                          <a:cs typeface="Arial"/>
                          <a:sym typeface="Arial"/>
                        </a:rPr>
                        <a:t>Características especiales de seguridad</a:t>
                      </a:r>
                      <a:endParaRPr sz="900" u="none" cap="none" strike="noStrike">
                        <a:latin typeface="Arial"/>
                        <a:ea typeface="Arial"/>
                        <a:cs typeface="Arial"/>
                        <a:sym typeface="Arial"/>
                      </a:endParaRPr>
                    </a:p>
                  </a:txBody>
                  <a:tcPr marT="85950"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r>
              <a:tr h="215925">
                <a:tc>
                  <a:txBody>
                    <a:bodyPr/>
                    <a:lstStyle/>
                    <a:p>
                      <a:pPr indent="0" lvl="0" marL="34290" marR="0" rtl="0" algn="ctr">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2</a:t>
                      </a:r>
                      <a:endParaRPr baseline="-25000" sz="800" u="none" cap="none" strike="noStrike">
                        <a:latin typeface="Arial"/>
                        <a:ea typeface="Arial"/>
                        <a:cs typeface="Arial"/>
                        <a:sym typeface="Arial"/>
                      </a:endParaRPr>
                    </a:p>
                  </a:txBody>
                  <a:tcPr marT="38875" marB="0" marR="0" marL="0">
                    <a:lnT cap="flat" cmpd="sng" w="38100">
                      <a:solidFill>
                        <a:srgbClr val="FFFFFF"/>
                      </a:solidFill>
                      <a:prstDash val="solid"/>
                      <a:round/>
                      <a:headEnd len="sm" w="sm" type="none"/>
                      <a:tailEnd len="sm" w="sm" type="none"/>
                    </a:lnT>
                    <a:solidFill>
                      <a:srgbClr val="D9D9D9"/>
                    </a:solidFill>
                  </a:tcPr>
                </a:tc>
                <a:tc>
                  <a:txBody>
                    <a:bodyPr/>
                    <a:lstStyle/>
                    <a:p>
                      <a:pPr indent="0" lvl="0" marL="4699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Rendimiento</a:t>
                      </a:r>
                      <a:endParaRPr sz="900" u="none" cap="none" strike="noStrike">
                        <a:latin typeface="Arial"/>
                        <a:ea typeface="Arial"/>
                        <a:cs typeface="Arial"/>
                        <a:sym typeface="Arial"/>
                      </a:endParaRPr>
                    </a:p>
                  </a:txBody>
                  <a:tcPr marT="3887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D9D9D9"/>
                    </a:solidFill>
                  </a:tcPr>
                </a:tc>
                <a:tc>
                  <a:txBody>
                    <a:bodyPr/>
                    <a:lstStyle/>
                    <a:p>
                      <a:pPr indent="0" lvl="0" marL="35560" marR="0" rtl="0" algn="ctr">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7</a:t>
                      </a:r>
                      <a:endParaRPr baseline="-25000" sz="800" u="none" cap="none" strike="noStrike">
                        <a:latin typeface="Arial"/>
                        <a:ea typeface="Arial"/>
                        <a:cs typeface="Arial"/>
                        <a:sym typeface="Arial"/>
                      </a:endParaRPr>
                    </a:p>
                  </a:txBody>
                  <a:tcPr marT="38875"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solidFill>
                      <a:srgbClr val="D9D9D9"/>
                    </a:solidFill>
                  </a:tcPr>
                </a:tc>
                <a:tc>
                  <a:txBody>
                    <a:bodyPr/>
                    <a:lstStyle/>
                    <a:p>
                      <a:pPr indent="0" lvl="0" marL="46355"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Facilidad de uso</a:t>
                      </a:r>
                      <a:endParaRPr sz="900" u="none" cap="none" strike="noStrike">
                        <a:latin typeface="Arial"/>
                        <a:ea typeface="Arial"/>
                        <a:cs typeface="Arial"/>
                        <a:sym typeface="Arial"/>
                      </a:endParaRPr>
                    </a:p>
                  </a:txBody>
                  <a:tcPr marT="3887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D9D9D9"/>
                    </a:solidFill>
                  </a:tcPr>
                </a:tc>
                <a:tc vMerge="1"/>
              </a:tr>
              <a:tr h="238400">
                <a:tc gridSpan="2">
                  <a:txBody>
                    <a:bodyPr/>
                    <a:lstStyle/>
                    <a:p>
                      <a:pPr indent="0" lvl="0" marL="8191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3  </a:t>
                      </a:r>
                      <a:r>
                        <a:rPr lang="en-US" sz="900" u="none" cap="none" strike="noStrike">
                          <a:solidFill>
                            <a:srgbClr val="000080"/>
                          </a:solidFill>
                          <a:latin typeface="Arial"/>
                          <a:ea typeface="Arial"/>
                          <a:cs typeface="Arial"/>
                          <a:sym typeface="Arial"/>
                        </a:rPr>
                        <a:t>Eficiencia del usuario final</a:t>
                      </a:r>
                      <a:endParaRPr sz="900" u="none" cap="none" strike="noStrike">
                        <a:latin typeface="Arial"/>
                        <a:ea typeface="Arial"/>
                        <a:cs typeface="Arial"/>
                        <a:sym typeface="Arial"/>
                      </a:endParaRPr>
                    </a:p>
                  </a:txBody>
                  <a:tcPr marT="51400" marB="0" marR="0" marL="0">
                    <a:lnR cap="flat" cmpd="sng" w="38100">
                      <a:solidFill>
                        <a:srgbClr val="FFFFFF"/>
                      </a:solidFill>
                      <a:prstDash val="solid"/>
                      <a:round/>
                      <a:headEnd len="sm" w="sm" type="none"/>
                      <a:tailEnd len="sm" w="sm" type="none"/>
                    </a:lnR>
                    <a:lnB cap="flat" cmpd="sng" w="38100">
                      <a:solidFill>
                        <a:srgbClr val="FFFFFF"/>
                      </a:solidFill>
                      <a:prstDash val="solid"/>
                      <a:round/>
                      <a:headEnd len="sm" w="sm" type="none"/>
                      <a:tailEnd len="sm" w="sm" type="none"/>
                    </a:lnB>
                    <a:solidFill>
                      <a:srgbClr val="D9D9D9"/>
                    </a:solidFill>
                  </a:tcPr>
                </a:tc>
                <a:tc hMerge="1"/>
                <a:tc>
                  <a:txBody>
                    <a:bodyPr/>
                    <a:lstStyle/>
                    <a:p>
                      <a:pPr indent="0" lvl="0" marL="35560" marR="0" rtl="0" algn="ctr">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8</a:t>
                      </a:r>
                      <a:endParaRPr baseline="-25000" sz="800" u="none" cap="none" strike="noStrike">
                        <a:latin typeface="Arial"/>
                        <a:ea typeface="Arial"/>
                        <a:cs typeface="Arial"/>
                        <a:sym typeface="Arial"/>
                      </a:endParaRPr>
                    </a:p>
                  </a:txBody>
                  <a:tcPr marT="51400" marB="0" marR="0" marL="0">
                    <a:lnL cap="flat" cmpd="sng" w="38100">
                      <a:solidFill>
                        <a:srgbClr val="FFFFFF"/>
                      </a:solidFill>
                      <a:prstDash val="solid"/>
                      <a:round/>
                      <a:headEnd len="sm" w="sm" type="none"/>
                      <a:tailEnd len="sm" w="sm" type="none"/>
                    </a:lnL>
                    <a:lnB cap="flat" cmpd="sng" w="38100">
                      <a:solidFill>
                        <a:srgbClr val="FFFFFF"/>
                      </a:solidFill>
                      <a:prstDash val="solid"/>
                      <a:round/>
                      <a:headEnd len="sm" w="sm" type="none"/>
                      <a:tailEnd len="sm" w="sm" type="none"/>
                    </a:lnB>
                    <a:solidFill>
                      <a:srgbClr val="D9D9D9"/>
                    </a:solidFill>
                  </a:tcPr>
                </a:tc>
                <a:tc>
                  <a:txBody>
                    <a:bodyPr/>
                    <a:lstStyle/>
                    <a:p>
                      <a:pPr indent="0" lvl="0" marL="4699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Portabilidad</a:t>
                      </a:r>
                      <a:endParaRPr sz="900" u="none" cap="none" strike="noStrike">
                        <a:latin typeface="Arial"/>
                        <a:ea typeface="Arial"/>
                        <a:cs typeface="Arial"/>
                        <a:sym typeface="Arial"/>
                      </a:endParaRPr>
                    </a:p>
                  </a:txBody>
                  <a:tcPr marT="51400" marB="0" marR="0" marL="0">
                    <a:lnR cap="flat" cmpd="sng" w="38100">
                      <a:solidFill>
                        <a:srgbClr val="FFFFFF"/>
                      </a:solidFill>
                      <a:prstDash val="solid"/>
                      <a:round/>
                      <a:headEnd len="sm" w="sm" type="none"/>
                      <a:tailEnd len="sm" w="sm" type="none"/>
                    </a:lnR>
                    <a:lnB cap="flat" cmpd="sng" w="38100">
                      <a:solidFill>
                        <a:srgbClr val="FFFFFF"/>
                      </a:solidFill>
                      <a:prstDash val="solid"/>
                      <a:round/>
                      <a:headEnd len="sm" w="sm" type="none"/>
                      <a:tailEnd len="sm" w="sm" type="none"/>
                    </a:lnB>
                    <a:solidFill>
                      <a:srgbClr val="D9D9D9"/>
                    </a:solidFill>
                  </a:tcPr>
                </a:tc>
                <a:tc>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12 </a:t>
                      </a:r>
                      <a:r>
                        <a:rPr lang="en-US" sz="900" u="none" cap="none" strike="noStrike">
                          <a:solidFill>
                            <a:srgbClr val="000080"/>
                          </a:solidFill>
                          <a:latin typeface="Arial"/>
                          <a:ea typeface="Arial"/>
                          <a:cs typeface="Arial"/>
                          <a:sym typeface="Arial"/>
                        </a:rPr>
                        <a:t>Acceso directo a terceras partes</a:t>
                      </a:r>
                      <a:endParaRPr sz="900" u="none" cap="none" strike="noStrike">
                        <a:latin typeface="Arial"/>
                        <a:ea typeface="Arial"/>
                        <a:cs typeface="Arial"/>
                        <a:sym typeface="Arial"/>
                      </a:endParaRPr>
                    </a:p>
                  </a:txBody>
                  <a:tcPr marT="51400" marB="0" marR="0" marL="0">
                    <a:lnL cap="flat" cmpd="sng" w="38100">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r h="228025">
                <a:tc gridSpan="2">
                  <a:txBody>
                    <a:bodyPr/>
                    <a:lstStyle/>
                    <a:p>
                      <a:pPr indent="0" lvl="0" marL="8191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4  </a:t>
                      </a:r>
                      <a:r>
                        <a:rPr lang="en-US" sz="900" u="none" cap="none" strike="noStrike">
                          <a:solidFill>
                            <a:srgbClr val="000080"/>
                          </a:solidFill>
                          <a:latin typeface="Arial"/>
                          <a:ea typeface="Arial"/>
                          <a:cs typeface="Arial"/>
                          <a:sym typeface="Arial"/>
                        </a:rPr>
                        <a:t>Procesamiento interno complejo</a:t>
                      </a:r>
                      <a:endParaRPr sz="900" u="none" cap="none" strike="noStrike">
                        <a:latin typeface="Arial"/>
                        <a:ea typeface="Arial"/>
                        <a:cs typeface="Arial"/>
                        <a:sym typeface="Arial"/>
                      </a:endParaRPr>
                    </a:p>
                  </a:txBody>
                  <a:tcPr marT="3972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hMerge="1"/>
                <a:tc>
                  <a:txBody>
                    <a:bodyPr/>
                    <a:lstStyle/>
                    <a:p>
                      <a:pPr indent="0" lvl="0" marL="35560" marR="0" rtl="0" algn="ctr">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9</a:t>
                      </a:r>
                      <a:endParaRPr baseline="-25000" sz="800" u="none" cap="none" strike="noStrike">
                        <a:latin typeface="Arial"/>
                        <a:ea typeface="Arial"/>
                        <a:cs typeface="Arial"/>
                        <a:sym typeface="Arial"/>
                      </a:endParaRPr>
                    </a:p>
                  </a:txBody>
                  <a:tcPr marT="39725"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4699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Facilidad de cambio</a:t>
                      </a:r>
                      <a:endParaRPr sz="900" u="none" cap="none" strike="noStrike">
                        <a:latin typeface="Arial"/>
                        <a:ea typeface="Arial"/>
                        <a:cs typeface="Arial"/>
                        <a:sym typeface="Arial"/>
                      </a:endParaRPr>
                    </a:p>
                  </a:txBody>
                  <a:tcPr marT="3972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rowSpan="2">
                  <a:txBody>
                    <a:bodyPr/>
                    <a:lstStyle/>
                    <a:p>
                      <a:pPr indent="0" lvl="0" marL="82550" marR="124460" rtl="0" algn="l">
                        <a:lnSpc>
                          <a:spcPct val="168888"/>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13 </a:t>
                      </a:r>
                      <a:r>
                        <a:rPr lang="en-US" sz="900" u="none" cap="none" strike="noStrike">
                          <a:solidFill>
                            <a:srgbClr val="000080"/>
                          </a:solidFill>
                          <a:latin typeface="Arial"/>
                          <a:ea typeface="Arial"/>
                          <a:cs typeface="Arial"/>
                          <a:sym typeface="Arial"/>
                        </a:rPr>
                        <a:t>Se requiere entrenamiento especial del usuario</a:t>
                      </a:r>
                      <a:endParaRPr sz="900" u="none" cap="none" strike="noStrike">
                        <a:latin typeface="Arial"/>
                        <a:ea typeface="Arial"/>
                        <a:cs typeface="Arial"/>
                        <a:sym typeface="Arial"/>
                      </a:endParaRPr>
                    </a:p>
                  </a:txBody>
                  <a:tcPr marT="85500"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solidFill>
                      <a:srgbClr val="D9D9D9"/>
                    </a:solidFill>
                  </a:tcPr>
                </a:tc>
              </a:tr>
              <a:tr h="215925">
                <a:tc>
                  <a:txBody>
                    <a:bodyPr/>
                    <a:lstStyle/>
                    <a:p>
                      <a:pPr indent="0" lvl="0" marL="34290" marR="0" rtl="0" algn="ctr">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5</a:t>
                      </a:r>
                      <a:endParaRPr baseline="-25000" sz="800" u="none" cap="none" strike="noStrike">
                        <a:latin typeface="Arial"/>
                        <a:ea typeface="Arial"/>
                        <a:cs typeface="Arial"/>
                        <a:sym typeface="Arial"/>
                      </a:endParaRPr>
                    </a:p>
                  </a:txBody>
                  <a:tcPr marT="39725" marB="0" marR="0" marL="0">
                    <a:lnT cap="flat" cmpd="sng" w="38100">
                      <a:solidFill>
                        <a:srgbClr val="FFFFFF"/>
                      </a:solidFill>
                      <a:prstDash val="solid"/>
                      <a:round/>
                      <a:headEnd len="sm" w="sm" type="none"/>
                      <a:tailEnd len="sm" w="sm" type="none"/>
                    </a:lnT>
                    <a:solidFill>
                      <a:srgbClr val="D9D9D9"/>
                    </a:solidFill>
                  </a:tcPr>
                </a:tc>
                <a:tc>
                  <a:txBody>
                    <a:bodyPr/>
                    <a:lstStyle/>
                    <a:p>
                      <a:pPr indent="0" lvl="0" marL="4699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Reusabilidad</a:t>
                      </a:r>
                      <a:endParaRPr sz="900" u="none" cap="none" strike="noStrike">
                        <a:latin typeface="Arial"/>
                        <a:ea typeface="Arial"/>
                        <a:cs typeface="Arial"/>
                        <a:sym typeface="Arial"/>
                      </a:endParaRPr>
                    </a:p>
                  </a:txBody>
                  <a:tcPr marT="3972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D9D9D9"/>
                    </a:solidFill>
                  </a:tcPr>
                </a:tc>
                <a:tc gridSpan="2">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T</a:t>
                      </a:r>
                      <a:r>
                        <a:rPr b="1" baseline="-25000" lang="en-US" sz="800" u="none" cap="none" strike="noStrike">
                          <a:solidFill>
                            <a:srgbClr val="000080"/>
                          </a:solidFill>
                          <a:latin typeface="Arial"/>
                          <a:ea typeface="Arial"/>
                          <a:cs typeface="Arial"/>
                          <a:sym typeface="Arial"/>
                        </a:rPr>
                        <a:t>10  </a:t>
                      </a:r>
                      <a:r>
                        <a:rPr lang="en-US" sz="900" u="none" cap="none" strike="noStrike">
                          <a:solidFill>
                            <a:srgbClr val="000080"/>
                          </a:solidFill>
                          <a:latin typeface="Arial"/>
                          <a:ea typeface="Arial"/>
                          <a:cs typeface="Arial"/>
                          <a:sym typeface="Arial"/>
                        </a:rPr>
                        <a:t>Concurrencia</a:t>
                      </a:r>
                      <a:endParaRPr sz="900" u="none" cap="none" strike="noStrike">
                        <a:latin typeface="Arial"/>
                        <a:ea typeface="Arial"/>
                        <a:cs typeface="Arial"/>
                        <a:sym typeface="Arial"/>
                      </a:endParaRPr>
                    </a:p>
                  </a:txBody>
                  <a:tcPr marT="3972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D9D9D9"/>
                    </a:solidFill>
                  </a:tcPr>
                </a:tc>
                <a:tc hMerge="1"/>
                <a:tc vMerge="1"/>
              </a:tr>
            </a:tbl>
          </a:graphicData>
        </a:graphic>
      </p:graphicFrame>
      <p:sp>
        <p:nvSpPr>
          <p:cNvPr id="1035" name="Google Shape;1035;p22"/>
          <p:cNvSpPr/>
          <p:nvPr/>
        </p:nvSpPr>
        <p:spPr>
          <a:xfrm>
            <a:off x="1839432" y="2219608"/>
            <a:ext cx="1912294" cy="0"/>
          </a:xfrm>
          <a:custGeom>
            <a:rect b="b" l="l" r="r" t="t"/>
            <a:pathLst>
              <a:path extrusionOk="0" h="120000" w="2811779">
                <a:moveTo>
                  <a:pt x="0" y="0"/>
                </a:moveTo>
                <a:lnTo>
                  <a:pt x="2811780"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36" name="Google Shape;1036;p22"/>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aphicFrame>
        <p:nvGraphicFramePr>
          <p:cNvPr id="1037" name="Google Shape;1037;p22"/>
          <p:cNvGraphicFramePr/>
          <p:nvPr/>
        </p:nvGraphicFramePr>
        <p:xfrm>
          <a:off x="2399128" y="3164353"/>
          <a:ext cx="3000000" cy="3000000"/>
        </p:xfrm>
        <a:graphic>
          <a:graphicData uri="http://schemas.openxmlformats.org/drawingml/2006/table">
            <a:tbl>
              <a:tblPr bandRow="1" firstRow="1">
                <a:noFill/>
                <a:tableStyleId>{FF63AD9A-016F-4C48-BA4E-4A51AB7C9AD3}</a:tableStyleId>
              </a:tblPr>
              <a:tblGrid>
                <a:gridCol w="1928700"/>
                <a:gridCol w="2304850"/>
              </a:tblGrid>
              <a:tr h="218950">
                <a:tc gridSpan="2">
                  <a:txBody>
                    <a:bodyPr/>
                    <a:lstStyle/>
                    <a:p>
                      <a:pPr indent="0" lvl="0" marL="0" marR="0" rtl="0" algn="ctr">
                        <a:lnSpc>
                          <a:spcPct val="100000"/>
                        </a:lnSpc>
                        <a:spcBef>
                          <a:spcPts val="0"/>
                        </a:spcBef>
                        <a:spcAft>
                          <a:spcPts val="0"/>
                        </a:spcAft>
                        <a:buNone/>
                      </a:pPr>
                      <a:r>
                        <a:rPr b="1" lang="en-US" sz="1000" u="none" cap="none" strike="noStrike">
                          <a:solidFill>
                            <a:srgbClr val="33339A"/>
                          </a:solidFill>
                          <a:latin typeface="Arial"/>
                          <a:ea typeface="Arial"/>
                          <a:cs typeface="Arial"/>
                          <a:sym typeface="Arial"/>
                        </a:rPr>
                        <a:t>Factores de complejidad del entorno</a:t>
                      </a:r>
                      <a:endParaRPr sz="1000" u="none" cap="none" strike="noStrike">
                        <a:latin typeface="Arial"/>
                        <a:ea typeface="Arial"/>
                        <a:cs typeface="Arial"/>
                        <a:sym typeface="Arial"/>
                      </a:endParaRPr>
                    </a:p>
                  </a:txBody>
                  <a:tcPr marT="21150" marB="0" marR="0" marL="0">
                    <a:lnB cap="flat" cmpd="sng" w="38100">
                      <a:solidFill>
                        <a:srgbClr val="FFFFFF"/>
                      </a:solidFill>
                      <a:prstDash val="solid"/>
                      <a:round/>
                      <a:headEnd len="sm" w="sm" type="none"/>
                      <a:tailEnd len="sm" w="sm" type="none"/>
                    </a:lnB>
                    <a:solidFill>
                      <a:srgbClr val="CCCCCC"/>
                    </a:solidFill>
                  </a:tcPr>
                </a:tc>
                <a:tc hMerge="1"/>
              </a:tr>
              <a:tr h="231475">
                <a:tc>
                  <a:txBody>
                    <a:bodyPr/>
                    <a:lstStyle/>
                    <a:p>
                      <a:pPr indent="0" lvl="0" marL="8191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1  </a:t>
                      </a:r>
                      <a:r>
                        <a:rPr lang="en-US" sz="900" u="none" cap="none" strike="noStrike">
                          <a:solidFill>
                            <a:srgbClr val="000080"/>
                          </a:solidFill>
                          <a:latin typeface="Arial"/>
                          <a:ea typeface="Arial"/>
                          <a:cs typeface="Arial"/>
                          <a:sym typeface="Arial"/>
                        </a:rPr>
                        <a:t>Familiaridad con UML</a:t>
                      </a:r>
                      <a:endParaRPr sz="900" u="none" cap="none" strike="noStrike">
                        <a:latin typeface="Arial"/>
                        <a:ea typeface="Arial"/>
                        <a:cs typeface="Arial"/>
                        <a:sym typeface="Arial"/>
                      </a:endParaRPr>
                    </a:p>
                  </a:txBody>
                  <a:tcPr marT="4232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5  </a:t>
                      </a:r>
                      <a:r>
                        <a:rPr lang="en-US" sz="900" u="none" cap="none" strike="noStrike">
                          <a:solidFill>
                            <a:srgbClr val="000080"/>
                          </a:solidFill>
                          <a:latin typeface="Arial"/>
                          <a:ea typeface="Arial"/>
                          <a:cs typeface="Arial"/>
                          <a:sym typeface="Arial"/>
                        </a:rPr>
                        <a:t>Experiencia en orientación a objetos</a:t>
                      </a:r>
                      <a:endParaRPr sz="900" u="none" cap="none" strike="noStrike">
                        <a:latin typeface="Arial"/>
                        <a:ea typeface="Arial"/>
                        <a:cs typeface="Arial"/>
                        <a:sym typeface="Arial"/>
                      </a:endParaRPr>
                    </a:p>
                  </a:txBody>
                  <a:tcPr marT="42325"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r h="229750">
                <a:tc>
                  <a:txBody>
                    <a:bodyPr/>
                    <a:lstStyle/>
                    <a:p>
                      <a:pPr indent="0" lvl="0" marL="8191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2  </a:t>
                      </a:r>
                      <a:r>
                        <a:rPr lang="en-US" sz="900" u="none" cap="none" strike="noStrike">
                          <a:solidFill>
                            <a:srgbClr val="000080"/>
                          </a:solidFill>
                          <a:latin typeface="Arial"/>
                          <a:ea typeface="Arial"/>
                          <a:cs typeface="Arial"/>
                          <a:sym typeface="Arial"/>
                        </a:rPr>
                        <a:t>Trabajadores a tiempo parcial</a:t>
                      </a:r>
                      <a:endParaRPr sz="900" u="none" cap="none" strike="noStrike">
                        <a:latin typeface="Arial"/>
                        <a:ea typeface="Arial"/>
                        <a:cs typeface="Arial"/>
                        <a:sym typeface="Arial"/>
                      </a:endParaRPr>
                    </a:p>
                  </a:txBody>
                  <a:tcPr marT="40600"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c>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6 </a:t>
                      </a:r>
                      <a:r>
                        <a:rPr lang="en-US" sz="900" u="none" cap="none" strike="noStrike">
                          <a:solidFill>
                            <a:srgbClr val="000080"/>
                          </a:solidFill>
                          <a:latin typeface="Arial"/>
                          <a:ea typeface="Arial"/>
                          <a:cs typeface="Arial"/>
                          <a:sym typeface="Arial"/>
                        </a:rPr>
                        <a:t>Motivación</a:t>
                      </a:r>
                      <a:endParaRPr sz="900" u="none" cap="none" strike="noStrike">
                        <a:latin typeface="Arial"/>
                        <a:ea typeface="Arial"/>
                        <a:cs typeface="Arial"/>
                        <a:sym typeface="Arial"/>
                      </a:endParaRPr>
                    </a:p>
                  </a:txBody>
                  <a:tcPr marT="40600"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D9D9D9"/>
                    </a:solidFill>
                  </a:tcPr>
                </a:tc>
              </a:tr>
              <a:tr h="218525">
                <a:tc>
                  <a:txBody>
                    <a:bodyPr/>
                    <a:lstStyle/>
                    <a:p>
                      <a:pPr indent="0" lvl="0" marL="8191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3  </a:t>
                      </a:r>
                      <a:r>
                        <a:rPr lang="en-US" sz="900" u="none" cap="none" strike="noStrike">
                          <a:solidFill>
                            <a:srgbClr val="000080"/>
                          </a:solidFill>
                          <a:latin typeface="Arial"/>
                          <a:ea typeface="Arial"/>
                          <a:cs typeface="Arial"/>
                          <a:sym typeface="Arial"/>
                        </a:rPr>
                        <a:t>Capacidad de los analistas</a:t>
                      </a:r>
                      <a:endParaRPr sz="900" u="none" cap="none" strike="noStrike">
                        <a:latin typeface="Arial"/>
                        <a:ea typeface="Arial"/>
                        <a:cs typeface="Arial"/>
                        <a:sym typeface="Arial"/>
                      </a:endParaRPr>
                    </a:p>
                  </a:txBody>
                  <a:tcPr marT="4232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D9D9D9"/>
                    </a:solidFill>
                  </a:tcPr>
                </a:tc>
                <a:tc>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7  </a:t>
                      </a:r>
                      <a:r>
                        <a:rPr lang="en-US" sz="900" u="none" cap="none" strike="noStrike">
                          <a:solidFill>
                            <a:srgbClr val="000080"/>
                          </a:solidFill>
                          <a:latin typeface="Arial"/>
                          <a:ea typeface="Arial"/>
                          <a:cs typeface="Arial"/>
                          <a:sym typeface="Arial"/>
                        </a:rPr>
                        <a:t>Dificultad del lenguaje de programación</a:t>
                      </a:r>
                      <a:endParaRPr sz="900" u="none" cap="none" strike="noStrike">
                        <a:latin typeface="Arial"/>
                        <a:ea typeface="Arial"/>
                        <a:cs typeface="Arial"/>
                        <a:sym typeface="Arial"/>
                      </a:endParaRPr>
                    </a:p>
                  </a:txBody>
                  <a:tcPr marT="42325"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9D9D9"/>
                    </a:solidFill>
                  </a:tcPr>
                </a:tc>
              </a:tr>
              <a:tr h="231475">
                <a:tc>
                  <a:txBody>
                    <a:bodyPr/>
                    <a:lstStyle/>
                    <a:p>
                      <a:pPr indent="0" lvl="0" marL="81915"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4  </a:t>
                      </a:r>
                      <a:r>
                        <a:rPr lang="en-US" sz="900" u="none" cap="none" strike="noStrike">
                          <a:solidFill>
                            <a:srgbClr val="000080"/>
                          </a:solidFill>
                          <a:latin typeface="Arial"/>
                          <a:ea typeface="Arial"/>
                          <a:cs typeface="Arial"/>
                          <a:sym typeface="Arial"/>
                        </a:rPr>
                        <a:t>Experiencia en la aplicación</a:t>
                      </a:r>
                      <a:endParaRPr sz="900" u="none" cap="none" strike="noStrike">
                        <a:latin typeface="Arial"/>
                        <a:ea typeface="Arial"/>
                        <a:cs typeface="Arial"/>
                        <a:sym typeface="Arial"/>
                      </a:endParaRPr>
                    </a:p>
                  </a:txBody>
                  <a:tcPr marT="53550" marB="0" marR="0" marL="0">
                    <a:lnR cap="flat" cmpd="sng" w="38100">
                      <a:solidFill>
                        <a:srgbClr val="FFFFFF"/>
                      </a:solidFill>
                      <a:prstDash val="solid"/>
                      <a:round/>
                      <a:headEnd len="sm" w="sm" type="none"/>
                      <a:tailEnd len="sm" w="sm" type="none"/>
                    </a:lnR>
                    <a:solidFill>
                      <a:srgbClr val="D9D9D9"/>
                    </a:solidFill>
                  </a:tcPr>
                </a:tc>
                <a:tc>
                  <a:txBody>
                    <a:bodyPr/>
                    <a:lstStyle/>
                    <a:p>
                      <a:pPr indent="0" lvl="0" marL="82550" marR="0" rtl="0" algn="l">
                        <a:lnSpc>
                          <a:spcPct val="100000"/>
                        </a:lnSpc>
                        <a:spcBef>
                          <a:spcPts val="0"/>
                        </a:spcBef>
                        <a:spcAft>
                          <a:spcPts val="0"/>
                        </a:spcAft>
                        <a:buNone/>
                      </a:pPr>
                      <a:r>
                        <a:rPr b="1" lang="en-US" sz="900" u="none" cap="none" strike="noStrike">
                          <a:solidFill>
                            <a:srgbClr val="000080"/>
                          </a:solidFill>
                          <a:latin typeface="Arial"/>
                          <a:ea typeface="Arial"/>
                          <a:cs typeface="Arial"/>
                          <a:sym typeface="Arial"/>
                        </a:rPr>
                        <a:t>E</a:t>
                      </a:r>
                      <a:r>
                        <a:rPr b="1" baseline="-25000" lang="en-US" sz="800" u="none" cap="none" strike="noStrike">
                          <a:solidFill>
                            <a:srgbClr val="000080"/>
                          </a:solidFill>
                          <a:latin typeface="Arial"/>
                          <a:ea typeface="Arial"/>
                          <a:cs typeface="Arial"/>
                          <a:sym typeface="Arial"/>
                        </a:rPr>
                        <a:t>8  </a:t>
                      </a:r>
                      <a:r>
                        <a:rPr lang="en-US" sz="900" u="none" cap="none" strike="noStrike">
                          <a:solidFill>
                            <a:srgbClr val="000080"/>
                          </a:solidFill>
                          <a:latin typeface="Arial"/>
                          <a:ea typeface="Arial"/>
                          <a:cs typeface="Arial"/>
                          <a:sym typeface="Arial"/>
                        </a:rPr>
                        <a:t>Estabilidad de los requisitos</a:t>
                      </a:r>
                      <a:endParaRPr sz="900" u="none" cap="none" strike="noStrike">
                        <a:latin typeface="Arial"/>
                        <a:ea typeface="Arial"/>
                        <a:cs typeface="Arial"/>
                        <a:sym typeface="Arial"/>
                      </a:endParaRPr>
                    </a:p>
                  </a:txBody>
                  <a:tcPr marT="53550" marB="0" marR="0" marL="0">
                    <a:lnL cap="flat" cmpd="sng" w="38100">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solidFill>
                      <a:srgbClr val="D9D9D9"/>
                    </a:solidFill>
                  </a:tcPr>
                </a:tc>
              </a:tr>
            </a:tbl>
          </a:graphicData>
        </a:graphic>
      </p:graphicFrame>
      <p:sp>
        <p:nvSpPr>
          <p:cNvPr id="1038" name="Google Shape;1038;p22"/>
          <p:cNvSpPr/>
          <p:nvPr/>
        </p:nvSpPr>
        <p:spPr>
          <a:xfrm>
            <a:off x="4316086" y="4296700"/>
            <a:ext cx="0" cy="22457"/>
          </a:xfrm>
          <a:custGeom>
            <a:rect b="b" l="l" r="r" t="t"/>
            <a:pathLst>
              <a:path extrusionOk="0" h="33020" w="120000">
                <a:moveTo>
                  <a:pt x="0" y="0"/>
                </a:moveTo>
                <a:lnTo>
                  <a:pt x="0" y="32766"/>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23"/>
          <p:cNvSpPr txBox="1"/>
          <p:nvPr>
            <p:ph idx="4294967295" type="title"/>
          </p:nvPr>
        </p:nvSpPr>
        <p:spPr>
          <a:xfrm>
            <a:off x="212651" y="68566"/>
            <a:ext cx="8537944"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Funcionalidad</a:t>
            </a:r>
            <a:endParaRPr>
              <a:solidFill>
                <a:srgbClr val="FF0000"/>
              </a:solidFill>
            </a:endParaRPr>
          </a:p>
        </p:txBody>
      </p:sp>
      <p:sp>
        <p:nvSpPr>
          <p:cNvPr id="1044" name="Google Shape;1044;p23"/>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45" name="Google Shape;1045;p23"/>
          <p:cNvSpPr txBox="1"/>
          <p:nvPr/>
        </p:nvSpPr>
        <p:spPr>
          <a:xfrm>
            <a:off x="1834937" y="1096495"/>
            <a:ext cx="5561112" cy="1586798"/>
          </a:xfrm>
          <a:prstGeom prst="rect">
            <a:avLst/>
          </a:prstGeom>
          <a:noFill/>
          <a:ln>
            <a:noFill/>
          </a:ln>
        </p:spPr>
        <p:txBody>
          <a:bodyPr anchorCtr="0" anchor="t" bIns="0" lIns="0" spcFirstLastPara="1" rIns="0" wrap="square" tIns="2977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Enfoque COCOMO</a:t>
            </a:r>
            <a:endParaRPr b="0" i="0" sz="1360" u="none" cap="none" strike="noStrike">
              <a:solidFill>
                <a:srgbClr val="000000"/>
              </a:solidFill>
              <a:latin typeface="Arial"/>
              <a:ea typeface="Arial"/>
              <a:cs typeface="Arial"/>
              <a:sym typeface="Arial"/>
            </a:endParaRPr>
          </a:p>
          <a:p>
            <a:pPr indent="-233638" lvl="0" marL="241844" marR="36277" rtl="0" algn="l">
              <a:lnSpc>
                <a:spcPct val="107761"/>
              </a:lnSpc>
              <a:spcBef>
                <a:spcPts val="323"/>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COCOMO es un modelo para predecir el esfuerzo en función del tamaño del sistema</a:t>
            </a:r>
            <a:endParaRPr b="0" i="0" sz="1224" u="none" cap="none" strike="noStrike">
              <a:solidFill>
                <a:srgbClr val="000000"/>
              </a:solidFill>
              <a:latin typeface="Arial"/>
              <a:ea typeface="Arial"/>
              <a:cs typeface="Arial"/>
              <a:sym typeface="Arial"/>
            </a:endParaRPr>
          </a:p>
          <a:p>
            <a:pPr indent="-233206" lvl="0" marL="241844" marR="443524" rtl="0" algn="l">
              <a:lnSpc>
                <a:spcPct val="107761"/>
              </a:lnSpc>
              <a:spcBef>
                <a:spcPts val="299"/>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Utiliza una medida del tamaño que puede ser aplicada al comienzo del desarrollo: los </a:t>
            </a:r>
            <a:r>
              <a:rPr b="1" i="1" lang="en-US" sz="1224" u="none" cap="none" strike="noStrike">
                <a:solidFill>
                  <a:srgbClr val="000000"/>
                </a:solidFill>
                <a:latin typeface="Arial"/>
                <a:ea typeface="Arial"/>
                <a:cs typeface="Arial"/>
                <a:sym typeface="Arial"/>
              </a:rPr>
              <a:t>puntos objeto</a:t>
            </a:r>
            <a:endParaRPr b="0" i="0" sz="1224" u="none" cap="none" strike="noStrike">
              <a:solidFill>
                <a:srgbClr val="000000"/>
              </a:solidFill>
              <a:latin typeface="Arial"/>
              <a:ea typeface="Arial"/>
              <a:cs typeface="Arial"/>
              <a:sym typeface="Arial"/>
            </a:endParaRPr>
          </a:p>
          <a:p>
            <a:pPr indent="-233206" lvl="0" marL="241844" marR="3455" rtl="0" algn="l">
              <a:lnSpc>
                <a:spcPct val="100000"/>
              </a:lnSpc>
              <a:spcBef>
                <a:spcPts val="275"/>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El cálculo de los puntos objeto se realiza contabilizando el número de pantallas, informes y componentes de 3GL de la aplicación. A cada objeto se le asigna un factor de peso según su grado de dificultad</a:t>
            </a:r>
            <a:endParaRPr b="0" i="0" sz="1224" u="none" cap="none" strike="noStrike">
              <a:solidFill>
                <a:srgbClr val="000000"/>
              </a:solidFill>
              <a:latin typeface="Arial"/>
              <a:ea typeface="Arial"/>
              <a:cs typeface="Arial"/>
              <a:sym typeface="Arial"/>
            </a:endParaRPr>
          </a:p>
        </p:txBody>
      </p:sp>
      <p:graphicFrame>
        <p:nvGraphicFramePr>
          <p:cNvPr id="1046" name="Google Shape;1046;p23"/>
          <p:cNvGraphicFramePr/>
          <p:nvPr/>
        </p:nvGraphicFramePr>
        <p:xfrm>
          <a:off x="2085076" y="2766347"/>
          <a:ext cx="3000000" cy="3000000"/>
        </p:xfrm>
        <a:graphic>
          <a:graphicData uri="http://schemas.openxmlformats.org/drawingml/2006/table">
            <a:tbl>
              <a:tblPr bandRow="1" firstRow="1">
                <a:noFill/>
                <a:tableStyleId>{FF63AD9A-016F-4C48-BA4E-4A51AB7C9AD3}</a:tableStyleId>
              </a:tblPr>
              <a:tblGrid>
                <a:gridCol w="1684700"/>
                <a:gridCol w="1148325"/>
                <a:gridCol w="1160850"/>
                <a:gridCol w="1118950"/>
              </a:tblGrid>
              <a:tr h="172750">
                <a:tc>
                  <a:txBody>
                    <a:bodyPr/>
                    <a:lstStyle/>
                    <a:p>
                      <a:pPr indent="0" lvl="0" marL="601345" marR="0" rtl="0" algn="l">
                        <a:lnSpc>
                          <a:spcPct val="100000"/>
                        </a:lnSpc>
                        <a:spcBef>
                          <a:spcPts val="0"/>
                        </a:spcBef>
                        <a:spcAft>
                          <a:spcPts val="0"/>
                        </a:spcAft>
                        <a:buNone/>
                      </a:pPr>
                      <a:r>
                        <a:rPr b="1" lang="en-US" sz="1000" u="none" cap="none" strike="noStrike">
                          <a:solidFill>
                            <a:srgbClr val="33339A"/>
                          </a:solidFill>
                          <a:latin typeface="Arial"/>
                          <a:ea typeface="Arial"/>
                          <a:cs typeface="Arial"/>
                          <a:sym typeface="Arial"/>
                        </a:rPr>
                        <a:t>Tipo de objeto</a:t>
                      </a:r>
                      <a:endParaRPr sz="1000" u="none" cap="none" strike="noStrike">
                        <a:latin typeface="Arial"/>
                        <a:ea typeface="Arial"/>
                        <a:cs typeface="Arial"/>
                        <a:sym typeface="Arial"/>
                      </a:endParaRPr>
                    </a:p>
                  </a:txBody>
                  <a:tcPr marT="5175" marB="0" marR="0" marL="0">
                    <a:lnR cap="flat" cmpd="sng" w="38100">
                      <a:solidFill>
                        <a:srgbClr val="FFFFFF"/>
                      </a:solidFill>
                      <a:prstDash val="solid"/>
                      <a:round/>
                      <a:headEnd len="sm" w="sm" type="none"/>
                      <a:tailEnd len="sm" w="sm" type="none"/>
                    </a:lnR>
                    <a:lnB cap="flat" cmpd="sng" w="38100">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33339A"/>
                          </a:solidFill>
                          <a:latin typeface="Arial"/>
                          <a:ea typeface="Arial"/>
                          <a:cs typeface="Arial"/>
                          <a:sym typeface="Arial"/>
                        </a:rPr>
                        <a:t>Simple</a:t>
                      </a:r>
                      <a:endParaRPr sz="1000" u="none" cap="none" strike="noStrike">
                        <a:latin typeface="Arial"/>
                        <a:ea typeface="Arial"/>
                        <a:cs typeface="Arial"/>
                        <a:sym typeface="Arial"/>
                      </a:endParaRPr>
                    </a:p>
                  </a:txBody>
                  <a:tcPr marT="517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B cap="flat" cmpd="sng" w="38100">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33339A"/>
                          </a:solidFill>
                          <a:latin typeface="Arial"/>
                          <a:ea typeface="Arial"/>
                          <a:cs typeface="Arial"/>
                          <a:sym typeface="Arial"/>
                        </a:rPr>
                        <a:t>Medio</a:t>
                      </a:r>
                      <a:endParaRPr sz="1000" u="none" cap="none" strike="noStrike">
                        <a:latin typeface="Arial"/>
                        <a:ea typeface="Arial"/>
                        <a:cs typeface="Arial"/>
                        <a:sym typeface="Arial"/>
                      </a:endParaRPr>
                    </a:p>
                  </a:txBody>
                  <a:tcPr marT="517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B cap="flat" cmpd="sng" w="38100">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33339A"/>
                          </a:solidFill>
                          <a:latin typeface="Arial"/>
                          <a:ea typeface="Arial"/>
                          <a:cs typeface="Arial"/>
                          <a:sym typeface="Arial"/>
                        </a:rPr>
                        <a:t>Difícil</a:t>
                      </a:r>
                      <a:endParaRPr sz="1000" u="none" cap="none" strike="noStrike">
                        <a:latin typeface="Arial"/>
                        <a:ea typeface="Arial"/>
                        <a:cs typeface="Arial"/>
                        <a:sym typeface="Arial"/>
                      </a:endParaRPr>
                    </a:p>
                  </a:txBody>
                  <a:tcPr marT="5175" marB="0" marR="0" marL="0">
                    <a:lnL cap="flat" cmpd="sng" w="38100">
                      <a:solidFill>
                        <a:srgbClr val="FFFFFF"/>
                      </a:solidFill>
                      <a:prstDash val="solid"/>
                      <a:round/>
                      <a:headEnd len="sm" w="sm" type="none"/>
                      <a:tailEnd len="sm" w="sm" type="none"/>
                    </a:lnL>
                    <a:lnB cap="flat" cmpd="sng" w="38100">
                      <a:solidFill>
                        <a:srgbClr val="FFFFFF"/>
                      </a:solidFill>
                      <a:prstDash val="solid"/>
                      <a:round/>
                      <a:headEnd len="sm" w="sm" type="none"/>
                      <a:tailEnd len="sm" w="sm" type="none"/>
                    </a:lnB>
                    <a:solidFill>
                      <a:srgbClr val="CCCCCC"/>
                    </a:solidFill>
                  </a:tcPr>
                </a:tc>
              </a:tr>
              <a:tr h="186575">
                <a:tc>
                  <a:txBody>
                    <a:bodyPr/>
                    <a:lstStyle/>
                    <a:p>
                      <a:pPr indent="0" lvl="0" marL="90805" marR="0" rtl="0" algn="l">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Pantalla</a:t>
                      </a:r>
                      <a:endParaRPr sz="1000" u="none" cap="none" strike="noStrike">
                        <a:latin typeface="Arial"/>
                        <a:ea typeface="Arial"/>
                        <a:cs typeface="Arial"/>
                        <a:sym typeface="Arial"/>
                      </a:endParaRPr>
                    </a:p>
                  </a:txBody>
                  <a:tcPr marT="20300"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1</a:t>
                      </a:r>
                      <a:endParaRPr sz="1000" u="none" cap="none" strike="noStrike">
                        <a:latin typeface="Arial"/>
                        <a:ea typeface="Arial"/>
                        <a:cs typeface="Arial"/>
                        <a:sym typeface="Arial"/>
                      </a:endParaRPr>
                    </a:p>
                  </a:txBody>
                  <a:tcPr marT="2030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2</a:t>
                      </a:r>
                      <a:endParaRPr sz="1000" u="none" cap="none" strike="noStrike">
                        <a:latin typeface="Arial"/>
                        <a:ea typeface="Arial"/>
                        <a:cs typeface="Arial"/>
                        <a:sym typeface="Arial"/>
                      </a:endParaRPr>
                    </a:p>
                  </a:txBody>
                  <a:tcPr marT="2030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3</a:t>
                      </a:r>
                      <a:endParaRPr sz="1000" u="none" cap="none" strike="noStrike">
                        <a:latin typeface="Arial"/>
                        <a:ea typeface="Arial"/>
                        <a:cs typeface="Arial"/>
                        <a:sym typeface="Arial"/>
                      </a:endParaRPr>
                    </a:p>
                  </a:txBody>
                  <a:tcPr marT="20300"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1F1F1"/>
                    </a:solidFill>
                  </a:tcPr>
                </a:tc>
              </a:tr>
              <a:tr h="184850">
                <a:tc>
                  <a:txBody>
                    <a:bodyPr/>
                    <a:lstStyle/>
                    <a:p>
                      <a:pPr indent="0" lvl="0" marL="90805" marR="0" rtl="0" algn="l">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Informe</a:t>
                      </a:r>
                      <a:endParaRPr sz="1000" u="none" cap="none" strike="noStrike">
                        <a:latin typeface="Arial"/>
                        <a:ea typeface="Arial"/>
                        <a:cs typeface="Arial"/>
                        <a:sym typeface="Arial"/>
                      </a:endParaRPr>
                    </a:p>
                  </a:txBody>
                  <a:tcPr marT="20300"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2</a:t>
                      </a:r>
                      <a:endParaRPr sz="1000" u="none" cap="none" strike="noStrike">
                        <a:latin typeface="Arial"/>
                        <a:ea typeface="Arial"/>
                        <a:cs typeface="Arial"/>
                        <a:sym typeface="Arial"/>
                      </a:endParaRPr>
                    </a:p>
                  </a:txBody>
                  <a:tcPr marT="2030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5</a:t>
                      </a:r>
                      <a:endParaRPr sz="1000" u="none" cap="none" strike="noStrike">
                        <a:latin typeface="Arial"/>
                        <a:ea typeface="Arial"/>
                        <a:cs typeface="Arial"/>
                        <a:sym typeface="Arial"/>
                      </a:endParaRPr>
                    </a:p>
                  </a:txBody>
                  <a:tcPr marT="20300"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lang="en-US" sz="1000" u="none" cap="none" strike="noStrike">
                          <a:solidFill>
                            <a:srgbClr val="33339A"/>
                          </a:solidFill>
                          <a:latin typeface="Arial"/>
                          <a:ea typeface="Arial"/>
                          <a:cs typeface="Arial"/>
                          <a:sym typeface="Arial"/>
                        </a:rPr>
                        <a:t>8</a:t>
                      </a:r>
                      <a:endParaRPr sz="1000" u="none" cap="none" strike="noStrike">
                        <a:latin typeface="Arial"/>
                        <a:ea typeface="Arial"/>
                        <a:cs typeface="Arial"/>
                        <a:sym typeface="Arial"/>
                      </a:endParaRPr>
                    </a:p>
                  </a:txBody>
                  <a:tcPr marT="20300"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CCCCC"/>
                    </a:solidFill>
                  </a:tcPr>
                </a:tc>
              </a:tr>
              <a:tr h="174050">
                <a:tc>
                  <a:txBody>
                    <a:bodyPr/>
                    <a:lstStyle/>
                    <a:p>
                      <a:pPr indent="0" lvl="0" marL="90805" marR="0" rtl="0" algn="l">
                        <a:lnSpc>
                          <a:spcPct val="168500"/>
                        </a:lnSpc>
                        <a:spcBef>
                          <a:spcPts val="0"/>
                        </a:spcBef>
                        <a:spcAft>
                          <a:spcPts val="0"/>
                        </a:spcAft>
                        <a:buNone/>
                      </a:pPr>
                      <a:r>
                        <a:rPr lang="en-US" sz="1000" u="none" cap="none" strike="noStrike">
                          <a:solidFill>
                            <a:srgbClr val="33339A"/>
                          </a:solidFill>
                          <a:latin typeface="Arial"/>
                          <a:ea typeface="Arial"/>
                          <a:cs typeface="Arial"/>
                          <a:sym typeface="Arial"/>
                        </a:rPr>
                        <a:t>Componente 3GL</a:t>
                      </a:r>
                      <a:endParaRPr sz="1000" u="none" cap="none" strike="noStrike">
                        <a:latin typeface="Arial"/>
                        <a:ea typeface="Arial"/>
                        <a:cs typeface="Arial"/>
                        <a:sym typeface="Arial"/>
                      </a:endParaRPr>
                    </a:p>
                  </a:txBody>
                  <a:tcPr marT="19875" marB="0" marR="0" marL="0">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F1F1F1"/>
                    </a:solidFill>
                  </a:tcPr>
                </a:tc>
                <a:tc>
                  <a:txBody>
                    <a:bodyPr/>
                    <a:lstStyle/>
                    <a:p>
                      <a:pPr indent="0" lvl="0" marL="0" marR="0" rtl="0" algn="ctr">
                        <a:lnSpc>
                          <a:spcPct val="168500"/>
                        </a:lnSpc>
                        <a:spcBef>
                          <a:spcPts val="0"/>
                        </a:spcBef>
                        <a:spcAft>
                          <a:spcPts val="0"/>
                        </a:spcAft>
                        <a:buNone/>
                      </a:pPr>
                      <a:r>
                        <a:rPr lang="en-US" sz="1000" u="none" cap="none" strike="noStrike">
                          <a:solidFill>
                            <a:srgbClr val="33339A"/>
                          </a:solidFill>
                          <a:latin typeface="Arial"/>
                          <a:ea typeface="Arial"/>
                          <a:cs typeface="Arial"/>
                          <a:sym typeface="Arial"/>
                        </a:rPr>
                        <a:t>-</a:t>
                      </a:r>
                      <a:endParaRPr sz="1000" u="none" cap="none" strike="noStrike">
                        <a:latin typeface="Arial"/>
                        <a:ea typeface="Arial"/>
                        <a:cs typeface="Arial"/>
                        <a:sym typeface="Arial"/>
                      </a:endParaRPr>
                    </a:p>
                  </a:txBody>
                  <a:tcPr marT="1987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F1F1F1"/>
                    </a:solidFill>
                  </a:tcPr>
                </a:tc>
                <a:tc>
                  <a:txBody>
                    <a:bodyPr/>
                    <a:lstStyle/>
                    <a:p>
                      <a:pPr indent="0" lvl="0" marL="0" marR="0" rtl="0" algn="ctr">
                        <a:lnSpc>
                          <a:spcPct val="168500"/>
                        </a:lnSpc>
                        <a:spcBef>
                          <a:spcPts val="0"/>
                        </a:spcBef>
                        <a:spcAft>
                          <a:spcPts val="0"/>
                        </a:spcAft>
                        <a:buNone/>
                      </a:pPr>
                      <a:r>
                        <a:rPr lang="en-US" sz="1000" u="none" cap="none" strike="noStrike">
                          <a:solidFill>
                            <a:srgbClr val="33339A"/>
                          </a:solidFill>
                          <a:latin typeface="Arial"/>
                          <a:ea typeface="Arial"/>
                          <a:cs typeface="Arial"/>
                          <a:sym typeface="Arial"/>
                        </a:rPr>
                        <a:t>-</a:t>
                      </a:r>
                      <a:endParaRPr sz="1000" u="none" cap="none" strike="noStrike">
                        <a:latin typeface="Arial"/>
                        <a:ea typeface="Arial"/>
                        <a:cs typeface="Arial"/>
                        <a:sym typeface="Arial"/>
                      </a:endParaRPr>
                    </a:p>
                  </a:txBody>
                  <a:tcPr marT="19875" marB="0" marR="0" marL="0">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F1F1F1"/>
                    </a:solidFill>
                  </a:tcPr>
                </a:tc>
                <a:tc>
                  <a:txBody>
                    <a:bodyPr/>
                    <a:lstStyle/>
                    <a:p>
                      <a:pPr indent="0" lvl="0" marL="635" marR="0" rtl="0" algn="ctr">
                        <a:lnSpc>
                          <a:spcPct val="168500"/>
                        </a:lnSpc>
                        <a:spcBef>
                          <a:spcPts val="0"/>
                        </a:spcBef>
                        <a:spcAft>
                          <a:spcPts val="0"/>
                        </a:spcAft>
                        <a:buNone/>
                      </a:pPr>
                      <a:r>
                        <a:rPr lang="en-US" sz="1000" u="none" cap="none" strike="noStrike">
                          <a:solidFill>
                            <a:srgbClr val="33339A"/>
                          </a:solidFill>
                          <a:latin typeface="Arial"/>
                          <a:ea typeface="Arial"/>
                          <a:cs typeface="Arial"/>
                          <a:sym typeface="Arial"/>
                        </a:rPr>
                        <a:t>10</a:t>
                      </a:r>
                      <a:endParaRPr sz="1000" u="none" cap="none" strike="noStrike">
                        <a:latin typeface="Arial"/>
                        <a:ea typeface="Arial"/>
                        <a:cs typeface="Arial"/>
                        <a:sym typeface="Arial"/>
                      </a:endParaRPr>
                    </a:p>
                  </a:txBody>
                  <a:tcPr marT="19875" marB="0" marR="0" marL="0">
                    <a:lnL cap="flat" cmpd="sng" w="38100">
                      <a:solidFill>
                        <a:srgbClr val="FFFFFF"/>
                      </a:solidFill>
                      <a:prstDash val="solid"/>
                      <a:round/>
                      <a:headEnd len="sm" w="sm" type="none"/>
                      <a:tailEnd len="sm" w="sm" type="none"/>
                    </a:lnL>
                    <a:lnT cap="flat" cmpd="sng" w="38100">
                      <a:solidFill>
                        <a:srgbClr val="FFFFFF"/>
                      </a:solidFill>
                      <a:prstDash val="solid"/>
                      <a:round/>
                      <a:headEnd len="sm" w="sm" type="none"/>
                      <a:tailEnd len="sm" w="sm" type="none"/>
                    </a:lnT>
                    <a:solidFill>
                      <a:srgbClr val="F1F1F1"/>
                    </a:solidFill>
                  </a:tcPr>
                </a:tc>
              </a:tr>
            </a:tbl>
          </a:graphicData>
        </a:graphic>
      </p:graphicFrame>
      <p:sp>
        <p:nvSpPr>
          <p:cNvPr id="1047" name="Google Shape;1047;p23"/>
          <p:cNvSpPr/>
          <p:nvPr/>
        </p:nvSpPr>
        <p:spPr>
          <a:xfrm>
            <a:off x="1462674" y="3734941"/>
            <a:ext cx="6218841" cy="1166896"/>
          </a:xfrm>
          <a:custGeom>
            <a:rect b="b" l="l" r="r" t="t"/>
            <a:pathLst>
              <a:path extrusionOk="0" h="1715770" w="9144000">
                <a:moveTo>
                  <a:pt x="9144000" y="0"/>
                </a:moveTo>
                <a:lnTo>
                  <a:pt x="0" y="0"/>
                </a:lnTo>
                <a:lnTo>
                  <a:pt x="0" y="857250"/>
                </a:lnTo>
                <a:lnTo>
                  <a:pt x="0" y="858012"/>
                </a:lnTo>
                <a:lnTo>
                  <a:pt x="0" y="1715262"/>
                </a:lnTo>
                <a:lnTo>
                  <a:pt x="9144000" y="1715262"/>
                </a:lnTo>
                <a:lnTo>
                  <a:pt x="9144000" y="858012"/>
                </a:lnTo>
                <a:lnTo>
                  <a:pt x="9144000" y="857250"/>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48" name="Google Shape;1048;p23"/>
          <p:cNvSpPr txBox="1"/>
          <p:nvPr/>
        </p:nvSpPr>
        <p:spPr>
          <a:xfrm>
            <a:off x="1788814" y="3598291"/>
            <a:ext cx="5707946" cy="992598"/>
          </a:xfrm>
          <a:prstGeom prst="rect">
            <a:avLst/>
          </a:prstGeom>
          <a:noFill/>
          <a:ln>
            <a:noFill/>
          </a:ln>
        </p:spPr>
        <p:txBody>
          <a:bodyPr anchorCtr="0" anchor="t" bIns="0" lIns="0" spcFirstLastPara="1" rIns="0" wrap="square" tIns="29775">
            <a:spAutoFit/>
          </a:bodyPr>
          <a:lstStyle/>
          <a:p>
            <a:pPr indent="-233206" lvl="0" marL="241412" marR="3455" rtl="0" algn="l">
              <a:lnSpc>
                <a:spcPct val="107761"/>
              </a:lnSpc>
              <a:spcBef>
                <a:spcPts val="0"/>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Los pesos reflejan el esfuerzo relativo requerido para implementar un objeto de un determinado nivel</a:t>
            </a:r>
            <a:endParaRPr b="0" i="0" sz="1224" u="none" cap="none" strike="noStrike">
              <a:solidFill>
                <a:srgbClr val="000000"/>
              </a:solidFill>
              <a:latin typeface="Arial"/>
              <a:ea typeface="Arial"/>
              <a:cs typeface="Arial"/>
              <a:sym typeface="Arial"/>
            </a:endParaRPr>
          </a:p>
          <a:p>
            <a:pPr indent="-233206" lvl="0" marL="241844" marR="55710" rtl="0" algn="l">
              <a:lnSpc>
                <a:spcPct val="107761"/>
              </a:lnSpc>
              <a:spcBef>
                <a:spcPts val="299"/>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Si existe reutilización los objetos ponderados se suman y se multiplican por un factor de reutilización para dar un nuevo número de puntos objeto:</a:t>
            </a:r>
            <a:endParaRPr b="0" i="0" sz="1224" u="none" cap="none" strike="noStrike">
              <a:solidFill>
                <a:srgbClr val="000000"/>
              </a:solidFill>
              <a:latin typeface="Arial"/>
              <a:ea typeface="Arial"/>
              <a:cs typeface="Arial"/>
              <a:sym typeface="Arial"/>
            </a:endParaRPr>
          </a:p>
          <a:p>
            <a:pPr indent="0" lvl="0" marL="58302" marR="0" rtl="0" algn="ctr">
              <a:lnSpc>
                <a:spcPct val="100000"/>
              </a:lnSpc>
              <a:spcBef>
                <a:spcPts val="704"/>
              </a:spcBef>
              <a:spcAft>
                <a:spcPts val="0"/>
              </a:spcAft>
              <a:buNone/>
            </a:pPr>
            <a:r>
              <a:rPr b="0" i="0" lang="en-US" sz="1088" u="none" cap="none" strike="noStrike">
                <a:solidFill>
                  <a:srgbClr val="000000"/>
                </a:solidFill>
                <a:latin typeface="Arial"/>
                <a:ea typeface="Arial"/>
                <a:cs typeface="Arial"/>
                <a:sym typeface="Arial"/>
              </a:rPr>
              <a:t>Puntos objeto nuevos = (puntos objeto) * (100 - r) / 100</a:t>
            </a:r>
            <a:endParaRPr b="0" i="0" sz="1088"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24"/>
          <p:cNvSpPr txBox="1"/>
          <p:nvPr>
            <p:ph idx="4294967295" type="title"/>
          </p:nvPr>
        </p:nvSpPr>
        <p:spPr>
          <a:xfrm>
            <a:off x="303723" y="99707"/>
            <a:ext cx="8654902"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Medidas estructurales</a:t>
            </a:r>
            <a:endParaRPr>
              <a:solidFill>
                <a:srgbClr val="FF0000"/>
              </a:solidFill>
            </a:endParaRPr>
          </a:p>
        </p:txBody>
      </p:sp>
      <p:sp>
        <p:nvSpPr>
          <p:cNvPr id="1054" name="Google Shape;1054;p24"/>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55" name="Google Shape;1055;p24"/>
          <p:cNvSpPr/>
          <p:nvPr/>
        </p:nvSpPr>
        <p:spPr>
          <a:xfrm>
            <a:off x="1462674" y="1985892"/>
            <a:ext cx="6218841" cy="1166896"/>
          </a:xfrm>
          <a:custGeom>
            <a:rect b="b" l="l" r="r" t="t"/>
            <a:pathLst>
              <a:path extrusionOk="0" h="1715770" w="9144000">
                <a:moveTo>
                  <a:pt x="9144000" y="0"/>
                </a:moveTo>
                <a:lnTo>
                  <a:pt x="0" y="0"/>
                </a:lnTo>
                <a:lnTo>
                  <a:pt x="0" y="857250"/>
                </a:lnTo>
                <a:lnTo>
                  <a:pt x="0" y="858012"/>
                </a:lnTo>
                <a:lnTo>
                  <a:pt x="0" y="1715262"/>
                </a:lnTo>
                <a:lnTo>
                  <a:pt x="9144000" y="1715262"/>
                </a:lnTo>
                <a:lnTo>
                  <a:pt x="9144000" y="858012"/>
                </a:lnTo>
                <a:lnTo>
                  <a:pt x="9144000" y="857250"/>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56" name="Google Shape;1056;p24"/>
          <p:cNvSpPr txBox="1"/>
          <p:nvPr/>
        </p:nvSpPr>
        <p:spPr>
          <a:xfrm>
            <a:off x="1834937" y="1010784"/>
            <a:ext cx="5474307" cy="1762705"/>
          </a:xfrm>
          <a:prstGeom prst="rect">
            <a:avLst/>
          </a:prstGeom>
          <a:noFill/>
          <a:ln>
            <a:noFill/>
          </a:ln>
        </p:spPr>
        <p:txBody>
          <a:bodyPr anchorCtr="0" anchor="t" bIns="0" lIns="0" spcFirstLastPara="1" rIns="0" wrap="square" tIns="11572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Modularidad y flujo de información (I)</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758"/>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Modelos de modularidad y flujo de información:</a:t>
            </a:r>
            <a:endParaRPr b="0" i="0" sz="1224" u="none" cap="none" strike="noStrike">
              <a:solidFill>
                <a:srgbClr val="000000"/>
              </a:solidFill>
              <a:latin typeface="Arial"/>
              <a:ea typeface="Arial"/>
              <a:cs typeface="Arial"/>
              <a:sym typeface="Arial"/>
            </a:endParaRPr>
          </a:p>
          <a:p>
            <a:pPr indent="-194339" lvl="1" marL="513486" marR="261277" rtl="0" algn="l">
              <a:lnSpc>
                <a:spcPct val="100000"/>
              </a:lnSpc>
              <a:spcBef>
                <a:spcPts val="537"/>
              </a:spcBef>
              <a:spcAft>
                <a:spcPts val="0"/>
              </a:spcAft>
              <a:buClr>
                <a:srgbClr val="9A9ACC"/>
              </a:buClr>
              <a:buSzPts val="850"/>
              <a:buFont typeface="Noto Sans Symbols"/>
              <a:buChar char="◻"/>
            </a:pPr>
            <a:r>
              <a:rPr b="1" i="1" lang="en-US" sz="1088" u="none" cap="none" strike="noStrike">
                <a:solidFill>
                  <a:srgbClr val="3333CC"/>
                </a:solidFill>
                <a:latin typeface="Arial"/>
                <a:ea typeface="Arial"/>
                <a:cs typeface="Arial"/>
                <a:sym typeface="Arial"/>
              </a:rPr>
              <a:t>Diagramas de diseño</a:t>
            </a:r>
            <a:r>
              <a:rPr b="0" i="0" lang="en-US" sz="1088" u="none" cap="none" strike="noStrike">
                <a:solidFill>
                  <a:srgbClr val="000000"/>
                </a:solidFill>
                <a:latin typeface="Arial"/>
                <a:ea typeface="Arial"/>
                <a:cs typeface="Arial"/>
                <a:sym typeface="Arial"/>
              </a:rPr>
              <a:t>: representan la información referente a las relaciones entre módulos necesaria en el diseño</a:t>
            </a:r>
            <a:endParaRPr b="0" i="0" sz="1088" u="none" cap="none" strike="noStrike">
              <a:solidFill>
                <a:srgbClr val="000000"/>
              </a:solidFill>
              <a:latin typeface="Arial"/>
              <a:ea typeface="Arial"/>
              <a:cs typeface="Arial"/>
              <a:sym typeface="Arial"/>
            </a:endParaRPr>
          </a:p>
          <a:p>
            <a:pPr indent="-194339" lvl="1" marL="513918" marR="84645" rtl="0" algn="l">
              <a:lnSpc>
                <a:spcPct val="100000"/>
              </a:lnSpc>
              <a:spcBef>
                <a:spcPts val="261"/>
              </a:spcBef>
              <a:spcAft>
                <a:spcPts val="0"/>
              </a:spcAft>
              <a:buClr>
                <a:srgbClr val="9A9ACC"/>
              </a:buClr>
              <a:buSzPts val="850"/>
              <a:buFont typeface="Noto Sans Symbols"/>
              <a:buChar char="◻"/>
            </a:pPr>
            <a:r>
              <a:rPr b="1" i="1" lang="en-US" sz="1088" u="none" cap="none" strike="noStrike">
                <a:solidFill>
                  <a:srgbClr val="3333CC"/>
                </a:solidFill>
                <a:latin typeface="Arial"/>
                <a:ea typeface="Arial"/>
                <a:cs typeface="Arial"/>
                <a:sym typeface="Arial"/>
              </a:rPr>
              <a:t>Grafos de llamada a módulos</a:t>
            </a:r>
            <a:r>
              <a:rPr b="0" i="0" lang="en-US" sz="1088" u="none" cap="none" strike="noStrike">
                <a:solidFill>
                  <a:srgbClr val="000000"/>
                </a:solidFill>
                <a:latin typeface="Arial"/>
                <a:ea typeface="Arial"/>
                <a:cs typeface="Arial"/>
                <a:sym typeface="Arial"/>
              </a:rPr>
              <a:t>: representación utilizada para realizar medidas intermodulares a un nivel más abstracto que los diagramas de diseño</a:t>
            </a:r>
            <a:endParaRPr b="0" i="0" sz="1088" u="none" cap="none" strike="noStrike">
              <a:solidFill>
                <a:srgbClr val="000000"/>
              </a:solidFill>
              <a:latin typeface="Arial"/>
              <a:ea typeface="Arial"/>
              <a:cs typeface="Arial"/>
              <a:sym typeface="Arial"/>
            </a:endParaRPr>
          </a:p>
          <a:p>
            <a:pPr indent="-194339" lvl="1" marL="513918" marR="3455" rtl="0" algn="l">
              <a:lnSpc>
                <a:spcPct val="100000"/>
              </a:lnSpc>
              <a:spcBef>
                <a:spcPts val="258"/>
              </a:spcBef>
              <a:spcAft>
                <a:spcPts val="0"/>
              </a:spcAft>
              <a:buClr>
                <a:srgbClr val="9A9ACC"/>
              </a:buClr>
              <a:buSzPts val="850"/>
              <a:buFont typeface="Noto Sans Symbols"/>
              <a:buChar char="◻"/>
            </a:pPr>
            <a:r>
              <a:rPr b="1" i="1" lang="en-US" sz="1088" u="none" cap="none" strike="noStrike">
                <a:solidFill>
                  <a:srgbClr val="3333CC"/>
                </a:solidFill>
                <a:latin typeface="Arial"/>
                <a:ea typeface="Arial"/>
                <a:cs typeface="Arial"/>
                <a:sym typeface="Arial"/>
              </a:rPr>
              <a:t>Grafos de dependencia de datos</a:t>
            </a:r>
            <a:r>
              <a:rPr b="0" i="0" lang="en-US" sz="1088" u="none" cap="none" strike="noStrike">
                <a:solidFill>
                  <a:srgbClr val="000000"/>
                </a:solidFill>
                <a:latin typeface="Arial"/>
                <a:ea typeface="Arial"/>
                <a:cs typeface="Arial"/>
                <a:sym typeface="Arial"/>
              </a:rPr>
              <a:t>: Modelo de flujo de información utilizado para realizar medidas intra-modulares</a:t>
            </a:r>
            <a:endParaRPr b="0" i="0" sz="1088" u="none" cap="none" strike="noStrike">
              <a:solidFill>
                <a:srgbClr val="000000"/>
              </a:solidFill>
              <a:latin typeface="Arial"/>
              <a:ea typeface="Arial"/>
              <a:cs typeface="Arial"/>
              <a:sym typeface="Arial"/>
            </a:endParaRPr>
          </a:p>
        </p:txBody>
      </p:sp>
      <p:grpSp>
        <p:nvGrpSpPr>
          <p:cNvPr id="1057" name="Google Shape;1057;p24"/>
          <p:cNvGrpSpPr/>
          <p:nvPr/>
        </p:nvGrpSpPr>
        <p:grpSpPr>
          <a:xfrm>
            <a:off x="2304714" y="2859121"/>
            <a:ext cx="4466000" cy="876598"/>
            <a:chOff x="2012950" y="4203966"/>
            <a:chExt cx="6566673" cy="1288923"/>
          </a:xfrm>
        </p:grpSpPr>
        <p:sp>
          <p:nvSpPr>
            <p:cNvPr id="1058" name="Google Shape;1058;p24"/>
            <p:cNvSpPr/>
            <p:nvPr/>
          </p:nvSpPr>
          <p:spPr>
            <a:xfrm>
              <a:off x="2012950" y="4203966"/>
              <a:ext cx="6566534" cy="431800"/>
            </a:xfrm>
            <a:custGeom>
              <a:rect b="b" l="l" r="r" t="t"/>
              <a:pathLst>
                <a:path extrusionOk="0" h="431800" w="6566534">
                  <a:moveTo>
                    <a:pt x="6566294" y="0"/>
                  </a:moveTo>
                  <a:lnTo>
                    <a:pt x="6565900" y="0"/>
                  </a:lnTo>
                  <a:lnTo>
                    <a:pt x="7620" y="0"/>
                  </a:lnTo>
                  <a:lnTo>
                    <a:pt x="139" y="0"/>
                  </a:lnTo>
                  <a:lnTo>
                    <a:pt x="0" y="0"/>
                  </a:lnTo>
                  <a:lnTo>
                    <a:pt x="0" y="431292"/>
                  </a:lnTo>
                  <a:lnTo>
                    <a:pt x="139" y="431292"/>
                  </a:lnTo>
                  <a:lnTo>
                    <a:pt x="6997" y="431292"/>
                  </a:lnTo>
                  <a:lnTo>
                    <a:pt x="7620" y="431292"/>
                  </a:lnTo>
                  <a:lnTo>
                    <a:pt x="13093" y="431292"/>
                  </a:lnTo>
                  <a:lnTo>
                    <a:pt x="13093" y="12192"/>
                  </a:lnTo>
                  <a:lnTo>
                    <a:pt x="6553327" y="12192"/>
                  </a:lnTo>
                  <a:lnTo>
                    <a:pt x="6553327" y="431292"/>
                  </a:lnTo>
                  <a:lnTo>
                    <a:pt x="6560198" y="431292"/>
                  </a:lnTo>
                  <a:lnTo>
                    <a:pt x="6566294" y="431292"/>
                  </a:lnTo>
                  <a:lnTo>
                    <a:pt x="6566294" y="6096"/>
                  </a:lnTo>
                  <a:lnTo>
                    <a:pt x="6566294" y="0"/>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59" name="Google Shape;1059;p24"/>
            <p:cNvSpPr/>
            <p:nvPr/>
          </p:nvSpPr>
          <p:spPr>
            <a:xfrm>
              <a:off x="4153547" y="4498847"/>
              <a:ext cx="1295400" cy="136525"/>
            </a:xfrm>
            <a:custGeom>
              <a:rect b="b" l="l" r="r" t="t"/>
              <a:pathLst>
                <a:path extrusionOk="0" h="136525" w="1295400">
                  <a:moveTo>
                    <a:pt x="1295400" y="136398"/>
                  </a:moveTo>
                  <a:lnTo>
                    <a:pt x="1295400" y="0"/>
                  </a:lnTo>
                  <a:lnTo>
                    <a:pt x="0" y="0"/>
                  </a:lnTo>
                  <a:lnTo>
                    <a:pt x="0" y="136398"/>
                  </a:lnTo>
                  <a:lnTo>
                    <a:pt x="1295400" y="136398"/>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60" name="Google Shape;1060;p24"/>
            <p:cNvSpPr/>
            <p:nvPr/>
          </p:nvSpPr>
          <p:spPr>
            <a:xfrm>
              <a:off x="2013089" y="4492764"/>
              <a:ext cx="6566534" cy="1000125"/>
            </a:xfrm>
            <a:custGeom>
              <a:rect b="b" l="l" r="r" t="t"/>
              <a:pathLst>
                <a:path extrusionOk="0" h="1000125" w="6566534">
                  <a:moveTo>
                    <a:pt x="12941" y="142494"/>
                  </a:moveTo>
                  <a:lnTo>
                    <a:pt x="6858" y="142494"/>
                  </a:lnTo>
                  <a:lnTo>
                    <a:pt x="0" y="142494"/>
                  </a:lnTo>
                  <a:lnTo>
                    <a:pt x="0" y="999744"/>
                  </a:lnTo>
                  <a:lnTo>
                    <a:pt x="6858" y="999744"/>
                  </a:lnTo>
                  <a:lnTo>
                    <a:pt x="12941" y="999744"/>
                  </a:lnTo>
                  <a:lnTo>
                    <a:pt x="12941" y="142494"/>
                  </a:lnTo>
                  <a:close/>
                </a:path>
                <a:path extrusionOk="0" h="1000125" w="6566534">
                  <a:moveTo>
                    <a:pt x="3441941" y="0"/>
                  </a:moveTo>
                  <a:lnTo>
                    <a:pt x="3428987" y="0"/>
                  </a:lnTo>
                  <a:lnTo>
                    <a:pt x="3428987" y="12954"/>
                  </a:lnTo>
                  <a:lnTo>
                    <a:pt x="3428987" y="142494"/>
                  </a:lnTo>
                  <a:lnTo>
                    <a:pt x="3428987" y="304800"/>
                  </a:lnTo>
                  <a:lnTo>
                    <a:pt x="2146541" y="304800"/>
                  </a:lnTo>
                  <a:lnTo>
                    <a:pt x="2146541" y="142494"/>
                  </a:lnTo>
                  <a:lnTo>
                    <a:pt x="2146541" y="12954"/>
                  </a:lnTo>
                  <a:lnTo>
                    <a:pt x="3428987" y="12954"/>
                  </a:lnTo>
                  <a:lnTo>
                    <a:pt x="3428987" y="0"/>
                  </a:lnTo>
                  <a:lnTo>
                    <a:pt x="2133587" y="0"/>
                  </a:lnTo>
                  <a:lnTo>
                    <a:pt x="2133587" y="142494"/>
                  </a:lnTo>
                  <a:lnTo>
                    <a:pt x="2133587" y="317754"/>
                  </a:lnTo>
                  <a:lnTo>
                    <a:pt x="3441941" y="317754"/>
                  </a:lnTo>
                  <a:lnTo>
                    <a:pt x="3441941" y="142494"/>
                  </a:lnTo>
                  <a:lnTo>
                    <a:pt x="3441941" y="0"/>
                  </a:lnTo>
                  <a:close/>
                </a:path>
                <a:path extrusionOk="0" h="1000125" w="6566534">
                  <a:moveTo>
                    <a:pt x="6566154" y="142494"/>
                  </a:moveTo>
                  <a:lnTo>
                    <a:pt x="6560058" y="142494"/>
                  </a:lnTo>
                  <a:lnTo>
                    <a:pt x="6553187" y="142494"/>
                  </a:lnTo>
                  <a:lnTo>
                    <a:pt x="6553187" y="999744"/>
                  </a:lnTo>
                  <a:lnTo>
                    <a:pt x="6560058" y="999744"/>
                  </a:lnTo>
                  <a:lnTo>
                    <a:pt x="6566154" y="999744"/>
                  </a:lnTo>
                  <a:lnTo>
                    <a:pt x="6566154" y="142494"/>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61" name="Google Shape;1061;p24"/>
          <p:cNvSpPr txBox="1"/>
          <p:nvPr/>
        </p:nvSpPr>
        <p:spPr>
          <a:xfrm>
            <a:off x="3894237" y="3056215"/>
            <a:ext cx="621452" cy="197106"/>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1" i="0" lang="en-US" sz="1224" u="none" cap="none" strike="noStrike">
                <a:solidFill>
                  <a:srgbClr val="00007C"/>
                </a:solidFill>
                <a:latin typeface="Times New Roman"/>
                <a:ea typeface="Times New Roman"/>
                <a:cs typeface="Times New Roman"/>
                <a:sym typeface="Times New Roman"/>
              </a:rPr>
              <a:t>Principal</a:t>
            </a:r>
            <a:endParaRPr b="0" i="0" sz="1224" u="none" cap="none" strike="noStrike">
              <a:solidFill>
                <a:srgbClr val="000000"/>
              </a:solidFill>
              <a:latin typeface="Times New Roman"/>
              <a:ea typeface="Times New Roman"/>
              <a:cs typeface="Times New Roman"/>
              <a:sym typeface="Times New Roman"/>
            </a:endParaRPr>
          </a:p>
        </p:txBody>
      </p:sp>
      <p:sp>
        <p:nvSpPr>
          <p:cNvPr id="1062" name="Google Shape;1062;p24"/>
          <p:cNvSpPr/>
          <p:nvPr/>
        </p:nvSpPr>
        <p:spPr>
          <a:xfrm>
            <a:off x="2512104" y="3521937"/>
            <a:ext cx="1201014" cy="213773"/>
          </a:xfrm>
          <a:custGeom>
            <a:rect b="b" l="l" r="r" t="t"/>
            <a:pathLst>
              <a:path extrusionOk="0" h="314325" w="1765935">
                <a:moveTo>
                  <a:pt x="1765553" y="313944"/>
                </a:moveTo>
                <a:lnTo>
                  <a:pt x="1765553" y="0"/>
                </a:lnTo>
                <a:lnTo>
                  <a:pt x="0" y="0"/>
                </a:lnTo>
                <a:lnTo>
                  <a:pt x="0" y="313944"/>
                </a:lnTo>
                <a:lnTo>
                  <a:pt x="6857" y="313944"/>
                </a:lnTo>
                <a:lnTo>
                  <a:pt x="6857" y="12953"/>
                </a:lnTo>
                <a:lnTo>
                  <a:pt x="12954" y="6096"/>
                </a:lnTo>
                <a:lnTo>
                  <a:pt x="12954" y="12953"/>
                </a:lnTo>
                <a:lnTo>
                  <a:pt x="1752599" y="12953"/>
                </a:lnTo>
                <a:lnTo>
                  <a:pt x="1752599" y="6096"/>
                </a:lnTo>
                <a:lnTo>
                  <a:pt x="1759457" y="12953"/>
                </a:lnTo>
                <a:lnTo>
                  <a:pt x="1759457" y="313944"/>
                </a:lnTo>
                <a:lnTo>
                  <a:pt x="1765553" y="313944"/>
                </a:lnTo>
                <a:close/>
              </a:path>
              <a:path extrusionOk="0" h="314325" w="1765935">
                <a:moveTo>
                  <a:pt x="12954" y="12953"/>
                </a:moveTo>
                <a:lnTo>
                  <a:pt x="12954" y="6096"/>
                </a:lnTo>
                <a:lnTo>
                  <a:pt x="6857" y="12953"/>
                </a:lnTo>
                <a:lnTo>
                  <a:pt x="12954" y="12953"/>
                </a:lnTo>
                <a:close/>
              </a:path>
              <a:path extrusionOk="0" h="314325" w="1765935">
                <a:moveTo>
                  <a:pt x="12954" y="304800"/>
                </a:moveTo>
                <a:lnTo>
                  <a:pt x="12954" y="12953"/>
                </a:lnTo>
                <a:lnTo>
                  <a:pt x="6857" y="12953"/>
                </a:lnTo>
                <a:lnTo>
                  <a:pt x="6857" y="304800"/>
                </a:lnTo>
                <a:lnTo>
                  <a:pt x="12954" y="304800"/>
                </a:lnTo>
                <a:close/>
              </a:path>
              <a:path extrusionOk="0" h="314325" w="1765935">
                <a:moveTo>
                  <a:pt x="1759457" y="304800"/>
                </a:moveTo>
                <a:lnTo>
                  <a:pt x="6857" y="304800"/>
                </a:lnTo>
                <a:lnTo>
                  <a:pt x="12954" y="310896"/>
                </a:lnTo>
                <a:lnTo>
                  <a:pt x="12954" y="313944"/>
                </a:lnTo>
                <a:lnTo>
                  <a:pt x="1752599" y="313944"/>
                </a:lnTo>
                <a:lnTo>
                  <a:pt x="1752599" y="310896"/>
                </a:lnTo>
                <a:lnTo>
                  <a:pt x="1759457" y="304800"/>
                </a:lnTo>
                <a:close/>
              </a:path>
              <a:path extrusionOk="0" h="314325" w="1765935">
                <a:moveTo>
                  <a:pt x="12954" y="313944"/>
                </a:moveTo>
                <a:lnTo>
                  <a:pt x="12954" y="310896"/>
                </a:lnTo>
                <a:lnTo>
                  <a:pt x="6857" y="304800"/>
                </a:lnTo>
                <a:lnTo>
                  <a:pt x="6857" y="313944"/>
                </a:lnTo>
                <a:lnTo>
                  <a:pt x="12954" y="313944"/>
                </a:lnTo>
                <a:close/>
              </a:path>
              <a:path extrusionOk="0" h="314325" w="1765935">
                <a:moveTo>
                  <a:pt x="1759457" y="12953"/>
                </a:moveTo>
                <a:lnTo>
                  <a:pt x="1752599" y="6096"/>
                </a:lnTo>
                <a:lnTo>
                  <a:pt x="1752599" y="12953"/>
                </a:lnTo>
                <a:lnTo>
                  <a:pt x="1759457" y="12953"/>
                </a:lnTo>
                <a:close/>
              </a:path>
              <a:path extrusionOk="0" h="314325" w="1765935">
                <a:moveTo>
                  <a:pt x="1759457" y="304800"/>
                </a:moveTo>
                <a:lnTo>
                  <a:pt x="1759457" y="12953"/>
                </a:lnTo>
                <a:lnTo>
                  <a:pt x="1752599" y="12953"/>
                </a:lnTo>
                <a:lnTo>
                  <a:pt x="1752599" y="304800"/>
                </a:lnTo>
                <a:lnTo>
                  <a:pt x="1759457" y="304800"/>
                </a:lnTo>
                <a:close/>
              </a:path>
              <a:path extrusionOk="0" h="314325" w="1765935">
                <a:moveTo>
                  <a:pt x="1759457" y="313944"/>
                </a:moveTo>
                <a:lnTo>
                  <a:pt x="1759457" y="304800"/>
                </a:lnTo>
                <a:lnTo>
                  <a:pt x="1752599" y="310896"/>
                </a:lnTo>
                <a:lnTo>
                  <a:pt x="1752599" y="313944"/>
                </a:lnTo>
                <a:lnTo>
                  <a:pt x="1759457" y="313944"/>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63" name="Google Shape;1063;p24"/>
          <p:cNvSpPr txBox="1"/>
          <p:nvPr/>
        </p:nvSpPr>
        <p:spPr>
          <a:xfrm>
            <a:off x="2602273" y="3533511"/>
            <a:ext cx="1029132"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0" i="0" lang="en-US" sz="1088" u="none" cap="none" strike="noStrike">
                <a:solidFill>
                  <a:srgbClr val="00007C"/>
                </a:solidFill>
                <a:latin typeface="Times New Roman"/>
                <a:ea typeface="Times New Roman"/>
                <a:cs typeface="Times New Roman"/>
                <a:sym typeface="Times New Roman"/>
              </a:rPr>
              <a:t>Leer puntuaciones</a:t>
            </a:r>
            <a:endParaRPr b="0" i="0" sz="1088" u="none" cap="none" strike="noStrike">
              <a:solidFill>
                <a:srgbClr val="000000"/>
              </a:solidFill>
              <a:latin typeface="Times New Roman"/>
              <a:ea typeface="Times New Roman"/>
              <a:cs typeface="Times New Roman"/>
              <a:sym typeface="Times New Roman"/>
            </a:endParaRPr>
          </a:p>
        </p:txBody>
      </p:sp>
      <p:sp>
        <p:nvSpPr>
          <p:cNvPr id="1064" name="Google Shape;1064;p24"/>
          <p:cNvSpPr/>
          <p:nvPr/>
        </p:nvSpPr>
        <p:spPr>
          <a:xfrm>
            <a:off x="4688698" y="3521937"/>
            <a:ext cx="1201014" cy="213773"/>
          </a:xfrm>
          <a:custGeom>
            <a:rect b="b" l="l" r="r" t="t"/>
            <a:pathLst>
              <a:path extrusionOk="0" h="314325" w="1765934">
                <a:moveTo>
                  <a:pt x="1765554" y="313944"/>
                </a:moveTo>
                <a:lnTo>
                  <a:pt x="1765554" y="0"/>
                </a:lnTo>
                <a:lnTo>
                  <a:pt x="0" y="0"/>
                </a:lnTo>
                <a:lnTo>
                  <a:pt x="0" y="313944"/>
                </a:lnTo>
                <a:lnTo>
                  <a:pt x="6857" y="313944"/>
                </a:lnTo>
                <a:lnTo>
                  <a:pt x="6857" y="12954"/>
                </a:lnTo>
                <a:lnTo>
                  <a:pt x="12953" y="6096"/>
                </a:lnTo>
                <a:lnTo>
                  <a:pt x="12953" y="12954"/>
                </a:lnTo>
                <a:lnTo>
                  <a:pt x="1752587" y="12953"/>
                </a:lnTo>
                <a:lnTo>
                  <a:pt x="1752587" y="6096"/>
                </a:lnTo>
                <a:lnTo>
                  <a:pt x="1759458" y="12953"/>
                </a:lnTo>
                <a:lnTo>
                  <a:pt x="1759458" y="313944"/>
                </a:lnTo>
                <a:lnTo>
                  <a:pt x="1765554" y="313944"/>
                </a:lnTo>
                <a:close/>
              </a:path>
              <a:path extrusionOk="0" h="314325" w="1765934">
                <a:moveTo>
                  <a:pt x="12953" y="12954"/>
                </a:moveTo>
                <a:lnTo>
                  <a:pt x="12953" y="6096"/>
                </a:lnTo>
                <a:lnTo>
                  <a:pt x="6857" y="12954"/>
                </a:lnTo>
                <a:lnTo>
                  <a:pt x="12953" y="12954"/>
                </a:lnTo>
                <a:close/>
              </a:path>
              <a:path extrusionOk="0" h="314325" w="1765934">
                <a:moveTo>
                  <a:pt x="12953" y="304800"/>
                </a:moveTo>
                <a:lnTo>
                  <a:pt x="12953" y="12954"/>
                </a:lnTo>
                <a:lnTo>
                  <a:pt x="6857" y="12954"/>
                </a:lnTo>
                <a:lnTo>
                  <a:pt x="6857" y="304800"/>
                </a:lnTo>
                <a:lnTo>
                  <a:pt x="12953" y="304800"/>
                </a:lnTo>
                <a:close/>
              </a:path>
              <a:path extrusionOk="0" h="314325" w="1765934">
                <a:moveTo>
                  <a:pt x="1759458" y="304800"/>
                </a:moveTo>
                <a:lnTo>
                  <a:pt x="6857" y="304800"/>
                </a:lnTo>
                <a:lnTo>
                  <a:pt x="12953" y="310896"/>
                </a:lnTo>
                <a:lnTo>
                  <a:pt x="12953" y="313944"/>
                </a:lnTo>
                <a:lnTo>
                  <a:pt x="1752587" y="313944"/>
                </a:lnTo>
                <a:lnTo>
                  <a:pt x="1752587" y="310896"/>
                </a:lnTo>
                <a:lnTo>
                  <a:pt x="1759458" y="304800"/>
                </a:lnTo>
                <a:close/>
              </a:path>
              <a:path extrusionOk="0" h="314325" w="1765934">
                <a:moveTo>
                  <a:pt x="12953" y="313944"/>
                </a:moveTo>
                <a:lnTo>
                  <a:pt x="12953" y="310896"/>
                </a:lnTo>
                <a:lnTo>
                  <a:pt x="6857" y="304800"/>
                </a:lnTo>
                <a:lnTo>
                  <a:pt x="6857" y="313944"/>
                </a:lnTo>
                <a:lnTo>
                  <a:pt x="12953" y="313944"/>
                </a:lnTo>
                <a:close/>
              </a:path>
              <a:path extrusionOk="0" h="314325" w="1765934">
                <a:moveTo>
                  <a:pt x="1759458" y="12953"/>
                </a:moveTo>
                <a:lnTo>
                  <a:pt x="1752587" y="6096"/>
                </a:lnTo>
                <a:lnTo>
                  <a:pt x="1752587" y="12953"/>
                </a:lnTo>
                <a:lnTo>
                  <a:pt x="1759458" y="12953"/>
                </a:lnTo>
                <a:close/>
              </a:path>
              <a:path extrusionOk="0" h="314325" w="1765934">
                <a:moveTo>
                  <a:pt x="1759458" y="304800"/>
                </a:moveTo>
                <a:lnTo>
                  <a:pt x="1759458" y="12953"/>
                </a:lnTo>
                <a:lnTo>
                  <a:pt x="1752587" y="12953"/>
                </a:lnTo>
                <a:lnTo>
                  <a:pt x="1752587" y="304800"/>
                </a:lnTo>
                <a:lnTo>
                  <a:pt x="1759458" y="304800"/>
                </a:lnTo>
                <a:close/>
              </a:path>
              <a:path extrusionOk="0" h="314325" w="1765934">
                <a:moveTo>
                  <a:pt x="1759458" y="313944"/>
                </a:moveTo>
                <a:lnTo>
                  <a:pt x="1759458" y="304800"/>
                </a:lnTo>
                <a:lnTo>
                  <a:pt x="1752587" y="310896"/>
                </a:lnTo>
                <a:lnTo>
                  <a:pt x="1752587" y="313944"/>
                </a:lnTo>
                <a:lnTo>
                  <a:pt x="1759458" y="313944"/>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65" name="Google Shape;1065;p24"/>
          <p:cNvSpPr txBox="1"/>
          <p:nvPr/>
        </p:nvSpPr>
        <p:spPr>
          <a:xfrm>
            <a:off x="5111575" y="3533511"/>
            <a:ext cx="362766"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0" i="0" lang="en-US" sz="1088" u="none" cap="none" strike="noStrike">
                <a:solidFill>
                  <a:srgbClr val="00007C"/>
                </a:solidFill>
                <a:latin typeface="Times New Roman"/>
                <a:ea typeface="Times New Roman"/>
                <a:cs typeface="Times New Roman"/>
                <a:sym typeface="Times New Roman"/>
              </a:rPr>
              <a:t>Media</a:t>
            </a:r>
            <a:endParaRPr b="0" i="0" sz="1088" u="none" cap="none" strike="noStrike">
              <a:solidFill>
                <a:srgbClr val="000000"/>
              </a:solidFill>
              <a:latin typeface="Times New Roman"/>
              <a:ea typeface="Times New Roman"/>
              <a:cs typeface="Times New Roman"/>
              <a:sym typeface="Times New Roman"/>
            </a:endParaRPr>
          </a:p>
        </p:txBody>
      </p:sp>
      <p:grpSp>
        <p:nvGrpSpPr>
          <p:cNvPr id="1066" name="Google Shape;1066;p24"/>
          <p:cNvGrpSpPr/>
          <p:nvPr/>
        </p:nvGrpSpPr>
        <p:grpSpPr>
          <a:xfrm>
            <a:off x="3112740" y="3227578"/>
            <a:ext cx="2189550" cy="508140"/>
            <a:chOff x="3201047" y="4745735"/>
            <a:chExt cx="3219450" cy="747154"/>
          </a:xfrm>
        </p:grpSpPr>
        <p:sp>
          <p:nvSpPr>
            <p:cNvPr id="1067" name="Google Shape;1067;p24"/>
            <p:cNvSpPr/>
            <p:nvPr/>
          </p:nvSpPr>
          <p:spPr>
            <a:xfrm>
              <a:off x="3201047" y="4797564"/>
              <a:ext cx="3219450" cy="695325"/>
            </a:xfrm>
            <a:custGeom>
              <a:rect b="b" l="l" r="r" t="t"/>
              <a:pathLst>
                <a:path extrusionOk="0" h="695325" w="3219450">
                  <a:moveTo>
                    <a:pt x="3200400" y="387096"/>
                  </a:moveTo>
                  <a:lnTo>
                    <a:pt x="3156966" y="350520"/>
                  </a:lnTo>
                  <a:lnTo>
                    <a:pt x="3152241" y="369671"/>
                  </a:lnTo>
                  <a:lnTo>
                    <a:pt x="1601724" y="0"/>
                  </a:lnTo>
                  <a:lnTo>
                    <a:pt x="1600200" y="6096"/>
                  </a:lnTo>
                  <a:lnTo>
                    <a:pt x="1598676" y="0"/>
                  </a:lnTo>
                  <a:lnTo>
                    <a:pt x="47866" y="369735"/>
                  </a:lnTo>
                  <a:lnTo>
                    <a:pt x="43434" y="350520"/>
                  </a:lnTo>
                  <a:lnTo>
                    <a:pt x="0" y="387096"/>
                  </a:lnTo>
                  <a:lnTo>
                    <a:pt x="35814" y="395541"/>
                  </a:lnTo>
                  <a:lnTo>
                    <a:pt x="54864" y="400050"/>
                  </a:lnTo>
                  <a:lnTo>
                    <a:pt x="50647" y="381812"/>
                  </a:lnTo>
                  <a:lnTo>
                    <a:pt x="1600187" y="12560"/>
                  </a:lnTo>
                  <a:lnTo>
                    <a:pt x="3149244" y="381876"/>
                  </a:lnTo>
                  <a:lnTo>
                    <a:pt x="3144774" y="400050"/>
                  </a:lnTo>
                  <a:lnTo>
                    <a:pt x="3164586" y="395427"/>
                  </a:lnTo>
                  <a:lnTo>
                    <a:pt x="3200400" y="387096"/>
                  </a:lnTo>
                  <a:close/>
                </a:path>
                <a:path extrusionOk="0" h="695325" w="3219450">
                  <a:moveTo>
                    <a:pt x="3219005" y="694944"/>
                  </a:moveTo>
                  <a:lnTo>
                    <a:pt x="3203422" y="686562"/>
                  </a:lnTo>
                  <a:lnTo>
                    <a:pt x="3200374" y="692277"/>
                  </a:lnTo>
                  <a:lnTo>
                    <a:pt x="3197326" y="686562"/>
                  </a:lnTo>
                  <a:lnTo>
                    <a:pt x="3180562" y="694944"/>
                  </a:lnTo>
                  <a:lnTo>
                    <a:pt x="3198952" y="694944"/>
                  </a:lnTo>
                  <a:lnTo>
                    <a:pt x="3201797" y="694944"/>
                  </a:lnTo>
                  <a:lnTo>
                    <a:pt x="3219005" y="694944"/>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68" name="Google Shape;1068;p24"/>
            <p:cNvPicPr preferRelativeResize="0"/>
            <p:nvPr/>
          </p:nvPicPr>
          <p:blipFill rotWithShape="1">
            <a:blip r:embed="rId3">
              <a:alphaModFix/>
            </a:blip>
            <a:srcRect b="0" l="0" r="0" t="0"/>
            <a:stretch/>
          </p:blipFill>
          <p:spPr>
            <a:xfrm>
              <a:off x="3511181" y="4835713"/>
              <a:ext cx="88391" cy="88001"/>
            </a:xfrm>
            <a:prstGeom prst="rect">
              <a:avLst/>
            </a:prstGeom>
            <a:noFill/>
            <a:ln>
              <a:noFill/>
            </a:ln>
          </p:spPr>
        </p:pic>
        <p:sp>
          <p:nvSpPr>
            <p:cNvPr id="1069" name="Google Shape;1069;p24"/>
            <p:cNvSpPr/>
            <p:nvPr/>
          </p:nvSpPr>
          <p:spPr>
            <a:xfrm>
              <a:off x="3588143" y="4745735"/>
              <a:ext cx="355600" cy="127000"/>
            </a:xfrm>
            <a:custGeom>
              <a:rect b="b" l="l" r="r" t="t"/>
              <a:pathLst>
                <a:path extrusionOk="0" h="127000" w="355600">
                  <a:moveTo>
                    <a:pt x="308890" y="29687"/>
                  </a:moveTo>
                  <a:lnTo>
                    <a:pt x="305025" y="17513"/>
                  </a:lnTo>
                  <a:lnTo>
                    <a:pt x="0" y="114300"/>
                  </a:lnTo>
                  <a:lnTo>
                    <a:pt x="3810" y="126492"/>
                  </a:lnTo>
                  <a:lnTo>
                    <a:pt x="308890" y="29687"/>
                  </a:lnTo>
                  <a:close/>
                </a:path>
                <a:path extrusionOk="0" h="127000" w="355600">
                  <a:moveTo>
                    <a:pt x="355092" y="8381"/>
                  </a:moveTo>
                  <a:lnTo>
                    <a:pt x="299466" y="0"/>
                  </a:lnTo>
                  <a:lnTo>
                    <a:pt x="305025" y="17513"/>
                  </a:lnTo>
                  <a:lnTo>
                    <a:pt x="316992" y="13715"/>
                  </a:lnTo>
                  <a:lnTo>
                    <a:pt x="320802" y="25907"/>
                  </a:lnTo>
                  <a:lnTo>
                    <a:pt x="320802" y="42025"/>
                  </a:lnTo>
                  <a:lnTo>
                    <a:pt x="355092" y="8381"/>
                  </a:lnTo>
                  <a:close/>
                </a:path>
                <a:path extrusionOk="0" h="127000" w="355600">
                  <a:moveTo>
                    <a:pt x="320802" y="25907"/>
                  </a:moveTo>
                  <a:lnTo>
                    <a:pt x="316992" y="13715"/>
                  </a:lnTo>
                  <a:lnTo>
                    <a:pt x="305025" y="17513"/>
                  </a:lnTo>
                  <a:lnTo>
                    <a:pt x="308890" y="29687"/>
                  </a:lnTo>
                  <a:lnTo>
                    <a:pt x="320802" y="25907"/>
                  </a:lnTo>
                  <a:close/>
                </a:path>
                <a:path extrusionOk="0" h="127000" w="355600">
                  <a:moveTo>
                    <a:pt x="320802" y="42025"/>
                  </a:moveTo>
                  <a:lnTo>
                    <a:pt x="320802" y="25907"/>
                  </a:lnTo>
                  <a:lnTo>
                    <a:pt x="308890" y="29687"/>
                  </a:lnTo>
                  <a:lnTo>
                    <a:pt x="314706" y="48005"/>
                  </a:lnTo>
                  <a:lnTo>
                    <a:pt x="320802" y="42025"/>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70" name="Google Shape;1070;p24"/>
          <p:cNvSpPr txBox="1"/>
          <p:nvPr/>
        </p:nvSpPr>
        <p:spPr>
          <a:xfrm>
            <a:off x="2785729" y="3074353"/>
            <a:ext cx="647364" cy="154800"/>
          </a:xfrm>
          <a:prstGeom prst="rect">
            <a:avLst/>
          </a:prstGeom>
          <a:noFill/>
          <a:ln>
            <a:noFill/>
          </a:ln>
        </p:spPr>
        <p:txBody>
          <a:bodyPr anchorCtr="0" anchor="t" bIns="0" lIns="0" spcFirstLastPara="1" rIns="0" wrap="square" tIns="8200">
            <a:spAutoFit/>
          </a:bodyPr>
          <a:lstStyle/>
          <a:p>
            <a:pPr indent="0" lvl="0" marL="0" marR="0" rtl="0" algn="l">
              <a:lnSpc>
                <a:spcPct val="100000"/>
              </a:lnSpc>
              <a:spcBef>
                <a:spcPts val="0"/>
              </a:spcBef>
              <a:spcAft>
                <a:spcPts val="0"/>
              </a:spcAft>
              <a:buNone/>
            </a:pPr>
            <a:r>
              <a:rPr b="0" i="0" lang="en-US" sz="952" u="none" cap="none" strike="noStrike">
                <a:solidFill>
                  <a:srgbClr val="3333CC"/>
                </a:solidFill>
                <a:latin typeface="Times New Roman"/>
                <a:ea typeface="Times New Roman"/>
                <a:cs typeface="Times New Roman"/>
                <a:sym typeface="Times New Roman"/>
              </a:rPr>
              <a:t>puntuaciones</a:t>
            </a:r>
            <a:endParaRPr b="0" i="0" sz="952" u="none" cap="none" strike="noStrike">
              <a:solidFill>
                <a:srgbClr val="000000"/>
              </a:solidFill>
              <a:latin typeface="Times New Roman"/>
              <a:ea typeface="Times New Roman"/>
              <a:cs typeface="Times New Roman"/>
              <a:sym typeface="Times New Roman"/>
            </a:endParaRPr>
          </a:p>
        </p:txBody>
      </p:sp>
      <p:grpSp>
        <p:nvGrpSpPr>
          <p:cNvPr id="1071" name="Google Shape;1071;p24"/>
          <p:cNvGrpSpPr/>
          <p:nvPr/>
        </p:nvGrpSpPr>
        <p:grpSpPr>
          <a:xfrm>
            <a:off x="4837269" y="3221117"/>
            <a:ext cx="297112" cy="109935"/>
            <a:chOff x="5736743" y="4736235"/>
            <a:chExt cx="436866" cy="161646"/>
          </a:xfrm>
        </p:grpSpPr>
        <p:pic>
          <p:nvPicPr>
            <p:cNvPr id="1072" name="Google Shape;1072;p24"/>
            <p:cNvPicPr preferRelativeResize="0"/>
            <p:nvPr/>
          </p:nvPicPr>
          <p:blipFill rotWithShape="1">
            <a:blip r:embed="rId4">
              <a:alphaModFix/>
            </a:blip>
            <a:srcRect b="0" l="0" r="0" t="0"/>
            <a:stretch/>
          </p:blipFill>
          <p:spPr>
            <a:xfrm>
              <a:off x="5736743" y="4736235"/>
              <a:ext cx="86748" cy="88799"/>
            </a:xfrm>
            <a:prstGeom prst="rect">
              <a:avLst/>
            </a:prstGeom>
            <a:noFill/>
            <a:ln>
              <a:noFill/>
            </a:ln>
          </p:spPr>
        </p:pic>
        <p:sp>
          <p:nvSpPr>
            <p:cNvPr id="1073" name="Google Shape;1073;p24"/>
            <p:cNvSpPr/>
            <p:nvPr/>
          </p:nvSpPr>
          <p:spPr>
            <a:xfrm>
              <a:off x="5815469" y="4778501"/>
              <a:ext cx="358140" cy="119380"/>
            </a:xfrm>
            <a:custGeom>
              <a:rect b="b" l="l" r="r" t="t"/>
              <a:pathLst>
                <a:path extrusionOk="0" h="119379" w="358139">
                  <a:moveTo>
                    <a:pt x="310996" y="88710"/>
                  </a:moveTo>
                  <a:lnTo>
                    <a:pt x="3810" y="0"/>
                  </a:lnTo>
                  <a:lnTo>
                    <a:pt x="0" y="12192"/>
                  </a:lnTo>
                  <a:lnTo>
                    <a:pt x="307594" y="100808"/>
                  </a:lnTo>
                  <a:lnTo>
                    <a:pt x="310996" y="88710"/>
                  </a:lnTo>
                  <a:close/>
                </a:path>
                <a:path extrusionOk="0" h="119379" w="358139">
                  <a:moveTo>
                    <a:pt x="323088" y="115208"/>
                  </a:moveTo>
                  <a:lnTo>
                    <a:pt x="323088" y="92201"/>
                  </a:lnTo>
                  <a:lnTo>
                    <a:pt x="320040" y="104393"/>
                  </a:lnTo>
                  <a:lnTo>
                    <a:pt x="307594" y="100808"/>
                  </a:lnTo>
                  <a:lnTo>
                    <a:pt x="302514" y="118871"/>
                  </a:lnTo>
                  <a:lnTo>
                    <a:pt x="323088" y="115208"/>
                  </a:lnTo>
                  <a:close/>
                </a:path>
                <a:path extrusionOk="0" h="119379" w="358139">
                  <a:moveTo>
                    <a:pt x="323088" y="92201"/>
                  </a:moveTo>
                  <a:lnTo>
                    <a:pt x="310996" y="88710"/>
                  </a:lnTo>
                  <a:lnTo>
                    <a:pt x="307594" y="100808"/>
                  </a:lnTo>
                  <a:lnTo>
                    <a:pt x="320040" y="104393"/>
                  </a:lnTo>
                  <a:lnTo>
                    <a:pt x="323088" y="92201"/>
                  </a:lnTo>
                  <a:close/>
                </a:path>
                <a:path extrusionOk="0" h="119379" w="358139">
                  <a:moveTo>
                    <a:pt x="358140" y="108965"/>
                  </a:moveTo>
                  <a:lnTo>
                    <a:pt x="316230" y="70103"/>
                  </a:lnTo>
                  <a:lnTo>
                    <a:pt x="310996" y="88710"/>
                  </a:lnTo>
                  <a:lnTo>
                    <a:pt x="323088" y="92201"/>
                  </a:lnTo>
                  <a:lnTo>
                    <a:pt x="323088" y="115208"/>
                  </a:lnTo>
                  <a:lnTo>
                    <a:pt x="358140" y="108965"/>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74" name="Google Shape;1074;p24"/>
          <p:cNvSpPr txBox="1"/>
          <p:nvPr/>
        </p:nvSpPr>
        <p:spPr>
          <a:xfrm>
            <a:off x="4962323" y="3074353"/>
            <a:ext cx="647364" cy="154800"/>
          </a:xfrm>
          <a:prstGeom prst="rect">
            <a:avLst/>
          </a:prstGeom>
          <a:noFill/>
          <a:ln>
            <a:noFill/>
          </a:ln>
        </p:spPr>
        <p:txBody>
          <a:bodyPr anchorCtr="0" anchor="t" bIns="0" lIns="0" spcFirstLastPara="1" rIns="0" wrap="square" tIns="8200">
            <a:spAutoFit/>
          </a:bodyPr>
          <a:lstStyle/>
          <a:p>
            <a:pPr indent="0" lvl="0" marL="0" marR="0" rtl="0" algn="l">
              <a:lnSpc>
                <a:spcPct val="100000"/>
              </a:lnSpc>
              <a:spcBef>
                <a:spcPts val="0"/>
              </a:spcBef>
              <a:spcAft>
                <a:spcPts val="0"/>
              </a:spcAft>
              <a:buNone/>
            </a:pPr>
            <a:r>
              <a:rPr b="0" i="0" lang="en-US" sz="952" u="none" cap="none" strike="noStrike">
                <a:solidFill>
                  <a:srgbClr val="3333CC"/>
                </a:solidFill>
                <a:latin typeface="Times New Roman"/>
                <a:ea typeface="Times New Roman"/>
                <a:cs typeface="Times New Roman"/>
                <a:sym typeface="Times New Roman"/>
              </a:rPr>
              <a:t>puntuaciones</a:t>
            </a:r>
            <a:endParaRPr b="0" i="0" sz="952" u="none" cap="none" strike="noStrike">
              <a:solidFill>
                <a:srgbClr val="000000"/>
              </a:solidFill>
              <a:latin typeface="Times New Roman"/>
              <a:ea typeface="Times New Roman"/>
              <a:cs typeface="Times New Roman"/>
              <a:sym typeface="Times New Roman"/>
            </a:endParaRPr>
          </a:p>
        </p:txBody>
      </p:sp>
      <p:sp>
        <p:nvSpPr>
          <p:cNvPr id="1075" name="Google Shape;1075;p24"/>
          <p:cNvSpPr/>
          <p:nvPr/>
        </p:nvSpPr>
        <p:spPr>
          <a:xfrm>
            <a:off x="2304809" y="3735459"/>
            <a:ext cx="4465905" cy="583016"/>
          </a:xfrm>
          <a:custGeom>
            <a:rect b="b" l="l" r="r" t="t"/>
            <a:pathLst>
              <a:path extrusionOk="0" h="857250" w="6566534">
                <a:moveTo>
                  <a:pt x="12941" y="0"/>
                </a:moveTo>
                <a:lnTo>
                  <a:pt x="6858" y="0"/>
                </a:lnTo>
                <a:lnTo>
                  <a:pt x="0" y="0"/>
                </a:lnTo>
                <a:lnTo>
                  <a:pt x="0" y="857250"/>
                </a:lnTo>
                <a:lnTo>
                  <a:pt x="6858" y="857250"/>
                </a:lnTo>
                <a:lnTo>
                  <a:pt x="12941" y="857250"/>
                </a:lnTo>
                <a:lnTo>
                  <a:pt x="12941" y="0"/>
                </a:lnTo>
                <a:close/>
              </a:path>
              <a:path extrusionOk="0" h="857250" w="6566534">
                <a:moveTo>
                  <a:pt x="2070341" y="0"/>
                </a:moveTo>
                <a:lnTo>
                  <a:pt x="304800" y="0"/>
                </a:lnTo>
                <a:lnTo>
                  <a:pt x="304800" y="3810"/>
                </a:lnTo>
                <a:lnTo>
                  <a:pt x="2070341" y="3810"/>
                </a:lnTo>
                <a:lnTo>
                  <a:pt x="2070341" y="0"/>
                </a:lnTo>
                <a:close/>
              </a:path>
              <a:path extrusionOk="0" h="857250" w="6566534">
                <a:moveTo>
                  <a:pt x="4203954" y="524256"/>
                </a:moveTo>
                <a:lnTo>
                  <a:pt x="4191000" y="524256"/>
                </a:lnTo>
                <a:lnTo>
                  <a:pt x="4191000" y="537210"/>
                </a:lnTo>
                <a:lnTo>
                  <a:pt x="4191000" y="829056"/>
                </a:lnTo>
                <a:lnTo>
                  <a:pt x="2451354" y="829056"/>
                </a:lnTo>
                <a:lnTo>
                  <a:pt x="2451354" y="537210"/>
                </a:lnTo>
                <a:lnTo>
                  <a:pt x="4191000" y="537210"/>
                </a:lnTo>
                <a:lnTo>
                  <a:pt x="4191000" y="524256"/>
                </a:lnTo>
                <a:lnTo>
                  <a:pt x="2438400" y="524256"/>
                </a:lnTo>
                <a:lnTo>
                  <a:pt x="2438400" y="842010"/>
                </a:lnTo>
                <a:lnTo>
                  <a:pt x="2445258" y="842010"/>
                </a:lnTo>
                <a:lnTo>
                  <a:pt x="2451354" y="842010"/>
                </a:lnTo>
                <a:lnTo>
                  <a:pt x="4191000" y="842010"/>
                </a:lnTo>
                <a:lnTo>
                  <a:pt x="4197858" y="842010"/>
                </a:lnTo>
                <a:lnTo>
                  <a:pt x="4203954" y="842010"/>
                </a:lnTo>
                <a:lnTo>
                  <a:pt x="4203954" y="524256"/>
                </a:lnTo>
                <a:close/>
              </a:path>
              <a:path extrusionOk="0" h="857250" w="6566534">
                <a:moveTo>
                  <a:pt x="5270754" y="0"/>
                </a:moveTo>
                <a:lnTo>
                  <a:pt x="3505187" y="0"/>
                </a:lnTo>
                <a:lnTo>
                  <a:pt x="3505187" y="3810"/>
                </a:lnTo>
                <a:lnTo>
                  <a:pt x="5270754" y="3810"/>
                </a:lnTo>
                <a:lnTo>
                  <a:pt x="5270754" y="0"/>
                </a:lnTo>
                <a:close/>
              </a:path>
              <a:path extrusionOk="0" h="857250" w="6566534">
                <a:moveTo>
                  <a:pt x="6566154" y="0"/>
                </a:moveTo>
                <a:lnTo>
                  <a:pt x="6560058" y="0"/>
                </a:lnTo>
                <a:lnTo>
                  <a:pt x="6553187" y="0"/>
                </a:lnTo>
                <a:lnTo>
                  <a:pt x="6553187" y="857250"/>
                </a:lnTo>
                <a:lnTo>
                  <a:pt x="6560058" y="857250"/>
                </a:lnTo>
                <a:lnTo>
                  <a:pt x="6566154" y="857250"/>
                </a:lnTo>
                <a:lnTo>
                  <a:pt x="6566154" y="0"/>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76" name="Google Shape;1076;p24"/>
          <p:cNvSpPr txBox="1"/>
          <p:nvPr/>
        </p:nvSpPr>
        <p:spPr>
          <a:xfrm>
            <a:off x="4141954" y="4103570"/>
            <a:ext cx="850772"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0" i="0" lang="en-US" sz="1088" u="none" cap="none" strike="noStrike">
                <a:solidFill>
                  <a:srgbClr val="00007C"/>
                </a:solidFill>
                <a:latin typeface="Times New Roman"/>
                <a:ea typeface="Times New Roman"/>
                <a:cs typeface="Times New Roman"/>
                <a:sym typeface="Times New Roman"/>
              </a:rPr>
              <a:t>Calcular media</a:t>
            </a:r>
            <a:endParaRPr b="0" i="0" sz="1088" u="none" cap="none" strike="noStrike">
              <a:solidFill>
                <a:srgbClr val="000000"/>
              </a:solidFill>
              <a:latin typeface="Times New Roman"/>
              <a:ea typeface="Times New Roman"/>
              <a:cs typeface="Times New Roman"/>
              <a:sym typeface="Times New Roman"/>
            </a:endParaRPr>
          </a:p>
        </p:txBody>
      </p:sp>
      <p:sp>
        <p:nvSpPr>
          <p:cNvPr id="1077" name="Google Shape;1077;p24"/>
          <p:cNvSpPr/>
          <p:nvPr/>
        </p:nvSpPr>
        <p:spPr>
          <a:xfrm>
            <a:off x="5362398" y="4091998"/>
            <a:ext cx="1201014" cy="216364"/>
          </a:xfrm>
          <a:custGeom>
            <a:rect b="b" l="l" r="r" t="t"/>
            <a:pathLst>
              <a:path extrusionOk="0" h="318135" w="1765934">
                <a:moveTo>
                  <a:pt x="1765553" y="317753"/>
                </a:moveTo>
                <a:lnTo>
                  <a:pt x="1765553" y="0"/>
                </a:lnTo>
                <a:lnTo>
                  <a:pt x="0" y="0"/>
                </a:lnTo>
                <a:lnTo>
                  <a:pt x="0" y="317753"/>
                </a:lnTo>
                <a:lnTo>
                  <a:pt x="6857" y="317753"/>
                </a:lnTo>
                <a:lnTo>
                  <a:pt x="6857" y="12953"/>
                </a:lnTo>
                <a:lnTo>
                  <a:pt x="12966" y="6096"/>
                </a:lnTo>
                <a:lnTo>
                  <a:pt x="12966" y="12953"/>
                </a:lnTo>
                <a:lnTo>
                  <a:pt x="1752600" y="12953"/>
                </a:lnTo>
                <a:lnTo>
                  <a:pt x="1752600" y="6096"/>
                </a:lnTo>
                <a:lnTo>
                  <a:pt x="1759470" y="12953"/>
                </a:lnTo>
                <a:lnTo>
                  <a:pt x="1759470" y="317753"/>
                </a:lnTo>
                <a:lnTo>
                  <a:pt x="1765553" y="317753"/>
                </a:lnTo>
                <a:close/>
              </a:path>
              <a:path extrusionOk="0" h="318135" w="1765934">
                <a:moveTo>
                  <a:pt x="12966" y="12953"/>
                </a:moveTo>
                <a:lnTo>
                  <a:pt x="12966" y="6096"/>
                </a:lnTo>
                <a:lnTo>
                  <a:pt x="6857" y="12953"/>
                </a:lnTo>
                <a:lnTo>
                  <a:pt x="12966" y="12953"/>
                </a:lnTo>
                <a:close/>
              </a:path>
              <a:path extrusionOk="0" h="318135" w="1765934">
                <a:moveTo>
                  <a:pt x="12966" y="304800"/>
                </a:moveTo>
                <a:lnTo>
                  <a:pt x="12966" y="12953"/>
                </a:lnTo>
                <a:lnTo>
                  <a:pt x="6857" y="12953"/>
                </a:lnTo>
                <a:lnTo>
                  <a:pt x="6857" y="304800"/>
                </a:lnTo>
                <a:lnTo>
                  <a:pt x="12966" y="304800"/>
                </a:lnTo>
                <a:close/>
              </a:path>
              <a:path extrusionOk="0" h="318135" w="1765934">
                <a:moveTo>
                  <a:pt x="1759470" y="304800"/>
                </a:moveTo>
                <a:lnTo>
                  <a:pt x="6857" y="304800"/>
                </a:lnTo>
                <a:lnTo>
                  <a:pt x="12966" y="310896"/>
                </a:lnTo>
                <a:lnTo>
                  <a:pt x="12966" y="317753"/>
                </a:lnTo>
                <a:lnTo>
                  <a:pt x="1752600" y="317753"/>
                </a:lnTo>
                <a:lnTo>
                  <a:pt x="1752600" y="310896"/>
                </a:lnTo>
                <a:lnTo>
                  <a:pt x="1759470" y="304800"/>
                </a:lnTo>
                <a:close/>
              </a:path>
              <a:path extrusionOk="0" h="318135" w="1765934">
                <a:moveTo>
                  <a:pt x="12966" y="317753"/>
                </a:moveTo>
                <a:lnTo>
                  <a:pt x="12966" y="310896"/>
                </a:lnTo>
                <a:lnTo>
                  <a:pt x="6857" y="304800"/>
                </a:lnTo>
                <a:lnTo>
                  <a:pt x="6857" y="317753"/>
                </a:lnTo>
                <a:lnTo>
                  <a:pt x="12966" y="317753"/>
                </a:lnTo>
                <a:close/>
              </a:path>
              <a:path extrusionOk="0" h="318135" w="1765934">
                <a:moveTo>
                  <a:pt x="1759470" y="12953"/>
                </a:moveTo>
                <a:lnTo>
                  <a:pt x="1752600" y="6096"/>
                </a:lnTo>
                <a:lnTo>
                  <a:pt x="1752600" y="12953"/>
                </a:lnTo>
                <a:lnTo>
                  <a:pt x="1759470" y="12953"/>
                </a:lnTo>
                <a:close/>
              </a:path>
              <a:path extrusionOk="0" h="318135" w="1765934">
                <a:moveTo>
                  <a:pt x="1759470" y="304800"/>
                </a:moveTo>
                <a:lnTo>
                  <a:pt x="1759470" y="12953"/>
                </a:lnTo>
                <a:lnTo>
                  <a:pt x="1752600" y="12953"/>
                </a:lnTo>
                <a:lnTo>
                  <a:pt x="1752600" y="304800"/>
                </a:lnTo>
                <a:lnTo>
                  <a:pt x="1759470" y="304800"/>
                </a:lnTo>
                <a:close/>
              </a:path>
              <a:path extrusionOk="0" h="318135" w="1765934">
                <a:moveTo>
                  <a:pt x="1759470" y="317753"/>
                </a:moveTo>
                <a:lnTo>
                  <a:pt x="1759470" y="304800"/>
                </a:lnTo>
                <a:lnTo>
                  <a:pt x="1752600" y="310896"/>
                </a:lnTo>
                <a:lnTo>
                  <a:pt x="1752600" y="317753"/>
                </a:lnTo>
                <a:lnTo>
                  <a:pt x="1759470" y="317753"/>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078" name="Google Shape;1078;p24"/>
          <p:cNvSpPr txBox="1"/>
          <p:nvPr/>
        </p:nvSpPr>
        <p:spPr>
          <a:xfrm>
            <a:off x="5525128" y="4103570"/>
            <a:ext cx="883162" cy="176139"/>
          </a:xfrm>
          <a:prstGeom prst="rect">
            <a:avLst/>
          </a:prstGeom>
          <a:noFill/>
          <a:ln>
            <a:noFill/>
          </a:ln>
        </p:spPr>
        <p:txBody>
          <a:bodyPr anchorCtr="0" anchor="t" bIns="0" lIns="0" spcFirstLastPara="1" rIns="0" wrap="square" tIns="8625">
            <a:spAutoFit/>
          </a:bodyPr>
          <a:lstStyle/>
          <a:p>
            <a:pPr indent="0" lvl="0" marL="0" marR="0" rtl="0" algn="l">
              <a:lnSpc>
                <a:spcPct val="100000"/>
              </a:lnSpc>
              <a:spcBef>
                <a:spcPts val="0"/>
              </a:spcBef>
              <a:spcAft>
                <a:spcPts val="0"/>
              </a:spcAft>
              <a:buNone/>
            </a:pPr>
            <a:r>
              <a:rPr b="0" i="0" lang="en-US" sz="1088" u="none" cap="none" strike="noStrike">
                <a:solidFill>
                  <a:srgbClr val="00007C"/>
                </a:solidFill>
                <a:latin typeface="Times New Roman"/>
                <a:ea typeface="Times New Roman"/>
                <a:cs typeface="Times New Roman"/>
                <a:sym typeface="Times New Roman"/>
              </a:rPr>
              <a:t>Imprimir media</a:t>
            </a:r>
            <a:endParaRPr b="0" i="0" sz="1088" u="none" cap="none" strike="noStrike">
              <a:solidFill>
                <a:srgbClr val="000000"/>
              </a:solidFill>
              <a:latin typeface="Times New Roman"/>
              <a:ea typeface="Times New Roman"/>
              <a:cs typeface="Times New Roman"/>
              <a:sym typeface="Times New Roman"/>
            </a:endParaRPr>
          </a:p>
        </p:txBody>
      </p:sp>
      <p:grpSp>
        <p:nvGrpSpPr>
          <p:cNvPr id="1079" name="Google Shape;1079;p24"/>
          <p:cNvGrpSpPr/>
          <p:nvPr/>
        </p:nvGrpSpPr>
        <p:grpSpPr>
          <a:xfrm>
            <a:off x="4563786" y="3735459"/>
            <a:ext cx="1440974" cy="361038"/>
            <a:chOff x="5334622" y="5492508"/>
            <a:chExt cx="2118766" cy="530860"/>
          </a:xfrm>
        </p:grpSpPr>
        <p:sp>
          <p:nvSpPr>
            <p:cNvPr id="1080" name="Google Shape;1080;p24"/>
            <p:cNvSpPr/>
            <p:nvPr/>
          </p:nvSpPr>
          <p:spPr>
            <a:xfrm>
              <a:off x="5334622" y="5492508"/>
              <a:ext cx="2057400" cy="530860"/>
            </a:xfrm>
            <a:custGeom>
              <a:rect b="b" l="l" r="r" t="t"/>
              <a:pathLst>
                <a:path extrusionOk="0" h="530860" w="2057400">
                  <a:moveTo>
                    <a:pt x="2057400" y="530352"/>
                  </a:moveTo>
                  <a:lnTo>
                    <a:pt x="2024634" y="483870"/>
                  </a:lnTo>
                  <a:lnTo>
                    <a:pt x="2015553" y="500608"/>
                  </a:lnTo>
                  <a:lnTo>
                    <a:pt x="1085430" y="0"/>
                  </a:lnTo>
                  <a:lnTo>
                    <a:pt x="1068222" y="0"/>
                  </a:lnTo>
                  <a:lnTo>
                    <a:pt x="1065377" y="0"/>
                  </a:lnTo>
                  <a:lnTo>
                    <a:pt x="1046988" y="0"/>
                  </a:lnTo>
                  <a:lnTo>
                    <a:pt x="42418" y="501904"/>
                  </a:lnTo>
                  <a:lnTo>
                    <a:pt x="34290" y="485394"/>
                  </a:lnTo>
                  <a:lnTo>
                    <a:pt x="0" y="530352"/>
                  </a:lnTo>
                  <a:lnTo>
                    <a:pt x="31242" y="530352"/>
                  </a:lnTo>
                  <a:lnTo>
                    <a:pt x="56388" y="530352"/>
                  </a:lnTo>
                  <a:lnTo>
                    <a:pt x="47980" y="513219"/>
                  </a:lnTo>
                  <a:lnTo>
                    <a:pt x="1066673" y="4635"/>
                  </a:lnTo>
                  <a:lnTo>
                    <a:pt x="2009381" y="511987"/>
                  </a:lnTo>
                  <a:lnTo>
                    <a:pt x="2000250" y="528828"/>
                  </a:lnTo>
                  <a:lnTo>
                    <a:pt x="2026920" y="529539"/>
                  </a:lnTo>
                  <a:lnTo>
                    <a:pt x="2057400" y="530352"/>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pic>
          <p:nvPicPr>
            <p:cNvPr id="1081" name="Google Shape;1081;p24"/>
            <p:cNvPicPr preferRelativeResize="0"/>
            <p:nvPr/>
          </p:nvPicPr>
          <p:blipFill rotWithShape="1">
            <a:blip r:embed="rId5">
              <a:alphaModFix/>
            </a:blip>
            <a:srcRect b="0" l="0" r="0" t="0"/>
            <a:stretch/>
          </p:blipFill>
          <p:spPr>
            <a:xfrm>
              <a:off x="7045810" y="5620130"/>
              <a:ext cx="88900" cy="86045"/>
            </a:xfrm>
            <a:prstGeom prst="rect">
              <a:avLst/>
            </a:prstGeom>
            <a:noFill/>
            <a:ln>
              <a:noFill/>
            </a:ln>
          </p:spPr>
        </p:pic>
        <p:sp>
          <p:nvSpPr>
            <p:cNvPr id="1082" name="Google Shape;1082;p24"/>
            <p:cNvSpPr/>
            <p:nvPr/>
          </p:nvSpPr>
          <p:spPr>
            <a:xfrm>
              <a:off x="7123823" y="5666231"/>
              <a:ext cx="329565" cy="182245"/>
            </a:xfrm>
            <a:custGeom>
              <a:rect b="b" l="l" r="r" t="t"/>
              <a:pathLst>
                <a:path extrusionOk="0" h="182245" w="329565">
                  <a:moveTo>
                    <a:pt x="287820" y="152600"/>
                  </a:moveTo>
                  <a:lnTo>
                    <a:pt x="6096" y="0"/>
                  </a:lnTo>
                  <a:lnTo>
                    <a:pt x="0" y="11430"/>
                  </a:lnTo>
                  <a:lnTo>
                    <a:pt x="281874" y="163377"/>
                  </a:lnTo>
                  <a:lnTo>
                    <a:pt x="287820" y="152600"/>
                  </a:lnTo>
                  <a:close/>
                </a:path>
                <a:path extrusionOk="0" h="182245" w="329565">
                  <a:moveTo>
                    <a:pt x="298704" y="180882"/>
                  </a:moveTo>
                  <a:lnTo>
                    <a:pt x="298704" y="158495"/>
                  </a:lnTo>
                  <a:lnTo>
                    <a:pt x="292608" y="169163"/>
                  </a:lnTo>
                  <a:lnTo>
                    <a:pt x="281874" y="163377"/>
                  </a:lnTo>
                  <a:lnTo>
                    <a:pt x="272796" y="179831"/>
                  </a:lnTo>
                  <a:lnTo>
                    <a:pt x="298704" y="180882"/>
                  </a:lnTo>
                  <a:close/>
                </a:path>
                <a:path extrusionOk="0" h="182245" w="329565">
                  <a:moveTo>
                    <a:pt x="298704" y="158495"/>
                  </a:moveTo>
                  <a:lnTo>
                    <a:pt x="287820" y="152600"/>
                  </a:lnTo>
                  <a:lnTo>
                    <a:pt x="281874" y="163377"/>
                  </a:lnTo>
                  <a:lnTo>
                    <a:pt x="292608" y="169163"/>
                  </a:lnTo>
                  <a:lnTo>
                    <a:pt x="298704" y="158495"/>
                  </a:lnTo>
                  <a:close/>
                </a:path>
                <a:path extrusionOk="0" h="182245" w="329565">
                  <a:moveTo>
                    <a:pt x="329184" y="182117"/>
                  </a:moveTo>
                  <a:lnTo>
                    <a:pt x="297180" y="135635"/>
                  </a:lnTo>
                  <a:lnTo>
                    <a:pt x="287820" y="152600"/>
                  </a:lnTo>
                  <a:lnTo>
                    <a:pt x="298704" y="158495"/>
                  </a:lnTo>
                  <a:lnTo>
                    <a:pt x="298704" y="180882"/>
                  </a:lnTo>
                  <a:lnTo>
                    <a:pt x="329184" y="182117"/>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83" name="Google Shape;1083;p24"/>
          <p:cNvSpPr txBox="1"/>
          <p:nvPr/>
        </p:nvSpPr>
        <p:spPr>
          <a:xfrm>
            <a:off x="5944900" y="3748061"/>
            <a:ext cx="303600" cy="154800"/>
          </a:xfrm>
          <a:prstGeom prst="rect">
            <a:avLst/>
          </a:prstGeom>
          <a:noFill/>
          <a:ln>
            <a:noFill/>
          </a:ln>
        </p:spPr>
        <p:txBody>
          <a:bodyPr anchorCtr="0" anchor="t" bIns="0" lIns="0" spcFirstLastPara="1" rIns="0" wrap="square" tIns="8200">
            <a:spAutoFit/>
          </a:bodyPr>
          <a:lstStyle/>
          <a:p>
            <a:pPr indent="0" lvl="0" marL="0" marR="0" rtl="0" algn="l">
              <a:lnSpc>
                <a:spcPct val="100000"/>
              </a:lnSpc>
              <a:spcBef>
                <a:spcPts val="0"/>
              </a:spcBef>
              <a:spcAft>
                <a:spcPts val="0"/>
              </a:spcAft>
              <a:buNone/>
            </a:pPr>
            <a:r>
              <a:rPr b="0" i="0" lang="en-US" sz="952" u="none" cap="none" strike="noStrike">
                <a:solidFill>
                  <a:srgbClr val="3333CC"/>
                </a:solidFill>
                <a:latin typeface="Times New Roman"/>
                <a:ea typeface="Times New Roman"/>
                <a:cs typeface="Times New Roman"/>
                <a:sym typeface="Times New Roman"/>
              </a:rPr>
              <a:t>media</a:t>
            </a:r>
            <a:endParaRPr b="0" i="0" sz="952" u="none" cap="none" strike="noStrike">
              <a:solidFill>
                <a:srgbClr val="000000"/>
              </a:solidFill>
              <a:latin typeface="Times New Roman"/>
              <a:ea typeface="Times New Roman"/>
              <a:cs typeface="Times New Roman"/>
              <a:sym typeface="Times New Roman"/>
            </a:endParaRPr>
          </a:p>
        </p:txBody>
      </p:sp>
      <p:grpSp>
        <p:nvGrpSpPr>
          <p:cNvPr id="1084" name="Google Shape;1084;p24"/>
          <p:cNvGrpSpPr/>
          <p:nvPr/>
        </p:nvGrpSpPr>
        <p:grpSpPr>
          <a:xfrm>
            <a:off x="4927605" y="3844280"/>
            <a:ext cx="289003" cy="151389"/>
            <a:chOff x="5869571" y="5652515"/>
            <a:chExt cx="424942" cy="222599"/>
          </a:xfrm>
        </p:grpSpPr>
        <p:pic>
          <p:nvPicPr>
            <p:cNvPr id="1085" name="Google Shape;1085;p24"/>
            <p:cNvPicPr preferRelativeResize="0"/>
            <p:nvPr/>
          </p:nvPicPr>
          <p:blipFill rotWithShape="1">
            <a:blip r:embed="rId6">
              <a:alphaModFix/>
            </a:blip>
            <a:srcRect b="0" l="0" r="0" t="0"/>
            <a:stretch/>
          </p:blipFill>
          <p:spPr>
            <a:xfrm>
              <a:off x="5869571" y="5786646"/>
              <a:ext cx="88625" cy="88468"/>
            </a:xfrm>
            <a:prstGeom prst="rect">
              <a:avLst/>
            </a:prstGeom>
            <a:noFill/>
            <a:ln>
              <a:noFill/>
            </a:ln>
          </p:spPr>
        </p:pic>
        <p:sp>
          <p:nvSpPr>
            <p:cNvPr id="1086" name="Google Shape;1086;p24"/>
            <p:cNvSpPr/>
            <p:nvPr/>
          </p:nvSpPr>
          <p:spPr>
            <a:xfrm>
              <a:off x="5954153" y="5652515"/>
              <a:ext cx="340360" cy="161925"/>
            </a:xfrm>
            <a:custGeom>
              <a:rect b="b" l="l" r="r" t="t"/>
              <a:pathLst>
                <a:path extrusionOk="0" h="161925" w="340360">
                  <a:moveTo>
                    <a:pt x="296258" y="28905"/>
                  </a:moveTo>
                  <a:lnTo>
                    <a:pt x="291153" y="17371"/>
                  </a:lnTo>
                  <a:lnTo>
                    <a:pt x="0" y="150113"/>
                  </a:lnTo>
                  <a:lnTo>
                    <a:pt x="5334" y="161543"/>
                  </a:lnTo>
                  <a:lnTo>
                    <a:pt x="296258" y="28905"/>
                  </a:lnTo>
                  <a:close/>
                </a:path>
                <a:path extrusionOk="0" h="161925" w="340360">
                  <a:moveTo>
                    <a:pt x="339852" y="2285"/>
                  </a:moveTo>
                  <a:lnTo>
                    <a:pt x="283464" y="0"/>
                  </a:lnTo>
                  <a:lnTo>
                    <a:pt x="291153" y="17371"/>
                  </a:lnTo>
                  <a:lnTo>
                    <a:pt x="302514" y="12191"/>
                  </a:lnTo>
                  <a:lnTo>
                    <a:pt x="307848" y="23621"/>
                  </a:lnTo>
                  <a:lnTo>
                    <a:pt x="307848" y="41780"/>
                  </a:lnTo>
                  <a:lnTo>
                    <a:pt x="339852" y="2285"/>
                  </a:lnTo>
                  <a:close/>
                </a:path>
                <a:path extrusionOk="0" h="161925" w="340360">
                  <a:moveTo>
                    <a:pt x="307848" y="23621"/>
                  </a:moveTo>
                  <a:lnTo>
                    <a:pt x="302514" y="12191"/>
                  </a:lnTo>
                  <a:lnTo>
                    <a:pt x="291153" y="17371"/>
                  </a:lnTo>
                  <a:lnTo>
                    <a:pt x="296258" y="28905"/>
                  </a:lnTo>
                  <a:lnTo>
                    <a:pt x="307848" y="23621"/>
                  </a:lnTo>
                  <a:close/>
                </a:path>
                <a:path extrusionOk="0" h="161925" w="340360">
                  <a:moveTo>
                    <a:pt x="307848" y="41780"/>
                  </a:moveTo>
                  <a:lnTo>
                    <a:pt x="307848" y="23621"/>
                  </a:lnTo>
                  <a:lnTo>
                    <a:pt x="296258" y="28905"/>
                  </a:lnTo>
                  <a:lnTo>
                    <a:pt x="304038" y="46481"/>
                  </a:lnTo>
                  <a:lnTo>
                    <a:pt x="307848" y="41780"/>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87" name="Google Shape;1087;p24"/>
          <p:cNvSpPr txBox="1"/>
          <p:nvPr/>
        </p:nvSpPr>
        <p:spPr>
          <a:xfrm>
            <a:off x="5115721" y="3851708"/>
            <a:ext cx="303600" cy="154800"/>
          </a:xfrm>
          <a:prstGeom prst="rect">
            <a:avLst/>
          </a:prstGeom>
          <a:noFill/>
          <a:ln>
            <a:noFill/>
          </a:ln>
        </p:spPr>
        <p:txBody>
          <a:bodyPr anchorCtr="0" anchor="t" bIns="0" lIns="0" spcFirstLastPara="1" rIns="0" wrap="square" tIns="8200">
            <a:spAutoFit/>
          </a:bodyPr>
          <a:lstStyle/>
          <a:p>
            <a:pPr indent="0" lvl="0" marL="0" marR="0" rtl="0" algn="l">
              <a:lnSpc>
                <a:spcPct val="100000"/>
              </a:lnSpc>
              <a:spcBef>
                <a:spcPts val="0"/>
              </a:spcBef>
              <a:spcAft>
                <a:spcPts val="0"/>
              </a:spcAft>
              <a:buNone/>
            </a:pPr>
            <a:r>
              <a:rPr b="0" i="0" lang="en-US" sz="952" u="none" cap="none" strike="noStrike">
                <a:solidFill>
                  <a:srgbClr val="3333CC"/>
                </a:solidFill>
                <a:latin typeface="Times New Roman"/>
                <a:ea typeface="Times New Roman"/>
                <a:cs typeface="Times New Roman"/>
                <a:sym typeface="Times New Roman"/>
              </a:rPr>
              <a:t>media</a:t>
            </a:r>
            <a:endParaRPr b="0" i="0" sz="952" u="none" cap="none" strike="noStrike">
              <a:solidFill>
                <a:srgbClr val="000000"/>
              </a:solidFill>
              <a:latin typeface="Times New Roman"/>
              <a:ea typeface="Times New Roman"/>
              <a:cs typeface="Times New Roman"/>
              <a:sym typeface="Times New Roman"/>
            </a:endParaRPr>
          </a:p>
        </p:txBody>
      </p:sp>
      <p:grpSp>
        <p:nvGrpSpPr>
          <p:cNvPr id="1088" name="Google Shape;1088;p24"/>
          <p:cNvGrpSpPr/>
          <p:nvPr/>
        </p:nvGrpSpPr>
        <p:grpSpPr>
          <a:xfrm>
            <a:off x="4631174" y="3833515"/>
            <a:ext cx="285096" cy="146630"/>
            <a:chOff x="5433707" y="5636687"/>
            <a:chExt cx="419198" cy="215600"/>
          </a:xfrm>
        </p:grpSpPr>
        <p:pic>
          <p:nvPicPr>
            <p:cNvPr id="1089" name="Google Shape;1089;p24"/>
            <p:cNvPicPr preferRelativeResize="0"/>
            <p:nvPr/>
          </p:nvPicPr>
          <p:blipFill rotWithShape="1">
            <a:blip r:embed="rId7">
              <a:alphaModFix/>
            </a:blip>
            <a:srcRect b="0" l="0" r="0" t="0"/>
            <a:stretch/>
          </p:blipFill>
          <p:spPr>
            <a:xfrm>
              <a:off x="5764002" y="5636687"/>
              <a:ext cx="88903" cy="85730"/>
            </a:xfrm>
            <a:prstGeom prst="rect">
              <a:avLst/>
            </a:prstGeom>
            <a:noFill/>
            <a:ln>
              <a:noFill/>
            </a:ln>
          </p:spPr>
        </p:pic>
        <p:sp>
          <p:nvSpPr>
            <p:cNvPr id="1090" name="Google Shape;1090;p24"/>
            <p:cNvSpPr/>
            <p:nvPr/>
          </p:nvSpPr>
          <p:spPr>
            <a:xfrm>
              <a:off x="5433707" y="5681472"/>
              <a:ext cx="334645" cy="170815"/>
            </a:xfrm>
            <a:custGeom>
              <a:rect b="b" l="l" r="r" t="t"/>
              <a:pathLst>
                <a:path extrusionOk="0" h="170814" w="334645">
                  <a:moveTo>
                    <a:pt x="42612" y="142186"/>
                  </a:moveTo>
                  <a:lnTo>
                    <a:pt x="34289" y="124967"/>
                  </a:lnTo>
                  <a:lnTo>
                    <a:pt x="0" y="170687"/>
                  </a:lnTo>
                  <a:lnTo>
                    <a:pt x="31241" y="170687"/>
                  </a:lnTo>
                  <a:lnTo>
                    <a:pt x="31241" y="147827"/>
                  </a:lnTo>
                  <a:lnTo>
                    <a:pt x="42612" y="142186"/>
                  </a:lnTo>
                  <a:close/>
                </a:path>
                <a:path extrusionOk="0" h="170814" w="334645">
                  <a:moveTo>
                    <a:pt x="48099" y="153540"/>
                  </a:moveTo>
                  <a:lnTo>
                    <a:pt x="42612" y="142186"/>
                  </a:lnTo>
                  <a:lnTo>
                    <a:pt x="31241" y="147827"/>
                  </a:lnTo>
                  <a:lnTo>
                    <a:pt x="36575" y="159257"/>
                  </a:lnTo>
                  <a:lnTo>
                    <a:pt x="48099" y="153540"/>
                  </a:lnTo>
                  <a:close/>
                </a:path>
                <a:path extrusionOk="0" h="170814" w="334645">
                  <a:moveTo>
                    <a:pt x="56387" y="170687"/>
                  </a:moveTo>
                  <a:lnTo>
                    <a:pt x="48099" y="153540"/>
                  </a:lnTo>
                  <a:lnTo>
                    <a:pt x="36575" y="159257"/>
                  </a:lnTo>
                  <a:lnTo>
                    <a:pt x="31241" y="147827"/>
                  </a:lnTo>
                  <a:lnTo>
                    <a:pt x="31241" y="170687"/>
                  </a:lnTo>
                  <a:lnTo>
                    <a:pt x="56387" y="170687"/>
                  </a:lnTo>
                  <a:close/>
                </a:path>
                <a:path extrusionOk="0" h="170814" w="334645">
                  <a:moveTo>
                    <a:pt x="334517" y="11429"/>
                  </a:moveTo>
                  <a:lnTo>
                    <a:pt x="329183" y="0"/>
                  </a:lnTo>
                  <a:lnTo>
                    <a:pt x="42612" y="142186"/>
                  </a:lnTo>
                  <a:lnTo>
                    <a:pt x="48099" y="153540"/>
                  </a:lnTo>
                  <a:lnTo>
                    <a:pt x="334517" y="11429"/>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091" name="Google Shape;1091;p24"/>
          <p:cNvSpPr txBox="1"/>
          <p:nvPr/>
        </p:nvSpPr>
        <p:spPr>
          <a:xfrm>
            <a:off x="4133144" y="3748061"/>
            <a:ext cx="647364" cy="154800"/>
          </a:xfrm>
          <a:prstGeom prst="rect">
            <a:avLst/>
          </a:prstGeom>
          <a:noFill/>
          <a:ln>
            <a:noFill/>
          </a:ln>
        </p:spPr>
        <p:txBody>
          <a:bodyPr anchorCtr="0" anchor="t" bIns="0" lIns="0" spcFirstLastPara="1" rIns="0" wrap="square" tIns="8200">
            <a:spAutoFit/>
          </a:bodyPr>
          <a:lstStyle/>
          <a:p>
            <a:pPr indent="0" lvl="0" marL="0" marR="0" rtl="0" algn="l">
              <a:lnSpc>
                <a:spcPct val="100000"/>
              </a:lnSpc>
              <a:spcBef>
                <a:spcPts val="0"/>
              </a:spcBef>
              <a:spcAft>
                <a:spcPts val="0"/>
              </a:spcAft>
              <a:buNone/>
            </a:pPr>
            <a:r>
              <a:rPr b="0" i="0" lang="en-US" sz="952" u="none" cap="none" strike="noStrike">
                <a:solidFill>
                  <a:srgbClr val="3333CC"/>
                </a:solidFill>
                <a:latin typeface="Times New Roman"/>
                <a:ea typeface="Times New Roman"/>
                <a:cs typeface="Times New Roman"/>
                <a:sym typeface="Times New Roman"/>
              </a:rPr>
              <a:t>puntuaciones</a:t>
            </a:r>
            <a:endParaRPr b="0" i="0" sz="952" u="none" cap="none" strike="noStrike">
              <a:solidFill>
                <a:srgbClr val="000000"/>
              </a:solidFill>
              <a:latin typeface="Times New Roman"/>
              <a:ea typeface="Times New Roman"/>
              <a:cs typeface="Times New Roman"/>
              <a:sym typeface="Times New Roman"/>
            </a:endParaRPr>
          </a:p>
        </p:txBody>
      </p:sp>
      <p:sp>
        <p:nvSpPr>
          <p:cNvPr id="1092" name="Google Shape;1092;p24"/>
          <p:cNvSpPr txBox="1"/>
          <p:nvPr/>
        </p:nvSpPr>
        <p:spPr>
          <a:xfrm>
            <a:off x="3988728" y="4487067"/>
            <a:ext cx="1096935"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104"/>
                </a:solidFill>
                <a:latin typeface="Arial"/>
                <a:ea typeface="Arial"/>
                <a:cs typeface="Arial"/>
                <a:sym typeface="Arial"/>
              </a:rPr>
              <a:t>Diagrama de diseño</a:t>
            </a:r>
            <a:endParaRPr b="0" i="0" sz="952" u="none" cap="none" strike="noStrike">
              <a:solidFill>
                <a:srgbClr val="000000"/>
              </a:solidFill>
              <a:latin typeface="Arial"/>
              <a:ea typeface="Arial"/>
              <a:cs typeface="Arial"/>
              <a:sym typeface="Arial"/>
            </a:endParaRPr>
          </a:p>
        </p:txBody>
      </p:sp>
      <p:sp>
        <p:nvSpPr>
          <p:cNvPr id="1093" name="Google Shape;1093;p24"/>
          <p:cNvSpPr/>
          <p:nvPr/>
        </p:nvSpPr>
        <p:spPr>
          <a:xfrm>
            <a:off x="2304714" y="4318475"/>
            <a:ext cx="4465905" cy="116603"/>
          </a:xfrm>
          <a:custGeom>
            <a:rect b="b" l="l" r="r" t="t"/>
            <a:pathLst>
              <a:path extrusionOk="0" h="171450" w="6566534">
                <a:moveTo>
                  <a:pt x="6566294" y="0"/>
                </a:moveTo>
                <a:lnTo>
                  <a:pt x="6560185" y="0"/>
                </a:lnTo>
                <a:lnTo>
                  <a:pt x="6553327" y="0"/>
                </a:lnTo>
                <a:lnTo>
                  <a:pt x="6553327" y="159258"/>
                </a:lnTo>
                <a:lnTo>
                  <a:pt x="13093" y="159258"/>
                </a:lnTo>
                <a:lnTo>
                  <a:pt x="13093" y="0"/>
                </a:lnTo>
                <a:lnTo>
                  <a:pt x="7620" y="0"/>
                </a:lnTo>
                <a:lnTo>
                  <a:pt x="139" y="0"/>
                </a:lnTo>
                <a:lnTo>
                  <a:pt x="0" y="0"/>
                </a:lnTo>
                <a:lnTo>
                  <a:pt x="0" y="171450"/>
                </a:lnTo>
                <a:lnTo>
                  <a:pt x="6566294" y="171450"/>
                </a:lnTo>
                <a:lnTo>
                  <a:pt x="6566294" y="165354"/>
                </a:lnTo>
                <a:lnTo>
                  <a:pt x="6566294" y="0"/>
                </a:lnTo>
                <a:close/>
              </a:path>
            </a:pathLst>
          </a:custGeom>
          <a:solidFill>
            <a:srgbClr val="3333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25"/>
          <p:cNvSpPr txBox="1"/>
          <p:nvPr>
            <p:ph idx="4294967295" type="title"/>
          </p:nvPr>
        </p:nvSpPr>
        <p:spPr>
          <a:xfrm>
            <a:off x="595424" y="123612"/>
            <a:ext cx="8378456" cy="944875"/>
          </a:xfrm>
          <a:prstGeom prst="rect">
            <a:avLst/>
          </a:prstGeom>
          <a:noFill/>
          <a:ln>
            <a:noFill/>
          </a:ln>
        </p:spPr>
        <p:txBody>
          <a:bodyPr anchorCtr="0" anchor="t" bIns="0" lIns="0" spcFirstLastPara="1" rIns="0" wrap="square" tIns="8625">
            <a:spAutoFit/>
          </a:bodyPr>
          <a:lstStyle/>
          <a:p>
            <a:pPr indent="0" lvl="0" marL="8637" marR="3455" rtl="0" algn="ctr">
              <a:lnSpc>
                <a:spcPct val="100000"/>
              </a:lnSpc>
              <a:spcBef>
                <a:spcPts val="68"/>
              </a:spcBef>
              <a:spcAft>
                <a:spcPts val="0"/>
              </a:spcAft>
              <a:buSzPts val="3000"/>
              <a:buNone/>
            </a:pPr>
            <a:r>
              <a:rPr lang="en-US">
                <a:solidFill>
                  <a:srgbClr val="FF0000"/>
                </a:solidFill>
              </a:rPr>
              <a:t>Medición de atributos internos del producto Medidas estructurales</a:t>
            </a:r>
            <a:endParaRPr>
              <a:solidFill>
                <a:srgbClr val="FF0000"/>
              </a:solidFill>
            </a:endParaRPr>
          </a:p>
        </p:txBody>
      </p:sp>
      <p:sp>
        <p:nvSpPr>
          <p:cNvPr id="1099" name="Google Shape;1099;p25"/>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100" name="Google Shape;1100;p25"/>
          <p:cNvSpPr/>
          <p:nvPr/>
        </p:nvSpPr>
        <p:spPr>
          <a:xfrm>
            <a:off x="1462674" y="1985892"/>
            <a:ext cx="6218841" cy="1166896"/>
          </a:xfrm>
          <a:custGeom>
            <a:rect b="b" l="l" r="r" t="t"/>
            <a:pathLst>
              <a:path extrusionOk="0" h="1715770" w="9144000">
                <a:moveTo>
                  <a:pt x="9144000" y="0"/>
                </a:moveTo>
                <a:lnTo>
                  <a:pt x="0" y="0"/>
                </a:lnTo>
                <a:lnTo>
                  <a:pt x="0" y="857250"/>
                </a:lnTo>
                <a:lnTo>
                  <a:pt x="0" y="858012"/>
                </a:lnTo>
                <a:lnTo>
                  <a:pt x="0" y="1715262"/>
                </a:lnTo>
                <a:lnTo>
                  <a:pt x="9144000" y="1715262"/>
                </a:lnTo>
                <a:lnTo>
                  <a:pt x="9144000" y="858012"/>
                </a:lnTo>
                <a:lnTo>
                  <a:pt x="9144000" y="857250"/>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01" name="Google Shape;1101;p25"/>
          <p:cNvSpPr txBox="1"/>
          <p:nvPr/>
        </p:nvSpPr>
        <p:spPr>
          <a:xfrm>
            <a:off x="1800387" y="1029768"/>
            <a:ext cx="5486400" cy="2655627"/>
          </a:xfrm>
          <a:prstGeom prst="rect">
            <a:avLst/>
          </a:prstGeom>
          <a:noFill/>
          <a:ln>
            <a:noFill/>
          </a:ln>
        </p:spPr>
        <p:txBody>
          <a:bodyPr anchorCtr="0" anchor="t" bIns="0" lIns="0" spcFirstLastPara="1" rIns="0" wrap="square" tIns="96725">
            <a:spAutoFit/>
          </a:bodyPr>
          <a:lstStyle/>
          <a:p>
            <a:pPr indent="0" lvl="0" marL="43186"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Estructura de los datos (I)</a:t>
            </a:r>
            <a:endParaRPr b="0" i="0" sz="1360" u="none" cap="none" strike="noStrike">
              <a:solidFill>
                <a:srgbClr val="000000"/>
              </a:solidFill>
              <a:latin typeface="Arial"/>
              <a:ea typeface="Arial"/>
              <a:cs typeface="Arial"/>
              <a:sym typeface="Arial"/>
            </a:endParaRPr>
          </a:p>
          <a:p>
            <a:pPr indent="-233206" lvl="0" marL="275961" marR="151584" rtl="0" algn="l">
              <a:lnSpc>
                <a:spcPct val="100000"/>
              </a:lnSpc>
              <a:spcBef>
                <a:spcPts val="626"/>
              </a:spcBef>
              <a:spcAft>
                <a:spcPts val="0"/>
              </a:spcAft>
              <a:buClr>
                <a:srgbClr val="00007C"/>
              </a:buClr>
              <a:buSzPts val="918"/>
              <a:buFont typeface="Noto Sans Symbols"/>
              <a:buChar char="■"/>
            </a:pPr>
            <a:r>
              <a:rPr b="1" i="0" lang="en-US" sz="1224" u="none" cap="none" strike="noStrike">
                <a:solidFill>
                  <a:srgbClr val="3333CC"/>
                </a:solidFill>
                <a:latin typeface="Arial"/>
                <a:ea typeface="Arial"/>
                <a:cs typeface="Arial"/>
                <a:sym typeface="Arial"/>
              </a:rPr>
              <a:t>Medidas locales</a:t>
            </a:r>
            <a:r>
              <a:rPr b="0" i="0" lang="en-US" sz="1224" u="none" cap="none" strike="noStrike">
                <a:solidFill>
                  <a:srgbClr val="000000"/>
                </a:solidFill>
                <a:latin typeface="Arial"/>
                <a:ea typeface="Arial"/>
                <a:cs typeface="Arial"/>
                <a:sym typeface="Arial"/>
              </a:rPr>
              <a:t>: Medida de las propiedades de las estructuras de datos individuales</a:t>
            </a:r>
            <a:endParaRPr b="0" i="0" sz="1224" u="none" cap="none" strike="noStrike">
              <a:solidFill>
                <a:srgbClr val="000000"/>
              </a:solidFill>
              <a:latin typeface="Arial"/>
              <a:ea typeface="Arial"/>
              <a:cs typeface="Arial"/>
              <a:sym typeface="Arial"/>
            </a:endParaRPr>
          </a:p>
          <a:p>
            <a:pPr indent="-194339" lvl="1" marL="548467" marR="38004" rtl="0" algn="l">
              <a:lnSpc>
                <a:spcPct val="100000"/>
              </a:lnSpc>
              <a:spcBef>
                <a:spcPts val="554"/>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Las medidas de estructuras de datos complejas se definen jerárquicamente en términos de los valores de los datos primitivos que las forman y las operaciones necesarias para construirlas</a:t>
            </a:r>
            <a:endParaRPr b="0" i="0" sz="1088" u="none" cap="none" strike="noStrike">
              <a:solidFill>
                <a:srgbClr val="000000"/>
              </a:solidFill>
              <a:latin typeface="Arial"/>
              <a:ea typeface="Arial"/>
              <a:cs typeface="Arial"/>
              <a:sym typeface="Arial"/>
            </a:endParaRPr>
          </a:p>
          <a:p>
            <a:pPr indent="-233638" lvl="0" marL="276393" marR="178360" rtl="0" algn="l">
              <a:lnSpc>
                <a:spcPct val="100000"/>
              </a:lnSpc>
              <a:spcBef>
                <a:spcPts val="554"/>
              </a:spcBef>
              <a:spcAft>
                <a:spcPts val="0"/>
              </a:spcAft>
              <a:buClr>
                <a:srgbClr val="00007C"/>
              </a:buClr>
              <a:buSzPts val="918"/>
              <a:buFont typeface="Noto Sans Symbols"/>
              <a:buChar char="■"/>
            </a:pPr>
            <a:r>
              <a:rPr b="1" i="0" lang="en-US" sz="1224" u="none" cap="none" strike="noStrike">
                <a:solidFill>
                  <a:srgbClr val="3333CC"/>
                </a:solidFill>
                <a:latin typeface="Arial"/>
                <a:ea typeface="Arial"/>
                <a:cs typeface="Arial"/>
                <a:sym typeface="Arial"/>
              </a:rPr>
              <a:t>Medidas globales</a:t>
            </a:r>
            <a:r>
              <a:rPr b="0" i="0" lang="en-US" sz="1224" u="none" cap="none" strike="noStrike">
                <a:solidFill>
                  <a:srgbClr val="000000"/>
                </a:solidFill>
                <a:latin typeface="Arial"/>
                <a:ea typeface="Arial"/>
                <a:cs typeface="Arial"/>
                <a:sym typeface="Arial"/>
              </a:rPr>
              <a:t>: Globalmente se puede medir la cantidad de datos de un sistema dado</a:t>
            </a:r>
            <a:endParaRPr b="0" i="0" sz="1224" u="none" cap="none" strike="noStrike">
              <a:solidFill>
                <a:srgbClr val="000000"/>
              </a:solidFill>
              <a:latin typeface="Arial"/>
              <a:ea typeface="Arial"/>
              <a:cs typeface="Arial"/>
              <a:sym typeface="Arial"/>
            </a:endParaRPr>
          </a:p>
          <a:p>
            <a:pPr indent="-193907" lvl="1" marL="548035" marR="0" rtl="0" algn="l">
              <a:lnSpc>
                <a:spcPct val="100000"/>
              </a:lnSpc>
              <a:spcBef>
                <a:spcPts val="558"/>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Medida del número de operandos distintos:</a:t>
            </a:r>
            <a:endParaRPr b="0" i="0" sz="1088" u="none" cap="none" strike="noStrike">
              <a:solidFill>
                <a:srgbClr val="000000"/>
              </a:solidFill>
              <a:latin typeface="Arial"/>
              <a:ea typeface="Arial"/>
              <a:cs typeface="Arial"/>
              <a:sym typeface="Arial"/>
            </a:endParaRPr>
          </a:p>
          <a:p>
            <a:pPr indent="0" lvl="0" marL="548467" marR="0" rtl="0" algn="l">
              <a:lnSpc>
                <a:spcPct val="100000"/>
              </a:lnSpc>
              <a:spcBef>
                <a:spcPts val="769"/>
              </a:spcBef>
              <a:spcAft>
                <a:spcPts val="0"/>
              </a:spcAft>
              <a:buNone/>
            </a:pPr>
            <a:r>
              <a:rPr b="0" i="0" lang="en-US" sz="1088" u="none" cap="none" strike="noStrike">
                <a:solidFill>
                  <a:srgbClr val="000000"/>
                </a:solidFill>
                <a:latin typeface="Arial"/>
                <a:ea typeface="Arial"/>
                <a:cs typeface="Arial"/>
                <a:sym typeface="Arial"/>
              </a:rPr>
              <a:t>µ</a:t>
            </a:r>
            <a:r>
              <a:rPr b="0" baseline="-25000" i="0" lang="en-US" sz="1071" u="none" cap="none" strike="noStrike">
                <a:solidFill>
                  <a:srgbClr val="000000"/>
                </a:solidFill>
                <a:latin typeface="Arial"/>
                <a:ea typeface="Arial"/>
                <a:cs typeface="Arial"/>
                <a:sym typeface="Arial"/>
              </a:rPr>
              <a:t>2 </a:t>
            </a:r>
            <a:r>
              <a:rPr b="0" i="0" lang="en-US" sz="1088" u="none" cap="none" strike="noStrike">
                <a:solidFill>
                  <a:srgbClr val="000000"/>
                </a:solidFill>
                <a:latin typeface="Arial"/>
                <a:ea typeface="Arial"/>
                <a:cs typeface="Arial"/>
                <a:sym typeface="Arial"/>
              </a:rPr>
              <a:t>= nº de variables + nº de constantes + nº de etiquetas</a:t>
            </a:r>
            <a:endParaRPr b="0" i="0" sz="1088" u="none" cap="none" strike="noStrike">
              <a:solidFill>
                <a:srgbClr val="000000"/>
              </a:solidFill>
              <a:latin typeface="Arial"/>
              <a:ea typeface="Arial"/>
              <a:cs typeface="Arial"/>
              <a:sym typeface="Arial"/>
            </a:endParaRPr>
          </a:p>
          <a:p>
            <a:pPr indent="0" lvl="0" marL="0" marR="0" rtl="0" algn="l">
              <a:lnSpc>
                <a:spcPct val="100000"/>
              </a:lnSpc>
              <a:spcBef>
                <a:spcPts val="68"/>
              </a:spcBef>
              <a:spcAft>
                <a:spcPts val="0"/>
              </a:spcAft>
              <a:buNone/>
            </a:pPr>
            <a:r>
              <a:t/>
            </a:r>
            <a:endParaRPr b="0" i="0" sz="1088" u="none" cap="none" strike="noStrike">
              <a:solidFill>
                <a:srgbClr val="000000"/>
              </a:solidFill>
              <a:latin typeface="Arial"/>
              <a:ea typeface="Arial"/>
              <a:cs typeface="Arial"/>
              <a:sym typeface="Arial"/>
            </a:endParaRPr>
          </a:p>
          <a:p>
            <a:pPr indent="-193907" lvl="1" marL="548035" marR="0" rtl="0" algn="l">
              <a:lnSpc>
                <a:spcPct val="100000"/>
              </a:lnSpc>
              <a:spcBef>
                <a:spcPts val="0"/>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Medida del tamaño de las bases de datos (modelo COCOMO):</a:t>
            </a:r>
            <a:endParaRPr b="0" i="0" sz="1088" u="none" cap="none" strike="noStrike">
              <a:solidFill>
                <a:srgbClr val="000000"/>
              </a:solidFill>
              <a:latin typeface="Arial"/>
              <a:ea typeface="Arial"/>
              <a:cs typeface="Arial"/>
              <a:sym typeface="Arial"/>
            </a:endParaRPr>
          </a:p>
        </p:txBody>
      </p:sp>
      <p:sp>
        <p:nvSpPr>
          <p:cNvPr id="1102" name="Google Shape;1102;p25"/>
          <p:cNvSpPr txBox="1"/>
          <p:nvPr/>
        </p:nvSpPr>
        <p:spPr>
          <a:xfrm>
            <a:off x="2958474" y="3782782"/>
            <a:ext cx="3129718"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Tamaño de la base de datos en bytes o caracteres</a:t>
            </a:r>
            <a:endParaRPr b="0" i="0" sz="1088" u="none" cap="none" strike="noStrike">
              <a:solidFill>
                <a:srgbClr val="000000"/>
              </a:solidFill>
              <a:latin typeface="Arial"/>
              <a:ea typeface="Arial"/>
              <a:cs typeface="Arial"/>
              <a:sym typeface="Arial"/>
            </a:endParaRPr>
          </a:p>
        </p:txBody>
      </p:sp>
      <p:sp>
        <p:nvSpPr>
          <p:cNvPr id="1103" name="Google Shape;1103;p25"/>
          <p:cNvSpPr txBox="1"/>
          <p:nvPr/>
        </p:nvSpPr>
        <p:spPr>
          <a:xfrm>
            <a:off x="2572908" y="3898874"/>
            <a:ext cx="367084"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D/P =</a:t>
            </a:r>
            <a:endParaRPr b="0" i="0" sz="1088" u="none" cap="none" strike="noStrike">
              <a:solidFill>
                <a:srgbClr val="000000"/>
              </a:solidFill>
              <a:latin typeface="Arial"/>
              <a:ea typeface="Arial"/>
              <a:cs typeface="Arial"/>
              <a:sym typeface="Arial"/>
            </a:endParaRPr>
          </a:p>
        </p:txBody>
      </p:sp>
      <p:sp>
        <p:nvSpPr>
          <p:cNvPr id="1104" name="Google Shape;1104;p25"/>
          <p:cNvSpPr txBox="1"/>
          <p:nvPr/>
        </p:nvSpPr>
        <p:spPr>
          <a:xfrm>
            <a:off x="3583474" y="4014966"/>
            <a:ext cx="1891996"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Tamaño del programa en DSI*</a:t>
            </a:r>
            <a:endParaRPr b="0" i="0" sz="1088" u="none" cap="none" strike="noStrike">
              <a:solidFill>
                <a:srgbClr val="000000"/>
              </a:solidFill>
              <a:latin typeface="Arial"/>
              <a:ea typeface="Arial"/>
              <a:cs typeface="Arial"/>
              <a:sym typeface="Arial"/>
            </a:endParaRPr>
          </a:p>
        </p:txBody>
      </p:sp>
      <p:sp>
        <p:nvSpPr>
          <p:cNvPr id="1105" name="Google Shape;1105;p25"/>
          <p:cNvSpPr/>
          <p:nvPr/>
        </p:nvSpPr>
        <p:spPr>
          <a:xfrm>
            <a:off x="2956232" y="4010116"/>
            <a:ext cx="3183701" cy="6478"/>
          </a:xfrm>
          <a:custGeom>
            <a:rect b="b" l="l" r="r" t="t"/>
            <a:pathLst>
              <a:path extrusionOk="0" h="9525" w="4681220">
                <a:moveTo>
                  <a:pt x="4680965" y="9144"/>
                </a:moveTo>
                <a:lnTo>
                  <a:pt x="4680965" y="0"/>
                </a:lnTo>
                <a:lnTo>
                  <a:pt x="0" y="0"/>
                </a:lnTo>
                <a:lnTo>
                  <a:pt x="0" y="9144"/>
                </a:lnTo>
                <a:lnTo>
                  <a:pt x="4680965" y="914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06" name="Google Shape;1106;p25"/>
          <p:cNvSpPr txBox="1"/>
          <p:nvPr/>
        </p:nvSpPr>
        <p:spPr>
          <a:xfrm>
            <a:off x="2228624" y="4398966"/>
            <a:ext cx="1933023" cy="154800"/>
          </a:xfrm>
          <a:prstGeom prst="rect">
            <a:avLst/>
          </a:prstGeom>
          <a:noFill/>
          <a:ln>
            <a:noFill/>
          </a:ln>
        </p:spPr>
        <p:txBody>
          <a:bodyPr anchorCtr="0" anchor="t" bIns="0" lIns="0" spcFirstLastPara="1" rIns="0" wrap="square" tIns="8200">
            <a:spAutoFit/>
          </a:bodyPr>
          <a:lstStyle/>
          <a:p>
            <a:pPr indent="0" lvl="0" marL="25912" marR="0" rtl="0" algn="l">
              <a:lnSpc>
                <a:spcPct val="100000"/>
              </a:lnSpc>
              <a:spcBef>
                <a:spcPts val="0"/>
              </a:spcBef>
              <a:spcAft>
                <a:spcPts val="0"/>
              </a:spcAft>
              <a:buNone/>
            </a:pPr>
            <a:r>
              <a:rPr b="0" baseline="30000" i="0" lang="en-US" sz="1071" u="none" cap="none" strike="noStrike">
                <a:solidFill>
                  <a:srgbClr val="000000"/>
                </a:solidFill>
                <a:latin typeface="Arial"/>
                <a:ea typeface="Arial"/>
                <a:cs typeface="Arial"/>
                <a:sym typeface="Arial"/>
              </a:rPr>
              <a:t>*</a:t>
            </a:r>
            <a:r>
              <a:rPr b="0" i="0" lang="en-US" sz="952" u="none" cap="none" strike="noStrike">
                <a:solidFill>
                  <a:srgbClr val="000000"/>
                </a:solidFill>
                <a:latin typeface="Arial"/>
                <a:ea typeface="Arial"/>
                <a:cs typeface="Arial"/>
                <a:sym typeface="Arial"/>
              </a:rPr>
              <a:t>DSI: </a:t>
            </a:r>
            <a:r>
              <a:rPr b="0" i="1" lang="en-US" sz="952" u="none" cap="none" strike="noStrike">
                <a:solidFill>
                  <a:srgbClr val="000000"/>
                </a:solidFill>
                <a:latin typeface="Arial"/>
                <a:ea typeface="Arial"/>
                <a:cs typeface="Arial"/>
                <a:sym typeface="Arial"/>
              </a:rPr>
              <a:t>Delivered Source Instructions</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26"/>
          <p:cNvSpPr txBox="1"/>
          <p:nvPr>
            <p:ph idx="4294967295" type="title"/>
          </p:nvPr>
        </p:nvSpPr>
        <p:spPr>
          <a:xfrm>
            <a:off x="462774" y="-44186"/>
            <a:ext cx="8335926" cy="944875"/>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Medición de atributos externos del producto</a:t>
            </a:r>
            <a:endParaRPr>
              <a:solidFill>
                <a:srgbClr val="FF0000"/>
              </a:solidFill>
            </a:endParaRPr>
          </a:p>
        </p:txBody>
      </p:sp>
      <p:grpSp>
        <p:nvGrpSpPr>
          <p:cNvPr id="1112" name="Google Shape;1112;p26"/>
          <p:cNvGrpSpPr/>
          <p:nvPr/>
        </p:nvGrpSpPr>
        <p:grpSpPr>
          <a:xfrm>
            <a:off x="1462674" y="2568900"/>
            <a:ext cx="6218841" cy="583880"/>
            <a:chOff x="774839" y="3777234"/>
            <a:chExt cx="9144000" cy="858520"/>
          </a:xfrm>
        </p:grpSpPr>
        <p:sp>
          <p:nvSpPr>
            <p:cNvPr id="1113" name="Google Shape;1113;p26"/>
            <p:cNvSpPr/>
            <p:nvPr/>
          </p:nvSpPr>
          <p:spPr>
            <a:xfrm>
              <a:off x="774839" y="3777234"/>
              <a:ext cx="9144000" cy="85851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14" name="Google Shape;1114;p26"/>
            <p:cNvSpPr/>
            <p:nvPr/>
          </p:nvSpPr>
          <p:spPr>
            <a:xfrm>
              <a:off x="6677291" y="4623054"/>
              <a:ext cx="1411605" cy="12700"/>
            </a:xfrm>
            <a:custGeom>
              <a:rect b="b" l="l" r="r" t="t"/>
              <a:pathLst>
                <a:path extrusionOk="0" h="12700" w="1411604">
                  <a:moveTo>
                    <a:pt x="1411224" y="12192"/>
                  </a:moveTo>
                  <a:lnTo>
                    <a:pt x="1411224" y="0"/>
                  </a:lnTo>
                  <a:lnTo>
                    <a:pt x="0" y="0"/>
                  </a:lnTo>
                  <a:lnTo>
                    <a:pt x="0" y="12192"/>
                  </a:lnTo>
                  <a:lnTo>
                    <a:pt x="6845" y="12192"/>
                  </a:lnTo>
                  <a:lnTo>
                    <a:pt x="12954" y="6096"/>
                  </a:lnTo>
                  <a:lnTo>
                    <a:pt x="12954" y="12192"/>
                  </a:lnTo>
                  <a:lnTo>
                    <a:pt x="1399032" y="12192"/>
                  </a:lnTo>
                  <a:lnTo>
                    <a:pt x="1399032" y="6096"/>
                  </a:lnTo>
                  <a:lnTo>
                    <a:pt x="1405127" y="12192"/>
                  </a:lnTo>
                  <a:lnTo>
                    <a:pt x="1411224" y="12192"/>
                  </a:lnTo>
                  <a:close/>
                </a:path>
                <a:path extrusionOk="0" h="12700" w="1411604">
                  <a:moveTo>
                    <a:pt x="12954" y="12192"/>
                  </a:moveTo>
                  <a:lnTo>
                    <a:pt x="12954" y="6096"/>
                  </a:lnTo>
                  <a:lnTo>
                    <a:pt x="6845" y="12192"/>
                  </a:lnTo>
                  <a:lnTo>
                    <a:pt x="12954" y="12192"/>
                  </a:lnTo>
                  <a:close/>
                </a:path>
                <a:path extrusionOk="0" h="12700" w="1411604">
                  <a:moveTo>
                    <a:pt x="1405127" y="12192"/>
                  </a:moveTo>
                  <a:lnTo>
                    <a:pt x="1399032" y="6096"/>
                  </a:lnTo>
                  <a:lnTo>
                    <a:pt x="1399032" y="12192"/>
                  </a:lnTo>
                  <a:lnTo>
                    <a:pt x="1405127" y="1219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115" name="Google Shape;1115;p26"/>
          <p:cNvSpPr txBox="1"/>
          <p:nvPr/>
        </p:nvSpPr>
        <p:spPr>
          <a:xfrm>
            <a:off x="1834937" y="1002442"/>
            <a:ext cx="5482513" cy="2139385"/>
          </a:xfrm>
          <a:prstGeom prst="rect">
            <a:avLst/>
          </a:prstGeom>
          <a:noFill/>
          <a:ln>
            <a:noFill/>
          </a:ln>
        </p:spPr>
        <p:txBody>
          <a:bodyPr anchorCtr="0" anchor="t" bIns="0" lIns="0" spcFirstLastPara="1" rIns="0" wrap="square" tIns="29775">
            <a:spAutoFit/>
          </a:bodyPr>
          <a:lstStyle/>
          <a:p>
            <a:pPr indent="0" lvl="0" marL="241412" marR="142515" rtl="0" algn="l">
              <a:lnSpc>
                <a:spcPct val="107761"/>
              </a:lnSpc>
              <a:spcBef>
                <a:spcPts val="0"/>
              </a:spcBef>
              <a:spcAft>
                <a:spcPts val="0"/>
              </a:spcAft>
              <a:buNone/>
            </a:pPr>
            <a:r>
              <a:rPr b="0" i="0" lang="en-US" sz="1224" u="none" cap="none" strike="noStrike">
                <a:solidFill>
                  <a:srgbClr val="000000"/>
                </a:solidFill>
                <a:latin typeface="Arial"/>
                <a:ea typeface="Arial"/>
                <a:cs typeface="Arial"/>
                <a:sym typeface="Arial"/>
              </a:rPr>
              <a:t>Los atributos externos de un producto son aquellos que pueden medirse únicamente con respecto a cómo el producto se relaciona con su entorno.</a:t>
            </a:r>
            <a:endParaRPr b="0" i="0" sz="1224" u="none" cap="none" strike="noStrike">
              <a:solidFill>
                <a:srgbClr val="000000"/>
              </a:solidFill>
              <a:latin typeface="Arial"/>
              <a:ea typeface="Arial"/>
              <a:cs typeface="Arial"/>
              <a:sym typeface="Arial"/>
            </a:endParaRPr>
          </a:p>
          <a:p>
            <a:pPr indent="-232774" lvl="0" marL="241412" marR="0" rtl="0" algn="l">
              <a:lnSpc>
                <a:spcPct val="100000"/>
              </a:lnSpc>
              <a:spcBef>
                <a:spcPts val="133"/>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Los atributos externos sólo son medibles cuando el producto esta completo.</a:t>
            </a:r>
            <a:endParaRPr b="0" i="0" sz="1224" u="none" cap="none" strike="noStrike">
              <a:solidFill>
                <a:srgbClr val="000000"/>
              </a:solidFill>
              <a:latin typeface="Arial"/>
              <a:ea typeface="Arial"/>
              <a:cs typeface="Arial"/>
              <a:sym typeface="Arial"/>
            </a:endParaRPr>
          </a:p>
          <a:p>
            <a:pPr indent="-233206" lvl="0" marL="241412" marR="71257" rtl="0" algn="l">
              <a:lnSpc>
                <a:spcPct val="107761"/>
              </a:lnSpc>
              <a:spcBef>
                <a:spcPts val="312"/>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La mayoría de los atributos externos están relacionados con algún aspecto de la calidad.</a:t>
            </a:r>
            <a:endParaRPr b="0" i="0" sz="1224" u="none" cap="none" strike="noStrike">
              <a:solidFill>
                <a:srgbClr val="000000"/>
              </a:solidFill>
              <a:latin typeface="Arial"/>
              <a:ea typeface="Arial"/>
              <a:cs typeface="Arial"/>
              <a:sym typeface="Arial"/>
            </a:endParaRPr>
          </a:p>
          <a:p>
            <a:pPr indent="-194339" lvl="1" marL="565309" marR="351105" rtl="0" algn="l">
              <a:lnSpc>
                <a:spcPct val="108180"/>
              </a:lnSpc>
              <a:spcBef>
                <a:spcPts val="265"/>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Los modelos de calidad recogen atributos clave denominados </a:t>
            </a:r>
            <a:r>
              <a:rPr b="1" i="1" lang="en-US" sz="1088" u="none" cap="none" strike="noStrike">
                <a:solidFill>
                  <a:srgbClr val="000000"/>
                </a:solidFill>
                <a:latin typeface="Arial"/>
                <a:ea typeface="Arial"/>
                <a:cs typeface="Arial"/>
                <a:sym typeface="Arial"/>
              </a:rPr>
              <a:t>factores de calidad</a:t>
            </a:r>
            <a:r>
              <a:rPr b="0" i="0" lang="en-US" sz="1088" u="none" cap="none" strike="noStrike">
                <a:solidFill>
                  <a:srgbClr val="000000"/>
                </a:solidFill>
                <a:latin typeface="Arial"/>
                <a:ea typeface="Arial"/>
                <a:cs typeface="Arial"/>
                <a:sym typeface="Arial"/>
              </a:rPr>
              <a:t>, que normalmente son atributos externos de alto nivel.</a:t>
            </a:r>
            <a:endParaRPr b="0" i="0" sz="1088" u="none" cap="none" strike="noStrike">
              <a:solidFill>
                <a:srgbClr val="000000"/>
              </a:solidFill>
              <a:latin typeface="Arial"/>
              <a:ea typeface="Arial"/>
              <a:cs typeface="Arial"/>
              <a:sym typeface="Arial"/>
            </a:endParaRPr>
          </a:p>
          <a:p>
            <a:pPr indent="-194339" lvl="1" marL="565741" marR="396019" rtl="0" algn="l">
              <a:lnSpc>
                <a:spcPct val="108180"/>
              </a:lnSpc>
              <a:spcBef>
                <a:spcPts val="258"/>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Los factores de calidad pueden descomponerse en atributos de bajo nivel denominados </a:t>
            </a:r>
            <a:r>
              <a:rPr b="1" i="1" lang="en-US" sz="1088" u="none" cap="none" strike="noStrike">
                <a:solidFill>
                  <a:srgbClr val="000000"/>
                </a:solidFill>
                <a:latin typeface="Arial"/>
                <a:ea typeface="Arial"/>
                <a:cs typeface="Arial"/>
                <a:sym typeface="Arial"/>
              </a:rPr>
              <a:t>criterios de calidad</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194339" lvl="1" marL="565741" marR="105375" rtl="0" algn="l">
              <a:lnSpc>
                <a:spcPct val="108180"/>
              </a:lnSpc>
              <a:spcBef>
                <a:spcPts val="258"/>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Los criterios de calidad pueden asociarse con un conjunto de atributos de bajo nivel medibles directamente obteniendo las </a:t>
            </a:r>
            <a:r>
              <a:rPr b="1" i="1" lang="en-US" sz="1088" u="none" cap="none" strike="noStrike">
                <a:solidFill>
                  <a:srgbClr val="000000"/>
                </a:solidFill>
                <a:latin typeface="Arial"/>
                <a:ea typeface="Arial"/>
                <a:cs typeface="Arial"/>
                <a:sym typeface="Arial"/>
              </a:rPr>
              <a:t>métricas de calidad</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0" lvl="0" marL="0" marR="1112912" rtl="0" algn="r">
              <a:lnSpc>
                <a:spcPct val="100000"/>
              </a:lnSpc>
              <a:spcBef>
                <a:spcPts val="346"/>
              </a:spcBef>
              <a:spcAft>
                <a:spcPts val="0"/>
              </a:spcAft>
              <a:buNone/>
            </a:pPr>
            <a:r>
              <a:rPr b="1" i="0" lang="en-US" sz="816" u="none" cap="none" strike="noStrike">
                <a:solidFill>
                  <a:srgbClr val="CB132D"/>
                </a:solidFill>
                <a:latin typeface="Palatino Linotype"/>
                <a:ea typeface="Palatino Linotype"/>
                <a:cs typeface="Palatino Linotype"/>
                <a:sym typeface="Palatino Linotype"/>
              </a:rPr>
              <a:t>MÉTRICA</a:t>
            </a:r>
            <a:endParaRPr b="0" i="0" sz="816" u="none" cap="none" strike="noStrike">
              <a:solidFill>
                <a:srgbClr val="000000"/>
              </a:solidFill>
              <a:latin typeface="Palatino Linotype"/>
              <a:ea typeface="Palatino Linotype"/>
              <a:cs typeface="Palatino Linotype"/>
              <a:sym typeface="Palatino Linotype"/>
            </a:endParaRPr>
          </a:p>
        </p:txBody>
      </p:sp>
      <p:sp>
        <p:nvSpPr>
          <p:cNvPr id="1116" name="Google Shape;1116;p26"/>
          <p:cNvSpPr/>
          <p:nvPr/>
        </p:nvSpPr>
        <p:spPr>
          <a:xfrm>
            <a:off x="2701260" y="3152443"/>
            <a:ext cx="3735623" cy="583016"/>
          </a:xfrm>
          <a:custGeom>
            <a:rect b="b" l="l" r="r" t="t"/>
            <a:pathLst>
              <a:path extrusionOk="0" h="857250" w="5492750">
                <a:moveTo>
                  <a:pt x="1347965" y="765810"/>
                </a:moveTo>
                <a:lnTo>
                  <a:pt x="0" y="765810"/>
                </a:lnTo>
                <a:lnTo>
                  <a:pt x="0" y="857250"/>
                </a:lnTo>
                <a:lnTo>
                  <a:pt x="6096" y="857250"/>
                </a:lnTo>
                <a:lnTo>
                  <a:pt x="12954" y="857250"/>
                </a:lnTo>
                <a:lnTo>
                  <a:pt x="12954" y="778002"/>
                </a:lnTo>
                <a:lnTo>
                  <a:pt x="1335011" y="778002"/>
                </a:lnTo>
                <a:lnTo>
                  <a:pt x="1335011" y="857250"/>
                </a:lnTo>
                <a:lnTo>
                  <a:pt x="1341107" y="857250"/>
                </a:lnTo>
                <a:lnTo>
                  <a:pt x="1347965" y="857250"/>
                </a:lnTo>
                <a:lnTo>
                  <a:pt x="1347965" y="765810"/>
                </a:lnTo>
                <a:close/>
              </a:path>
              <a:path extrusionOk="0" h="857250" w="5492750">
                <a:moveTo>
                  <a:pt x="3054083" y="765810"/>
                </a:moveTo>
                <a:lnTo>
                  <a:pt x="1706867" y="765810"/>
                </a:lnTo>
                <a:lnTo>
                  <a:pt x="1706867" y="857250"/>
                </a:lnTo>
                <a:lnTo>
                  <a:pt x="1712963" y="857250"/>
                </a:lnTo>
                <a:lnTo>
                  <a:pt x="1719059" y="857250"/>
                </a:lnTo>
                <a:lnTo>
                  <a:pt x="1719059" y="778002"/>
                </a:lnTo>
                <a:lnTo>
                  <a:pt x="3041891" y="778002"/>
                </a:lnTo>
                <a:lnTo>
                  <a:pt x="3041891" y="857250"/>
                </a:lnTo>
                <a:lnTo>
                  <a:pt x="3047987" y="857250"/>
                </a:lnTo>
                <a:lnTo>
                  <a:pt x="3054083" y="857250"/>
                </a:lnTo>
                <a:lnTo>
                  <a:pt x="3054083" y="765810"/>
                </a:lnTo>
                <a:close/>
              </a:path>
              <a:path extrusionOk="0" h="857250" w="5492750">
                <a:moveTo>
                  <a:pt x="3054083" y="232410"/>
                </a:moveTo>
                <a:lnTo>
                  <a:pt x="3041904" y="232410"/>
                </a:lnTo>
                <a:lnTo>
                  <a:pt x="3041904" y="244602"/>
                </a:lnTo>
                <a:lnTo>
                  <a:pt x="3041904" y="590550"/>
                </a:lnTo>
                <a:lnTo>
                  <a:pt x="1719072" y="590550"/>
                </a:lnTo>
                <a:lnTo>
                  <a:pt x="1719072" y="244602"/>
                </a:lnTo>
                <a:lnTo>
                  <a:pt x="3041904" y="244602"/>
                </a:lnTo>
                <a:lnTo>
                  <a:pt x="3041904" y="232410"/>
                </a:lnTo>
                <a:lnTo>
                  <a:pt x="1706880" y="232410"/>
                </a:lnTo>
                <a:lnTo>
                  <a:pt x="1706880" y="603504"/>
                </a:lnTo>
                <a:lnTo>
                  <a:pt x="1712976" y="603504"/>
                </a:lnTo>
                <a:lnTo>
                  <a:pt x="1719072" y="603504"/>
                </a:lnTo>
                <a:lnTo>
                  <a:pt x="3041904" y="603504"/>
                </a:lnTo>
                <a:lnTo>
                  <a:pt x="3048000" y="603504"/>
                </a:lnTo>
                <a:lnTo>
                  <a:pt x="3054083" y="603504"/>
                </a:lnTo>
                <a:lnTo>
                  <a:pt x="3054083" y="232410"/>
                </a:lnTo>
                <a:close/>
              </a:path>
              <a:path extrusionOk="0" h="857250" w="5492750">
                <a:moveTo>
                  <a:pt x="5492496" y="0"/>
                </a:moveTo>
                <a:lnTo>
                  <a:pt x="5480304" y="0"/>
                </a:lnTo>
                <a:lnTo>
                  <a:pt x="5480304" y="346710"/>
                </a:lnTo>
                <a:lnTo>
                  <a:pt x="4094226" y="346710"/>
                </a:lnTo>
                <a:lnTo>
                  <a:pt x="4094226" y="0"/>
                </a:lnTo>
                <a:lnTo>
                  <a:pt x="4081272" y="0"/>
                </a:lnTo>
                <a:lnTo>
                  <a:pt x="4081272" y="358902"/>
                </a:lnTo>
                <a:lnTo>
                  <a:pt x="4088117" y="358902"/>
                </a:lnTo>
                <a:lnTo>
                  <a:pt x="4094226" y="358902"/>
                </a:lnTo>
                <a:lnTo>
                  <a:pt x="5480304" y="358902"/>
                </a:lnTo>
                <a:lnTo>
                  <a:pt x="5486400" y="358902"/>
                </a:lnTo>
                <a:lnTo>
                  <a:pt x="5492496" y="358902"/>
                </a:lnTo>
                <a:lnTo>
                  <a:pt x="549249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17" name="Google Shape;1117;p26"/>
          <p:cNvSpPr txBox="1"/>
          <p:nvPr/>
        </p:nvSpPr>
        <p:spPr>
          <a:xfrm>
            <a:off x="5510272" y="3175409"/>
            <a:ext cx="850340"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CC"/>
                </a:solidFill>
                <a:latin typeface="Times New Roman"/>
                <a:ea typeface="Times New Roman"/>
                <a:cs typeface="Times New Roman"/>
                <a:sym typeface="Times New Roman"/>
              </a:rPr>
              <a:t>Cuenta de fallos</a:t>
            </a:r>
            <a:endParaRPr b="0" i="0" sz="952" u="none" cap="none" strike="noStrike">
              <a:solidFill>
                <a:srgbClr val="000000"/>
              </a:solidFill>
              <a:latin typeface="Times New Roman"/>
              <a:ea typeface="Times New Roman"/>
              <a:cs typeface="Times New Roman"/>
              <a:sym typeface="Times New Roman"/>
            </a:endParaRPr>
          </a:p>
        </p:txBody>
      </p:sp>
      <p:sp>
        <p:nvSpPr>
          <p:cNvPr id="1118" name="Google Shape;1118;p26"/>
          <p:cNvSpPr/>
          <p:nvPr/>
        </p:nvSpPr>
        <p:spPr>
          <a:xfrm>
            <a:off x="5476936" y="3514163"/>
            <a:ext cx="960034" cy="221546"/>
          </a:xfrm>
          <a:custGeom>
            <a:rect b="b" l="l" r="r" t="t"/>
            <a:pathLst>
              <a:path extrusionOk="0" h="325754" w="1411604">
                <a:moveTo>
                  <a:pt x="1411224" y="325374"/>
                </a:moveTo>
                <a:lnTo>
                  <a:pt x="1411224" y="0"/>
                </a:lnTo>
                <a:lnTo>
                  <a:pt x="0" y="0"/>
                </a:lnTo>
                <a:lnTo>
                  <a:pt x="0" y="325374"/>
                </a:lnTo>
                <a:lnTo>
                  <a:pt x="6845" y="325374"/>
                </a:lnTo>
                <a:lnTo>
                  <a:pt x="6845" y="12953"/>
                </a:lnTo>
                <a:lnTo>
                  <a:pt x="12954" y="6857"/>
                </a:lnTo>
                <a:lnTo>
                  <a:pt x="12954" y="12953"/>
                </a:lnTo>
                <a:lnTo>
                  <a:pt x="1399032" y="12953"/>
                </a:lnTo>
                <a:lnTo>
                  <a:pt x="1399032" y="6857"/>
                </a:lnTo>
                <a:lnTo>
                  <a:pt x="1405127" y="12953"/>
                </a:lnTo>
                <a:lnTo>
                  <a:pt x="1405127" y="325374"/>
                </a:lnTo>
                <a:lnTo>
                  <a:pt x="1411224" y="325374"/>
                </a:lnTo>
                <a:close/>
              </a:path>
              <a:path extrusionOk="0" h="325754" w="1411604">
                <a:moveTo>
                  <a:pt x="12954" y="12953"/>
                </a:moveTo>
                <a:lnTo>
                  <a:pt x="12954" y="6857"/>
                </a:lnTo>
                <a:lnTo>
                  <a:pt x="6845" y="12953"/>
                </a:lnTo>
                <a:lnTo>
                  <a:pt x="12954" y="12953"/>
                </a:lnTo>
                <a:close/>
              </a:path>
              <a:path extrusionOk="0" h="325754" w="1411604">
                <a:moveTo>
                  <a:pt x="12954" y="325374"/>
                </a:moveTo>
                <a:lnTo>
                  <a:pt x="12954" y="12953"/>
                </a:lnTo>
                <a:lnTo>
                  <a:pt x="6845" y="12953"/>
                </a:lnTo>
                <a:lnTo>
                  <a:pt x="6845" y="325374"/>
                </a:lnTo>
                <a:lnTo>
                  <a:pt x="12954" y="325374"/>
                </a:lnTo>
                <a:close/>
              </a:path>
              <a:path extrusionOk="0" h="325754" w="1411604">
                <a:moveTo>
                  <a:pt x="1405127" y="12953"/>
                </a:moveTo>
                <a:lnTo>
                  <a:pt x="1399032" y="6857"/>
                </a:lnTo>
                <a:lnTo>
                  <a:pt x="1399032" y="12953"/>
                </a:lnTo>
                <a:lnTo>
                  <a:pt x="1405127" y="12953"/>
                </a:lnTo>
                <a:close/>
              </a:path>
              <a:path extrusionOk="0" h="325754" w="1411604">
                <a:moveTo>
                  <a:pt x="1405127" y="325374"/>
                </a:moveTo>
                <a:lnTo>
                  <a:pt x="1405127" y="12953"/>
                </a:lnTo>
                <a:lnTo>
                  <a:pt x="1399032" y="12953"/>
                </a:lnTo>
                <a:lnTo>
                  <a:pt x="1399032" y="325374"/>
                </a:lnTo>
                <a:lnTo>
                  <a:pt x="1405127" y="32537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19" name="Google Shape;1119;p26"/>
          <p:cNvSpPr txBox="1"/>
          <p:nvPr/>
        </p:nvSpPr>
        <p:spPr>
          <a:xfrm>
            <a:off x="5498871" y="3545949"/>
            <a:ext cx="903891"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CC"/>
                </a:solidFill>
                <a:latin typeface="Times New Roman"/>
                <a:ea typeface="Times New Roman"/>
                <a:cs typeface="Times New Roman"/>
                <a:sym typeface="Times New Roman"/>
              </a:rPr>
              <a:t>Grado de prueba</a:t>
            </a:r>
            <a:endParaRPr b="0" i="0" sz="952" u="none" cap="none" strike="noStrike">
              <a:solidFill>
                <a:srgbClr val="000000"/>
              </a:solidFill>
              <a:latin typeface="Times New Roman"/>
              <a:ea typeface="Times New Roman"/>
              <a:cs typeface="Times New Roman"/>
              <a:sym typeface="Times New Roman"/>
            </a:endParaRPr>
          </a:p>
        </p:txBody>
      </p:sp>
      <p:sp>
        <p:nvSpPr>
          <p:cNvPr id="1120" name="Google Shape;1120;p26"/>
          <p:cNvSpPr/>
          <p:nvPr/>
        </p:nvSpPr>
        <p:spPr>
          <a:xfrm>
            <a:off x="2701260" y="3261272"/>
            <a:ext cx="2780340" cy="663343"/>
          </a:xfrm>
          <a:custGeom>
            <a:rect b="b" l="l" r="r" t="t"/>
            <a:pathLst>
              <a:path extrusionOk="0" h="975360" w="4088129">
                <a:moveTo>
                  <a:pt x="1347965" y="697230"/>
                </a:moveTo>
                <a:lnTo>
                  <a:pt x="1335011" y="697230"/>
                </a:lnTo>
                <a:lnTo>
                  <a:pt x="1335011" y="962406"/>
                </a:lnTo>
                <a:lnTo>
                  <a:pt x="12954" y="962406"/>
                </a:lnTo>
                <a:lnTo>
                  <a:pt x="12954" y="697230"/>
                </a:lnTo>
                <a:lnTo>
                  <a:pt x="0" y="697230"/>
                </a:lnTo>
                <a:lnTo>
                  <a:pt x="0" y="975360"/>
                </a:lnTo>
                <a:lnTo>
                  <a:pt x="6096" y="975360"/>
                </a:lnTo>
                <a:lnTo>
                  <a:pt x="12954" y="975360"/>
                </a:lnTo>
                <a:lnTo>
                  <a:pt x="1335011" y="975360"/>
                </a:lnTo>
                <a:lnTo>
                  <a:pt x="1341107" y="975360"/>
                </a:lnTo>
                <a:lnTo>
                  <a:pt x="1347965" y="975360"/>
                </a:lnTo>
                <a:lnTo>
                  <a:pt x="1347965" y="697230"/>
                </a:lnTo>
                <a:close/>
              </a:path>
              <a:path extrusionOk="0" h="975360" w="4088129">
                <a:moveTo>
                  <a:pt x="1712963" y="257556"/>
                </a:moveTo>
                <a:lnTo>
                  <a:pt x="1663433" y="284988"/>
                </a:lnTo>
                <a:lnTo>
                  <a:pt x="1679130" y="296024"/>
                </a:lnTo>
                <a:lnTo>
                  <a:pt x="1399705" y="697230"/>
                </a:lnTo>
                <a:lnTo>
                  <a:pt x="1414386" y="697230"/>
                </a:lnTo>
                <a:lnTo>
                  <a:pt x="1688985" y="302958"/>
                </a:lnTo>
                <a:lnTo>
                  <a:pt x="1696199" y="308038"/>
                </a:lnTo>
                <a:lnTo>
                  <a:pt x="1704581" y="313944"/>
                </a:lnTo>
                <a:lnTo>
                  <a:pt x="1712963" y="257556"/>
                </a:lnTo>
                <a:close/>
              </a:path>
              <a:path extrusionOk="0" h="975360" w="4088129">
                <a:moveTo>
                  <a:pt x="4088130" y="13716"/>
                </a:moveTo>
                <a:lnTo>
                  <a:pt x="4032504" y="0"/>
                </a:lnTo>
                <a:lnTo>
                  <a:pt x="4036860" y="18910"/>
                </a:lnTo>
                <a:lnTo>
                  <a:pt x="3046476" y="251460"/>
                </a:lnTo>
                <a:lnTo>
                  <a:pt x="3048063" y="257848"/>
                </a:lnTo>
                <a:lnTo>
                  <a:pt x="3044190" y="262890"/>
                </a:lnTo>
                <a:lnTo>
                  <a:pt x="3569030" y="667727"/>
                </a:lnTo>
                <a:lnTo>
                  <a:pt x="3437394" y="697230"/>
                </a:lnTo>
                <a:lnTo>
                  <a:pt x="3496703" y="697230"/>
                </a:lnTo>
                <a:lnTo>
                  <a:pt x="3582327" y="677976"/>
                </a:lnTo>
                <a:lnTo>
                  <a:pt x="3607295" y="697230"/>
                </a:lnTo>
                <a:lnTo>
                  <a:pt x="3628326" y="697230"/>
                </a:lnTo>
                <a:lnTo>
                  <a:pt x="3598583" y="674319"/>
                </a:lnTo>
                <a:lnTo>
                  <a:pt x="4039666" y="575106"/>
                </a:lnTo>
                <a:lnTo>
                  <a:pt x="4043934" y="593598"/>
                </a:lnTo>
                <a:lnTo>
                  <a:pt x="4052316" y="586803"/>
                </a:lnTo>
                <a:lnTo>
                  <a:pt x="4088130" y="557784"/>
                </a:lnTo>
                <a:lnTo>
                  <a:pt x="4032504" y="544068"/>
                </a:lnTo>
                <a:lnTo>
                  <a:pt x="4036834" y="562851"/>
                </a:lnTo>
                <a:lnTo>
                  <a:pt x="3585286" y="664083"/>
                </a:lnTo>
                <a:lnTo>
                  <a:pt x="3061881" y="260756"/>
                </a:lnTo>
                <a:lnTo>
                  <a:pt x="4039692" y="31153"/>
                </a:lnTo>
                <a:lnTo>
                  <a:pt x="4043934" y="49530"/>
                </a:lnTo>
                <a:lnTo>
                  <a:pt x="4052316" y="42735"/>
                </a:lnTo>
                <a:lnTo>
                  <a:pt x="4088130" y="1371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21" name="Google Shape;1121;p26"/>
          <p:cNvSpPr txBox="1"/>
          <p:nvPr/>
        </p:nvSpPr>
        <p:spPr>
          <a:xfrm>
            <a:off x="3979919" y="3090741"/>
            <a:ext cx="650818" cy="462799"/>
          </a:xfrm>
          <a:prstGeom prst="rect">
            <a:avLst/>
          </a:prstGeom>
          <a:noFill/>
          <a:ln>
            <a:noFill/>
          </a:ln>
        </p:spPr>
        <p:txBody>
          <a:bodyPr anchorCtr="0" anchor="t" bIns="0" lIns="0" spcFirstLastPara="1" rIns="0" wrap="square" tIns="41875">
            <a:spAutoFit/>
          </a:bodyPr>
          <a:lstStyle/>
          <a:p>
            <a:pPr indent="0" lvl="0" marL="64348" marR="0" rtl="0" algn="l">
              <a:lnSpc>
                <a:spcPct val="100000"/>
              </a:lnSpc>
              <a:spcBef>
                <a:spcPts val="0"/>
              </a:spcBef>
              <a:spcAft>
                <a:spcPts val="0"/>
              </a:spcAft>
              <a:buNone/>
            </a:pPr>
            <a:r>
              <a:rPr b="1" i="0" lang="en-US" sz="816" u="none" cap="none" strike="noStrike">
                <a:solidFill>
                  <a:srgbClr val="CB132D"/>
                </a:solidFill>
                <a:latin typeface="Palatino Linotype"/>
                <a:ea typeface="Palatino Linotype"/>
                <a:cs typeface="Palatino Linotype"/>
                <a:sym typeface="Palatino Linotype"/>
              </a:rPr>
              <a:t>CRITERIO</a:t>
            </a:r>
            <a:endParaRPr b="0" i="0" sz="816" u="none" cap="none" strike="noStrike">
              <a:solidFill>
                <a:srgbClr val="000000"/>
              </a:solidFill>
              <a:latin typeface="Palatino Linotype"/>
              <a:ea typeface="Palatino Linotype"/>
              <a:cs typeface="Palatino Linotype"/>
              <a:sym typeface="Palatino Linotype"/>
            </a:endParaRPr>
          </a:p>
          <a:p>
            <a:pPr indent="-46209" lvl="0" marL="54415" marR="3455" rtl="0" algn="l">
              <a:lnSpc>
                <a:spcPct val="95693"/>
              </a:lnSpc>
              <a:spcBef>
                <a:spcPts val="527"/>
              </a:spcBef>
              <a:spcAft>
                <a:spcPts val="0"/>
              </a:spcAft>
              <a:buNone/>
            </a:pPr>
            <a:r>
              <a:rPr b="1" i="0" lang="en-US" sz="952" u="none" cap="none" strike="noStrike">
                <a:solidFill>
                  <a:srgbClr val="3333CC"/>
                </a:solidFill>
                <a:latin typeface="Times New Roman"/>
                <a:ea typeface="Times New Roman"/>
                <a:cs typeface="Times New Roman"/>
                <a:sym typeface="Times New Roman"/>
              </a:rPr>
              <a:t>Facilidad de corrección</a:t>
            </a:r>
            <a:endParaRPr b="0" i="0" sz="952" u="none" cap="none" strike="noStrike">
              <a:solidFill>
                <a:srgbClr val="000000"/>
              </a:solidFill>
              <a:latin typeface="Times New Roman"/>
              <a:ea typeface="Times New Roman"/>
              <a:cs typeface="Times New Roman"/>
              <a:sym typeface="Times New Roman"/>
            </a:endParaRPr>
          </a:p>
        </p:txBody>
      </p:sp>
      <p:sp>
        <p:nvSpPr>
          <p:cNvPr id="1122" name="Google Shape;1122;p26"/>
          <p:cNvSpPr txBox="1"/>
          <p:nvPr/>
        </p:nvSpPr>
        <p:spPr>
          <a:xfrm>
            <a:off x="2750661" y="3448275"/>
            <a:ext cx="816655" cy="425757"/>
          </a:xfrm>
          <a:prstGeom prst="rect">
            <a:avLst/>
          </a:prstGeom>
          <a:noFill/>
          <a:ln>
            <a:noFill/>
          </a:ln>
        </p:spPr>
        <p:txBody>
          <a:bodyPr anchorCtr="0" anchor="t" bIns="0" lIns="0" spcFirstLastPara="1" rIns="0" wrap="square" tIns="76000">
            <a:spAutoFit/>
          </a:bodyPr>
          <a:lstStyle/>
          <a:p>
            <a:pPr indent="0" lvl="0" marL="161084" marR="0" rtl="0" algn="l">
              <a:lnSpc>
                <a:spcPct val="100000"/>
              </a:lnSpc>
              <a:spcBef>
                <a:spcPts val="0"/>
              </a:spcBef>
              <a:spcAft>
                <a:spcPts val="0"/>
              </a:spcAft>
              <a:buNone/>
            </a:pPr>
            <a:r>
              <a:rPr b="1" i="0" lang="en-US" sz="816" u="none" cap="none" strike="noStrike">
                <a:solidFill>
                  <a:srgbClr val="CB132D"/>
                </a:solidFill>
                <a:latin typeface="Palatino Linotype"/>
                <a:ea typeface="Palatino Linotype"/>
                <a:cs typeface="Palatino Linotype"/>
                <a:sym typeface="Palatino Linotype"/>
              </a:rPr>
              <a:t>FACTOR</a:t>
            </a:r>
            <a:endParaRPr b="0" i="0" sz="816" u="none" cap="none" strike="noStrike">
              <a:solidFill>
                <a:srgbClr val="000000"/>
              </a:solidFill>
              <a:latin typeface="Palatino Linotype"/>
              <a:ea typeface="Palatino Linotype"/>
              <a:cs typeface="Palatino Linotype"/>
              <a:sym typeface="Palatino Linotype"/>
            </a:endParaRPr>
          </a:p>
          <a:p>
            <a:pPr indent="0" lvl="0" marL="8637" marR="0" rtl="0" algn="l">
              <a:lnSpc>
                <a:spcPct val="100000"/>
              </a:lnSpc>
              <a:spcBef>
                <a:spcPts val="619"/>
              </a:spcBef>
              <a:spcAft>
                <a:spcPts val="0"/>
              </a:spcAft>
              <a:buNone/>
            </a:pPr>
            <a:r>
              <a:rPr b="1" i="0" lang="en-US" sz="952" u="none" cap="none" strike="noStrike">
                <a:solidFill>
                  <a:srgbClr val="3333CC"/>
                </a:solidFill>
                <a:latin typeface="Times New Roman"/>
                <a:ea typeface="Times New Roman"/>
                <a:cs typeface="Times New Roman"/>
                <a:sym typeface="Times New Roman"/>
              </a:rPr>
              <a:t>Mantenibilidad</a:t>
            </a:r>
            <a:endParaRPr b="0" i="0" sz="952" u="none" cap="none" strike="noStrike">
              <a:solidFill>
                <a:srgbClr val="000000"/>
              </a:solidFill>
              <a:latin typeface="Times New Roman"/>
              <a:ea typeface="Times New Roman"/>
              <a:cs typeface="Times New Roman"/>
              <a:sym typeface="Times New Roman"/>
            </a:endParaRPr>
          </a:p>
        </p:txBody>
      </p:sp>
      <p:sp>
        <p:nvSpPr>
          <p:cNvPr id="1123" name="Google Shape;1123;p26"/>
          <p:cNvSpPr/>
          <p:nvPr/>
        </p:nvSpPr>
        <p:spPr>
          <a:xfrm>
            <a:off x="3862110" y="3735451"/>
            <a:ext cx="916415" cy="189156"/>
          </a:xfrm>
          <a:custGeom>
            <a:rect b="b" l="l" r="r" t="t"/>
            <a:pathLst>
              <a:path extrusionOk="0" h="278129" w="1347470">
                <a:moveTo>
                  <a:pt x="12192" y="265175"/>
                </a:moveTo>
                <a:lnTo>
                  <a:pt x="12192" y="0"/>
                </a:lnTo>
                <a:lnTo>
                  <a:pt x="0" y="0"/>
                </a:lnTo>
                <a:lnTo>
                  <a:pt x="0" y="278129"/>
                </a:lnTo>
                <a:lnTo>
                  <a:pt x="6096" y="278129"/>
                </a:lnTo>
                <a:lnTo>
                  <a:pt x="6096" y="265175"/>
                </a:lnTo>
                <a:lnTo>
                  <a:pt x="12192" y="265175"/>
                </a:lnTo>
                <a:close/>
              </a:path>
              <a:path extrusionOk="0" h="278129" w="1347470">
                <a:moveTo>
                  <a:pt x="1341120" y="265175"/>
                </a:moveTo>
                <a:lnTo>
                  <a:pt x="6096" y="265175"/>
                </a:lnTo>
                <a:lnTo>
                  <a:pt x="12192" y="272033"/>
                </a:lnTo>
                <a:lnTo>
                  <a:pt x="12192" y="278129"/>
                </a:lnTo>
                <a:lnTo>
                  <a:pt x="1335024" y="278129"/>
                </a:lnTo>
                <a:lnTo>
                  <a:pt x="1335024" y="272033"/>
                </a:lnTo>
                <a:lnTo>
                  <a:pt x="1341120" y="265175"/>
                </a:lnTo>
                <a:close/>
              </a:path>
              <a:path extrusionOk="0" h="278129" w="1347470">
                <a:moveTo>
                  <a:pt x="12192" y="278129"/>
                </a:moveTo>
                <a:lnTo>
                  <a:pt x="12192" y="272033"/>
                </a:lnTo>
                <a:lnTo>
                  <a:pt x="6096" y="265175"/>
                </a:lnTo>
                <a:lnTo>
                  <a:pt x="6096" y="278129"/>
                </a:lnTo>
                <a:lnTo>
                  <a:pt x="12192" y="278129"/>
                </a:lnTo>
                <a:close/>
              </a:path>
              <a:path extrusionOk="0" h="278129" w="1347470">
                <a:moveTo>
                  <a:pt x="1347215" y="278129"/>
                </a:moveTo>
                <a:lnTo>
                  <a:pt x="1347215" y="0"/>
                </a:lnTo>
                <a:lnTo>
                  <a:pt x="1335024" y="0"/>
                </a:lnTo>
                <a:lnTo>
                  <a:pt x="1335024" y="265175"/>
                </a:lnTo>
                <a:lnTo>
                  <a:pt x="1341120" y="265175"/>
                </a:lnTo>
                <a:lnTo>
                  <a:pt x="1341120" y="278129"/>
                </a:lnTo>
                <a:lnTo>
                  <a:pt x="1347215" y="278129"/>
                </a:lnTo>
                <a:close/>
              </a:path>
              <a:path extrusionOk="0" h="278129" w="1347470">
                <a:moveTo>
                  <a:pt x="1341120" y="278129"/>
                </a:moveTo>
                <a:lnTo>
                  <a:pt x="1341120" y="265175"/>
                </a:lnTo>
                <a:lnTo>
                  <a:pt x="1335024" y="272033"/>
                </a:lnTo>
                <a:lnTo>
                  <a:pt x="1335024" y="278129"/>
                </a:lnTo>
                <a:lnTo>
                  <a:pt x="1341120" y="2781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24" name="Google Shape;1124;p26"/>
          <p:cNvSpPr txBox="1"/>
          <p:nvPr/>
        </p:nvSpPr>
        <p:spPr>
          <a:xfrm>
            <a:off x="3901665" y="3719039"/>
            <a:ext cx="837816"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CC"/>
                </a:solidFill>
                <a:latin typeface="Times New Roman"/>
                <a:ea typeface="Times New Roman"/>
                <a:cs typeface="Times New Roman"/>
                <a:sym typeface="Times New Roman"/>
              </a:rPr>
              <a:t>Chequeabilidad</a:t>
            </a:r>
            <a:endParaRPr b="0" i="0" sz="952" u="none" cap="none" strike="noStrike">
              <a:solidFill>
                <a:srgbClr val="000000"/>
              </a:solidFill>
              <a:latin typeface="Times New Roman"/>
              <a:ea typeface="Times New Roman"/>
              <a:cs typeface="Times New Roman"/>
              <a:sym typeface="Times New Roman"/>
            </a:endParaRPr>
          </a:p>
        </p:txBody>
      </p:sp>
      <p:sp>
        <p:nvSpPr>
          <p:cNvPr id="1125" name="Google Shape;1125;p26"/>
          <p:cNvSpPr/>
          <p:nvPr/>
        </p:nvSpPr>
        <p:spPr>
          <a:xfrm>
            <a:off x="3862110" y="4014263"/>
            <a:ext cx="916415" cy="252640"/>
          </a:xfrm>
          <a:custGeom>
            <a:rect b="b" l="l" r="r" t="t"/>
            <a:pathLst>
              <a:path extrusionOk="0" h="371475" w="1347470">
                <a:moveTo>
                  <a:pt x="1347215" y="371094"/>
                </a:moveTo>
                <a:lnTo>
                  <a:pt x="1347215" y="0"/>
                </a:lnTo>
                <a:lnTo>
                  <a:pt x="0" y="0"/>
                </a:lnTo>
                <a:lnTo>
                  <a:pt x="0" y="371094"/>
                </a:lnTo>
                <a:lnTo>
                  <a:pt x="6096" y="371094"/>
                </a:lnTo>
                <a:lnTo>
                  <a:pt x="6096" y="12953"/>
                </a:lnTo>
                <a:lnTo>
                  <a:pt x="12192" y="6096"/>
                </a:lnTo>
                <a:lnTo>
                  <a:pt x="12192" y="12953"/>
                </a:lnTo>
                <a:lnTo>
                  <a:pt x="1335024" y="12953"/>
                </a:lnTo>
                <a:lnTo>
                  <a:pt x="1335024" y="6096"/>
                </a:lnTo>
                <a:lnTo>
                  <a:pt x="1341120" y="12953"/>
                </a:lnTo>
                <a:lnTo>
                  <a:pt x="1341120" y="371094"/>
                </a:lnTo>
                <a:lnTo>
                  <a:pt x="1347215" y="371094"/>
                </a:lnTo>
                <a:close/>
              </a:path>
              <a:path extrusionOk="0" h="371475" w="1347470">
                <a:moveTo>
                  <a:pt x="12192" y="12953"/>
                </a:moveTo>
                <a:lnTo>
                  <a:pt x="12192" y="6096"/>
                </a:lnTo>
                <a:lnTo>
                  <a:pt x="6096" y="12953"/>
                </a:lnTo>
                <a:lnTo>
                  <a:pt x="12192" y="12953"/>
                </a:lnTo>
                <a:close/>
              </a:path>
              <a:path extrusionOk="0" h="371475" w="1347470">
                <a:moveTo>
                  <a:pt x="12192" y="358901"/>
                </a:moveTo>
                <a:lnTo>
                  <a:pt x="12192" y="12953"/>
                </a:lnTo>
                <a:lnTo>
                  <a:pt x="6096" y="12953"/>
                </a:lnTo>
                <a:lnTo>
                  <a:pt x="6096" y="358901"/>
                </a:lnTo>
                <a:lnTo>
                  <a:pt x="12192" y="358901"/>
                </a:lnTo>
                <a:close/>
              </a:path>
              <a:path extrusionOk="0" h="371475" w="1347470">
                <a:moveTo>
                  <a:pt x="1341120" y="358901"/>
                </a:moveTo>
                <a:lnTo>
                  <a:pt x="6096" y="358901"/>
                </a:lnTo>
                <a:lnTo>
                  <a:pt x="12192" y="364998"/>
                </a:lnTo>
                <a:lnTo>
                  <a:pt x="12192" y="371094"/>
                </a:lnTo>
                <a:lnTo>
                  <a:pt x="1335024" y="371094"/>
                </a:lnTo>
                <a:lnTo>
                  <a:pt x="1335024" y="364998"/>
                </a:lnTo>
                <a:lnTo>
                  <a:pt x="1341120" y="358901"/>
                </a:lnTo>
                <a:close/>
              </a:path>
              <a:path extrusionOk="0" h="371475" w="1347470">
                <a:moveTo>
                  <a:pt x="12192" y="371094"/>
                </a:moveTo>
                <a:lnTo>
                  <a:pt x="12192" y="364998"/>
                </a:lnTo>
                <a:lnTo>
                  <a:pt x="6096" y="358901"/>
                </a:lnTo>
                <a:lnTo>
                  <a:pt x="6096" y="371094"/>
                </a:lnTo>
                <a:lnTo>
                  <a:pt x="12192" y="371094"/>
                </a:lnTo>
                <a:close/>
              </a:path>
              <a:path extrusionOk="0" h="371475" w="1347470">
                <a:moveTo>
                  <a:pt x="1341120" y="12953"/>
                </a:moveTo>
                <a:lnTo>
                  <a:pt x="1335024" y="6096"/>
                </a:lnTo>
                <a:lnTo>
                  <a:pt x="1335024" y="12953"/>
                </a:lnTo>
                <a:lnTo>
                  <a:pt x="1341120" y="12953"/>
                </a:lnTo>
                <a:close/>
              </a:path>
              <a:path extrusionOk="0" h="371475" w="1347470">
                <a:moveTo>
                  <a:pt x="1341120" y="358901"/>
                </a:moveTo>
                <a:lnTo>
                  <a:pt x="1341120" y="12953"/>
                </a:lnTo>
                <a:lnTo>
                  <a:pt x="1335024" y="12953"/>
                </a:lnTo>
                <a:lnTo>
                  <a:pt x="1335024" y="358901"/>
                </a:lnTo>
                <a:lnTo>
                  <a:pt x="1341120" y="358901"/>
                </a:lnTo>
                <a:close/>
              </a:path>
              <a:path extrusionOk="0" h="371475" w="1347470">
                <a:moveTo>
                  <a:pt x="1341120" y="371094"/>
                </a:moveTo>
                <a:lnTo>
                  <a:pt x="1341120" y="358901"/>
                </a:lnTo>
                <a:lnTo>
                  <a:pt x="1335024" y="364998"/>
                </a:lnTo>
                <a:lnTo>
                  <a:pt x="1335024" y="371094"/>
                </a:lnTo>
                <a:lnTo>
                  <a:pt x="1341120" y="37109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26" name="Google Shape;1126;p26"/>
          <p:cNvSpPr txBox="1"/>
          <p:nvPr/>
        </p:nvSpPr>
        <p:spPr>
          <a:xfrm>
            <a:off x="3921358" y="4060557"/>
            <a:ext cx="797653"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CC"/>
                </a:solidFill>
                <a:latin typeface="Times New Roman"/>
                <a:ea typeface="Times New Roman"/>
                <a:cs typeface="Times New Roman"/>
                <a:sym typeface="Times New Roman"/>
              </a:rPr>
              <a:t>Expansibilidad</a:t>
            </a:r>
            <a:endParaRPr b="0" i="0" sz="952" u="none" cap="none" strike="noStrike">
              <a:solidFill>
                <a:srgbClr val="000000"/>
              </a:solidFill>
              <a:latin typeface="Times New Roman"/>
              <a:ea typeface="Times New Roman"/>
              <a:cs typeface="Times New Roman"/>
              <a:sym typeface="Times New Roman"/>
            </a:endParaRPr>
          </a:p>
        </p:txBody>
      </p:sp>
      <p:sp>
        <p:nvSpPr>
          <p:cNvPr id="1127" name="Google Shape;1127;p26"/>
          <p:cNvSpPr/>
          <p:nvPr/>
        </p:nvSpPr>
        <p:spPr>
          <a:xfrm>
            <a:off x="5476936" y="3735459"/>
            <a:ext cx="960034" cy="372699"/>
          </a:xfrm>
          <a:custGeom>
            <a:rect b="b" l="l" r="r" t="t"/>
            <a:pathLst>
              <a:path extrusionOk="0" h="548004" w="1411604">
                <a:moveTo>
                  <a:pt x="1411224" y="176784"/>
                </a:moveTo>
                <a:lnTo>
                  <a:pt x="1399032" y="176784"/>
                </a:lnTo>
                <a:lnTo>
                  <a:pt x="1399032" y="188976"/>
                </a:lnTo>
                <a:lnTo>
                  <a:pt x="1399032" y="535686"/>
                </a:lnTo>
                <a:lnTo>
                  <a:pt x="12954" y="535686"/>
                </a:lnTo>
                <a:lnTo>
                  <a:pt x="12954" y="188976"/>
                </a:lnTo>
                <a:lnTo>
                  <a:pt x="1399032" y="188976"/>
                </a:lnTo>
                <a:lnTo>
                  <a:pt x="1399032" y="176784"/>
                </a:lnTo>
                <a:lnTo>
                  <a:pt x="0" y="176784"/>
                </a:lnTo>
                <a:lnTo>
                  <a:pt x="0" y="547878"/>
                </a:lnTo>
                <a:lnTo>
                  <a:pt x="6845" y="547878"/>
                </a:lnTo>
                <a:lnTo>
                  <a:pt x="12954" y="547878"/>
                </a:lnTo>
                <a:lnTo>
                  <a:pt x="1399032" y="547878"/>
                </a:lnTo>
                <a:lnTo>
                  <a:pt x="1405128" y="547878"/>
                </a:lnTo>
                <a:lnTo>
                  <a:pt x="1411224" y="547878"/>
                </a:lnTo>
                <a:lnTo>
                  <a:pt x="1411224" y="176784"/>
                </a:lnTo>
                <a:close/>
              </a:path>
              <a:path extrusionOk="0" h="548004" w="1411604">
                <a:moveTo>
                  <a:pt x="1411224" y="0"/>
                </a:moveTo>
                <a:lnTo>
                  <a:pt x="1399032" y="0"/>
                </a:lnTo>
                <a:lnTo>
                  <a:pt x="1399032" y="33528"/>
                </a:lnTo>
                <a:lnTo>
                  <a:pt x="12954" y="33528"/>
                </a:lnTo>
                <a:lnTo>
                  <a:pt x="12954" y="0"/>
                </a:lnTo>
                <a:lnTo>
                  <a:pt x="0" y="0"/>
                </a:lnTo>
                <a:lnTo>
                  <a:pt x="0" y="46482"/>
                </a:lnTo>
                <a:lnTo>
                  <a:pt x="6845" y="46482"/>
                </a:lnTo>
                <a:lnTo>
                  <a:pt x="12954" y="46482"/>
                </a:lnTo>
                <a:lnTo>
                  <a:pt x="1399032" y="46482"/>
                </a:lnTo>
                <a:lnTo>
                  <a:pt x="1405128" y="46482"/>
                </a:lnTo>
                <a:lnTo>
                  <a:pt x="1411224" y="46482"/>
                </a:lnTo>
                <a:lnTo>
                  <a:pt x="141122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28" name="Google Shape;1128;p26"/>
          <p:cNvSpPr txBox="1"/>
          <p:nvPr/>
        </p:nvSpPr>
        <p:spPr>
          <a:xfrm>
            <a:off x="5698392" y="3903014"/>
            <a:ext cx="472891"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CC"/>
                </a:solidFill>
                <a:latin typeface="Times New Roman"/>
                <a:ea typeface="Times New Roman"/>
                <a:cs typeface="Times New Roman"/>
                <a:sym typeface="Times New Roman"/>
              </a:rPr>
              <a:t>Esfuerzo</a:t>
            </a:r>
            <a:endParaRPr b="0" i="0" sz="952" u="none" cap="none" strike="noStrike">
              <a:solidFill>
                <a:srgbClr val="000000"/>
              </a:solidFill>
              <a:latin typeface="Times New Roman"/>
              <a:ea typeface="Times New Roman"/>
              <a:cs typeface="Times New Roman"/>
              <a:sym typeface="Times New Roman"/>
            </a:endParaRPr>
          </a:p>
        </p:txBody>
      </p:sp>
      <p:grpSp>
        <p:nvGrpSpPr>
          <p:cNvPr id="1129" name="Google Shape;1129;p26"/>
          <p:cNvGrpSpPr/>
          <p:nvPr/>
        </p:nvGrpSpPr>
        <p:grpSpPr>
          <a:xfrm>
            <a:off x="1462674" y="3735459"/>
            <a:ext cx="6218841" cy="1166369"/>
            <a:chOff x="774839" y="5492508"/>
            <a:chExt cx="9144000" cy="1714994"/>
          </a:xfrm>
        </p:grpSpPr>
        <p:sp>
          <p:nvSpPr>
            <p:cNvPr id="1130" name="Google Shape;1130;p26"/>
            <p:cNvSpPr/>
            <p:nvPr/>
          </p:nvSpPr>
          <p:spPr>
            <a:xfrm>
              <a:off x="3932555" y="5492508"/>
              <a:ext cx="4156075" cy="857250"/>
            </a:xfrm>
            <a:custGeom>
              <a:rect b="b" l="l" r="r" t="t"/>
              <a:pathLst>
                <a:path extrusionOk="0" h="857250" w="4156075">
                  <a:moveTo>
                    <a:pt x="376440" y="93726"/>
                  </a:moveTo>
                  <a:lnTo>
                    <a:pt x="325386" y="68580"/>
                  </a:lnTo>
                  <a:lnTo>
                    <a:pt x="325386" y="87630"/>
                  </a:lnTo>
                  <a:lnTo>
                    <a:pt x="16802" y="87630"/>
                  </a:lnTo>
                  <a:lnTo>
                    <a:pt x="77851" y="0"/>
                  </a:lnTo>
                  <a:lnTo>
                    <a:pt x="63169" y="0"/>
                  </a:lnTo>
                  <a:lnTo>
                    <a:pt x="0" y="90678"/>
                  </a:lnTo>
                  <a:lnTo>
                    <a:pt x="4584" y="93853"/>
                  </a:lnTo>
                  <a:lnTo>
                    <a:pt x="4584" y="94030"/>
                  </a:lnTo>
                  <a:lnTo>
                    <a:pt x="12" y="97536"/>
                  </a:lnTo>
                  <a:lnTo>
                    <a:pt x="341528" y="558355"/>
                  </a:lnTo>
                  <a:lnTo>
                    <a:pt x="326148" y="569976"/>
                  </a:lnTo>
                  <a:lnTo>
                    <a:pt x="358914" y="586854"/>
                  </a:lnTo>
                  <a:lnTo>
                    <a:pt x="376440" y="595884"/>
                  </a:lnTo>
                  <a:lnTo>
                    <a:pt x="366534" y="539496"/>
                  </a:lnTo>
                  <a:lnTo>
                    <a:pt x="351142" y="551103"/>
                  </a:lnTo>
                  <a:lnTo>
                    <a:pt x="17805" y="100584"/>
                  </a:lnTo>
                  <a:lnTo>
                    <a:pt x="325386" y="100584"/>
                  </a:lnTo>
                  <a:lnTo>
                    <a:pt x="325386" y="119634"/>
                  </a:lnTo>
                  <a:lnTo>
                    <a:pt x="338340" y="113055"/>
                  </a:lnTo>
                  <a:lnTo>
                    <a:pt x="376440" y="93726"/>
                  </a:lnTo>
                  <a:close/>
                </a:path>
                <a:path extrusionOk="0" h="857250" w="4156075">
                  <a:moveTo>
                    <a:pt x="2751594" y="361950"/>
                  </a:moveTo>
                  <a:lnTo>
                    <a:pt x="2726448" y="310896"/>
                  </a:lnTo>
                  <a:lnTo>
                    <a:pt x="2714790" y="325945"/>
                  </a:lnTo>
                  <a:lnTo>
                    <a:pt x="2291791" y="0"/>
                  </a:lnTo>
                  <a:lnTo>
                    <a:pt x="2270760" y="0"/>
                  </a:lnTo>
                  <a:lnTo>
                    <a:pt x="2705633" y="335432"/>
                  </a:lnTo>
                  <a:lnTo>
                    <a:pt x="2704757" y="338912"/>
                  </a:lnTo>
                  <a:lnTo>
                    <a:pt x="2701569" y="343039"/>
                  </a:lnTo>
                  <a:lnTo>
                    <a:pt x="1739785" y="94564"/>
                  </a:lnTo>
                  <a:lnTo>
                    <a:pt x="2160168" y="0"/>
                  </a:lnTo>
                  <a:lnTo>
                    <a:pt x="2100859" y="0"/>
                  </a:lnTo>
                  <a:lnTo>
                    <a:pt x="1709940" y="87630"/>
                  </a:lnTo>
                  <a:lnTo>
                    <a:pt x="1711413" y="93916"/>
                  </a:lnTo>
                  <a:lnTo>
                    <a:pt x="1709940" y="99822"/>
                  </a:lnTo>
                  <a:lnTo>
                    <a:pt x="2697327" y="354926"/>
                  </a:lnTo>
                  <a:lnTo>
                    <a:pt x="2698978" y="362064"/>
                  </a:lnTo>
                  <a:lnTo>
                    <a:pt x="2697581" y="367652"/>
                  </a:lnTo>
                  <a:lnTo>
                    <a:pt x="1709940" y="589788"/>
                  </a:lnTo>
                  <a:lnTo>
                    <a:pt x="1711452" y="595871"/>
                  </a:lnTo>
                  <a:lnTo>
                    <a:pt x="1709166" y="601980"/>
                  </a:lnTo>
                  <a:lnTo>
                    <a:pt x="2499525" y="857250"/>
                  </a:lnTo>
                  <a:lnTo>
                    <a:pt x="2541206" y="857250"/>
                  </a:lnTo>
                  <a:lnTo>
                    <a:pt x="1735696" y="596900"/>
                  </a:lnTo>
                  <a:lnTo>
                    <a:pt x="2703118" y="380022"/>
                  </a:lnTo>
                  <a:lnTo>
                    <a:pt x="2707398" y="398526"/>
                  </a:lnTo>
                  <a:lnTo>
                    <a:pt x="2715780" y="391579"/>
                  </a:lnTo>
                  <a:lnTo>
                    <a:pt x="2751594" y="361950"/>
                  </a:lnTo>
                  <a:close/>
                </a:path>
                <a:path extrusionOk="0" h="857250" w="4156075">
                  <a:moveTo>
                    <a:pt x="4155960" y="738378"/>
                  </a:moveTo>
                  <a:lnTo>
                    <a:pt x="2722638" y="738378"/>
                  </a:lnTo>
                  <a:lnTo>
                    <a:pt x="2722638" y="857250"/>
                  </a:lnTo>
                  <a:lnTo>
                    <a:pt x="2728722" y="857250"/>
                  </a:lnTo>
                  <a:lnTo>
                    <a:pt x="2735580" y="857250"/>
                  </a:lnTo>
                  <a:lnTo>
                    <a:pt x="2735580" y="751332"/>
                  </a:lnTo>
                  <a:lnTo>
                    <a:pt x="4143768" y="751332"/>
                  </a:lnTo>
                  <a:lnTo>
                    <a:pt x="4143768" y="857250"/>
                  </a:lnTo>
                  <a:lnTo>
                    <a:pt x="4149864" y="857250"/>
                  </a:lnTo>
                  <a:lnTo>
                    <a:pt x="4155960" y="857250"/>
                  </a:lnTo>
                  <a:lnTo>
                    <a:pt x="4155960" y="7383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31" name="Google Shape;1131;p26"/>
            <p:cNvSpPr/>
            <p:nvPr/>
          </p:nvSpPr>
          <p:spPr>
            <a:xfrm>
              <a:off x="774839" y="6348983"/>
              <a:ext cx="9144000" cy="85851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132" name="Google Shape;1132;p26"/>
          <p:cNvSpPr txBox="1"/>
          <p:nvPr/>
        </p:nvSpPr>
        <p:spPr>
          <a:xfrm>
            <a:off x="6090697" y="4655493"/>
            <a:ext cx="1217856"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816" u="none" cap="none" strike="noStrike">
                <a:solidFill>
                  <a:srgbClr val="000000"/>
                </a:solidFill>
                <a:latin typeface="Arial"/>
                <a:ea typeface="Arial"/>
                <a:cs typeface="Arial"/>
                <a:sym typeface="Arial"/>
              </a:rPr>
              <a:t>Medición del software	72</a:t>
            </a:r>
            <a:endParaRPr b="0" i="0" sz="816" u="none" cap="none" strike="noStrike">
              <a:solidFill>
                <a:srgbClr val="000000"/>
              </a:solidFill>
              <a:latin typeface="Arial"/>
              <a:ea typeface="Arial"/>
              <a:cs typeface="Arial"/>
              <a:sym typeface="Arial"/>
            </a:endParaRPr>
          </a:p>
        </p:txBody>
      </p:sp>
      <p:sp>
        <p:nvSpPr>
          <p:cNvPr id="1133" name="Google Shape;1133;p26"/>
          <p:cNvSpPr txBox="1"/>
          <p:nvPr/>
        </p:nvSpPr>
        <p:spPr>
          <a:xfrm>
            <a:off x="3375136" y="4585012"/>
            <a:ext cx="2323428"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104"/>
                </a:solidFill>
                <a:latin typeface="Arial"/>
                <a:ea typeface="Arial"/>
                <a:cs typeface="Arial"/>
                <a:sym typeface="Arial"/>
              </a:rPr>
              <a:t>Descomposición del factor “mantenibilidad”</a:t>
            </a:r>
            <a:endParaRPr b="0" i="0" sz="952" u="none" cap="none" strike="noStrike">
              <a:solidFill>
                <a:srgbClr val="000000"/>
              </a:solidFill>
              <a:latin typeface="Arial"/>
              <a:ea typeface="Arial"/>
              <a:cs typeface="Arial"/>
              <a:sym typeface="Arial"/>
            </a:endParaRPr>
          </a:p>
        </p:txBody>
      </p:sp>
      <p:sp>
        <p:nvSpPr>
          <p:cNvPr id="1134" name="Google Shape;1134;p26"/>
          <p:cNvSpPr/>
          <p:nvPr/>
        </p:nvSpPr>
        <p:spPr>
          <a:xfrm>
            <a:off x="5461907" y="4318467"/>
            <a:ext cx="975149" cy="172314"/>
          </a:xfrm>
          <a:custGeom>
            <a:rect b="b" l="l" r="r" t="t"/>
            <a:pathLst>
              <a:path extrusionOk="0" h="253365" w="1433829">
                <a:moveTo>
                  <a:pt x="12941" y="240030"/>
                </a:moveTo>
                <a:lnTo>
                  <a:pt x="12941" y="0"/>
                </a:lnTo>
                <a:lnTo>
                  <a:pt x="0" y="0"/>
                </a:lnTo>
                <a:lnTo>
                  <a:pt x="0" y="252984"/>
                </a:lnTo>
                <a:lnTo>
                  <a:pt x="6083" y="252984"/>
                </a:lnTo>
                <a:lnTo>
                  <a:pt x="6083" y="240030"/>
                </a:lnTo>
                <a:lnTo>
                  <a:pt x="12941" y="240030"/>
                </a:lnTo>
                <a:close/>
              </a:path>
              <a:path extrusionOk="0" h="253365" w="1433829">
                <a:moveTo>
                  <a:pt x="1427226" y="240030"/>
                </a:moveTo>
                <a:lnTo>
                  <a:pt x="6083" y="240030"/>
                </a:lnTo>
                <a:lnTo>
                  <a:pt x="12941" y="246126"/>
                </a:lnTo>
                <a:lnTo>
                  <a:pt x="12941" y="252984"/>
                </a:lnTo>
                <a:lnTo>
                  <a:pt x="1421130" y="252984"/>
                </a:lnTo>
                <a:lnTo>
                  <a:pt x="1421130" y="246126"/>
                </a:lnTo>
                <a:lnTo>
                  <a:pt x="1427226" y="240030"/>
                </a:lnTo>
                <a:close/>
              </a:path>
              <a:path extrusionOk="0" h="253365" w="1433829">
                <a:moveTo>
                  <a:pt x="12941" y="252984"/>
                </a:moveTo>
                <a:lnTo>
                  <a:pt x="12941" y="246126"/>
                </a:lnTo>
                <a:lnTo>
                  <a:pt x="6083" y="240030"/>
                </a:lnTo>
                <a:lnTo>
                  <a:pt x="6083" y="252984"/>
                </a:lnTo>
                <a:lnTo>
                  <a:pt x="12941" y="252984"/>
                </a:lnTo>
                <a:close/>
              </a:path>
              <a:path extrusionOk="0" h="253365" w="1433829">
                <a:moveTo>
                  <a:pt x="1433322" y="252984"/>
                </a:moveTo>
                <a:lnTo>
                  <a:pt x="1433322" y="0"/>
                </a:lnTo>
                <a:lnTo>
                  <a:pt x="1421130" y="0"/>
                </a:lnTo>
                <a:lnTo>
                  <a:pt x="1421130" y="240030"/>
                </a:lnTo>
                <a:lnTo>
                  <a:pt x="1427226" y="240030"/>
                </a:lnTo>
                <a:lnTo>
                  <a:pt x="1427226" y="252984"/>
                </a:lnTo>
                <a:lnTo>
                  <a:pt x="1433322" y="252984"/>
                </a:lnTo>
                <a:close/>
              </a:path>
              <a:path extrusionOk="0" h="253365" w="1433829">
                <a:moveTo>
                  <a:pt x="1427226" y="252984"/>
                </a:moveTo>
                <a:lnTo>
                  <a:pt x="1427226" y="240030"/>
                </a:lnTo>
                <a:lnTo>
                  <a:pt x="1421130" y="246126"/>
                </a:lnTo>
                <a:lnTo>
                  <a:pt x="1421130" y="252984"/>
                </a:lnTo>
                <a:lnTo>
                  <a:pt x="1427226" y="25298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35" name="Google Shape;1135;p26"/>
          <p:cNvSpPr txBox="1"/>
          <p:nvPr/>
        </p:nvSpPr>
        <p:spPr>
          <a:xfrm>
            <a:off x="5678699" y="4214991"/>
            <a:ext cx="544149" cy="267899"/>
          </a:xfrm>
          <a:prstGeom prst="rect">
            <a:avLst/>
          </a:prstGeom>
          <a:noFill/>
          <a:ln>
            <a:noFill/>
          </a:ln>
        </p:spPr>
        <p:txBody>
          <a:bodyPr anchorCtr="0" anchor="t" bIns="0" lIns="0" spcFirstLastPara="1" rIns="0" wrap="square" tIns="36700">
            <a:spAutoFit/>
          </a:bodyPr>
          <a:lstStyle/>
          <a:p>
            <a:pPr indent="-51392" lvl="0" marL="59597" marR="3455" rtl="0" algn="l">
              <a:lnSpc>
                <a:spcPct val="95693"/>
              </a:lnSpc>
              <a:spcBef>
                <a:spcPts val="0"/>
              </a:spcBef>
              <a:spcAft>
                <a:spcPts val="0"/>
              </a:spcAft>
              <a:buNone/>
            </a:pPr>
            <a:r>
              <a:rPr b="1" i="0" lang="en-US" sz="952" u="none" cap="none" strike="noStrike">
                <a:solidFill>
                  <a:srgbClr val="3333CC"/>
                </a:solidFill>
                <a:latin typeface="Times New Roman"/>
                <a:ea typeface="Times New Roman"/>
                <a:cs typeface="Times New Roman"/>
                <a:sym typeface="Times New Roman"/>
              </a:rPr>
              <a:t>Cuenta de cambios</a:t>
            </a:r>
            <a:endParaRPr b="0" i="0" sz="952" u="none" cap="none" strike="noStrike">
              <a:solidFill>
                <a:srgbClr val="000000"/>
              </a:solidFill>
              <a:latin typeface="Times New Roman"/>
              <a:ea typeface="Times New Roman"/>
              <a:cs typeface="Times New Roman"/>
              <a:sym typeface="Times New Roman"/>
            </a:endParaRPr>
          </a:p>
        </p:txBody>
      </p:sp>
      <p:pic>
        <p:nvPicPr>
          <p:cNvPr id="1136" name="Google Shape;1136;p26"/>
          <p:cNvPicPr preferRelativeResize="0"/>
          <p:nvPr/>
        </p:nvPicPr>
        <p:blipFill rotWithShape="1">
          <a:blip r:embed="rId3">
            <a:alphaModFix/>
          </a:blip>
          <a:srcRect b="0" l="0" r="0" t="0"/>
          <a:stretch/>
        </p:blipFill>
        <p:spPr>
          <a:xfrm>
            <a:off x="5310173" y="4318467"/>
            <a:ext cx="155879" cy="5130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27"/>
          <p:cNvSpPr txBox="1"/>
          <p:nvPr>
            <p:ph idx="4294967295" type="title"/>
          </p:nvPr>
        </p:nvSpPr>
        <p:spPr>
          <a:xfrm>
            <a:off x="724640" y="9884"/>
            <a:ext cx="8165805" cy="944875"/>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t>Medición de atributos externos del producto</a:t>
            </a:r>
            <a:endParaRPr/>
          </a:p>
        </p:txBody>
      </p:sp>
      <p:sp>
        <p:nvSpPr>
          <p:cNvPr id="1142" name="Google Shape;1142;p27"/>
          <p:cNvSpPr txBox="1"/>
          <p:nvPr/>
        </p:nvSpPr>
        <p:spPr>
          <a:xfrm>
            <a:off x="1834936" y="949316"/>
            <a:ext cx="5545134" cy="611275"/>
          </a:xfrm>
          <a:prstGeom prst="rect">
            <a:avLst/>
          </a:prstGeom>
          <a:noFill/>
          <a:ln>
            <a:noFill/>
          </a:ln>
        </p:spPr>
        <p:txBody>
          <a:bodyPr anchorCtr="0" anchor="t" bIns="0" lIns="0" spcFirstLastPara="1" rIns="0" wrap="square" tIns="2977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El modelo de calidad estándar ISO 9126</a:t>
            </a:r>
            <a:endParaRPr b="0" i="0" sz="1360" u="none" cap="none" strike="noStrike">
              <a:solidFill>
                <a:srgbClr val="000000"/>
              </a:solidFill>
              <a:latin typeface="Arial"/>
              <a:ea typeface="Arial"/>
              <a:cs typeface="Arial"/>
              <a:sym typeface="Arial"/>
            </a:endParaRPr>
          </a:p>
          <a:p>
            <a:pPr indent="-233206" lvl="0" marL="241412" marR="3455" rtl="0" algn="l">
              <a:lnSpc>
                <a:spcPct val="107761"/>
              </a:lnSpc>
              <a:spcBef>
                <a:spcPts val="323"/>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En el estándar denominado </a:t>
            </a:r>
            <a:r>
              <a:rPr b="1" i="1" lang="en-US" sz="1224" u="none" cap="none" strike="noStrike">
                <a:solidFill>
                  <a:srgbClr val="000000"/>
                </a:solidFill>
                <a:latin typeface="Arial"/>
                <a:ea typeface="Arial"/>
                <a:cs typeface="Arial"/>
                <a:sym typeface="Arial"/>
              </a:rPr>
              <a:t>Evaluación de Productos Software: Características de calidad y guías para su uso</a:t>
            </a:r>
            <a:r>
              <a:rPr b="0" i="0" lang="en-US" sz="1224" u="none" cap="none" strike="noStrike">
                <a:solidFill>
                  <a:srgbClr val="000000"/>
                </a:solidFill>
                <a:latin typeface="Arial"/>
                <a:ea typeface="Arial"/>
                <a:cs typeface="Arial"/>
                <a:sym typeface="Arial"/>
              </a:rPr>
              <a:t>, la calidad se descompone</a:t>
            </a:r>
            <a:endParaRPr b="0" i="0" sz="1224" u="none" cap="none" strike="noStrike">
              <a:solidFill>
                <a:srgbClr val="000000"/>
              </a:solidFill>
              <a:latin typeface="Arial"/>
              <a:ea typeface="Arial"/>
              <a:cs typeface="Arial"/>
              <a:sym typeface="Arial"/>
            </a:endParaRPr>
          </a:p>
        </p:txBody>
      </p:sp>
      <p:sp>
        <p:nvSpPr>
          <p:cNvPr id="1143" name="Google Shape;1143;p27"/>
          <p:cNvSpPr txBox="1"/>
          <p:nvPr/>
        </p:nvSpPr>
        <p:spPr>
          <a:xfrm>
            <a:off x="4005830" y="1697088"/>
            <a:ext cx="1101253" cy="621061"/>
          </a:xfrm>
          <a:prstGeom prst="rect">
            <a:avLst/>
          </a:prstGeom>
          <a:noFill/>
          <a:ln>
            <a:noFill/>
          </a:ln>
        </p:spPr>
        <p:txBody>
          <a:bodyPr anchorCtr="0" anchor="t" bIns="0" lIns="0" spcFirstLastPara="1" rIns="0" wrap="square" tIns="41450">
            <a:spAutoFit/>
          </a:bodyPr>
          <a:lstStyle/>
          <a:p>
            <a:pPr indent="-193907" lvl="0" marL="202544" marR="0" rtl="0" algn="l">
              <a:lnSpc>
                <a:spcPct val="100000"/>
              </a:lnSpc>
              <a:spcBef>
                <a:spcPts val="0"/>
              </a:spcBef>
              <a:spcAft>
                <a:spcPts val="0"/>
              </a:spcAft>
              <a:buClr>
                <a:srgbClr val="9A9ACC"/>
              </a:buClr>
              <a:buSzPts val="850"/>
              <a:buFont typeface="Noto Sans Symbols"/>
              <a:buChar char="◻"/>
            </a:pPr>
            <a:r>
              <a:rPr b="0" i="0" lang="en-US" sz="1088" u="none" cap="none" strike="noStrike">
                <a:solidFill>
                  <a:srgbClr val="33339A"/>
                </a:solidFill>
                <a:latin typeface="Arial"/>
                <a:ea typeface="Arial"/>
                <a:cs typeface="Arial"/>
                <a:sym typeface="Arial"/>
              </a:rPr>
              <a:t>Usabilidad</a:t>
            </a:r>
            <a:endParaRPr b="0" i="0" sz="1088" u="none" cap="none" strike="noStrike">
              <a:solidFill>
                <a:srgbClr val="000000"/>
              </a:solidFill>
              <a:latin typeface="Arial"/>
              <a:ea typeface="Arial"/>
              <a:cs typeface="Arial"/>
              <a:sym typeface="Arial"/>
            </a:endParaRPr>
          </a:p>
          <a:p>
            <a:pPr indent="-193907" lvl="0" marL="202544" marR="0" rtl="0" algn="l">
              <a:lnSpc>
                <a:spcPct val="100000"/>
              </a:lnSpc>
              <a:spcBef>
                <a:spcPts val="262"/>
              </a:spcBef>
              <a:spcAft>
                <a:spcPts val="0"/>
              </a:spcAft>
              <a:buClr>
                <a:srgbClr val="9A9ACC"/>
              </a:buClr>
              <a:buSzPts val="850"/>
              <a:buFont typeface="Noto Sans Symbols"/>
              <a:buChar char="◻"/>
            </a:pPr>
            <a:r>
              <a:rPr b="0" i="0" lang="en-US" sz="1088" u="none" cap="none" strike="noStrike">
                <a:solidFill>
                  <a:srgbClr val="33339A"/>
                </a:solidFill>
                <a:latin typeface="Arial"/>
                <a:ea typeface="Arial"/>
                <a:cs typeface="Arial"/>
                <a:sym typeface="Arial"/>
              </a:rPr>
              <a:t>Mantenibilidad</a:t>
            </a:r>
            <a:endParaRPr b="0" i="0" sz="1088" u="none" cap="none" strike="noStrike">
              <a:solidFill>
                <a:srgbClr val="000000"/>
              </a:solidFill>
              <a:latin typeface="Arial"/>
              <a:ea typeface="Arial"/>
              <a:cs typeface="Arial"/>
              <a:sym typeface="Arial"/>
            </a:endParaRPr>
          </a:p>
          <a:p>
            <a:pPr indent="-193907" lvl="0" marL="202544" marR="0" rtl="0" algn="l">
              <a:lnSpc>
                <a:spcPct val="100000"/>
              </a:lnSpc>
              <a:spcBef>
                <a:spcPts val="262"/>
              </a:spcBef>
              <a:spcAft>
                <a:spcPts val="0"/>
              </a:spcAft>
              <a:buClr>
                <a:srgbClr val="9A9ACC"/>
              </a:buClr>
              <a:buSzPts val="850"/>
              <a:buFont typeface="Noto Sans Symbols"/>
              <a:buChar char="◻"/>
            </a:pPr>
            <a:r>
              <a:rPr b="0" i="0" lang="en-US" sz="1088" u="none" cap="none" strike="noStrike">
                <a:solidFill>
                  <a:srgbClr val="33339A"/>
                </a:solidFill>
                <a:latin typeface="Arial"/>
                <a:ea typeface="Arial"/>
                <a:cs typeface="Arial"/>
                <a:sym typeface="Arial"/>
              </a:rPr>
              <a:t>Portabilidad</a:t>
            </a:r>
            <a:endParaRPr b="0" i="0" sz="1088" u="none" cap="none" strike="noStrike">
              <a:solidFill>
                <a:srgbClr val="000000"/>
              </a:solidFill>
              <a:latin typeface="Arial"/>
              <a:ea typeface="Arial"/>
              <a:cs typeface="Arial"/>
              <a:sym typeface="Arial"/>
            </a:endParaRPr>
          </a:p>
        </p:txBody>
      </p:sp>
      <p:sp>
        <p:nvSpPr>
          <p:cNvPr id="1144" name="Google Shape;1144;p27"/>
          <p:cNvSpPr txBox="1"/>
          <p:nvPr/>
        </p:nvSpPr>
        <p:spPr>
          <a:xfrm>
            <a:off x="2068143" y="1495850"/>
            <a:ext cx="1147894" cy="852280"/>
          </a:xfrm>
          <a:prstGeom prst="rect">
            <a:avLst/>
          </a:prstGeom>
          <a:noFill/>
          <a:ln>
            <a:noFill/>
          </a:ln>
        </p:spPr>
        <p:txBody>
          <a:bodyPr anchorCtr="0" anchor="t" bIns="0" lIns="0" spcFirstLastPara="1" rIns="0" wrap="square" tIns="45775">
            <a:spAutoFit/>
          </a:bodyPr>
          <a:lstStyle/>
          <a:p>
            <a:pPr indent="0" lvl="0" marL="0" marR="3455" rtl="0" algn="r">
              <a:lnSpc>
                <a:spcPct val="100000"/>
              </a:lnSpc>
              <a:spcBef>
                <a:spcPts val="0"/>
              </a:spcBef>
              <a:spcAft>
                <a:spcPts val="0"/>
              </a:spcAft>
              <a:buNone/>
            </a:pPr>
            <a:r>
              <a:rPr b="0" i="0" lang="en-US" sz="1224" u="none" cap="none" strike="noStrike">
                <a:solidFill>
                  <a:srgbClr val="000000"/>
                </a:solidFill>
                <a:latin typeface="Arial"/>
                <a:ea typeface="Arial"/>
                <a:cs typeface="Arial"/>
                <a:sym typeface="Arial"/>
              </a:rPr>
              <a:t>en seis factores:</a:t>
            </a:r>
            <a:endParaRPr b="0" i="0" sz="1224" u="none" cap="none" strike="noStrike">
              <a:solidFill>
                <a:srgbClr val="000000"/>
              </a:solidFill>
              <a:latin typeface="Arial"/>
              <a:ea typeface="Arial"/>
              <a:cs typeface="Arial"/>
              <a:sym typeface="Arial"/>
            </a:endParaRPr>
          </a:p>
          <a:p>
            <a:pPr indent="-193907" lvl="0" marL="193907" marR="3455" rtl="0" algn="r">
              <a:lnSpc>
                <a:spcPct val="100000"/>
              </a:lnSpc>
              <a:spcBef>
                <a:spcPts val="262"/>
              </a:spcBef>
              <a:spcAft>
                <a:spcPts val="0"/>
              </a:spcAft>
              <a:buClr>
                <a:srgbClr val="9A9ACC"/>
              </a:buClr>
              <a:buSzPts val="850"/>
              <a:buFont typeface="Noto Sans Symbols"/>
              <a:buChar char="◻"/>
            </a:pPr>
            <a:r>
              <a:rPr b="0" i="0" lang="en-US" sz="1088" u="none" cap="none" strike="noStrike">
                <a:solidFill>
                  <a:srgbClr val="33339A"/>
                </a:solidFill>
                <a:latin typeface="Arial"/>
                <a:ea typeface="Arial"/>
                <a:cs typeface="Arial"/>
                <a:sym typeface="Arial"/>
              </a:rPr>
              <a:t>Funcionalidad</a:t>
            </a:r>
            <a:endParaRPr b="0" i="0" sz="1088" u="none" cap="none" strike="noStrike">
              <a:solidFill>
                <a:srgbClr val="000000"/>
              </a:solidFill>
              <a:latin typeface="Arial"/>
              <a:ea typeface="Arial"/>
              <a:cs typeface="Arial"/>
              <a:sym typeface="Arial"/>
            </a:endParaRPr>
          </a:p>
          <a:p>
            <a:pPr indent="-194339" lvl="0" marL="280279" marR="0" rtl="0" algn="l">
              <a:lnSpc>
                <a:spcPct val="100000"/>
              </a:lnSpc>
              <a:spcBef>
                <a:spcPts val="262"/>
              </a:spcBef>
              <a:spcAft>
                <a:spcPts val="0"/>
              </a:spcAft>
              <a:buClr>
                <a:srgbClr val="9A9ACC"/>
              </a:buClr>
              <a:buSzPts val="850"/>
              <a:buFont typeface="Noto Sans Symbols"/>
              <a:buChar char="◻"/>
            </a:pPr>
            <a:r>
              <a:rPr b="0" i="0" lang="en-US" sz="1088" u="none" cap="none" strike="noStrike">
                <a:solidFill>
                  <a:srgbClr val="33339A"/>
                </a:solidFill>
                <a:latin typeface="Arial"/>
                <a:ea typeface="Arial"/>
                <a:cs typeface="Arial"/>
                <a:sym typeface="Arial"/>
              </a:rPr>
              <a:t>Fiabilidad</a:t>
            </a:r>
            <a:endParaRPr b="0" i="0" sz="1088" u="none" cap="none" strike="noStrike">
              <a:solidFill>
                <a:srgbClr val="000000"/>
              </a:solidFill>
              <a:latin typeface="Arial"/>
              <a:ea typeface="Arial"/>
              <a:cs typeface="Arial"/>
              <a:sym typeface="Arial"/>
            </a:endParaRPr>
          </a:p>
          <a:p>
            <a:pPr indent="-194339" lvl="0" marL="280279" marR="0" rtl="0" algn="l">
              <a:lnSpc>
                <a:spcPct val="100000"/>
              </a:lnSpc>
              <a:spcBef>
                <a:spcPts val="262"/>
              </a:spcBef>
              <a:spcAft>
                <a:spcPts val="0"/>
              </a:spcAft>
              <a:buClr>
                <a:srgbClr val="9A9ACC"/>
              </a:buClr>
              <a:buSzPts val="850"/>
              <a:buFont typeface="Noto Sans Symbols"/>
              <a:buChar char="◻"/>
            </a:pPr>
            <a:r>
              <a:rPr b="0" i="0" lang="en-US" sz="1088" u="none" cap="none" strike="noStrike">
                <a:solidFill>
                  <a:srgbClr val="33339A"/>
                </a:solidFill>
                <a:latin typeface="Arial"/>
                <a:ea typeface="Arial"/>
                <a:cs typeface="Arial"/>
                <a:sym typeface="Arial"/>
              </a:rPr>
              <a:t>Eficiencia</a:t>
            </a:r>
            <a:endParaRPr b="0" i="0" sz="1088" u="none" cap="none" strike="noStrike">
              <a:solidFill>
                <a:srgbClr val="000000"/>
              </a:solidFill>
              <a:latin typeface="Arial"/>
              <a:ea typeface="Arial"/>
              <a:cs typeface="Arial"/>
              <a:sym typeface="Arial"/>
            </a:endParaRPr>
          </a:p>
        </p:txBody>
      </p:sp>
      <p:sp>
        <p:nvSpPr>
          <p:cNvPr id="1145" name="Google Shape;1145;p27"/>
          <p:cNvSpPr txBox="1"/>
          <p:nvPr/>
        </p:nvSpPr>
        <p:spPr>
          <a:xfrm>
            <a:off x="1834937" y="2356595"/>
            <a:ext cx="4841626" cy="197106"/>
          </a:xfrm>
          <a:prstGeom prst="rect">
            <a:avLst/>
          </a:prstGeom>
          <a:noFill/>
          <a:ln>
            <a:noFill/>
          </a:ln>
        </p:spPr>
        <p:txBody>
          <a:bodyPr anchorCtr="0" anchor="t" bIns="0" lIns="0" spcFirstLastPara="1" rIns="0" wrap="square" tIns="8625">
            <a:spAutoFit/>
          </a:bodyPr>
          <a:lstStyle/>
          <a:p>
            <a:pPr indent="-232774" lvl="0" marL="241412" marR="0" rtl="0" algn="l">
              <a:lnSpc>
                <a:spcPct val="100000"/>
              </a:lnSpc>
              <a:spcBef>
                <a:spcPts val="0"/>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El estándar define un proceso para evaluar la calidad del software.</a:t>
            </a:r>
            <a:endParaRPr b="0" i="0" sz="1224" u="none" cap="none" strike="noStrike">
              <a:solidFill>
                <a:srgbClr val="000000"/>
              </a:solidFill>
              <a:latin typeface="Arial"/>
              <a:ea typeface="Arial"/>
              <a:cs typeface="Arial"/>
              <a:sym typeface="Arial"/>
            </a:endParaRPr>
          </a:p>
        </p:txBody>
      </p:sp>
      <p:sp>
        <p:nvSpPr>
          <p:cNvPr id="1146" name="Google Shape;1146;p27"/>
          <p:cNvSpPr/>
          <p:nvPr/>
        </p:nvSpPr>
        <p:spPr>
          <a:xfrm>
            <a:off x="2413120" y="2873105"/>
            <a:ext cx="837816" cy="279416"/>
          </a:xfrm>
          <a:custGeom>
            <a:rect b="b" l="l" r="r" t="t"/>
            <a:pathLst>
              <a:path extrusionOk="0" h="410845" w="1231900">
                <a:moveTo>
                  <a:pt x="1231391" y="410718"/>
                </a:moveTo>
                <a:lnTo>
                  <a:pt x="1231391" y="0"/>
                </a:lnTo>
                <a:lnTo>
                  <a:pt x="0" y="0"/>
                </a:lnTo>
                <a:lnTo>
                  <a:pt x="0" y="410718"/>
                </a:lnTo>
                <a:lnTo>
                  <a:pt x="6096" y="410718"/>
                </a:lnTo>
                <a:lnTo>
                  <a:pt x="6096" y="12954"/>
                </a:lnTo>
                <a:lnTo>
                  <a:pt x="12192" y="6096"/>
                </a:lnTo>
                <a:lnTo>
                  <a:pt x="12192" y="12954"/>
                </a:lnTo>
                <a:lnTo>
                  <a:pt x="1219199" y="12954"/>
                </a:lnTo>
                <a:lnTo>
                  <a:pt x="1219199" y="6096"/>
                </a:lnTo>
                <a:lnTo>
                  <a:pt x="1225295" y="12954"/>
                </a:lnTo>
                <a:lnTo>
                  <a:pt x="1225295" y="410718"/>
                </a:lnTo>
                <a:lnTo>
                  <a:pt x="1231391" y="410718"/>
                </a:lnTo>
                <a:close/>
              </a:path>
              <a:path extrusionOk="0" h="410845" w="1231900">
                <a:moveTo>
                  <a:pt x="12192" y="12954"/>
                </a:moveTo>
                <a:lnTo>
                  <a:pt x="12192" y="6096"/>
                </a:lnTo>
                <a:lnTo>
                  <a:pt x="6096" y="12954"/>
                </a:lnTo>
                <a:lnTo>
                  <a:pt x="12192" y="12954"/>
                </a:lnTo>
                <a:close/>
              </a:path>
              <a:path extrusionOk="0" h="410845" w="1231900">
                <a:moveTo>
                  <a:pt x="12192" y="410718"/>
                </a:moveTo>
                <a:lnTo>
                  <a:pt x="12192" y="12954"/>
                </a:lnTo>
                <a:lnTo>
                  <a:pt x="6096" y="12954"/>
                </a:lnTo>
                <a:lnTo>
                  <a:pt x="6096" y="410718"/>
                </a:lnTo>
                <a:lnTo>
                  <a:pt x="12192" y="410718"/>
                </a:lnTo>
                <a:close/>
              </a:path>
              <a:path extrusionOk="0" h="410845" w="1231900">
                <a:moveTo>
                  <a:pt x="1225295" y="12954"/>
                </a:moveTo>
                <a:lnTo>
                  <a:pt x="1219199" y="6096"/>
                </a:lnTo>
                <a:lnTo>
                  <a:pt x="1219199" y="12954"/>
                </a:lnTo>
                <a:lnTo>
                  <a:pt x="1225295" y="12954"/>
                </a:lnTo>
                <a:close/>
              </a:path>
              <a:path extrusionOk="0" h="410845" w="1231900">
                <a:moveTo>
                  <a:pt x="1225295" y="410718"/>
                </a:moveTo>
                <a:lnTo>
                  <a:pt x="1225295" y="12954"/>
                </a:lnTo>
                <a:lnTo>
                  <a:pt x="1219199" y="12954"/>
                </a:lnTo>
                <a:lnTo>
                  <a:pt x="1219199" y="410718"/>
                </a:lnTo>
                <a:lnTo>
                  <a:pt x="1225295" y="41071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47" name="Google Shape;1147;p27"/>
          <p:cNvSpPr txBox="1"/>
          <p:nvPr/>
        </p:nvSpPr>
        <p:spPr>
          <a:xfrm>
            <a:off x="2475477" y="2892452"/>
            <a:ext cx="697892"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Definición de</a:t>
            </a:r>
            <a:endParaRPr b="0" i="0" sz="952" u="none" cap="none" strike="noStrike">
              <a:solidFill>
                <a:srgbClr val="000000"/>
              </a:solidFill>
              <a:latin typeface="Times New Roman"/>
              <a:ea typeface="Times New Roman"/>
              <a:cs typeface="Times New Roman"/>
              <a:sym typeface="Times New Roman"/>
            </a:endParaRPr>
          </a:p>
        </p:txBody>
      </p:sp>
      <p:sp>
        <p:nvSpPr>
          <p:cNvPr id="1148" name="Google Shape;1148;p27"/>
          <p:cNvSpPr txBox="1"/>
          <p:nvPr/>
        </p:nvSpPr>
        <p:spPr>
          <a:xfrm>
            <a:off x="2489472" y="3008540"/>
            <a:ext cx="669821"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requisitos de</a:t>
            </a:r>
            <a:endParaRPr b="0" i="0" sz="952" u="none" cap="none" strike="noStrike">
              <a:solidFill>
                <a:srgbClr val="000000"/>
              </a:solidFill>
              <a:latin typeface="Times New Roman"/>
              <a:ea typeface="Times New Roman"/>
              <a:cs typeface="Times New Roman"/>
              <a:sym typeface="Times New Roman"/>
            </a:endParaRPr>
          </a:p>
        </p:txBody>
      </p:sp>
      <p:sp>
        <p:nvSpPr>
          <p:cNvPr id="1149" name="Google Shape;1149;p27"/>
          <p:cNvSpPr txBox="1"/>
          <p:nvPr/>
        </p:nvSpPr>
        <p:spPr>
          <a:xfrm>
            <a:off x="2692619" y="2633852"/>
            <a:ext cx="1885086"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816" u="none" cap="none" strike="noStrike">
                <a:solidFill>
                  <a:srgbClr val="33339A"/>
                </a:solidFill>
                <a:latin typeface="Palatino Linotype"/>
                <a:ea typeface="Palatino Linotype"/>
                <a:cs typeface="Palatino Linotype"/>
                <a:sym typeface="Palatino Linotype"/>
              </a:rPr>
              <a:t>ISO 9126 y otras informaciones técnicas</a:t>
            </a:r>
            <a:endParaRPr b="0" i="0" sz="816" u="none" cap="none" strike="noStrike">
              <a:solidFill>
                <a:srgbClr val="000000"/>
              </a:solidFill>
              <a:latin typeface="Palatino Linotype"/>
              <a:ea typeface="Palatino Linotype"/>
              <a:cs typeface="Palatino Linotype"/>
              <a:sym typeface="Palatino Linotype"/>
            </a:endParaRPr>
          </a:p>
        </p:txBody>
      </p:sp>
      <p:sp>
        <p:nvSpPr>
          <p:cNvPr id="1150" name="Google Shape;1150;p27"/>
          <p:cNvSpPr/>
          <p:nvPr/>
        </p:nvSpPr>
        <p:spPr>
          <a:xfrm>
            <a:off x="2659283" y="2769466"/>
            <a:ext cx="3952851" cy="383063"/>
          </a:xfrm>
          <a:custGeom>
            <a:rect b="b" l="l" r="r" t="t"/>
            <a:pathLst>
              <a:path extrusionOk="0" h="563245" w="5812155">
                <a:moveTo>
                  <a:pt x="4222242" y="502920"/>
                </a:moveTo>
                <a:lnTo>
                  <a:pt x="3624834" y="502920"/>
                </a:lnTo>
                <a:lnTo>
                  <a:pt x="3631692" y="489204"/>
                </a:lnTo>
                <a:lnTo>
                  <a:pt x="3612642" y="489204"/>
                </a:lnTo>
                <a:lnTo>
                  <a:pt x="3612642" y="6096"/>
                </a:lnTo>
                <a:lnTo>
                  <a:pt x="3606546" y="6096"/>
                </a:lnTo>
                <a:lnTo>
                  <a:pt x="3606546" y="0"/>
                </a:lnTo>
                <a:lnTo>
                  <a:pt x="25146" y="0"/>
                </a:lnTo>
                <a:lnTo>
                  <a:pt x="25146" y="6096"/>
                </a:lnTo>
                <a:lnTo>
                  <a:pt x="19050" y="6096"/>
                </a:lnTo>
                <a:lnTo>
                  <a:pt x="19050" y="108204"/>
                </a:lnTo>
                <a:lnTo>
                  <a:pt x="0" y="108204"/>
                </a:lnTo>
                <a:lnTo>
                  <a:pt x="19050" y="146304"/>
                </a:lnTo>
                <a:lnTo>
                  <a:pt x="25146" y="158496"/>
                </a:lnTo>
                <a:lnTo>
                  <a:pt x="31242" y="146304"/>
                </a:lnTo>
                <a:lnTo>
                  <a:pt x="50292" y="108204"/>
                </a:lnTo>
                <a:lnTo>
                  <a:pt x="31242" y="108204"/>
                </a:lnTo>
                <a:lnTo>
                  <a:pt x="31242" y="12954"/>
                </a:lnTo>
                <a:lnTo>
                  <a:pt x="2533650" y="12954"/>
                </a:lnTo>
                <a:lnTo>
                  <a:pt x="2533650" y="489204"/>
                </a:lnTo>
                <a:lnTo>
                  <a:pt x="2514600" y="489204"/>
                </a:lnTo>
                <a:lnTo>
                  <a:pt x="2525649" y="511302"/>
                </a:lnTo>
                <a:lnTo>
                  <a:pt x="1695437" y="511302"/>
                </a:lnTo>
                <a:lnTo>
                  <a:pt x="1695437" y="563118"/>
                </a:lnTo>
                <a:lnTo>
                  <a:pt x="1701533" y="563118"/>
                </a:lnTo>
                <a:lnTo>
                  <a:pt x="1707629" y="563118"/>
                </a:lnTo>
                <a:lnTo>
                  <a:pt x="1707629" y="523494"/>
                </a:lnTo>
                <a:lnTo>
                  <a:pt x="2531745" y="523494"/>
                </a:lnTo>
                <a:lnTo>
                  <a:pt x="2533650" y="527304"/>
                </a:lnTo>
                <a:lnTo>
                  <a:pt x="2539746" y="539496"/>
                </a:lnTo>
                <a:lnTo>
                  <a:pt x="2545842" y="527304"/>
                </a:lnTo>
                <a:lnTo>
                  <a:pt x="2547747" y="523494"/>
                </a:lnTo>
                <a:lnTo>
                  <a:pt x="2838437" y="523494"/>
                </a:lnTo>
                <a:lnTo>
                  <a:pt x="2838437" y="563118"/>
                </a:lnTo>
                <a:lnTo>
                  <a:pt x="2844533" y="563118"/>
                </a:lnTo>
                <a:lnTo>
                  <a:pt x="2850629" y="563118"/>
                </a:lnTo>
                <a:lnTo>
                  <a:pt x="2850629" y="511302"/>
                </a:lnTo>
                <a:lnTo>
                  <a:pt x="2553843" y="511302"/>
                </a:lnTo>
                <a:lnTo>
                  <a:pt x="2564892" y="489204"/>
                </a:lnTo>
                <a:lnTo>
                  <a:pt x="2545842" y="489204"/>
                </a:lnTo>
                <a:lnTo>
                  <a:pt x="2545842" y="12954"/>
                </a:lnTo>
                <a:lnTo>
                  <a:pt x="3600450" y="12954"/>
                </a:lnTo>
                <a:lnTo>
                  <a:pt x="3600450" y="489204"/>
                </a:lnTo>
                <a:lnTo>
                  <a:pt x="3581400" y="489204"/>
                </a:lnTo>
                <a:lnTo>
                  <a:pt x="3588258" y="502920"/>
                </a:lnTo>
                <a:lnTo>
                  <a:pt x="3067037" y="502920"/>
                </a:lnTo>
                <a:lnTo>
                  <a:pt x="3067037" y="563118"/>
                </a:lnTo>
                <a:lnTo>
                  <a:pt x="3073133" y="563118"/>
                </a:lnTo>
                <a:lnTo>
                  <a:pt x="3079229" y="563118"/>
                </a:lnTo>
                <a:lnTo>
                  <a:pt x="3079229" y="515874"/>
                </a:lnTo>
                <a:lnTo>
                  <a:pt x="3594735" y="515874"/>
                </a:lnTo>
                <a:lnTo>
                  <a:pt x="3600450" y="527304"/>
                </a:lnTo>
                <a:lnTo>
                  <a:pt x="3606546" y="539496"/>
                </a:lnTo>
                <a:lnTo>
                  <a:pt x="3612642" y="527304"/>
                </a:lnTo>
                <a:lnTo>
                  <a:pt x="3618357" y="515874"/>
                </a:lnTo>
                <a:lnTo>
                  <a:pt x="4210037" y="515874"/>
                </a:lnTo>
                <a:lnTo>
                  <a:pt x="4210037" y="563118"/>
                </a:lnTo>
                <a:lnTo>
                  <a:pt x="4216146" y="563118"/>
                </a:lnTo>
                <a:lnTo>
                  <a:pt x="4222242" y="563118"/>
                </a:lnTo>
                <a:lnTo>
                  <a:pt x="4222242" y="502920"/>
                </a:lnTo>
                <a:close/>
              </a:path>
              <a:path extrusionOk="0" h="563245" w="5812155">
                <a:moveTo>
                  <a:pt x="5811761" y="520446"/>
                </a:moveTo>
                <a:lnTo>
                  <a:pt x="4427220" y="520446"/>
                </a:lnTo>
                <a:lnTo>
                  <a:pt x="4427220" y="563118"/>
                </a:lnTo>
                <a:lnTo>
                  <a:pt x="4434065" y="563118"/>
                </a:lnTo>
                <a:lnTo>
                  <a:pt x="4440174" y="563118"/>
                </a:lnTo>
                <a:lnTo>
                  <a:pt x="4440174" y="533400"/>
                </a:lnTo>
                <a:lnTo>
                  <a:pt x="5798820" y="533400"/>
                </a:lnTo>
                <a:lnTo>
                  <a:pt x="5798820" y="563118"/>
                </a:lnTo>
                <a:lnTo>
                  <a:pt x="5805665" y="563118"/>
                </a:lnTo>
                <a:lnTo>
                  <a:pt x="5811761" y="563118"/>
                </a:lnTo>
                <a:lnTo>
                  <a:pt x="5811761" y="52044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51" name="Google Shape;1151;p27"/>
          <p:cNvSpPr txBox="1"/>
          <p:nvPr/>
        </p:nvSpPr>
        <p:spPr>
          <a:xfrm>
            <a:off x="3340933" y="2772221"/>
            <a:ext cx="1002788" cy="240507"/>
          </a:xfrm>
          <a:prstGeom prst="rect">
            <a:avLst/>
          </a:prstGeom>
          <a:noFill/>
          <a:ln>
            <a:noFill/>
          </a:ln>
        </p:spPr>
        <p:txBody>
          <a:bodyPr anchorCtr="0" anchor="t" bIns="0" lIns="0" spcFirstLastPara="1" rIns="0" wrap="square" tIns="32800">
            <a:spAutoFit/>
          </a:bodyPr>
          <a:lstStyle/>
          <a:p>
            <a:pPr indent="81622" lvl="0" marL="8637" marR="3455" rtl="0" algn="l">
              <a:lnSpc>
                <a:spcPct val="95833"/>
              </a:lnSpc>
              <a:spcBef>
                <a:spcPts val="0"/>
              </a:spcBef>
              <a:spcAft>
                <a:spcPts val="0"/>
              </a:spcAft>
              <a:buNone/>
            </a:pPr>
            <a:r>
              <a:rPr b="1" i="0" lang="en-US" sz="816" u="none" cap="none" strike="noStrike">
                <a:solidFill>
                  <a:srgbClr val="33339A"/>
                </a:solidFill>
                <a:latin typeface="Palatino Linotype"/>
                <a:ea typeface="Palatino Linotype"/>
                <a:cs typeface="Palatino Linotype"/>
                <a:sym typeface="Palatino Linotype"/>
              </a:rPr>
              <a:t>Especificación de requisitos de calidad</a:t>
            </a:r>
            <a:endParaRPr b="0" i="0" sz="816" u="none" cap="none" strike="noStrike">
              <a:solidFill>
                <a:srgbClr val="000000"/>
              </a:solidFill>
              <a:latin typeface="Palatino Linotype"/>
              <a:ea typeface="Palatino Linotype"/>
              <a:cs typeface="Palatino Linotype"/>
              <a:sym typeface="Palatino Linotype"/>
            </a:endParaRPr>
          </a:p>
        </p:txBody>
      </p:sp>
      <p:sp>
        <p:nvSpPr>
          <p:cNvPr id="1152" name="Google Shape;1152;p27"/>
          <p:cNvSpPr/>
          <p:nvPr/>
        </p:nvSpPr>
        <p:spPr>
          <a:xfrm>
            <a:off x="3246445" y="3028584"/>
            <a:ext cx="2660282" cy="123945"/>
          </a:xfrm>
          <a:custGeom>
            <a:rect b="b" l="l" r="r" t="t"/>
            <a:pathLst>
              <a:path extrusionOk="0" h="182245" w="3911600">
                <a:moveTo>
                  <a:pt x="3911333" y="108204"/>
                </a:moveTo>
                <a:lnTo>
                  <a:pt x="3892283" y="108204"/>
                </a:lnTo>
                <a:lnTo>
                  <a:pt x="3892283" y="6096"/>
                </a:lnTo>
                <a:lnTo>
                  <a:pt x="3886200" y="6096"/>
                </a:lnTo>
                <a:lnTo>
                  <a:pt x="3886200" y="0"/>
                </a:lnTo>
                <a:lnTo>
                  <a:pt x="0" y="0"/>
                </a:lnTo>
                <a:lnTo>
                  <a:pt x="0" y="12954"/>
                </a:lnTo>
                <a:lnTo>
                  <a:pt x="298704" y="12954"/>
                </a:lnTo>
                <a:lnTo>
                  <a:pt x="298704" y="182118"/>
                </a:lnTo>
                <a:lnTo>
                  <a:pt x="310883" y="182118"/>
                </a:lnTo>
                <a:lnTo>
                  <a:pt x="310883" y="12954"/>
                </a:lnTo>
                <a:lnTo>
                  <a:pt x="1822704" y="12954"/>
                </a:lnTo>
                <a:lnTo>
                  <a:pt x="1822704" y="108204"/>
                </a:lnTo>
                <a:lnTo>
                  <a:pt x="1803654" y="108204"/>
                </a:lnTo>
                <a:lnTo>
                  <a:pt x="1822704" y="146304"/>
                </a:lnTo>
                <a:lnTo>
                  <a:pt x="1828800" y="158496"/>
                </a:lnTo>
                <a:lnTo>
                  <a:pt x="1834896" y="146304"/>
                </a:lnTo>
                <a:lnTo>
                  <a:pt x="1853946" y="108204"/>
                </a:lnTo>
                <a:lnTo>
                  <a:pt x="1834896" y="108204"/>
                </a:lnTo>
                <a:lnTo>
                  <a:pt x="1834896" y="12954"/>
                </a:lnTo>
                <a:lnTo>
                  <a:pt x="3880091" y="12954"/>
                </a:lnTo>
                <a:lnTo>
                  <a:pt x="3880091" y="108204"/>
                </a:lnTo>
                <a:lnTo>
                  <a:pt x="3861054" y="108204"/>
                </a:lnTo>
                <a:lnTo>
                  <a:pt x="3880091" y="146278"/>
                </a:lnTo>
                <a:lnTo>
                  <a:pt x="3886200" y="158496"/>
                </a:lnTo>
                <a:lnTo>
                  <a:pt x="3892283" y="146316"/>
                </a:lnTo>
                <a:lnTo>
                  <a:pt x="3911333" y="10820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53" name="Google Shape;1153;p27"/>
          <p:cNvSpPr txBox="1"/>
          <p:nvPr/>
        </p:nvSpPr>
        <p:spPr>
          <a:xfrm>
            <a:off x="5500425" y="2674793"/>
            <a:ext cx="1038201"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1" i="0" lang="en-US" sz="816" u="none" cap="none" strike="noStrike">
                <a:solidFill>
                  <a:srgbClr val="33339A"/>
                </a:solidFill>
                <a:latin typeface="Palatino Linotype"/>
                <a:ea typeface="Palatino Linotype"/>
                <a:cs typeface="Palatino Linotype"/>
                <a:sym typeface="Palatino Linotype"/>
              </a:rPr>
              <a:t>Requisitos de gestión</a:t>
            </a:r>
            <a:endParaRPr b="0" i="0" sz="816" u="none" cap="none" strike="noStrike">
              <a:solidFill>
                <a:srgbClr val="000000"/>
              </a:solidFill>
              <a:latin typeface="Palatino Linotype"/>
              <a:ea typeface="Palatino Linotype"/>
              <a:cs typeface="Palatino Linotype"/>
              <a:sym typeface="Palatino Linotype"/>
            </a:endParaRPr>
          </a:p>
        </p:txBody>
      </p:sp>
      <p:grpSp>
        <p:nvGrpSpPr>
          <p:cNvPr id="1154" name="Google Shape;1154;p27"/>
          <p:cNvGrpSpPr/>
          <p:nvPr/>
        </p:nvGrpSpPr>
        <p:grpSpPr>
          <a:xfrm>
            <a:off x="1462674" y="2825426"/>
            <a:ext cx="6218841" cy="910368"/>
            <a:chOff x="774839" y="4154423"/>
            <a:chExt cx="9144000" cy="1338579"/>
          </a:xfrm>
        </p:grpSpPr>
        <p:sp>
          <p:nvSpPr>
            <p:cNvPr id="1155" name="Google Shape;1155;p27"/>
            <p:cNvSpPr/>
            <p:nvPr/>
          </p:nvSpPr>
          <p:spPr>
            <a:xfrm>
              <a:off x="7563497" y="4154423"/>
              <a:ext cx="50800" cy="457200"/>
            </a:xfrm>
            <a:custGeom>
              <a:rect b="b" l="l" r="r" t="t"/>
              <a:pathLst>
                <a:path extrusionOk="0" h="457200" w="50800">
                  <a:moveTo>
                    <a:pt x="50279" y="406908"/>
                  </a:moveTo>
                  <a:lnTo>
                    <a:pt x="0" y="406908"/>
                  </a:lnTo>
                  <a:lnTo>
                    <a:pt x="19037" y="444983"/>
                  </a:lnTo>
                  <a:lnTo>
                    <a:pt x="19037" y="419100"/>
                  </a:lnTo>
                  <a:lnTo>
                    <a:pt x="31229" y="419100"/>
                  </a:lnTo>
                  <a:lnTo>
                    <a:pt x="31229" y="445027"/>
                  </a:lnTo>
                  <a:lnTo>
                    <a:pt x="50279" y="406908"/>
                  </a:lnTo>
                  <a:close/>
                </a:path>
                <a:path extrusionOk="0" h="457200" w="50800">
                  <a:moveTo>
                    <a:pt x="31229" y="406908"/>
                  </a:moveTo>
                  <a:lnTo>
                    <a:pt x="31229" y="0"/>
                  </a:lnTo>
                  <a:lnTo>
                    <a:pt x="19037" y="0"/>
                  </a:lnTo>
                  <a:lnTo>
                    <a:pt x="19037" y="406908"/>
                  </a:lnTo>
                  <a:lnTo>
                    <a:pt x="31229" y="406908"/>
                  </a:lnTo>
                  <a:close/>
                </a:path>
                <a:path extrusionOk="0" h="457200" w="50800">
                  <a:moveTo>
                    <a:pt x="31229" y="445027"/>
                  </a:moveTo>
                  <a:lnTo>
                    <a:pt x="31229" y="419100"/>
                  </a:lnTo>
                  <a:lnTo>
                    <a:pt x="19037" y="419100"/>
                  </a:lnTo>
                  <a:lnTo>
                    <a:pt x="19037" y="444983"/>
                  </a:lnTo>
                  <a:lnTo>
                    <a:pt x="25145" y="457200"/>
                  </a:lnTo>
                  <a:lnTo>
                    <a:pt x="31229" y="44502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56" name="Google Shape;1156;p27"/>
            <p:cNvSpPr/>
            <p:nvPr/>
          </p:nvSpPr>
          <p:spPr>
            <a:xfrm>
              <a:off x="774839" y="4634483"/>
              <a:ext cx="9144000" cy="858519"/>
            </a:xfrm>
            <a:custGeom>
              <a:rect b="b" l="l" r="r" t="t"/>
              <a:pathLst>
                <a:path extrusionOk="0" h="858520" w="9144000">
                  <a:moveTo>
                    <a:pt x="9144000" y="858012"/>
                  </a:moveTo>
                  <a:lnTo>
                    <a:pt x="9144000" y="0"/>
                  </a:lnTo>
                  <a:lnTo>
                    <a:pt x="0" y="0"/>
                  </a:lnTo>
                  <a:lnTo>
                    <a:pt x="0" y="858012"/>
                  </a:lnTo>
                  <a:lnTo>
                    <a:pt x="9144000"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57" name="Google Shape;1157;p27"/>
            <p:cNvSpPr/>
            <p:nvPr/>
          </p:nvSpPr>
          <p:spPr>
            <a:xfrm>
              <a:off x="2172347" y="4635245"/>
              <a:ext cx="1231900" cy="224154"/>
            </a:xfrm>
            <a:custGeom>
              <a:rect b="b" l="l" r="r" t="t"/>
              <a:pathLst>
                <a:path extrusionOk="0" h="224154" w="1231900">
                  <a:moveTo>
                    <a:pt x="12192" y="211836"/>
                  </a:moveTo>
                  <a:lnTo>
                    <a:pt x="12192" y="0"/>
                  </a:lnTo>
                  <a:lnTo>
                    <a:pt x="0" y="0"/>
                  </a:lnTo>
                  <a:lnTo>
                    <a:pt x="0" y="224027"/>
                  </a:lnTo>
                  <a:lnTo>
                    <a:pt x="6096" y="224027"/>
                  </a:lnTo>
                  <a:lnTo>
                    <a:pt x="6096" y="211836"/>
                  </a:lnTo>
                  <a:lnTo>
                    <a:pt x="12192" y="211836"/>
                  </a:lnTo>
                  <a:close/>
                </a:path>
                <a:path extrusionOk="0" h="224154" w="1231900">
                  <a:moveTo>
                    <a:pt x="1225295" y="211836"/>
                  </a:moveTo>
                  <a:lnTo>
                    <a:pt x="6096" y="211836"/>
                  </a:lnTo>
                  <a:lnTo>
                    <a:pt x="12192" y="217931"/>
                  </a:lnTo>
                  <a:lnTo>
                    <a:pt x="12192" y="224027"/>
                  </a:lnTo>
                  <a:lnTo>
                    <a:pt x="1219199" y="224027"/>
                  </a:lnTo>
                  <a:lnTo>
                    <a:pt x="1219199" y="217931"/>
                  </a:lnTo>
                  <a:lnTo>
                    <a:pt x="1225295" y="211836"/>
                  </a:lnTo>
                  <a:close/>
                </a:path>
                <a:path extrusionOk="0" h="224154" w="1231900">
                  <a:moveTo>
                    <a:pt x="12192" y="224027"/>
                  </a:moveTo>
                  <a:lnTo>
                    <a:pt x="12192" y="217931"/>
                  </a:lnTo>
                  <a:lnTo>
                    <a:pt x="6096" y="211836"/>
                  </a:lnTo>
                  <a:lnTo>
                    <a:pt x="6096" y="224027"/>
                  </a:lnTo>
                  <a:lnTo>
                    <a:pt x="12192" y="224027"/>
                  </a:lnTo>
                  <a:close/>
                </a:path>
                <a:path extrusionOk="0" h="224154" w="1231900">
                  <a:moveTo>
                    <a:pt x="1231391" y="224027"/>
                  </a:moveTo>
                  <a:lnTo>
                    <a:pt x="1231391" y="0"/>
                  </a:lnTo>
                  <a:lnTo>
                    <a:pt x="1219199" y="0"/>
                  </a:lnTo>
                  <a:lnTo>
                    <a:pt x="1219199" y="211836"/>
                  </a:lnTo>
                  <a:lnTo>
                    <a:pt x="1225295" y="211836"/>
                  </a:lnTo>
                  <a:lnTo>
                    <a:pt x="1225295" y="224027"/>
                  </a:lnTo>
                  <a:lnTo>
                    <a:pt x="1231391" y="224027"/>
                  </a:lnTo>
                  <a:close/>
                </a:path>
                <a:path extrusionOk="0" h="224154" w="1231900">
                  <a:moveTo>
                    <a:pt x="1225295" y="224027"/>
                  </a:moveTo>
                  <a:lnTo>
                    <a:pt x="1225295" y="211836"/>
                  </a:lnTo>
                  <a:lnTo>
                    <a:pt x="1219199" y="217931"/>
                  </a:lnTo>
                  <a:lnTo>
                    <a:pt x="1219199" y="224027"/>
                  </a:lnTo>
                  <a:lnTo>
                    <a:pt x="1225295" y="22402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158" name="Google Shape;1158;p27"/>
          <p:cNvSpPr txBox="1"/>
          <p:nvPr/>
        </p:nvSpPr>
        <p:spPr>
          <a:xfrm>
            <a:off x="2627321" y="3124622"/>
            <a:ext cx="394292"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calidad</a:t>
            </a:r>
            <a:endParaRPr b="0" i="0" sz="952" u="none" cap="none" strike="noStrike">
              <a:solidFill>
                <a:srgbClr val="000000"/>
              </a:solidFill>
              <a:latin typeface="Times New Roman"/>
              <a:ea typeface="Times New Roman"/>
              <a:cs typeface="Times New Roman"/>
              <a:sym typeface="Times New Roman"/>
            </a:endParaRPr>
          </a:p>
        </p:txBody>
      </p:sp>
      <p:sp>
        <p:nvSpPr>
          <p:cNvPr id="1159" name="Google Shape;1159;p27"/>
          <p:cNvSpPr/>
          <p:nvPr/>
        </p:nvSpPr>
        <p:spPr>
          <a:xfrm>
            <a:off x="3812360" y="3152434"/>
            <a:ext cx="785992" cy="396451"/>
          </a:xfrm>
          <a:custGeom>
            <a:rect b="b" l="l" r="r" t="t"/>
            <a:pathLst>
              <a:path extrusionOk="0" h="582929" w="1155700">
                <a:moveTo>
                  <a:pt x="12192" y="569976"/>
                </a:moveTo>
                <a:lnTo>
                  <a:pt x="12192" y="0"/>
                </a:lnTo>
                <a:lnTo>
                  <a:pt x="0" y="0"/>
                </a:lnTo>
                <a:lnTo>
                  <a:pt x="0" y="582929"/>
                </a:lnTo>
                <a:lnTo>
                  <a:pt x="6096" y="582929"/>
                </a:lnTo>
                <a:lnTo>
                  <a:pt x="6096" y="569976"/>
                </a:lnTo>
                <a:lnTo>
                  <a:pt x="12192" y="569976"/>
                </a:lnTo>
                <a:close/>
              </a:path>
              <a:path extrusionOk="0" h="582929" w="1155700">
                <a:moveTo>
                  <a:pt x="1149096" y="569976"/>
                </a:moveTo>
                <a:lnTo>
                  <a:pt x="6096" y="569976"/>
                </a:lnTo>
                <a:lnTo>
                  <a:pt x="12192" y="576833"/>
                </a:lnTo>
                <a:lnTo>
                  <a:pt x="12192" y="582929"/>
                </a:lnTo>
                <a:lnTo>
                  <a:pt x="1143000" y="582929"/>
                </a:lnTo>
                <a:lnTo>
                  <a:pt x="1143000" y="576833"/>
                </a:lnTo>
                <a:lnTo>
                  <a:pt x="1149096" y="569976"/>
                </a:lnTo>
                <a:close/>
              </a:path>
              <a:path extrusionOk="0" h="582929" w="1155700">
                <a:moveTo>
                  <a:pt x="12192" y="582929"/>
                </a:moveTo>
                <a:lnTo>
                  <a:pt x="12192" y="576833"/>
                </a:lnTo>
                <a:lnTo>
                  <a:pt x="6096" y="569976"/>
                </a:lnTo>
                <a:lnTo>
                  <a:pt x="6096" y="582929"/>
                </a:lnTo>
                <a:lnTo>
                  <a:pt x="12192" y="582929"/>
                </a:lnTo>
                <a:close/>
              </a:path>
              <a:path extrusionOk="0" h="582929" w="1155700">
                <a:moveTo>
                  <a:pt x="1155191" y="582929"/>
                </a:moveTo>
                <a:lnTo>
                  <a:pt x="1155191" y="0"/>
                </a:lnTo>
                <a:lnTo>
                  <a:pt x="1143000" y="0"/>
                </a:lnTo>
                <a:lnTo>
                  <a:pt x="1143000" y="569976"/>
                </a:lnTo>
                <a:lnTo>
                  <a:pt x="1149096" y="569976"/>
                </a:lnTo>
                <a:lnTo>
                  <a:pt x="1149096" y="582929"/>
                </a:lnTo>
                <a:lnTo>
                  <a:pt x="1155191" y="582929"/>
                </a:lnTo>
                <a:close/>
              </a:path>
              <a:path extrusionOk="0" h="582929" w="1155700">
                <a:moveTo>
                  <a:pt x="1149096" y="582929"/>
                </a:moveTo>
                <a:lnTo>
                  <a:pt x="1149096" y="569976"/>
                </a:lnTo>
                <a:lnTo>
                  <a:pt x="1143000" y="576833"/>
                </a:lnTo>
                <a:lnTo>
                  <a:pt x="1143000" y="582929"/>
                </a:lnTo>
                <a:lnTo>
                  <a:pt x="1149096" y="5829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60" name="Google Shape;1160;p27"/>
          <p:cNvSpPr txBox="1"/>
          <p:nvPr/>
        </p:nvSpPr>
        <p:spPr>
          <a:xfrm>
            <a:off x="3916175" y="3175409"/>
            <a:ext cx="645205" cy="267899"/>
          </a:xfrm>
          <a:prstGeom prst="rect">
            <a:avLst/>
          </a:prstGeom>
          <a:noFill/>
          <a:ln>
            <a:noFill/>
          </a:ln>
        </p:spPr>
        <p:txBody>
          <a:bodyPr anchorCtr="0" anchor="t" bIns="0" lIns="0" spcFirstLastPara="1" rIns="0" wrap="square" tIns="36700">
            <a:spAutoFit/>
          </a:bodyPr>
          <a:lstStyle/>
          <a:p>
            <a:pPr indent="-92419" lvl="0" marL="100624" marR="3455" rtl="0" algn="l">
              <a:lnSpc>
                <a:spcPct val="95693"/>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Selección de métricas</a:t>
            </a:r>
            <a:endParaRPr b="0" i="0" sz="952" u="none" cap="none" strike="noStrike">
              <a:solidFill>
                <a:srgbClr val="000000"/>
              </a:solidFill>
              <a:latin typeface="Times New Roman"/>
              <a:ea typeface="Times New Roman"/>
              <a:cs typeface="Times New Roman"/>
              <a:sym typeface="Times New Roman"/>
            </a:endParaRPr>
          </a:p>
        </p:txBody>
      </p:sp>
      <p:sp>
        <p:nvSpPr>
          <p:cNvPr id="1161" name="Google Shape;1161;p27"/>
          <p:cNvSpPr/>
          <p:nvPr/>
        </p:nvSpPr>
        <p:spPr>
          <a:xfrm>
            <a:off x="4745186" y="3152434"/>
            <a:ext cx="785992" cy="391269"/>
          </a:xfrm>
          <a:custGeom>
            <a:rect b="b" l="l" r="r" t="t"/>
            <a:pathLst>
              <a:path extrusionOk="0" h="575310" w="1155700">
                <a:moveTo>
                  <a:pt x="12192" y="562356"/>
                </a:moveTo>
                <a:lnTo>
                  <a:pt x="12192" y="0"/>
                </a:lnTo>
                <a:lnTo>
                  <a:pt x="0" y="0"/>
                </a:lnTo>
                <a:lnTo>
                  <a:pt x="0" y="575310"/>
                </a:lnTo>
                <a:lnTo>
                  <a:pt x="6096" y="575310"/>
                </a:lnTo>
                <a:lnTo>
                  <a:pt x="6096" y="562356"/>
                </a:lnTo>
                <a:lnTo>
                  <a:pt x="12192" y="562356"/>
                </a:lnTo>
                <a:close/>
              </a:path>
              <a:path extrusionOk="0" h="575310" w="1155700">
                <a:moveTo>
                  <a:pt x="1149096" y="562355"/>
                </a:moveTo>
                <a:lnTo>
                  <a:pt x="6096" y="562356"/>
                </a:lnTo>
                <a:lnTo>
                  <a:pt x="12192" y="568452"/>
                </a:lnTo>
                <a:lnTo>
                  <a:pt x="12192" y="575310"/>
                </a:lnTo>
                <a:lnTo>
                  <a:pt x="1142987" y="575309"/>
                </a:lnTo>
                <a:lnTo>
                  <a:pt x="1142987" y="568451"/>
                </a:lnTo>
                <a:lnTo>
                  <a:pt x="1149096" y="562355"/>
                </a:lnTo>
                <a:close/>
              </a:path>
              <a:path extrusionOk="0" h="575310" w="1155700">
                <a:moveTo>
                  <a:pt x="12192" y="575310"/>
                </a:moveTo>
                <a:lnTo>
                  <a:pt x="12192" y="568452"/>
                </a:lnTo>
                <a:lnTo>
                  <a:pt x="6096" y="562356"/>
                </a:lnTo>
                <a:lnTo>
                  <a:pt x="6096" y="575310"/>
                </a:lnTo>
                <a:lnTo>
                  <a:pt x="12192" y="575310"/>
                </a:lnTo>
                <a:close/>
              </a:path>
              <a:path extrusionOk="0" h="575310" w="1155700">
                <a:moveTo>
                  <a:pt x="1155192" y="575309"/>
                </a:moveTo>
                <a:lnTo>
                  <a:pt x="1155192" y="0"/>
                </a:lnTo>
                <a:lnTo>
                  <a:pt x="1142987" y="0"/>
                </a:lnTo>
                <a:lnTo>
                  <a:pt x="1142987" y="562355"/>
                </a:lnTo>
                <a:lnTo>
                  <a:pt x="1149096" y="562355"/>
                </a:lnTo>
                <a:lnTo>
                  <a:pt x="1149096" y="575309"/>
                </a:lnTo>
                <a:lnTo>
                  <a:pt x="1155192" y="575309"/>
                </a:lnTo>
                <a:close/>
              </a:path>
              <a:path extrusionOk="0" h="575310" w="1155700">
                <a:moveTo>
                  <a:pt x="1149096" y="575309"/>
                </a:moveTo>
                <a:lnTo>
                  <a:pt x="1149096" y="562355"/>
                </a:lnTo>
                <a:lnTo>
                  <a:pt x="1142987" y="568451"/>
                </a:lnTo>
                <a:lnTo>
                  <a:pt x="1142987" y="575309"/>
                </a:lnTo>
                <a:lnTo>
                  <a:pt x="1149096" y="57530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62" name="Google Shape;1162;p27"/>
          <p:cNvSpPr txBox="1"/>
          <p:nvPr/>
        </p:nvSpPr>
        <p:spPr>
          <a:xfrm>
            <a:off x="4807543" y="3130841"/>
            <a:ext cx="697892" cy="383315"/>
          </a:xfrm>
          <a:prstGeom prst="rect">
            <a:avLst/>
          </a:prstGeom>
          <a:noFill/>
          <a:ln>
            <a:noFill/>
          </a:ln>
        </p:spPr>
        <p:txBody>
          <a:bodyPr anchorCtr="0" anchor="t" bIns="0" lIns="0" spcFirstLastPara="1" rIns="0" wrap="square" tIns="36700">
            <a:spAutoFit/>
          </a:bodyPr>
          <a:lstStyle/>
          <a:p>
            <a:pPr indent="0" lvl="0" marL="8637" marR="3455" rtl="0" algn="ctr">
              <a:lnSpc>
                <a:spcPct val="95693"/>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Definición de niveles de clasificación</a:t>
            </a:r>
            <a:endParaRPr b="0" i="0" sz="952" u="none" cap="none" strike="noStrike">
              <a:solidFill>
                <a:srgbClr val="000000"/>
              </a:solidFill>
              <a:latin typeface="Times New Roman"/>
              <a:ea typeface="Times New Roman"/>
              <a:cs typeface="Times New Roman"/>
              <a:sym typeface="Times New Roman"/>
            </a:endParaRPr>
          </a:p>
        </p:txBody>
      </p:sp>
      <p:sp>
        <p:nvSpPr>
          <p:cNvPr id="1163" name="Google Shape;1163;p27"/>
          <p:cNvSpPr/>
          <p:nvPr/>
        </p:nvSpPr>
        <p:spPr>
          <a:xfrm>
            <a:off x="5670239" y="3152434"/>
            <a:ext cx="941895" cy="403361"/>
          </a:xfrm>
          <a:custGeom>
            <a:rect b="b" l="l" r="r" t="t"/>
            <a:pathLst>
              <a:path extrusionOk="0" h="593089" w="1384934">
                <a:moveTo>
                  <a:pt x="12954" y="579881"/>
                </a:moveTo>
                <a:lnTo>
                  <a:pt x="12954" y="0"/>
                </a:lnTo>
                <a:lnTo>
                  <a:pt x="0" y="0"/>
                </a:lnTo>
                <a:lnTo>
                  <a:pt x="0" y="592835"/>
                </a:lnTo>
                <a:lnTo>
                  <a:pt x="6845" y="592835"/>
                </a:lnTo>
                <a:lnTo>
                  <a:pt x="6845" y="579881"/>
                </a:lnTo>
                <a:lnTo>
                  <a:pt x="12954" y="579881"/>
                </a:lnTo>
                <a:close/>
              </a:path>
              <a:path extrusionOk="0" h="593089" w="1384934">
                <a:moveTo>
                  <a:pt x="1378445" y="579881"/>
                </a:moveTo>
                <a:lnTo>
                  <a:pt x="6845" y="579881"/>
                </a:lnTo>
                <a:lnTo>
                  <a:pt x="12954" y="585977"/>
                </a:lnTo>
                <a:lnTo>
                  <a:pt x="12954" y="592835"/>
                </a:lnTo>
                <a:lnTo>
                  <a:pt x="1371600" y="592835"/>
                </a:lnTo>
                <a:lnTo>
                  <a:pt x="1371600" y="585977"/>
                </a:lnTo>
                <a:lnTo>
                  <a:pt x="1378445" y="579881"/>
                </a:lnTo>
                <a:close/>
              </a:path>
              <a:path extrusionOk="0" h="593089" w="1384934">
                <a:moveTo>
                  <a:pt x="12954" y="592835"/>
                </a:moveTo>
                <a:lnTo>
                  <a:pt x="12954" y="585977"/>
                </a:lnTo>
                <a:lnTo>
                  <a:pt x="6845" y="579881"/>
                </a:lnTo>
                <a:lnTo>
                  <a:pt x="6845" y="592835"/>
                </a:lnTo>
                <a:lnTo>
                  <a:pt x="12954" y="592835"/>
                </a:lnTo>
                <a:close/>
              </a:path>
              <a:path extrusionOk="0" h="593089" w="1384934">
                <a:moveTo>
                  <a:pt x="1384553" y="592835"/>
                </a:moveTo>
                <a:lnTo>
                  <a:pt x="1384553" y="0"/>
                </a:lnTo>
                <a:lnTo>
                  <a:pt x="1371600" y="0"/>
                </a:lnTo>
                <a:lnTo>
                  <a:pt x="1371600" y="579881"/>
                </a:lnTo>
                <a:lnTo>
                  <a:pt x="1378445" y="579881"/>
                </a:lnTo>
                <a:lnTo>
                  <a:pt x="1378445" y="592835"/>
                </a:lnTo>
                <a:lnTo>
                  <a:pt x="1384553" y="592835"/>
                </a:lnTo>
                <a:close/>
              </a:path>
              <a:path extrusionOk="0" h="593089" w="1384934">
                <a:moveTo>
                  <a:pt x="1378445" y="592835"/>
                </a:moveTo>
                <a:lnTo>
                  <a:pt x="1378445" y="579881"/>
                </a:lnTo>
                <a:lnTo>
                  <a:pt x="1371600" y="585977"/>
                </a:lnTo>
                <a:lnTo>
                  <a:pt x="1371600" y="592835"/>
                </a:lnTo>
                <a:lnTo>
                  <a:pt x="1378445" y="59283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64" name="Google Shape;1164;p27"/>
          <p:cNvSpPr txBox="1"/>
          <p:nvPr/>
        </p:nvSpPr>
        <p:spPr>
          <a:xfrm>
            <a:off x="5792193" y="3104930"/>
            <a:ext cx="697892" cy="383315"/>
          </a:xfrm>
          <a:prstGeom prst="rect">
            <a:avLst/>
          </a:prstGeom>
          <a:noFill/>
          <a:ln>
            <a:noFill/>
          </a:ln>
        </p:spPr>
        <p:txBody>
          <a:bodyPr anchorCtr="0" anchor="t" bIns="0" lIns="0" spcFirstLastPara="1" rIns="0" wrap="square" tIns="36700">
            <a:spAutoFit/>
          </a:bodyPr>
          <a:lstStyle/>
          <a:p>
            <a:pPr indent="0" lvl="0" marL="8637" marR="3455" rtl="0" algn="ctr">
              <a:lnSpc>
                <a:spcPct val="95693"/>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Definición de criterios de valoración</a:t>
            </a:r>
            <a:endParaRPr b="0" i="0" sz="952" u="none" cap="none" strike="noStrike">
              <a:solidFill>
                <a:srgbClr val="000000"/>
              </a:solidFill>
              <a:latin typeface="Times New Roman"/>
              <a:ea typeface="Times New Roman"/>
              <a:cs typeface="Times New Roman"/>
              <a:sym typeface="Times New Roman"/>
            </a:endParaRPr>
          </a:p>
        </p:txBody>
      </p:sp>
      <p:sp>
        <p:nvSpPr>
          <p:cNvPr id="1165" name="Google Shape;1165;p27"/>
          <p:cNvSpPr/>
          <p:nvPr/>
        </p:nvSpPr>
        <p:spPr>
          <a:xfrm>
            <a:off x="3053142" y="3152443"/>
            <a:ext cx="3099920" cy="583016"/>
          </a:xfrm>
          <a:custGeom>
            <a:rect b="b" l="l" r="r" t="t"/>
            <a:pathLst>
              <a:path extrusionOk="0" h="857250" w="4558030">
                <a:moveTo>
                  <a:pt x="1155941" y="732282"/>
                </a:moveTo>
                <a:lnTo>
                  <a:pt x="592061" y="732282"/>
                </a:lnTo>
                <a:lnTo>
                  <a:pt x="595109" y="726186"/>
                </a:lnTo>
                <a:lnTo>
                  <a:pt x="614159" y="688086"/>
                </a:lnTo>
                <a:lnTo>
                  <a:pt x="595109" y="688086"/>
                </a:lnTo>
                <a:lnTo>
                  <a:pt x="595109" y="0"/>
                </a:lnTo>
                <a:lnTo>
                  <a:pt x="582930" y="0"/>
                </a:lnTo>
                <a:lnTo>
                  <a:pt x="582930" y="688086"/>
                </a:lnTo>
                <a:lnTo>
                  <a:pt x="563867" y="688086"/>
                </a:lnTo>
                <a:lnTo>
                  <a:pt x="582930" y="726186"/>
                </a:lnTo>
                <a:lnTo>
                  <a:pt x="585965" y="732282"/>
                </a:lnTo>
                <a:lnTo>
                  <a:pt x="0" y="732282"/>
                </a:lnTo>
                <a:lnTo>
                  <a:pt x="0" y="857250"/>
                </a:lnTo>
                <a:lnTo>
                  <a:pt x="6858" y="857250"/>
                </a:lnTo>
                <a:lnTo>
                  <a:pt x="12954" y="857250"/>
                </a:lnTo>
                <a:lnTo>
                  <a:pt x="12954" y="745236"/>
                </a:lnTo>
                <a:lnTo>
                  <a:pt x="1142987" y="745236"/>
                </a:lnTo>
                <a:lnTo>
                  <a:pt x="1142987" y="857250"/>
                </a:lnTo>
                <a:lnTo>
                  <a:pt x="1149845" y="857250"/>
                </a:lnTo>
                <a:lnTo>
                  <a:pt x="1155941" y="857250"/>
                </a:lnTo>
                <a:lnTo>
                  <a:pt x="1155941" y="732282"/>
                </a:lnTo>
                <a:close/>
              </a:path>
              <a:path extrusionOk="0" h="857250" w="4558030">
                <a:moveTo>
                  <a:pt x="1966709" y="585978"/>
                </a:moveTo>
                <a:lnTo>
                  <a:pt x="1954530" y="585978"/>
                </a:lnTo>
                <a:lnTo>
                  <a:pt x="1954530" y="857250"/>
                </a:lnTo>
                <a:lnTo>
                  <a:pt x="1966709" y="857250"/>
                </a:lnTo>
                <a:lnTo>
                  <a:pt x="1966709" y="585978"/>
                </a:lnTo>
                <a:close/>
              </a:path>
              <a:path extrusionOk="0" h="857250" w="4558030">
                <a:moveTo>
                  <a:pt x="3185896" y="585978"/>
                </a:moveTo>
                <a:lnTo>
                  <a:pt x="3173717" y="585978"/>
                </a:lnTo>
                <a:lnTo>
                  <a:pt x="3173717" y="857250"/>
                </a:lnTo>
                <a:lnTo>
                  <a:pt x="3185896" y="857250"/>
                </a:lnTo>
                <a:lnTo>
                  <a:pt x="3185896" y="585978"/>
                </a:lnTo>
                <a:close/>
              </a:path>
              <a:path extrusionOk="0" h="857250" w="4558030">
                <a:moveTo>
                  <a:pt x="4557509" y="585978"/>
                </a:moveTo>
                <a:lnTo>
                  <a:pt x="4545317" y="585978"/>
                </a:lnTo>
                <a:lnTo>
                  <a:pt x="4545317" y="857250"/>
                </a:lnTo>
                <a:lnTo>
                  <a:pt x="4557509" y="857250"/>
                </a:lnTo>
                <a:lnTo>
                  <a:pt x="4557509" y="5859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66" name="Google Shape;1166;p27"/>
          <p:cNvSpPr txBox="1"/>
          <p:nvPr/>
        </p:nvSpPr>
        <p:spPr>
          <a:xfrm>
            <a:off x="3885600" y="3643896"/>
            <a:ext cx="484120"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816" u="none" cap="none" strike="noStrike">
                <a:solidFill>
                  <a:srgbClr val="33339A"/>
                </a:solidFill>
                <a:latin typeface="Palatino Linotype"/>
                <a:ea typeface="Palatino Linotype"/>
                <a:cs typeface="Palatino Linotype"/>
                <a:sym typeface="Palatino Linotype"/>
              </a:rPr>
              <a:t>Productos</a:t>
            </a:r>
            <a:endParaRPr b="0" i="0" sz="816" u="none" cap="none" strike="noStrike">
              <a:solidFill>
                <a:srgbClr val="000000"/>
              </a:solidFill>
              <a:latin typeface="Palatino Linotype"/>
              <a:ea typeface="Palatino Linotype"/>
              <a:cs typeface="Palatino Linotype"/>
              <a:sym typeface="Palatino Linotype"/>
            </a:endParaRPr>
          </a:p>
        </p:txBody>
      </p:sp>
      <p:grpSp>
        <p:nvGrpSpPr>
          <p:cNvPr id="1167" name="Google Shape;1167;p27"/>
          <p:cNvGrpSpPr/>
          <p:nvPr/>
        </p:nvGrpSpPr>
        <p:grpSpPr>
          <a:xfrm>
            <a:off x="1462674" y="3734933"/>
            <a:ext cx="6218841" cy="583879"/>
            <a:chOff x="774839" y="5491734"/>
            <a:chExt cx="9144000" cy="858519"/>
          </a:xfrm>
        </p:grpSpPr>
        <p:sp>
          <p:nvSpPr>
            <p:cNvPr id="1168" name="Google Shape;1168;p27"/>
            <p:cNvSpPr/>
            <p:nvPr/>
          </p:nvSpPr>
          <p:spPr>
            <a:xfrm>
              <a:off x="774839" y="5491734"/>
              <a:ext cx="9144000" cy="85851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69" name="Google Shape;1169;p27"/>
            <p:cNvSpPr/>
            <p:nvPr/>
          </p:nvSpPr>
          <p:spPr>
            <a:xfrm>
              <a:off x="3113417" y="5492496"/>
              <a:ext cx="1156335" cy="357505"/>
            </a:xfrm>
            <a:custGeom>
              <a:rect b="b" l="l" r="r" t="t"/>
              <a:pathLst>
                <a:path extrusionOk="0" h="357504" w="1156335">
                  <a:moveTo>
                    <a:pt x="12953" y="345186"/>
                  </a:moveTo>
                  <a:lnTo>
                    <a:pt x="12953" y="0"/>
                  </a:lnTo>
                  <a:lnTo>
                    <a:pt x="0" y="0"/>
                  </a:lnTo>
                  <a:lnTo>
                    <a:pt x="0" y="357377"/>
                  </a:lnTo>
                  <a:lnTo>
                    <a:pt x="6857" y="357377"/>
                  </a:lnTo>
                  <a:lnTo>
                    <a:pt x="6857" y="345186"/>
                  </a:lnTo>
                  <a:lnTo>
                    <a:pt x="12953" y="345186"/>
                  </a:lnTo>
                  <a:close/>
                </a:path>
                <a:path extrusionOk="0" h="357504" w="1156335">
                  <a:moveTo>
                    <a:pt x="1149857" y="345186"/>
                  </a:moveTo>
                  <a:lnTo>
                    <a:pt x="6857" y="345186"/>
                  </a:lnTo>
                  <a:lnTo>
                    <a:pt x="12953" y="351281"/>
                  </a:lnTo>
                  <a:lnTo>
                    <a:pt x="12953" y="357377"/>
                  </a:lnTo>
                  <a:lnTo>
                    <a:pt x="1142999" y="357377"/>
                  </a:lnTo>
                  <a:lnTo>
                    <a:pt x="1142999" y="351281"/>
                  </a:lnTo>
                  <a:lnTo>
                    <a:pt x="1149857" y="345186"/>
                  </a:lnTo>
                  <a:close/>
                </a:path>
                <a:path extrusionOk="0" h="357504" w="1156335">
                  <a:moveTo>
                    <a:pt x="12953" y="357377"/>
                  </a:moveTo>
                  <a:lnTo>
                    <a:pt x="12953" y="351281"/>
                  </a:lnTo>
                  <a:lnTo>
                    <a:pt x="6857" y="345186"/>
                  </a:lnTo>
                  <a:lnTo>
                    <a:pt x="6857" y="357377"/>
                  </a:lnTo>
                  <a:lnTo>
                    <a:pt x="12953" y="357377"/>
                  </a:lnTo>
                  <a:close/>
                </a:path>
                <a:path extrusionOk="0" h="357504" w="1156335">
                  <a:moveTo>
                    <a:pt x="1155953" y="357377"/>
                  </a:moveTo>
                  <a:lnTo>
                    <a:pt x="1155953" y="0"/>
                  </a:lnTo>
                  <a:lnTo>
                    <a:pt x="1142999" y="0"/>
                  </a:lnTo>
                  <a:lnTo>
                    <a:pt x="1142999" y="345186"/>
                  </a:lnTo>
                  <a:lnTo>
                    <a:pt x="1149857" y="345186"/>
                  </a:lnTo>
                  <a:lnTo>
                    <a:pt x="1149857" y="357377"/>
                  </a:lnTo>
                  <a:lnTo>
                    <a:pt x="1155953" y="357377"/>
                  </a:lnTo>
                  <a:close/>
                </a:path>
                <a:path extrusionOk="0" h="357504" w="1156335">
                  <a:moveTo>
                    <a:pt x="1149857" y="357377"/>
                  </a:moveTo>
                  <a:lnTo>
                    <a:pt x="1149857" y="345186"/>
                  </a:lnTo>
                  <a:lnTo>
                    <a:pt x="1142999" y="351281"/>
                  </a:lnTo>
                  <a:lnTo>
                    <a:pt x="1142999" y="357377"/>
                  </a:lnTo>
                  <a:lnTo>
                    <a:pt x="1149857" y="35737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170" name="Google Shape;1170;p27"/>
          <p:cNvSpPr txBox="1"/>
          <p:nvPr/>
        </p:nvSpPr>
        <p:spPr>
          <a:xfrm>
            <a:off x="3090624" y="3650114"/>
            <a:ext cx="711279" cy="267899"/>
          </a:xfrm>
          <a:prstGeom prst="rect">
            <a:avLst/>
          </a:prstGeom>
          <a:noFill/>
          <a:ln>
            <a:noFill/>
          </a:ln>
        </p:spPr>
        <p:txBody>
          <a:bodyPr anchorCtr="0" anchor="t" bIns="0" lIns="0" spcFirstLastPara="1" rIns="0" wrap="square" tIns="36700">
            <a:spAutoFit/>
          </a:bodyPr>
          <a:lstStyle/>
          <a:p>
            <a:pPr indent="-126968" lvl="0" marL="135173" marR="3455" rtl="0" algn="l">
              <a:lnSpc>
                <a:spcPct val="95693"/>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Desarrollo de software</a:t>
            </a:r>
            <a:endParaRPr b="0" i="0" sz="952" u="none" cap="none" strike="noStrike">
              <a:solidFill>
                <a:srgbClr val="000000"/>
              </a:solidFill>
              <a:latin typeface="Times New Roman"/>
              <a:ea typeface="Times New Roman"/>
              <a:cs typeface="Times New Roman"/>
              <a:sym typeface="Times New Roman"/>
            </a:endParaRPr>
          </a:p>
        </p:txBody>
      </p:sp>
      <p:sp>
        <p:nvSpPr>
          <p:cNvPr id="1171" name="Google Shape;1171;p27"/>
          <p:cNvSpPr/>
          <p:nvPr/>
        </p:nvSpPr>
        <p:spPr>
          <a:xfrm>
            <a:off x="3967831" y="3900768"/>
            <a:ext cx="630521" cy="276824"/>
          </a:xfrm>
          <a:custGeom>
            <a:rect b="b" l="l" r="r" t="t"/>
            <a:pathLst>
              <a:path extrusionOk="0" h="407035" w="927100">
                <a:moveTo>
                  <a:pt x="926592" y="406908"/>
                </a:moveTo>
                <a:lnTo>
                  <a:pt x="926591" y="0"/>
                </a:lnTo>
                <a:lnTo>
                  <a:pt x="0" y="0"/>
                </a:lnTo>
                <a:lnTo>
                  <a:pt x="0" y="406908"/>
                </a:lnTo>
                <a:lnTo>
                  <a:pt x="6096" y="406908"/>
                </a:lnTo>
                <a:lnTo>
                  <a:pt x="6096" y="12953"/>
                </a:lnTo>
                <a:lnTo>
                  <a:pt x="12192" y="6858"/>
                </a:lnTo>
                <a:lnTo>
                  <a:pt x="12192" y="12953"/>
                </a:lnTo>
                <a:lnTo>
                  <a:pt x="914400" y="12953"/>
                </a:lnTo>
                <a:lnTo>
                  <a:pt x="914400" y="6858"/>
                </a:lnTo>
                <a:lnTo>
                  <a:pt x="920496" y="12953"/>
                </a:lnTo>
                <a:lnTo>
                  <a:pt x="920496" y="406908"/>
                </a:lnTo>
                <a:lnTo>
                  <a:pt x="926592" y="406908"/>
                </a:lnTo>
                <a:close/>
              </a:path>
              <a:path extrusionOk="0" h="407035" w="927100">
                <a:moveTo>
                  <a:pt x="12192" y="12953"/>
                </a:moveTo>
                <a:lnTo>
                  <a:pt x="12192" y="6858"/>
                </a:lnTo>
                <a:lnTo>
                  <a:pt x="6096" y="12953"/>
                </a:lnTo>
                <a:lnTo>
                  <a:pt x="12192" y="12953"/>
                </a:lnTo>
                <a:close/>
              </a:path>
              <a:path extrusionOk="0" h="407035" w="927100">
                <a:moveTo>
                  <a:pt x="12192" y="393953"/>
                </a:moveTo>
                <a:lnTo>
                  <a:pt x="12192" y="12953"/>
                </a:lnTo>
                <a:lnTo>
                  <a:pt x="6096" y="12953"/>
                </a:lnTo>
                <a:lnTo>
                  <a:pt x="6096" y="393953"/>
                </a:lnTo>
                <a:lnTo>
                  <a:pt x="12192" y="393953"/>
                </a:lnTo>
                <a:close/>
              </a:path>
              <a:path extrusionOk="0" h="407035" w="927100">
                <a:moveTo>
                  <a:pt x="920496" y="393953"/>
                </a:moveTo>
                <a:lnTo>
                  <a:pt x="6096" y="393953"/>
                </a:lnTo>
                <a:lnTo>
                  <a:pt x="12192" y="400050"/>
                </a:lnTo>
                <a:lnTo>
                  <a:pt x="12192" y="406908"/>
                </a:lnTo>
                <a:lnTo>
                  <a:pt x="914400" y="406908"/>
                </a:lnTo>
                <a:lnTo>
                  <a:pt x="914400" y="400050"/>
                </a:lnTo>
                <a:lnTo>
                  <a:pt x="920496" y="393953"/>
                </a:lnTo>
                <a:close/>
              </a:path>
              <a:path extrusionOk="0" h="407035" w="927100">
                <a:moveTo>
                  <a:pt x="12192" y="406908"/>
                </a:moveTo>
                <a:lnTo>
                  <a:pt x="12192" y="400050"/>
                </a:lnTo>
                <a:lnTo>
                  <a:pt x="6096" y="393953"/>
                </a:lnTo>
                <a:lnTo>
                  <a:pt x="6096" y="406908"/>
                </a:lnTo>
                <a:lnTo>
                  <a:pt x="12192" y="406908"/>
                </a:lnTo>
                <a:close/>
              </a:path>
              <a:path extrusionOk="0" h="407035" w="927100">
                <a:moveTo>
                  <a:pt x="920496" y="12953"/>
                </a:moveTo>
                <a:lnTo>
                  <a:pt x="914400" y="6858"/>
                </a:lnTo>
                <a:lnTo>
                  <a:pt x="914400" y="12953"/>
                </a:lnTo>
                <a:lnTo>
                  <a:pt x="920496" y="12953"/>
                </a:lnTo>
                <a:close/>
              </a:path>
              <a:path extrusionOk="0" h="407035" w="927100">
                <a:moveTo>
                  <a:pt x="920496" y="393953"/>
                </a:moveTo>
                <a:lnTo>
                  <a:pt x="920496" y="12953"/>
                </a:lnTo>
                <a:lnTo>
                  <a:pt x="914400" y="12953"/>
                </a:lnTo>
                <a:lnTo>
                  <a:pt x="914400" y="393953"/>
                </a:lnTo>
                <a:lnTo>
                  <a:pt x="920496" y="393953"/>
                </a:lnTo>
                <a:close/>
              </a:path>
              <a:path extrusionOk="0" h="407035" w="927100">
                <a:moveTo>
                  <a:pt x="920496" y="406908"/>
                </a:moveTo>
                <a:lnTo>
                  <a:pt x="920496" y="393953"/>
                </a:lnTo>
                <a:lnTo>
                  <a:pt x="914400" y="400050"/>
                </a:lnTo>
                <a:lnTo>
                  <a:pt x="914400" y="406908"/>
                </a:lnTo>
                <a:lnTo>
                  <a:pt x="920496" y="40690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72" name="Google Shape;1172;p27"/>
          <p:cNvSpPr txBox="1"/>
          <p:nvPr/>
        </p:nvSpPr>
        <p:spPr>
          <a:xfrm>
            <a:off x="4025005" y="3938771"/>
            <a:ext cx="500962"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Medición</a:t>
            </a:r>
            <a:endParaRPr b="0" i="0" sz="952" u="none" cap="none" strike="noStrike">
              <a:solidFill>
                <a:srgbClr val="000000"/>
              </a:solidFill>
              <a:latin typeface="Times New Roman"/>
              <a:ea typeface="Times New Roman"/>
              <a:cs typeface="Times New Roman"/>
              <a:sym typeface="Times New Roman"/>
            </a:endParaRPr>
          </a:p>
        </p:txBody>
      </p:sp>
      <p:sp>
        <p:nvSpPr>
          <p:cNvPr id="1173" name="Google Shape;1173;p27"/>
          <p:cNvSpPr/>
          <p:nvPr/>
        </p:nvSpPr>
        <p:spPr>
          <a:xfrm>
            <a:off x="4674706" y="4108062"/>
            <a:ext cx="786424" cy="210750"/>
          </a:xfrm>
          <a:custGeom>
            <a:rect b="b" l="l" r="r" t="t"/>
            <a:pathLst>
              <a:path extrusionOk="0" h="309879" w="1156334">
                <a:moveTo>
                  <a:pt x="1155953" y="309372"/>
                </a:moveTo>
                <a:lnTo>
                  <a:pt x="1155953" y="0"/>
                </a:lnTo>
                <a:lnTo>
                  <a:pt x="0" y="0"/>
                </a:lnTo>
                <a:lnTo>
                  <a:pt x="0" y="309372"/>
                </a:lnTo>
                <a:lnTo>
                  <a:pt x="6857" y="309372"/>
                </a:lnTo>
                <a:lnTo>
                  <a:pt x="6857" y="12954"/>
                </a:lnTo>
                <a:lnTo>
                  <a:pt x="12953" y="6858"/>
                </a:lnTo>
                <a:lnTo>
                  <a:pt x="12953" y="12954"/>
                </a:lnTo>
                <a:lnTo>
                  <a:pt x="1142999" y="12953"/>
                </a:lnTo>
                <a:lnTo>
                  <a:pt x="1142999" y="6857"/>
                </a:lnTo>
                <a:lnTo>
                  <a:pt x="1149845" y="12953"/>
                </a:lnTo>
                <a:lnTo>
                  <a:pt x="1149845" y="309372"/>
                </a:lnTo>
                <a:lnTo>
                  <a:pt x="1155953" y="309372"/>
                </a:lnTo>
                <a:close/>
              </a:path>
              <a:path extrusionOk="0" h="309879" w="1156334">
                <a:moveTo>
                  <a:pt x="12953" y="12954"/>
                </a:moveTo>
                <a:lnTo>
                  <a:pt x="12953" y="6858"/>
                </a:lnTo>
                <a:lnTo>
                  <a:pt x="6857" y="12954"/>
                </a:lnTo>
                <a:lnTo>
                  <a:pt x="12953" y="12954"/>
                </a:lnTo>
                <a:close/>
              </a:path>
              <a:path extrusionOk="0" h="309879" w="1156334">
                <a:moveTo>
                  <a:pt x="12953" y="309372"/>
                </a:moveTo>
                <a:lnTo>
                  <a:pt x="12953" y="12954"/>
                </a:lnTo>
                <a:lnTo>
                  <a:pt x="6857" y="12954"/>
                </a:lnTo>
                <a:lnTo>
                  <a:pt x="6857" y="309372"/>
                </a:lnTo>
                <a:lnTo>
                  <a:pt x="12953" y="309372"/>
                </a:lnTo>
                <a:close/>
              </a:path>
              <a:path extrusionOk="0" h="309879" w="1156334">
                <a:moveTo>
                  <a:pt x="1149845" y="12953"/>
                </a:moveTo>
                <a:lnTo>
                  <a:pt x="1142999" y="6857"/>
                </a:lnTo>
                <a:lnTo>
                  <a:pt x="1142999" y="12953"/>
                </a:lnTo>
                <a:lnTo>
                  <a:pt x="1149845" y="12953"/>
                </a:lnTo>
                <a:close/>
              </a:path>
              <a:path extrusionOk="0" h="309879" w="1156334">
                <a:moveTo>
                  <a:pt x="1149845" y="309372"/>
                </a:moveTo>
                <a:lnTo>
                  <a:pt x="1149845" y="12953"/>
                </a:lnTo>
                <a:lnTo>
                  <a:pt x="1142999" y="12953"/>
                </a:lnTo>
                <a:lnTo>
                  <a:pt x="1142999" y="309372"/>
                </a:lnTo>
                <a:lnTo>
                  <a:pt x="1149845" y="30937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74" name="Google Shape;1174;p27"/>
          <p:cNvSpPr txBox="1"/>
          <p:nvPr/>
        </p:nvSpPr>
        <p:spPr>
          <a:xfrm>
            <a:off x="4726180" y="4147102"/>
            <a:ext cx="682777"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Clasificación</a:t>
            </a:r>
            <a:endParaRPr b="0" i="0" sz="952" u="none" cap="none" strike="noStrike">
              <a:solidFill>
                <a:srgbClr val="000000"/>
              </a:solidFill>
              <a:latin typeface="Times New Roman"/>
              <a:ea typeface="Times New Roman"/>
              <a:cs typeface="Times New Roman"/>
              <a:sym typeface="Times New Roman"/>
            </a:endParaRPr>
          </a:p>
        </p:txBody>
      </p:sp>
      <p:sp>
        <p:nvSpPr>
          <p:cNvPr id="1175" name="Google Shape;1175;p27"/>
          <p:cNvSpPr/>
          <p:nvPr/>
        </p:nvSpPr>
        <p:spPr>
          <a:xfrm>
            <a:off x="3835162" y="3735459"/>
            <a:ext cx="2317814" cy="583016"/>
          </a:xfrm>
          <a:custGeom>
            <a:rect b="b" l="l" r="r" t="t"/>
            <a:pathLst>
              <a:path extrusionOk="0" h="857250" w="3408045">
                <a:moveTo>
                  <a:pt x="683514" y="198882"/>
                </a:moveTo>
                <a:lnTo>
                  <a:pt x="664464" y="198882"/>
                </a:lnTo>
                <a:lnTo>
                  <a:pt x="664464" y="109728"/>
                </a:lnTo>
                <a:lnTo>
                  <a:pt x="0" y="109728"/>
                </a:lnTo>
                <a:lnTo>
                  <a:pt x="0" y="122682"/>
                </a:lnTo>
                <a:lnTo>
                  <a:pt x="652272" y="122682"/>
                </a:lnTo>
                <a:lnTo>
                  <a:pt x="652272" y="198882"/>
                </a:lnTo>
                <a:lnTo>
                  <a:pt x="633222" y="198882"/>
                </a:lnTo>
                <a:lnTo>
                  <a:pt x="652272" y="237553"/>
                </a:lnTo>
                <a:lnTo>
                  <a:pt x="658368" y="249936"/>
                </a:lnTo>
                <a:lnTo>
                  <a:pt x="664464" y="237553"/>
                </a:lnTo>
                <a:lnTo>
                  <a:pt x="683514" y="198882"/>
                </a:lnTo>
                <a:close/>
              </a:path>
              <a:path extrusionOk="0" h="857250" w="3408045">
                <a:moveTo>
                  <a:pt x="835901" y="211836"/>
                </a:moveTo>
                <a:lnTo>
                  <a:pt x="816851" y="211836"/>
                </a:lnTo>
                <a:lnTo>
                  <a:pt x="816851" y="0"/>
                </a:lnTo>
                <a:lnTo>
                  <a:pt x="804672" y="0"/>
                </a:lnTo>
                <a:lnTo>
                  <a:pt x="804672" y="211836"/>
                </a:lnTo>
                <a:lnTo>
                  <a:pt x="785609" y="211836"/>
                </a:lnTo>
                <a:lnTo>
                  <a:pt x="804672" y="249936"/>
                </a:lnTo>
                <a:lnTo>
                  <a:pt x="810755" y="262128"/>
                </a:lnTo>
                <a:lnTo>
                  <a:pt x="816851" y="249936"/>
                </a:lnTo>
                <a:lnTo>
                  <a:pt x="835901" y="211836"/>
                </a:lnTo>
                <a:close/>
              </a:path>
              <a:path extrusionOk="0" h="857250" w="3408045">
                <a:moveTo>
                  <a:pt x="1837944" y="503682"/>
                </a:moveTo>
                <a:lnTo>
                  <a:pt x="1818894" y="503682"/>
                </a:lnTo>
                <a:lnTo>
                  <a:pt x="1818894" y="440436"/>
                </a:lnTo>
                <a:lnTo>
                  <a:pt x="1115568" y="440436"/>
                </a:lnTo>
                <a:lnTo>
                  <a:pt x="1115568" y="452628"/>
                </a:lnTo>
                <a:lnTo>
                  <a:pt x="1805940" y="452628"/>
                </a:lnTo>
                <a:lnTo>
                  <a:pt x="1805940" y="503682"/>
                </a:lnTo>
                <a:lnTo>
                  <a:pt x="1786890" y="503682"/>
                </a:lnTo>
                <a:lnTo>
                  <a:pt x="1805940" y="541210"/>
                </a:lnTo>
                <a:lnTo>
                  <a:pt x="1812798" y="554736"/>
                </a:lnTo>
                <a:lnTo>
                  <a:pt x="1818894" y="542353"/>
                </a:lnTo>
                <a:lnTo>
                  <a:pt x="1837944" y="503682"/>
                </a:lnTo>
                <a:close/>
              </a:path>
              <a:path extrusionOk="0" h="857250" w="3408045">
                <a:moveTo>
                  <a:pt x="2055101" y="516636"/>
                </a:moveTo>
                <a:lnTo>
                  <a:pt x="2036038" y="516636"/>
                </a:lnTo>
                <a:lnTo>
                  <a:pt x="2036038" y="0"/>
                </a:lnTo>
                <a:lnTo>
                  <a:pt x="2023859" y="0"/>
                </a:lnTo>
                <a:lnTo>
                  <a:pt x="2023859" y="516636"/>
                </a:lnTo>
                <a:lnTo>
                  <a:pt x="2004822" y="516636"/>
                </a:lnTo>
                <a:lnTo>
                  <a:pt x="2023859" y="554710"/>
                </a:lnTo>
                <a:lnTo>
                  <a:pt x="2029968" y="566928"/>
                </a:lnTo>
                <a:lnTo>
                  <a:pt x="2036051" y="554748"/>
                </a:lnTo>
                <a:lnTo>
                  <a:pt x="2055101" y="516636"/>
                </a:lnTo>
                <a:close/>
              </a:path>
              <a:path extrusionOk="0" h="857250" w="3408045">
                <a:moveTo>
                  <a:pt x="3190481" y="745236"/>
                </a:moveTo>
                <a:lnTo>
                  <a:pt x="2384285" y="745236"/>
                </a:lnTo>
                <a:lnTo>
                  <a:pt x="2384285" y="757428"/>
                </a:lnTo>
                <a:lnTo>
                  <a:pt x="3177527" y="757428"/>
                </a:lnTo>
                <a:lnTo>
                  <a:pt x="3177527" y="857250"/>
                </a:lnTo>
                <a:lnTo>
                  <a:pt x="3184385" y="857250"/>
                </a:lnTo>
                <a:lnTo>
                  <a:pt x="3190481" y="857250"/>
                </a:lnTo>
                <a:lnTo>
                  <a:pt x="3190481" y="745236"/>
                </a:lnTo>
                <a:close/>
              </a:path>
              <a:path extrusionOk="0" h="857250" w="3408045">
                <a:moveTo>
                  <a:pt x="3407651" y="0"/>
                </a:moveTo>
                <a:lnTo>
                  <a:pt x="3395459" y="0"/>
                </a:lnTo>
                <a:lnTo>
                  <a:pt x="3395459" y="857250"/>
                </a:lnTo>
                <a:lnTo>
                  <a:pt x="3407651" y="857250"/>
                </a:lnTo>
                <a:lnTo>
                  <a:pt x="340765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76" name="Google Shape;1176;p27"/>
          <p:cNvSpPr txBox="1"/>
          <p:nvPr/>
        </p:nvSpPr>
        <p:spPr>
          <a:xfrm>
            <a:off x="6249796" y="4213955"/>
            <a:ext cx="522555"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816" u="none" cap="none" strike="noStrike">
                <a:solidFill>
                  <a:srgbClr val="33339A"/>
                </a:solidFill>
                <a:latin typeface="Palatino Linotype"/>
                <a:ea typeface="Palatino Linotype"/>
                <a:cs typeface="Palatino Linotype"/>
                <a:sym typeface="Palatino Linotype"/>
              </a:rPr>
              <a:t>Resultados</a:t>
            </a:r>
            <a:endParaRPr b="0" i="0" sz="816" u="none" cap="none" strike="noStrike">
              <a:solidFill>
                <a:srgbClr val="000000"/>
              </a:solidFill>
              <a:latin typeface="Palatino Linotype"/>
              <a:ea typeface="Palatino Linotype"/>
              <a:cs typeface="Palatino Linotype"/>
              <a:sym typeface="Palatino Linotype"/>
            </a:endParaRPr>
          </a:p>
        </p:txBody>
      </p:sp>
      <p:sp>
        <p:nvSpPr>
          <p:cNvPr id="1177" name="Google Shape;1177;p27"/>
          <p:cNvSpPr/>
          <p:nvPr/>
        </p:nvSpPr>
        <p:spPr>
          <a:xfrm>
            <a:off x="1462674" y="4317949"/>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78" name="Google Shape;1178;p27"/>
          <p:cNvSpPr txBox="1"/>
          <p:nvPr/>
        </p:nvSpPr>
        <p:spPr>
          <a:xfrm>
            <a:off x="6090697" y="4655493"/>
            <a:ext cx="1217856"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816" u="none" cap="none" strike="noStrike">
                <a:solidFill>
                  <a:srgbClr val="000000"/>
                </a:solidFill>
                <a:latin typeface="Arial"/>
                <a:ea typeface="Arial"/>
                <a:cs typeface="Arial"/>
                <a:sym typeface="Arial"/>
              </a:rPr>
              <a:t>Medición del software	73</a:t>
            </a:r>
            <a:endParaRPr b="0" i="0" sz="816" u="none" cap="none" strike="noStrike">
              <a:solidFill>
                <a:srgbClr val="000000"/>
              </a:solidFill>
              <a:latin typeface="Arial"/>
              <a:ea typeface="Arial"/>
              <a:cs typeface="Arial"/>
              <a:sym typeface="Arial"/>
            </a:endParaRPr>
          </a:p>
        </p:txBody>
      </p:sp>
      <p:sp>
        <p:nvSpPr>
          <p:cNvPr id="1179" name="Google Shape;1179;p27"/>
          <p:cNvSpPr txBox="1"/>
          <p:nvPr/>
        </p:nvSpPr>
        <p:spPr>
          <a:xfrm>
            <a:off x="3341969" y="4585012"/>
            <a:ext cx="2389072"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0" i="0" lang="en-US" sz="952" u="none" cap="none" strike="noStrike">
                <a:solidFill>
                  <a:srgbClr val="000104"/>
                </a:solidFill>
                <a:latin typeface="Arial"/>
                <a:ea typeface="Arial"/>
                <a:cs typeface="Arial"/>
                <a:sym typeface="Arial"/>
              </a:rPr>
              <a:t>Modelo del proceso de evaluación ISO 9126</a:t>
            </a:r>
            <a:endParaRPr b="0" i="0" sz="952" u="none" cap="none" strike="noStrike">
              <a:solidFill>
                <a:srgbClr val="000000"/>
              </a:solidFill>
              <a:latin typeface="Arial"/>
              <a:ea typeface="Arial"/>
              <a:cs typeface="Arial"/>
              <a:sym typeface="Arial"/>
            </a:endParaRPr>
          </a:p>
        </p:txBody>
      </p:sp>
      <p:sp>
        <p:nvSpPr>
          <p:cNvPr id="1180" name="Google Shape;1180;p27"/>
          <p:cNvSpPr/>
          <p:nvPr/>
        </p:nvSpPr>
        <p:spPr>
          <a:xfrm>
            <a:off x="4674706" y="4318475"/>
            <a:ext cx="1719251" cy="205567"/>
          </a:xfrm>
          <a:custGeom>
            <a:rect b="b" l="l" r="r" t="t"/>
            <a:pathLst>
              <a:path extrusionOk="0" h="302259" w="2527934">
                <a:moveTo>
                  <a:pt x="1155954" y="0"/>
                </a:moveTo>
                <a:lnTo>
                  <a:pt x="1143000" y="0"/>
                </a:lnTo>
                <a:lnTo>
                  <a:pt x="1143000" y="84582"/>
                </a:lnTo>
                <a:lnTo>
                  <a:pt x="12954" y="84582"/>
                </a:lnTo>
                <a:lnTo>
                  <a:pt x="12954" y="0"/>
                </a:lnTo>
                <a:lnTo>
                  <a:pt x="0" y="0"/>
                </a:lnTo>
                <a:lnTo>
                  <a:pt x="0" y="97536"/>
                </a:lnTo>
                <a:lnTo>
                  <a:pt x="6858" y="97536"/>
                </a:lnTo>
                <a:lnTo>
                  <a:pt x="12954" y="97536"/>
                </a:lnTo>
                <a:lnTo>
                  <a:pt x="1143000" y="97536"/>
                </a:lnTo>
                <a:lnTo>
                  <a:pt x="1149845" y="97536"/>
                </a:lnTo>
                <a:lnTo>
                  <a:pt x="1155954" y="97536"/>
                </a:lnTo>
                <a:lnTo>
                  <a:pt x="1155954" y="0"/>
                </a:lnTo>
                <a:close/>
              </a:path>
              <a:path extrusionOk="0" h="302259" w="2527934">
                <a:moveTo>
                  <a:pt x="2527554" y="48006"/>
                </a:moveTo>
                <a:lnTo>
                  <a:pt x="2514600" y="48006"/>
                </a:lnTo>
                <a:lnTo>
                  <a:pt x="2514600" y="60960"/>
                </a:lnTo>
                <a:lnTo>
                  <a:pt x="2514600" y="289560"/>
                </a:lnTo>
                <a:lnTo>
                  <a:pt x="1384554" y="289560"/>
                </a:lnTo>
                <a:lnTo>
                  <a:pt x="1384554" y="60960"/>
                </a:lnTo>
                <a:lnTo>
                  <a:pt x="2514600" y="60960"/>
                </a:lnTo>
                <a:lnTo>
                  <a:pt x="2514600" y="48006"/>
                </a:lnTo>
                <a:lnTo>
                  <a:pt x="1371600" y="48006"/>
                </a:lnTo>
                <a:lnTo>
                  <a:pt x="1371600" y="301752"/>
                </a:lnTo>
                <a:lnTo>
                  <a:pt x="1378445" y="301752"/>
                </a:lnTo>
                <a:lnTo>
                  <a:pt x="1384554" y="301752"/>
                </a:lnTo>
                <a:lnTo>
                  <a:pt x="2514600" y="301752"/>
                </a:lnTo>
                <a:lnTo>
                  <a:pt x="2521458" y="301752"/>
                </a:lnTo>
                <a:lnTo>
                  <a:pt x="2527554" y="301752"/>
                </a:lnTo>
                <a:lnTo>
                  <a:pt x="2527554" y="4800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81" name="Google Shape;1181;p27"/>
          <p:cNvSpPr txBox="1"/>
          <p:nvPr/>
        </p:nvSpPr>
        <p:spPr>
          <a:xfrm>
            <a:off x="5711866" y="4346624"/>
            <a:ext cx="577834" cy="154800"/>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0" lang="en-US" sz="952" u="none" cap="none" strike="noStrike">
                <a:solidFill>
                  <a:srgbClr val="33339A"/>
                </a:solidFill>
                <a:latin typeface="Times New Roman"/>
                <a:ea typeface="Times New Roman"/>
                <a:cs typeface="Times New Roman"/>
                <a:sym typeface="Times New Roman"/>
              </a:rPr>
              <a:t>Valoración</a:t>
            </a:r>
            <a:endParaRPr b="0" i="0" sz="952" u="none" cap="none" strike="noStrike">
              <a:solidFill>
                <a:srgbClr val="000000"/>
              </a:solidFill>
              <a:latin typeface="Times New Roman"/>
              <a:ea typeface="Times New Roman"/>
              <a:cs typeface="Times New Roman"/>
              <a:sym typeface="Times New Roman"/>
            </a:endParaRPr>
          </a:p>
        </p:txBody>
      </p:sp>
      <p:sp>
        <p:nvSpPr>
          <p:cNvPr id="1182" name="Google Shape;1182;p27"/>
          <p:cNvSpPr/>
          <p:nvPr/>
        </p:nvSpPr>
        <p:spPr>
          <a:xfrm>
            <a:off x="5983246" y="4318476"/>
            <a:ext cx="579993" cy="79462"/>
          </a:xfrm>
          <a:custGeom>
            <a:rect b="b" l="l" r="r" t="t"/>
            <a:pathLst>
              <a:path extrusionOk="0" h="116839" w="852804">
                <a:moveTo>
                  <a:pt x="51054" y="6858"/>
                </a:moveTo>
                <a:lnTo>
                  <a:pt x="32004" y="6858"/>
                </a:lnTo>
                <a:lnTo>
                  <a:pt x="32004" y="0"/>
                </a:lnTo>
                <a:lnTo>
                  <a:pt x="19050" y="0"/>
                </a:lnTo>
                <a:lnTo>
                  <a:pt x="19050" y="6858"/>
                </a:lnTo>
                <a:lnTo>
                  <a:pt x="0" y="6858"/>
                </a:lnTo>
                <a:lnTo>
                  <a:pt x="19050" y="43827"/>
                </a:lnTo>
                <a:lnTo>
                  <a:pt x="25908" y="57150"/>
                </a:lnTo>
                <a:lnTo>
                  <a:pt x="32004" y="44958"/>
                </a:lnTo>
                <a:lnTo>
                  <a:pt x="51054" y="6858"/>
                </a:lnTo>
                <a:close/>
              </a:path>
              <a:path extrusionOk="0" h="116839" w="852804">
                <a:moveTo>
                  <a:pt x="268224" y="40386"/>
                </a:moveTo>
                <a:lnTo>
                  <a:pt x="249174" y="40386"/>
                </a:lnTo>
                <a:lnTo>
                  <a:pt x="249174" y="0"/>
                </a:lnTo>
                <a:lnTo>
                  <a:pt x="236982" y="0"/>
                </a:lnTo>
                <a:lnTo>
                  <a:pt x="236982" y="40386"/>
                </a:lnTo>
                <a:lnTo>
                  <a:pt x="217944" y="40386"/>
                </a:lnTo>
                <a:lnTo>
                  <a:pt x="236982" y="78460"/>
                </a:lnTo>
                <a:lnTo>
                  <a:pt x="243090" y="90678"/>
                </a:lnTo>
                <a:lnTo>
                  <a:pt x="249174" y="78498"/>
                </a:lnTo>
                <a:lnTo>
                  <a:pt x="268224" y="40386"/>
                </a:lnTo>
                <a:close/>
              </a:path>
              <a:path extrusionOk="0" h="116839" w="852804">
                <a:moveTo>
                  <a:pt x="852690" y="90678"/>
                </a:moveTo>
                <a:lnTo>
                  <a:pt x="801624" y="65532"/>
                </a:lnTo>
                <a:lnTo>
                  <a:pt x="801624" y="84582"/>
                </a:lnTo>
                <a:lnTo>
                  <a:pt x="624090" y="84582"/>
                </a:lnTo>
                <a:lnTo>
                  <a:pt x="624090" y="97536"/>
                </a:lnTo>
                <a:lnTo>
                  <a:pt x="801624" y="97536"/>
                </a:lnTo>
                <a:lnTo>
                  <a:pt x="801624" y="116586"/>
                </a:lnTo>
                <a:lnTo>
                  <a:pt x="814590" y="110007"/>
                </a:lnTo>
                <a:lnTo>
                  <a:pt x="852690" y="906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28"/>
          <p:cNvSpPr txBox="1"/>
          <p:nvPr>
            <p:ph idx="4294967295" type="title"/>
          </p:nvPr>
        </p:nvSpPr>
        <p:spPr>
          <a:xfrm>
            <a:off x="1275907" y="32942"/>
            <a:ext cx="7198242" cy="944875"/>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Medición de atributos externos del producto</a:t>
            </a:r>
            <a:endParaRPr>
              <a:solidFill>
                <a:srgbClr val="FF0000"/>
              </a:solidFill>
            </a:endParaRPr>
          </a:p>
        </p:txBody>
      </p:sp>
      <p:sp>
        <p:nvSpPr>
          <p:cNvPr id="1188" name="Google Shape;1188;p28"/>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189" name="Google Shape;1189;p28"/>
          <p:cNvSpPr/>
          <p:nvPr/>
        </p:nvSpPr>
        <p:spPr>
          <a:xfrm>
            <a:off x="3641860" y="2908862"/>
            <a:ext cx="2155001" cy="8637"/>
          </a:xfrm>
          <a:custGeom>
            <a:rect b="b" l="l" r="r" t="t"/>
            <a:pathLst>
              <a:path extrusionOk="0" h="12700" w="3168650">
                <a:moveTo>
                  <a:pt x="3168395" y="12192"/>
                </a:moveTo>
                <a:lnTo>
                  <a:pt x="3168395" y="0"/>
                </a:lnTo>
                <a:lnTo>
                  <a:pt x="0" y="0"/>
                </a:lnTo>
                <a:lnTo>
                  <a:pt x="0" y="12192"/>
                </a:lnTo>
                <a:lnTo>
                  <a:pt x="3168395" y="1219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nvGrpSpPr>
          <p:cNvPr id="1190" name="Google Shape;1190;p28"/>
          <p:cNvGrpSpPr/>
          <p:nvPr/>
        </p:nvGrpSpPr>
        <p:grpSpPr>
          <a:xfrm>
            <a:off x="1462674" y="3734933"/>
            <a:ext cx="6218841" cy="583879"/>
            <a:chOff x="774839" y="5491734"/>
            <a:chExt cx="9144000" cy="858519"/>
          </a:xfrm>
        </p:grpSpPr>
        <p:sp>
          <p:nvSpPr>
            <p:cNvPr id="1191" name="Google Shape;1191;p28"/>
            <p:cNvSpPr/>
            <p:nvPr/>
          </p:nvSpPr>
          <p:spPr>
            <a:xfrm>
              <a:off x="774839" y="5491734"/>
              <a:ext cx="9144000" cy="85851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192" name="Google Shape;1192;p28"/>
            <p:cNvSpPr/>
            <p:nvPr/>
          </p:nvSpPr>
          <p:spPr>
            <a:xfrm>
              <a:off x="2538869" y="6220206"/>
              <a:ext cx="6264910" cy="12700"/>
            </a:xfrm>
            <a:custGeom>
              <a:rect b="b" l="l" r="r" t="t"/>
              <a:pathLst>
                <a:path extrusionOk="0" h="12700" w="6264909">
                  <a:moveTo>
                    <a:pt x="6264402" y="12192"/>
                  </a:moveTo>
                  <a:lnTo>
                    <a:pt x="6264402" y="0"/>
                  </a:lnTo>
                  <a:lnTo>
                    <a:pt x="0" y="0"/>
                  </a:lnTo>
                  <a:lnTo>
                    <a:pt x="0" y="12192"/>
                  </a:lnTo>
                  <a:lnTo>
                    <a:pt x="6264402" y="1219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
        <p:nvSpPr>
          <p:cNvPr id="1193" name="Google Shape;1193;p28"/>
          <p:cNvSpPr txBox="1"/>
          <p:nvPr/>
        </p:nvSpPr>
        <p:spPr>
          <a:xfrm>
            <a:off x="1834937" y="903545"/>
            <a:ext cx="5065764" cy="3537162"/>
          </a:xfrm>
          <a:prstGeom prst="rect">
            <a:avLst/>
          </a:prstGeom>
          <a:noFill/>
          <a:ln>
            <a:noFill/>
          </a:ln>
        </p:spPr>
        <p:txBody>
          <a:bodyPr anchorCtr="0" anchor="t" bIns="0" lIns="0" spcFirstLastPara="1" rIns="0" wrap="square" tIns="9412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Medición de la densidad de defectos</a:t>
            </a:r>
            <a:endParaRPr b="0" i="0" sz="1360" u="none" cap="none" strike="noStrike">
              <a:solidFill>
                <a:srgbClr val="000000"/>
              </a:solidFill>
              <a:latin typeface="Arial"/>
              <a:ea typeface="Arial"/>
              <a:cs typeface="Arial"/>
              <a:sym typeface="Arial"/>
            </a:endParaRPr>
          </a:p>
          <a:p>
            <a:pPr indent="-233206" lvl="0" marL="241844" marR="120922" rtl="0" algn="l">
              <a:lnSpc>
                <a:spcPct val="120000"/>
              </a:lnSpc>
              <a:spcBef>
                <a:spcPts val="316"/>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Para cualquier producto software se pueden considerar dos tipos de defectos:</a:t>
            </a:r>
            <a:endParaRPr b="0" i="0" sz="1224" u="none" cap="none" strike="noStrike">
              <a:solidFill>
                <a:srgbClr val="000000"/>
              </a:solidFill>
              <a:latin typeface="Arial"/>
              <a:ea typeface="Arial"/>
              <a:cs typeface="Arial"/>
              <a:sym typeface="Arial"/>
            </a:endParaRPr>
          </a:p>
          <a:p>
            <a:pPr indent="-194339" lvl="1" marL="513486" marR="0" rtl="0" algn="l">
              <a:lnSpc>
                <a:spcPct val="100000"/>
              </a:lnSpc>
              <a:spcBef>
                <a:spcPts val="544"/>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Defectos conocidos</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524"/>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Defectos latentes</a:t>
            </a:r>
            <a:endParaRPr b="0" i="0" sz="1088" u="none" cap="none" strike="noStrike">
              <a:solidFill>
                <a:srgbClr val="000000"/>
              </a:solidFill>
              <a:latin typeface="Arial"/>
              <a:ea typeface="Arial"/>
              <a:cs typeface="Arial"/>
              <a:sym typeface="Arial"/>
            </a:endParaRPr>
          </a:p>
          <a:p>
            <a:pPr indent="-232774" lvl="0" marL="241412" marR="0" rtl="0" algn="l">
              <a:lnSpc>
                <a:spcPct val="100000"/>
              </a:lnSpc>
              <a:spcBef>
                <a:spcPts val="564"/>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La densidad de defectos se puede definir en función de los primeros:</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476"/>
              </a:spcBef>
              <a:spcAft>
                <a:spcPts val="0"/>
              </a:spcAft>
              <a:buClr>
                <a:srgbClr val="000000"/>
              </a:buClr>
              <a:buSzPts val="1224"/>
              <a:buFont typeface="Noto Sans Symbols"/>
              <a:buNone/>
            </a:pPr>
            <a:r>
              <a:t/>
            </a:r>
            <a:endParaRPr b="0" i="0" sz="1224" u="none" cap="none" strike="noStrike">
              <a:solidFill>
                <a:srgbClr val="000000"/>
              </a:solidFill>
              <a:latin typeface="Arial"/>
              <a:ea typeface="Arial"/>
              <a:cs typeface="Arial"/>
              <a:sym typeface="Arial"/>
            </a:endParaRPr>
          </a:p>
          <a:p>
            <a:pPr indent="0" lvl="0" marL="1912292" marR="0" rtl="0" algn="l">
              <a:lnSpc>
                <a:spcPct val="114062"/>
              </a:lnSpc>
              <a:spcBef>
                <a:spcPts val="0"/>
              </a:spcBef>
              <a:spcAft>
                <a:spcPts val="0"/>
              </a:spcAft>
              <a:buNone/>
            </a:pPr>
            <a:r>
              <a:rPr b="0" i="0" lang="en-US" sz="1088" u="none" cap="none" strike="noStrike">
                <a:solidFill>
                  <a:srgbClr val="000000"/>
                </a:solidFill>
                <a:latin typeface="Arial"/>
                <a:ea typeface="Arial"/>
                <a:cs typeface="Arial"/>
                <a:sym typeface="Arial"/>
              </a:rPr>
              <a:t>número de defectos conocidos</a:t>
            </a:r>
            <a:endParaRPr b="0" i="0" sz="1088" u="none" cap="none" strike="noStrike">
              <a:solidFill>
                <a:srgbClr val="000000"/>
              </a:solidFill>
              <a:latin typeface="Arial"/>
              <a:ea typeface="Arial"/>
              <a:cs typeface="Arial"/>
              <a:sym typeface="Arial"/>
            </a:endParaRPr>
          </a:p>
          <a:p>
            <a:pPr indent="0" lvl="0" marL="319579" marR="0" rtl="0" algn="l">
              <a:lnSpc>
                <a:spcPct val="108180"/>
              </a:lnSpc>
              <a:spcBef>
                <a:spcPts val="0"/>
              </a:spcBef>
              <a:spcAft>
                <a:spcPts val="0"/>
              </a:spcAft>
              <a:buNone/>
            </a:pPr>
            <a:r>
              <a:rPr b="0" i="0" lang="en-US" sz="1088" u="none" cap="none" strike="noStrike">
                <a:solidFill>
                  <a:srgbClr val="000000"/>
                </a:solidFill>
                <a:latin typeface="Arial"/>
                <a:ea typeface="Arial"/>
                <a:cs typeface="Arial"/>
                <a:sym typeface="Arial"/>
              </a:rPr>
              <a:t>Densidad de defectos =</a:t>
            </a:r>
            <a:endParaRPr b="0" i="0" sz="1088" u="none" cap="none" strike="noStrike">
              <a:solidFill>
                <a:srgbClr val="000000"/>
              </a:solidFill>
              <a:latin typeface="Arial"/>
              <a:ea typeface="Arial"/>
              <a:cs typeface="Arial"/>
              <a:sym typeface="Arial"/>
            </a:endParaRPr>
          </a:p>
          <a:p>
            <a:pPr indent="0" lvl="0" marL="2223233" marR="0" rtl="0" algn="l">
              <a:lnSpc>
                <a:spcPct val="114062"/>
              </a:lnSpc>
              <a:spcBef>
                <a:spcPts val="0"/>
              </a:spcBef>
              <a:spcAft>
                <a:spcPts val="0"/>
              </a:spcAft>
              <a:buNone/>
            </a:pPr>
            <a:r>
              <a:rPr b="0" i="0" lang="en-US" sz="1088" u="none" cap="none" strike="noStrike">
                <a:solidFill>
                  <a:srgbClr val="000000"/>
                </a:solidFill>
                <a:latin typeface="Arial"/>
                <a:ea typeface="Arial"/>
                <a:cs typeface="Arial"/>
                <a:sym typeface="Arial"/>
              </a:rPr>
              <a:t>tamaño del producto</a:t>
            </a:r>
            <a:endParaRPr b="0" i="0" sz="1088" u="none" cap="none" strike="noStrike">
              <a:solidFill>
                <a:srgbClr val="000000"/>
              </a:solidFill>
              <a:latin typeface="Arial"/>
              <a:ea typeface="Arial"/>
              <a:cs typeface="Arial"/>
              <a:sym typeface="Arial"/>
            </a:endParaRPr>
          </a:p>
          <a:p>
            <a:pPr indent="0" lvl="0" marL="0" marR="0" rtl="0" algn="l">
              <a:lnSpc>
                <a:spcPct val="100000"/>
              </a:lnSpc>
              <a:spcBef>
                <a:spcPts val="163"/>
              </a:spcBef>
              <a:spcAft>
                <a:spcPts val="0"/>
              </a:spcAft>
              <a:buNone/>
            </a:pPr>
            <a:r>
              <a:t/>
            </a:r>
            <a:endParaRPr b="0" i="0" sz="1088" u="none" cap="none" strike="noStrike">
              <a:solidFill>
                <a:srgbClr val="000000"/>
              </a:solidFill>
              <a:latin typeface="Arial"/>
              <a:ea typeface="Arial"/>
              <a:cs typeface="Arial"/>
              <a:sym typeface="Arial"/>
            </a:endParaRPr>
          </a:p>
          <a:p>
            <a:pPr indent="0" lvl="0" marL="8637" marR="0" rtl="0" algn="l">
              <a:lnSpc>
                <a:spcPct val="100000"/>
              </a:lnSpc>
              <a:spcBef>
                <a:spcPts val="3"/>
              </a:spcBef>
              <a:spcAft>
                <a:spcPts val="0"/>
              </a:spcAft>
              <a:buNone/>
            </a:pPr>
            <a:r>
              <a:rPr b="1" i="0" lang="en-US" sz="1360" u="none" cap="none" strike="noStrike">
                <a:solidFill>
                  <a:srgbClr val="CB132D"/>
                </a:solidFill>
                <a:latin typeface="Arial"/>
                <a:ea typeface="Arial"/>
                <a:cs typeface="Arial"/>
                <a:sym typeface="Arial"/>
              </a:rPr>
              <a:t>Medida de la calidad basada en defectos</a:t>
            </a:r>
            <a:endParaRPr b="0" i="0" sz="1360" u="none" cap="none" strike="noStrike">
              <a:solidFill>
                <a:srgbClr val="000000"/>
              </a:solidFill>
              <a:latin typeface="Arial"/>
              <a:ea typeface="Arial"/>
              <a:cs typeface="Arial"/>
              <a:sym typeface="Arial"/>
            </a:endParaRPr>
          </a:p>
          <a:p>
            <a:pPr indent="-232774" lvl="0" marL="241412" marR="0" rtl="0" algn="l">
              <a:lnSpc>
                <a:spcPct val="100000"/>
              </a:lnSpc>
              <a:spcBef>
                <a:spcPts val="871"/>
              </a:spcBef>
              <a:spcAft>
                <a:spcPts val="0"/>
              </a:spcAft>
              <a:buClr>
                <a:srgbClr val="00007C"/>
              </a:buClr>
              <a:buSzPts val="1020"/>
              <a:buFont typeface="Noto Sans Symbols"/>
              <a:buChar char="■"/>
            </a:pPr>
            <a:r>
              <a:rPr b="0" i="0" lang="en-US" sz="1360" u="none" cap="none" strike="noStrike">
                <a:solidFill>
                  <a:srgbClr val="000000"/>
                </a:solidFill>
                <a:latin typeface="Arial"/>
                <a:ea typeface="Arial"/>
                <a:cs typeface="Arial"/>
                <a:sym typeface="Arial"/>
              </a:rPr>
              <a:t>Se puede medir la calidad en función de la relación:</a:t>
            </a:r>
            <a:endParaRPr b="0" i="0" sz="1360" u="none" cap="none" strike="noStrike">
              <a:solidFill>
                <a:srgbClr val="000000"/>
              </a:solidFill>
              <a:latin typeface="Arial"/>
              <a:ea typeface="Arial"/>
              <a:cs typeface="Arial"/>
              <a:sym typeface="Arial"/>
            </a:endParaRPr>
          </a:p>
          <a:p>
            <a:pPr indent="-804130" lvl="0" marL="1628557" marR="3455" rtl="0" algn="l">
              <a:lnSpc>
                <a:spcPct val="120000"/>
              </a:lnSpc>
              <a:spcBef>
                <a:spcPts val="1149"/>
              </a:spcBef>
              <a:spcAft>
                <a:spcPts val="0"/>
              </a:spcAft>
              <a:buNone/>
            </a:pPr>
            <a:r>
              <a:rPr b="0" i="0" lang="en-US" sz="1224" u="none" cap="none" strike="noStrike">
                <a:solidFill>
                  <a:srgbClr val="000000"/>
                </a:solidFill>
                <a:latin typeface="Arial"/>
                <a:ea typeface="Arial"/>
                <a:cs typeface="Arial"/>
                <a:sym typeface="Arial"/>
              </a:rPr>
              <a:t>Tiempo empleado en la corrección de defectos “post-release” Tiempo total de desarrollo del sistema</a:t>
            </a:r>
            <a:endParaRPr b="0" i="0" sz="1224"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29"/>
          <p:cNvSpPr txBox="1"/>
          <p:nvPr>
            <p:ph idx="4294967295" type="title"/>
          </p:nvPr>
        </p:nvSpPr>
        <p:spPr>
          <a:xfrm>
            <a:off x="700823" y="-34312"/>
            <a:ext cx="8123274" cy="944875"/>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Medición de atributos externos del producto</a:t>
            </a:r>
            <a:endParaRPr>
              <a:solidFill>
                <a:srgbClr val="FF0000"/>
              </a:solidFill>
            </a:endParaRPr>
          </a:p>
        </p:txBody>
      </p:sp>
      <p:sp>
        <p:nvSpPr>
          <p:cNvPr id="1199" name="Google Shape;1199;p29"/>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200" name="Google Shape;1200;p29"/>
          <p:cNvSpPr txBox="1"/>
          <p:nvPr/>
        </p:nvSpPr>
        <p:spPr>
          <a:xfrm>
            <a:off x="1834937" y="932339"/>
            <a:ext cx="5562408" cy="1917668"/>
          </a:xfrm>
          <a:prstGeom prst="rect">
            <a:avLst/>
          </a:prstGeom>
          <a:noFill/>
          <a:ln>
            <a:noFill/>
          </a:ln>
        </p:spPr>
        <p:txBody>
          <a:bodyPr anchorCtr="0" anchor="t" bIns="0" lIns="0" spcFirstLastPara="1" rIns="0" wrap="square" tIns="9672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Medidas de usabilidad </a:t>
            </a:r>
            <a:r>
              <a:rPr b="0" i="0" lang="en-US" sz="1360" u="none" cap="none" strike="noStrike">
                <a:solidFill>
                  <a:srgbClr val="CB132D"/>
                </a:solidFill>
                <a:latin typeface="Arial"/>
                <a:ea typeface="Arial"/>
                <a:cs typeface="Arial"/>
                <a:sym typeface="Arial"/>
              </a:rPr>
              <a:t>(II)</a:t>
            </a:r>
            <a:endParaRPr b="0" i="0" sz="1360" u="none" cap="none" strike="noStrike">
              <a:solidFill>
                <a:srgbClr val="000000"/>
              </a:solidFill>
              <a:latin typeface="Arial"/>
              <a:ea typeface="Arial"/>
              <a:cs typeface="Arial"/>
              <a:sym typeface="Arial"/>
            </a:endParaRPr>
          </a:p>
          <a:p>
            <a:pPr indent="-233206" lvl="0" marL="241412" marR="3455" rtl="0" algn="l">
              <a:lnSpc>
                <a:spcPct val="100000"/>
              </a:lnSpc>
              <a:spcBef>
                <a:spcPts val="626"/>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Las medidas de usabilidad se suelen expresar en función del rendimiento del usuario. Se han propuesto varias medidas de ese tipo:</a:t>
            </a:r>
            <a:endParaRPr b="0" i="0" sz="1224" u="none" cap="none" strike="noStrike">
              <a:solidFill>
                <a:srgbClr val="000000"/>
              </a:solidFill>
              <a:latin typeface="Arial"/>
              <a:ea typeface="Arial"/>
              <a:cs typeface="Arial"/>
              <a:sym typeface="Arial"/>
            </a:endParaRPr>
          </a:p>
          <a:p>
            <a:pPr indent="-194339" lvl="1" marL="513486" marR="0" rtl="0" algn="l">
              <a:lnSpc>
                <a:spcPct val="100000"/>
              </a:lnSpc>
              <a:spcBef>
                <a:spcPts val="966"/>
              </a:spcBef>
              <a:spcAft>
                <a:spcPts val="0"/>
              </a:spcAft>
              <a:buClr>
                <a:srgbClr val="9A9ACC"/>
              </a:buClr>
              <a:buSzPts val="850"/>
              <a:buFont typeface="Noto Sans Symbols"/>
              <a:buChar char="◻"/>
            </a:pPr>
            <a:r>
              <a:rPr b="1" i="1" lang="en-US" sz="1088" u="none" cap="none" strike="noStrike">
                <a:solidFill>
                  <a:srgbClr val="3333CC"/>
                </a:solidFill>
                <a:latin typeface="Arial"/>
                <a:ea typeface="Arial"/>
                <a:cs typeface="Arial"/>
                <a:sym typeface="Arial"/>
              </a:rPr>
              <a:t>Efectividad de las tareas</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0" lvl="0" marL="785128" marR="0" rtl="0" algn="l">
              <a:lnSpc>
                <a:spcPct val="100000"/>
              </a:lnSpc>
              <a:spcBef>
                <a:spcPts val="687"/>
              </a:spcBef>
              <a:spcAft>
                <a:spcPts val="0"/>
              </a:spcAft>
              <a:buNone/>
            </a:pPr>
            <a:r>
              <a:rPr b="0" i="0" lang="en-US" sz="1088" u="none" cap="none" strike="noStrike">
                <a:solidFill>
                  <a:srgbClr val="000000"/>
                </a:solidFill>
                <a:latin typeface="Arial"/>
                <a:ea typeface="Arial"/>
                <a:cs typeface="Arial"/>
                <a:sym typeface="Arial"/>
              </a:rPr>
              <a:t>% de efectividad = (cantidad * calidad)/100</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850"/>
              </a:spcBef>
              <a:spcAft>
                <a:spcPts val="0"/>
              </a:spcAft>
              <a:buClr>
                <a:srgbClr val="9A9ACC"/>
              </a:buClr>
              <a:buSzPts val="850"/>
              <a:buFont typeface="Noto Sans Symbols"/>
              <a:buChar char="◻"/>
            </a:pPr>
            <a:r>
              <a:rPr b="1" i="1" lang="en-US" sz="1088" u="none" cap="none" strike="noStrike">
                <a:solidFill>
                  <a:srgbClr val="3333CC"/>
                </a:solidFill>
                <a:latin typeface="Arial"/>
                <a:ea typeface="Arial"/>
                <a:cs typeface="Arial"/>
                <a:sym typeface="Arial"/>
              </a:rPr>
              <a:t>Eficiencia temporal</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0" lvl="0" marL="785128" marR="0" rtl="0" algn="l">
              <a:lnSpc>
                <a:spcPct val="100000"/>
              </a:lnSpc>
              <a:spcBef>
                <a:spcPts val="1173"/>
              </a:spcBef>
              <a:spcAft>
                <a:spcPts val="0"/>
              </a:spcAft>
              <a:buNone/>
            </a:pPr>
            <a:r>
              <a:rPr b="0" i="0" lang="en-US" sz="1088" u="none" cap="none" strike="noStrike">
                <a:solidFill>
                  <a:srgbClr val="000000"/>
                </a:solidFill>
                <a:latin typeface="Arial"/>
                <a:ea typeface="Arial"/>
                <a:cs typeface="Arial"/>
                <a:sym typeface="Arial"/>
              </a:rPr>
              <a:t>eficiencia = efectividad/tiempo de tarea</a:t>
            </a:r>
            <a:endParaRPr b="0" i="0" sz="1088" u="none" cap="none" strike="noStrike">
              <a:solidFill>
                <a:srgbClr val="000000"/>
              </a:solidFill>
              <a:latin typeface="Arial"/>
              <a:ea typeface="Arial"/>
              <a:cs typeface="Arial"/>
              <a:sym typeface="Arial"/>
            </a:endParaRPr>
          </a:p>
        </p:txBody>
      </p:sp>
      <p:sp>
        <p:nvSpPr>
          <p:cNvPr id="1201" name="Google Shape;1201;p29"/>
          <p:cNvSpPr txBox="1"/>
          <p:nvPr/>
        </p:nvSpPr>
        <p:spPr>
          <a:xfrm>
            <a:off x="2145879" y="2858455"/>
            <a:ext cx="4147190" cy="544268"/>
          </a:xfrm>
          <a:prstGeom prst="rect">
            <a:avLst/>
          </a:prstGeom>
          <a:noFill/>
          <a:ln>
            <a:noFill/>
          </a:ln>
        </p:spPr>
        <p:txBody>
          <a:bodyPr anchorCtr="0" anchor="t" bIns="0" lIns="0" spcFirstLastPara="1" rIns="0" wrap="square" tIns="105800">
            <a:spAutoFit/>
          </a:bodyPr>
          <a:lstStyle/>
          <a:p>
            <a:pPr indent="-193907" lvl="0" marL="202544" marR="0" rtl="0" algn="l">
              <a:lnSpc>
                <a:spcPct val="100000"/>
              </a:lnSpc>
              <a:spcBef>
                <a:spcPts val="0"/>
              </a:spcBef>
              <a:spcAft>
                <a:spcPts val="0"/>
              </a:spcAft>
              <a:buClr>
                <a:srgbClr val="9A9ACC"/>
              </a:buClr>
              <a:buSzPts val="850"/>
              <a:buFont typeface="Noto Sans Symbols"/>
              <a:buChar char="◻"/>
            </a:pPr>
            <a:r>
              <a:rPr b="1" i="1" lang="en-US" sz="1088" u="none" cap="none" strike="noStrike">
                <a:solidFill>
                  <a:srgbClr val="3333CC"/>
                </a:solidFill>
                <a:latin typeface="Arial"/>
                <a:ea typeface="Arial"/>
                <a:cs typeface="Arial"/>
                <a:sym typeface="Arial"/>
              </a:rPr>
              <a:t>Periodo de tiempo productivo</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0" lvl="0" marL="1769777" marR="0" rtl="0" algn="l">
              <a:lnSpc>
                <a:spcPct val="100000"/>
              </a:lnSpc>
              <a:spcBef>
                <a:spcPts val="769"/>
              </a:spcBef>
              <a:spcAft>
                <a:spcPts val="0"/>
              </a:spcAft>
              <a:buNone/>
            </a:pPr>
            <a:r>
              <a:rPr b="0" i="0" lang="en-US" sz="1088" u="none" cap="none" strike="noStrike">
                <a:solidFill>
                  <a:srgbClr val="000000"/>
                </a:solidFill>
                <a:latin typeface="Arial"/>
                <a:ea typeface="Arial"/>
                <a:cs typeface="Arial"/>
                <a:sym typeface="Arial"/>
              </a:rPr>
              <a:t>tiempo de tarea - tiempo no productivo</a:t>
            </a:r>
            <a:endParaRPr b="0" i="0" sz="1088" u="none" cap="none" strike="noStrike">
              <a:solidFill>
                <a:srgbClr val="000000"/>
              </a:solidFill>
              <a:latin typeface="Arial"/>
              <a:ea typeface="Arial"/>
              <a:cs typeface="Arial"/>
              <a:sym typeface="Arial"/>
            </a:endParaRPr>
          </a:p>
        </p:txBody>
      </p:sp>
      <p:sp>
        <p:nvSpPr>
          <p:cNvPr id="1202" name="Google Shape;1202;p29"/>
          <p:cNvSpPr txBox="1"/>
          <p:nvPr/>
        </p:nvSpPr>
        <p:spPr>
          <a:xfrm>
            <a:off x="2572905" y="3335033"/>
            <a:ext cx="1279181"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periodo productivo =</a:t>
            </a:r>
            <a:endParaRPr b="0" i="0" sz="1088" u="none" cap="none" strike="noStrike">
              <a:solidFill>
                <a:srgbClr val="000000"/>
              </a:solidFill>
              <a:latin typeface="Arial"/>
              <a:ea typeface="Arial"/>
              <a:cs typeface="Arial"/>
              <a:sym typeface="Arial"/>
            </a:endParaRPr>
          </a:p>
        </p:txBody>
      </p:sp>
      <p:sp>
        <p:nvSpPr>
          <p:cNvPr id="1203" name="Google Shape;1203;p29"/>
          <p:cNvSpPr txBox="1"/>
          <p:nvPr/>
        </p:nvSpPr>
        <p:spPr>
          <a:xfrm>
            <a:off x="6472122" y="3335033"/>
            <a:ext cx="358015"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x 100</a:t>
            </a:r>
            <a:endParaRPr b="0" i="0" sz="1088" u="none" cap="none" strike="noStrike">
              <a:solidFill>
                <a:srgbClr val="000000"/>
              </a:solidFill>
              <a:latin typeface="Arial"/>
              <a:ea typeface="Arial"/>
              <a:cs typeface="Arial"/>
              <a:sym typeface="Arial"/>
            </a:endParaRPr>
          </a:p>
        </p:txBody>
      </p:sp>
      <p:sp>
        <p:nvSpPr>
          <p:cNvPr id="1204" name="Google Shape;1204;p29"/>
          <p:cNvSpPr txBox="1"/>
          <p:nvPr/>
        </p:nvSpPr>
        <p:spPr>
          <a:xfrm>
            <a:off x="4762460" y="3438685"/>
            <a:ext cx="977740"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tiempo de tarea</a:t>
            </a:r>
            <a:endParaRPr b="0" i="0" sz="1088" u="none" cap="none" strike="noStrike">
              <a:solidFill>
                <a:srgbClr val="000000"/>
              </a:solidFill>
              <a:latin typeface="Arial"/>
              <a:ea typeface="Arial"/>
              <a:cs typeface="Arial"/>
              <a:sym typeface="Arial"/>
            </a:endParaRPr>
          </a:p>
        </p:txBody>
      </p:sp>
      <p:sp>
        <p:nvSpPr>
          <p:cNvPr id="1205" name="Google Shape;1205;p29"/>
          <p:cNvSpPr/>
          <p:nvPr/>
        </p:nvSpPr>
        <p:spPr>
          <a:xfrm>
            <a:off x="3886985" y="3446275"/>
            <a:ext cx="2448669" cy="9069"/>
          </a:xfrm>
          <a:custGeom>
            <a:rect b="b" l="l" r="r" t="t"/>
            <a:pathLst>
              <a:path extrusionOk="0" h="13335" w="3600450">
                <a:moveTo>
                  <a:pt x="3600450" y="12953"/>
                </a:moveTo>
                <a:lnTo>
                  <a:pt x="3600450" y="0"/>
                </a:lnTo>
                <a:lnTo>
                  <a:pt x="0" y="0"/>
                </a:lnTo>
                <a:lnTo>
                  <a:pt x="0" y="12954"/>
                </a:lnTo>
                <a:lnTo>
                  <a:pt x="3600450" y="1295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206" name="Google Shape;1206;p29"/>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207" name="Google Shape;1207;p29"/>
          <p:cNvSpPr txBox="1"/>
          <p:nvPr/>
        </p:nvSpPr>
        <p:spPr>
          <a:xfrm>
            <a:off x="2145878" y="3622648"/>
            <a:ext cx="3242435" cy="497445"/>
          </a:xfrm>
          <a:prstGeom prst="rect">
            <a:avLst/>
          </a:prstGeom>
          <a:noFill/>
          <a:ln>
            <a:noFill/>
          </a:ln>
        </p:spPr>
        <p:txBody>
          <a:bodyPr anchorCtr="0" anchor="t" bIns="0" lIns="0" spcFirstLastPara="1" rIns="0" wrap="square" tIns="8625">
            <a:spAutoFit/>
          </a:bodyPr>
          <a:lstStyle/>
          <a:p>
            <a:pPr indent="-193907" lvl="0" marL="202544" marR="0" rtl="0" algn="l">
              <a:lnSpc>
                <a:spcPct val="100000"/>
              </a:lnSpc>
              <a:spcBef>
                <a:spcPts val="0"/>
              </a:spcBef>
              <a:spcAft>
                <a:spcPts val="0"/>
              </a:spcAft>
              <a:buClr>
                <a:srgbClr val="9A9ACC"/>
              </a:buClr>
              <a:buSzPts val="850"/>
              <a:buFont typeface="Noto Sans Symbols"/>
              <a:buChar char="◻"/>
            </a:pPr>
            <a:r>
              <a:rPr b="1" i="1" lang="en-US" sz="1088" u="none" cap="none" strike="noStrike">
                <a:solidFill>
                  <a:srgbClr val="3333CC"/>
                </a:solidFill>
                <a:latin typeface="Arial"/>
                <a:ea typeface="Arial"/>
                <a:cs typeface="Arial"/>
                <a:sym typeface="Arial"/>
              </a:rPr>
              <a:t>Eficiencia relativa del usuario</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0" lvl="0" marL="1945113" marR="0" rtl="0" algn="l">
              <a:lnSpc>
                <a:spcPct val="100000"/>
              </a:lnSpc>
              <a:spcBef>
                <a:spcPts val="1163"/>
              </a:spcBef>
              <a:spcAft>
                <a:spcPts val="0"/>
              </a:spcAft>
              <a:buNone/>
            </a:pPr>
            <a:r>
              <a:rPr b="0" i="0" lang="en-US" sz="1088" u="none" cap="none" strike="noStrike">
                <a:solidFill>
                  <a:srgbClr val="000000"/>
                </a:solidFill>
                <a:latin typeface="Arial"/>
                <a:ea typeface="Arial"/>
                <a:cs typeface="Arial"/>
                <a:sym typeface="Arial"/>
              </a:rPr>
              <a:t>eficiencia del usuario</a:t>
            </a:r>
            <a:endParaRPr b="0" i="0" sz="1088" u="none" cap="none" strike="noStrike">
              <a:solidFill>
                <a:srgbClr val="000000"/>
              </a:solidFill>
              <a:latin typeface="Arial"/>
              <a:ea typeface="Arial"/>
              <a:cs typeface="Arial"/>
              <a:sym typeface="Arial"/>
            </a:endParaRPr>
          </a:p>
        </p:txBody>
      </p:sp>
      <p:sp>
        <p:nvSpPr>
          <p:cNvPr id="1208" name="Google Shape;1208;p29"/>
          <p:cNvSpPr txBox="1"/>
          <p:nvPr/>
        </p:nvSpPr>
        <p:spPr>
          <a:xfrm>
            <a:off x="2741857" y="4060560"/>
            <a:ext cx="1199286"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eficiencia relativa =</a:t>
            </a:r>
            <a:endParaRPr b="0" i="0" sz="1088" u="none" cap="none" strike="noStrike">
              <a:solidFill>
                <a:srgbClr val="000000"/>
              </a:solidFill>
              <a:latin typeface="Arial"/>
              <a:ea typeface="Arial"/>
              <a:cs typeface="Arial"/>
              <a:sym typeface="Arial"/>
            </a:endParaRPr>
          </a:p>
        </p:txBody>
      </p:sp>
      <p:sp>
        <p:nvSpPr>
          <p:cNvPr id="1209" name="Google Shape;1209;p29"/>
          <p:cNvSpPr txBox="1"/>
          <p:nvPr/>
        </p:nvSpPr>
        <p:spPr>
          <a:xfrm>
            <a:off x="5551734" y="4060560"/>
            <a:ext cx="357583"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x 100</a:t>
            </a:r>
            <a:endParaRPr b="0" i="0" sz="1088" u="none" cap="none" strike="noStrike">
              <a:solidFill>
                <a:srgbClr val="000000"/>
              </a:solidFill>
              <a:latin typeface="Arial"/>
              <a:ea typeface="Arial"/>
              <a:cs typeface="Arial"/>
              <a:sym typeface="Arial"/>
            </a:endParaRPr>
          </a:p>
        </p:txBody>
      </p:sp>
      <p:sp>
        <p:nvSpPr>
          <p:cNvPr id="1210" name="Google Shape;1210;p29"/>
          <p:cNvSpPr txBox="1"/>
          <p:nvPr/>
        </p:nvSpPr>
        <p:spPr>
          <a:xfrm>
            <a:off x="4062837" y="4193225"/>
            <a:ext cx="1313730" cy="17613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1088" u="none" cap="none" strike="noStrike">
                <a:solidFill>
                  <a:srgbClr val="000000"/>
                </a:solidFill>
                <a:latin typeface="Arial"/>
                <a:ea typeface="Arial"/>
                <a:cs typeface="Arial"/>
                <a:sym typeface="Arial"/>
              </a:rPr>
              <a:t>eficiencia del experto</a:t>
            </a:r>
            <a:endParaRPr b="0" i="0" sz="1088" u="none" cap="none" strike="noStrike">
              <a:solidFill>
                <a:srgbClr val="000000"/>
              </a:solidFill>
              <a:latin typeface="Arial"/>
              <a:ea typeface="Arial"/>
              <a:cs typeface="Arial"/>
              <a:sym typeface="Arial"/>
            </a:endParaRPr>
          </a:p>
        </p:txBody>
      </p:sp>
      <p:grpSp>
        <p:nvGrpSpPr>
          <p:cNvPr id="1211" name="Google Shape;1211;p29"/>
          <p:cNvGrpSpPr/>
          <p:nvPr/>
        </p:nvGrpSpPr>
        <p:grpSpPr>
          <a:xfrm>
            <a:off x="1462674" y="4181653"/>
            <a:ext cx="6218841" cy="720175"/>
            <a:chOff x="774839" y="6148578"/>
            <a:chExt cx="9144000" cy="1058925"/>
          </a:xfrm>
        </p:grpSpPr>
        <p:sp>
          <p:nvSpPr>
            <p:cNvPr id="1212" name="Google Shape;1212;p29"/>
            <p:cNvSpPr/>
            <p:nvPr/>
          </p:nvSpPr>
          <p:spPr>
            <a:xfrm>
              <a:off x="4518545" y="6148578"/>
              <a:ext cx="2124075" cy="13335"/>
            </a:xfrm>
            <a:custGeom>
              <a:rect b="b" l="l" r="r" t="t"/>
              <a:pathLst>
                <a:path extrusionOk="0" h="13335" w="2124075">
                  <a:moveTo>
                    <a:pt x="2123693" y="12953"/>
                  </a:moveTo>
                  <a:lnTo>
                    <a:pt x="2123693" y="0"/>
                  </a:lnTo>
                  <a:lnTo>
                    <a:pt x="0" y="0"/>
                  </a:lnTo>
                  <a:lnTo>
                    <a:pt x="0" y="12954"/>
                  </a:lnTo>
                  <a:lnTo>
                    <a:pt x="2123693" y="1295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213" name="Google Shape;1213;p29"/>
            <p:cNvSpPr/>
            <p:nvPr/>
          </p:nvSpPr>
          <p:spPr>
            <a:xfrm>
              <a:off x="774839" y="6348984"/>
              <a:ext cx="9144000" cy="85851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30"/>
          <p:cNvSpPr txBox="1"/>
          <p:nvPr>
            <p:ph idx="4294967295" type="title"/>
          </p:nvPr>
        </p:nvSpPr>
        <p:spPr>
          <a:xfrm>
            <a:off x="1180214" y="0"/>
            <a:ext cx="7309063" cy="944875"/>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Medición de atributos externos del producto</a:t>
            </a:r>
            <a:endParaRPr>
              <a:solidFill>
                <a:srgbClr val="FF0000"/>
              </a:solidFill>
            </a:endParaRPr>
          </a:p>
        </p:txBody>
      </p:sp>
      <p:sp>
        <p:nvSpPr>
          <p:cNvPr id="1219" name="Google Shape;1219;p30"/>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220" name="Google Shape;1220;p30"/>
          <p:cNvSpPr txBox="1"/>
          <p:nvPr/>
        </p:nvSpPr>
        <p:spPr>
          <a:xfrm>
            <a:off x="1834937" y="816706"/>
            <a:ext cx="5655690" cy="2150531"/>
          </a:xfrm>
          <a:prstGeom prst="rect">
            <a:avLst/>
          </a:prstGeom>
          <a:noFill/>
          <a:ln>
            <a:noFill/>
          </a:ln>
        </p:spPr>
        <p:txBody>
          <a:bodyPr anchorCtr="0" anchor="t" bIns="0" lIns="0" spcFirstLastPara="1" rIns="0" wrap="square" tIns="129975">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Medidas de usabilidad para aplicaciones Web </a:t>
            </a:r>
            <a:r>
              <a:rPr b="0" i="0" lang="en-US" sz="1360" u="none" cap="none" strike="noStrike">
                <a:solidFill>
                  <a:srgbClr val="CB132D"/>
                </a:solidFill>
                <a:latin typeface="Arial"/>
                <a:ea typeface="Arial"/>
                <a:cs typeface="Arial"/>
                <a:sym typeface="Arial"/>
              </a:rPr>
              <a:t>(V)</a:t>
            </a:r>
            <a:endParaRPr b="0" i="0" sz="1360" u="none" cap="none" strike="noStrike">
              <a:solidFill>
                <a:srgbClr val="000000"/>
              </a:solidFill>
              <a:latin typeface="Arial"/>
              <a:ea typeface="Arial"/>
              <a:cs typeface="Arial"/>
              <a:sym typeface="Arial"/>
            </a:endParaRPr>
          </a:p>
          <a:p>
            <a:pPr indent="0" lvl="0" marL="241412" marR="55279" rtl="0" algn="just">
              <a:lnSpc>
                <a:spcPct val="100000"/>
              </a:lnSpc>
              <a:spcBef>
                <a:spcPts val="952"/>
              </a:spcBef>
              <a:spcAft>
                <a:spcPts val="0"/>
              </a:spcAft>
              <a:buNone/>
            </a:pPr>
            <a:r>
              <a:rPr b="1" i="0" lang="en-US" sz="1360" u="none" cap="none" strike="noStrike">
                <a:solidFill>
                  <a:srgbClr val="3333CC"/>
                </a:solidFill>
                <a:latin typeface="Arial"/>
                <a:ea typeface="Arial"/>
                <a:cs typeface="Arial"/>
                <a:sym typeface="Arial"/>
              </a:rPr>
              <a:t>Eficiencia</a:t>
            </a:r>
            <a:r>
              <a:rPr b="0" i="0" lang="en-US" sz="1360" u="none" cap="none" strike="noStrike">
                <a:solidFill>
                  <a:srgbClr val="000000"/>
                </a:solidFill>
                <a:latin typeface="Arial"/>
                <a:ea typeface="Arial"/>
                <a:cs typeface="Arial"/>
                <a:sym typeface="Arial"/>
              </a:rPr>
              <a:t>: capacidad de ayudar a los usuarios finales a alcanzar sus objetivos en menos tiempo que el requerido para alcanzar los mismos objetivos utilizando otros instrumentos</a:t>
            </a:r>
            <a:endParaRPr b="0" i="0" sz="1360" u="none" cap="none" strike="noStrike">
              <a:solidFill>
                <a:srgbClr val="000000"/>
              </a:solidFill>
              <a:latin typeface="Arial"/>
              <a:ea typeface="Arial"/>
              <a:cs typeface="Arial"/>
              <a:sym typeface="Arial"/>
            </a:endParaRPr>
          </a:p>
          <a:p>
            <a:pPr indent="-193907" lvl="0" marL="513486" marR="0" rtl="0" algn="just">
              <a:lnSpc>
                <a:spcPct val="100000"/>
              </a:lnSpc>
              <a:spcBef>
                <a:spcPts val="299"/>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Indicadores</a:t>
            </a:r>
            <a:endParaRPr b="0" i="0" sz="1224" u="none" cap="none" strike="noStrike">
              <a:solidFill>
                <a:srgbClr val="000000"/>
              </a:solidFill>
              <a:latin typeface="Arial"/>
              <a:ea typeface="Arial"/>
              <a:cs typeface="Arial"/>
              <a:sym typeface="Arial"/>
            </a:endParaRPr>
          </a:p>
          <a:p>
            <a:pPr indent="-155471" lvl="1" marL="785992" marR="0" rtl="0" algn="just">
              <a:lnSpc>
                <a:spcPct val="100000"/>
              </a:lnSpc>
              <a:spcBef>
                <a:spcPts val="265"/>
              </a:spcBef>
              <a:spcAft>
                <a:spcPts val="0"/>
              </a:spcAft>
              <a:buClr>
                <a:srgbClr val="00007C"/>
              </a:buClr>
              <a:buSzPts val="680"/>
              <a:buFont typeface="Noto Sans Symbols"/>
              <a:buChar char="■"/>
            </a:pPr>
            <a:r>
              <a:rPr b="0" i="0" lang="en-US" sz="1088" u="none" cap="none" strike="noStrike">
                <a:solidFill>
                  <a:srgbClr val="000000"/>
                </a:solidFill>
                <a:latin typeface="Arial"/>
                <a:ea typeface="Arial"/>
                <a:cs typeface="Arial"/>
                <a:sym typeface="Arial"/>
              </a:rPr>
              <a:t>El tiempo necesario para completar exitosamente una transacción</a:t>
            </a:r>
            <a:endParaRPr b="0" i="0" sz="1088" u="none" cap="none" strike="noStrike">
              <a:solidFill>
                <a:srgbClr val="000000"/>
              </a:solidFill>
              <a:latin typeface="Arial"/>
              <a:ea typeface="Arial"/>
              <a:cs typeface="Arial"/>
              <a:sym typeface="Arial"/>
            </a:endParaRPr>
          </a:p>
          <a:p>
            <a:pPr indent="-155471" lvl="1" marL="785992" marR="0" rtl="0" algn="just">
              <a:lnSpc>
                <a:spcPct val="100000"/>
              </a:lnSpc>
              <a:spcBef>
                <a:spcPts val="258"/>
              </a:spcBef>
              <a:spcAft>
                <a:spcPts val="0"/>
              </a:spcAft>
              <a:buClr>
                <a:srgbClr val="00007C"/>
              </a:buClr>
              <a:buSzPts val="680"/>
              <a:buFont typeface="Noto Sans Symbols"/>
              <a:buChar char="■"/>
            </a:pPr>
            <a:r>
              <a:rPr b="0" i="0" lang="en-US" sz="1088" u="none" cap="none" strike="noStrike">
                <a:solidFill>
                  <a:srgbClr val="000000"/>
                </a:solidFill>
                <a:latin typeface="Arial"/>
                <a:ea typeface="Arial"/>
                <a:cs typeface="Arial"/>
                <a:sym typeface="Arial"/>
              </a:rPr>
              <a:t>Número de transacciones completadas con éxito en un periodo de tiempo dado</a:t>
            </a:r>
            <a:endParaRPr b="0" i="0" sz="1088" u="none" cap="none" strike="noStrike">
              <a:solidFill>
                <a:srgbClr val="000000"/>
              </a:solidFill>
              <a:latin typeface="Arial"/>
              <a:ea typeface="Arial"/>
              <a:cs typeface="Arial"/>
              <a:sym typeface="Arial"/>
            </a:endParaRPr>
          </a:p>
          <a:p>
            <a:pPr indent="-194339" lvl="0" marL="513918" marR="181383" rtl="0" algn="just">
              <a:lnSpc>
                <a:spcPct val="100000"/>
              </a:lnSpc>
              <a:spcBef>
                <a:spcPts val="292"/>
              </a:spcBef>
              <a:spcAft>
                <a:spcPts val="0"/>
              </a:spcAft>
              <a:buClr>
                <a:srgbClr val="9A9ACC"/>
              </a:buClr>
              <a:buSzPts val="952"/>
              <a:buFont typeface="Noto Sans Symbols"/>
              <a:buChar char="◻"/>
            </a:pPr>
            <a:r>
              <a:rPr b="0" i="0" lang="en-US" sz="1224" u="none" cap="none" strike="noStrike">
                <a:solidFill>
                  <a:srgbClr val="000000"/>
                </a:solidFill>
                <a:latin typeface="Arial"/>
                <a:ea typeface="Arial"/>
                <a:cs typeface="Arial"/>
                <a:sym typeface="Arial"/>
              </a:rPr>
              <a:t>La medición final de la eficiencia se hace calculando la media aritmética entre los rangos asignados a cada indicador en las siguientes tablas</a:t>
            </a:r>
            <a:endParaRPr b="0" i="0" sz="1224" u="none" cap="none" strike="noStrike">
              <a:solidFill>
                <a:srgbClr val="000000"/>
              </a:solidFill>
              <a:latin typeface="Arial"/>
              <a:ea typeface="Arial"/>
              <a:cs typeface="Arial"/>
              <a:sym typeface="Arial"/>
            </a:endParaRPr>
          </a:p>
        </p:txBody>
      </p:sp>
      <p:sp>
        <p:nvSpPr>
          <p:cNvPr id="1221" name="Google Shape;1221;p30"/>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aphicFrame>
        <p:nvGraphicFramePr>
          <p:cNvPr id="1222" name="Google Shape;1222;p30"/>
          <p:cNvGraphicFramePr/>
          <p:nvPr/>
        </p:nvGraphicFramePr>
        <p:xfrm>
          <a:off x="2038435" y="3134296"/>
          <a:ext cx="3000000" cy="3000000"/>
        </p:xfrm>
        <a:graphic>
          <a:graphicData uri="http://schemas.openxmlformats.org/drawingml/2006/table">
            <a:tbl>
              <a:tblPr bandRow="1" firstRow="1">
                <a:noFill/>
                <a:tableStyleId>{FF63AD9A-016F-4C48-BA4E-4A51AB7C9AD3}</a:tableStyleId>
              </a:tblPr>
              <a:tblGrid>
                <a:gridCol w="652125"/>
                <a:gridCol w="2416275"/>
              </a:tblGrid>
              <a:tr h="259125">
                <a:tc>
                  <a:txBody>
                    <a:bodyPr/>
                    <a:lstStyle/>
                    <a:p>
                      <a:pPr indent="0" lvl="0" marL="0" marR="0" rtl="0" algn="ctr">
                        <a:lnSpc>
                          <a:spcPct val="100000"/>
                        </a:lnSpc>
                        <a:spcBef>
                          <a:spcPts val="0"/>
                        </a:spcBef>
                        <a:spcAft>
                          <a:spcPts val="0"/>
                        </a:spcAft>
                        <a:buNone/>
                      </a:pPr>
                      <a:r>
                        <a:rPr b="1" lang="en-US" sz="1100" u="none" cap="none" strike="noStrike">
                          <a:solidFill>
                            <a:srgbClr val="CB132D"/>
                          </a:solidFill>
                          <a:latin typeface="Arial"/>
                          <a:ea typeface="Arial"/>
                          <a:cs typeface="Arial"/>
                          <a:sym typeface="Arial"/>
                        </a:rPr>
                        <a:t>Rango</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100" u="none" cap="none" strike="noStrike">
                          <a:solidFill>
                            <a:srgbClr val="CB132D"/>
                          </a:solidFill>
                          <a:latin typeface="Arial"/>
                          <a:ea typeface="Arial"/>
                          <a:cs typeface="Arial"/>
                          <a:sym typeface="Arial"/>
                        </a:rPr>
                        <a:t>Tiempo</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3500">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0</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tiempo &lt;= 3 minutos</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7450">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1</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3 minutos &lt; tiempo &lt;= 5 minutos</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8025">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2</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5 minutos &lt; tiempo &lt;= 10 minutos</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28025">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3</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tiempo &gt; 10 minutos</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223" name="Google Shape;1223;p30"/>
          <p:cNvGraphicFramePr/>
          <p:nvPr/>
        </p:nvGraphicFramePr>
        <p:xfrm>
          <a:off x="5219883" y="3152434"/>
          <a:ext cx="3000000" cy="3000000"/>
        </p:xfrm>
        <a:graphic>
          <a:graphicData uri="http://schemas.openxmlformats.org/drawingml/2006/table">
            <a:tbl>
              <a:tblPr bandRow="1" firstRow="1">
                <a:noFill/>
                <a:tableStyleId>{FF63AD9A-016F-4C48-BA4E-4A51AB7C9AD3}</a:tableStyleId>
              </a:tblPr>
              <a:tblGrid>
                <a:gridCol w="630525"/>
                <a:gridCol w="1459275"/>
              </a:tblGrid>
              <a:tr h="455625">
                <a:tc>
                  <a:txBody>
                    <a:bodyPr/>
                    <a:lstStyle/>
                    <a:p>
                      <a:pPr indent="0" lvl="0" marL="0" marR="0" rtl="0" algn="ctr">
                        <a:lnSpc>
                          <a:spcPct val="100000"/>
                        </a:lnSpc>
                        <a:spcBef>
                          <a:spcPts val="0"/>
                        </a:spcBef>
                        <a:spcAft>
                          <a:spcPts val="0"/>
                        </a:spcAft>
                        <a:buNone/>
                      </a:pPr>
                      <a:r>
                        <a:rPr b="1" lang="en-US" sz="1100" u="none" cap="none" strike="noStrike">
                          <a:solidFill>
                            <a:srgbClr val="CB132D"/>
                          </a:solidFill>
                          <a:latin typeface="Arial"/>
                          <a:ea typeface="Arial"/>
                          <a:cs typeface="Arial"/>
                          <a:sym typeface="Arial"/>
                        </a:rPr>
                        <a:t>Rango</a:t>
                      </a:r>
                      <a:endParaRPr sz="1100" u="none" cap="none" strike="noStrike">
                        <a:latin typeface="Arial"/>
                        <a:ea typeface="Arial"/>
                        <a:cs typeface="Arial"/>
                        <a:sym typeface="Arial"/>
                      </a:endParaRPr>
                    </a:p>
                  </a:txBody>
                  <a:tcPr marT="293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108585" lvl="0" marL="220345" marR="90805" rtl="0" algn="l">
                        <a:lnSpc>
                          <a:spcPct val="110000"/>
                        </a:lnSpc>
                        <a:spcBef>
                          <a:spcPts val="0"/>
                        </a:spcBef>
                        <a:spcAft>
                          <a:spcPts val="0"/>
                        </a:spcAft>
                        <a:buNone/>
                      </a:pPr>
                      <a:r>
                        <a:rPr b="1" lang="en-US" sz="1100" u="none" cap="none" strike="noStrike">
                          <a:solidFill>
                            <a:srgbClr val="CB132D"/>
                          </a:solidFill>
                          <a:latin typeface="Arial"/>
                          <a:ea typeface="Arial"/>
                          <a:cs typeface="Arial"/>
                          <a:sym typeface="Arial"/>
                        </a:rPr>
                        <a:t>Nº de transacciones completadas (TC)</a:t>
                      </a:r>
                      <a:endParaRPr sz="1100" u="none" cap="none" strike="noStrike">
                        <a:latin typeface="Arial"/>
                        <a:ea typeface="Arial"/>
                        <a:cs typeface="Arial"/>
                        <a:sym typeface="Arial"/>
                      </a:endParaRPr>
                    </a:p>
                  </a:txBody>
                  <a:tcPr marT="125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3575">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0</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TC&gt; 20</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44000">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1</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12&lt; TC &lt;= 20</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44000">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2</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6 &lt; TC &lt;= 12</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44875">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3</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u="none" cap="none" strike="noStrike">
                          <a:solidFill>
                            <a:srgbClr val="00007C"/>
                          </a:solidFill>
                          <a:latin typeface="Arial"/>
                          <a:ea typeface="Arial"/>
                          <a:cs typeface="Arial"/>
                          <a:sym typeface="Arial"/>
                        </a:rPr>
                        <a:t>TC &lt;= 6</a:t>
                      </a:r>
                      <a:endParaRPr sz="1100" u="none" cap="none" strike="noStrike">
                        <a:latin typeface="Arial"/>
                        <a:ea typeface="Arial"/>
                        <a:cs typeface="Arial"/>
                        <a:sym typeface="Arial"/>
                      </a:endParaRPr>
                    </a:p>
                  </a:txBody>
                  <a:tcPr marT="2677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31"/>
          <p:cNvSpPr txBox="1"/>
          <p:nvPr>
            <p:ph idx="4294967295" type="title"/>
          </p:nvPr>
        </p:nvSpPr>
        <p:spPr>
          <a:xfrm>
            <a:off x="1834936" y="165449"/>
            <a:ext cx="5986130" cy="483210"/>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Medición de recursos</a:t>
            </a:r>
            <a:endParaRPr>
              <a:solidFill>
                <a:srgbClr val="FF0000"/>
              </a:solidFill>
            </a:endParaRPr>
          </a:p>
        </p:txBody>
      </p:sp>
      <p:sp>
        <p:nvSpPr>
          <p:cNvPr id="1229" name="Google Shape;1229;p31"/>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230" name="Google Shape;1230;p31"/>
          <p:cNvSpPr txBox="1"/>
          <p:nvPr/>
        </p:nvSpPr>
        <p:spPr>
          <a:xfrm>
            <a:off x="1834936" y="912158"/>
            <a:ext cx="5585729" cy="1779383"/>
          </a:xfrm>
          <a:prstGeom prst="rect">
            <a:avLst/>
          </a:prstGeom>
          <a:noFill/>
          <a:ln>
            <a:noFill/>
          </a:ln>
        </p:spPr>
        <p:txBody>
          <a:bodyPr anchorCtr="0" anchor="t" bIns="0" lIns="0" spcFirstLastPara="1" rIns="0" wrap="square" tIns="69950">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Productividad </a:t>
            </a:r>
            <a:r>
              <a:rPr b="0" i="0" lang="en-US" sz="1360" u="none" cap="none" strike="noStrike">
                <a:solidFill>
                  <a:srgbClr val="CB132D"/>
                </a:solidFill>
                <a:latin typeface="Arial"/>
                <a:ea typeface="Arial"/>
                <a:cs typeface="Arial"/>
                <a:sym typeface="Arial"/>
              </a:rPr>
              <a:t>(I)</a:t>
            </a:r>
            <a:endParaRPr b="0" i="0" sz="1360" u="none" cap="none" strike="noStrike">
              <a:solidFill>
                <a:srgbClr val="000000"/>
              </a:solidFill>
              <a:latin typeface="Arial"/>
              <a:ea typeface="Arial"/>
              <a:cs typeface="Arial"/>
              <a:sym typeface="Arial"/>
            </a:endParaRPr>
          </a:p>
          <a:p>
            <a:pPr indent="-233206" lvl="0" marL="241412" marR="3455" rtl="0" algn="l">
              <a:lnSpc>
                <a:spcPct val="100000"/>
              </a:lnSpc>
              <a:spcBef>
                <a:spcPts val="439"/>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La productividad de un recurso de software se mide en función de la proporción entre lo que entra y sale de un proceso de producción de software</a:t>
            </a:r>
            <a:endParaRPr b="0" i="0" sz="1224" u="none" cap="none" strike="noStrike">
              <a:solidFill>
                <a:srgbClr val="000000"/>
              </a:solidFill>
              <a:latin typeface="Arial"/>
              <a:ea typeface="Arial"/>
              <a:cs typeface="Arial"/>
              <a:sym typeface="Arial"/>
            </a:endParaRPr>
          </a:p>
          <a:p>
            <a:pPr indent="-232774" lvl="0" marL="241412" marR="0" rtl="0" algn="l">
              <a:lnSpc>
                <a:spcPct val="100000"/>
              </a:lnSpc>
              <a:spcBef>
                <a:spcPts val="295"/>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Ecuación de productividad:</a:t>
            </a:r>
            <a:endParaRPr b="0" i="0" sz="1224" u="none" cap="none" strike="noStrike">
              <a:solidFill>
                <a:srgbClr val="000000"/>
              </a:solidFill>
              <a:latin typeface="Arial"/>
              <a:ea typeface="Arial"/>
              <a:cs typeface="Arial"/>
              <a:sym typeface="Arial"/>
            </a:endParaRPr>
          </a:p>
          <a:p>
            <a:pPr indent="0" lvl="0" marL="35845" marR="0" rtl="0" algn="ctr">
              <a:lnSpc>
                <a:spcPct val="100000"/>
              </a:lnSpc>
              <a:spcBef>
                <a:spcPts val="262"/>
              </a:spcBef>
              <a:spcAft>
                <a:spcPts val="0"/>
              </a:spcAft>
              <a:buNone/>
            </a:pPr>
            <a:r>
              <a:rPr b="1" i="0" lang="en-US" sz="1088" u="none" cap="none" strike="noStrike">
                <a:solidFill>
                  <a:srgbClr val="000000"/>
                </a:solidFill>
                <a:latin typeface="Arial"/>
                <a:ea typeface="Arial"/>
                <a:cs typeface="Arial"/>
                <a:sym typeface="Arial"/>
              </a:rPr>
              <a:t>tamaño de software/ esfuerzo</a:t>
            </a:r>
            <a:endParaRPr b="0" i="0" sz="1088" u="none" cap="none" strike="noStrike">
              <a:solidFill>
                <a:srgbClr val="000000"/>
              </a:solidFill>
              <a:latin typeface="Arial"/>
              <a:ea typeface="Arial"/>
              <a:cs typeface="Arial"/>
              <a:sym typeface="Arial"/>
            </a:endParaRPr>
          </a:p>
          <a:p>
            <a:pPr indent="-232774" lvl="0" marL="241412" marR="0" rtl="0" algn="l">
              <a:lnSpc>
                <a:spcPct val="100000"/>
              </a:lnSpc>
              <a:spcBef>
                <a:spcPts val="292"/>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Unidades más utilizadas:</a:t>
            </a:r>
            <a:endParaRPr b="0" i="0" sz="1224" u="none" cap="none" strike="noStrike">
              <a:solidFill>
                <a:srgbClr val="000000"/>
              </a:solidFill>
              <a:latin typeface="Arial"/>
              <a:ea typeface="Arial"/>
              <a:cs typeface="Arial"/>
              <a:sym typeface="Arial"/>
            </a:endParaRPr>
          </a:p>
          <a:p>
            <a:pPr indent="-193907" lvl="1" marL="513486" marR="0" rtl="0" algn="l">
              <a:lnSpc>
                <a:spcPct val="100000"/>
              </a:lnSpc>
              <a:spcBef>
                <a:spcPts val="262"/>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Tamaño: líneas de código</a:t>
            </a:r>
            <a:endParaRPr b="0" i="0" sz="1088" u="none" cap="none" strike="noStrike">
              <a:solidFill>
                <a:srgbClr val="000000"/>
              </a:solidFill>
              <a:latin typeface="Arial"/>
              <a:ea typeface="Arial"/>
              <a:cs typeface="Arial"/>
              <a:sym typeface="Arial"/>
            </a:endParaRPr>
          </a:p>
          <a:p>
            <a:pPr indent="-193907" lvl="1" marL="513486" marR="0" rtl="0" algn="l">
              <a:lnSpc>
                <a:spcPct val="100000"/>
              </a:lnSpc>
              <a:spcBef>
                <a:spcPts val="262"/>
              </a:spcBef>
              <a:spcAft>
                <a:spcPts val="0"/>
              </a:spcAft>
              <a:buClr>
                <a:srgbClr val="9A9ACC"/>
              </a:buClr>
              <a:buSzPts val="850"/>
              <a:buFont typeface="Noto Sans Symbols"/>
              <a:buChar char="◻"/>
            </a:pPr>
            <a:r>
              <a:rPr b="0" i="0" lang="en-US" sz="1088" u="none" cap="none" strike="noStrike">
                <a:solidFill>
                  <a:srgbClr val="000000"/>
                </a:solidFill>
                <a:latin typeface="Arial"/>
                <a:ea typeface="Arial"/>
                <a:cs typeface="Arial"/>
                <a:sym typeface="Arial"/>
              </a:rPr>
              <a:t>Esfuerzo: persona-meses</a:t>
            </a:r>
            <a:endParaRPr b="0" i="0" sz="1088" u="none" cap="none" strike="noStrike">
              <a:solidFill>
                <a:srgbClr val="000000"/>
              </a:solidFill>
              <a:latin typeface="Arial"/>
              <a:ea typeface="Arial"/>
              <a:cs typeface="Arial"/>
              <a:sym typeface="Arial"/>
            </a:endParaRPr>
          </a:p>
        </p:txBody>
      </p:sp>
      <p:graphicFrame>
        <p:nvGraphicFramePr>
          <p:cNvPr id="1231" name="Google Shape;1231;p31"/>
          <p:cNvGraphicFramePr/>
          <p:nvPr/>
        </p:nvGraphicFramePr>
        <p:xfrm>
          <a:off x="1877264" y="2863259"/>
          <a:ext cx="3000000" cy="3000000"/>
        </p:xfrm>
        <a:graphic>
          <a:graphicData uri="http://schemas.openxmlformats.org/drawingml/2006/table">
            <a:tbl>
              <a:tblPr bandRow="1" firstRow="1">
                <a:noFill/>
                <a:tableStyleId>{FF63AD9A-016F-4C48-BA4E-4A51AB7C9AD3}</a:tableStyleId>
              </a:tblPr>
              <a:tblGrid>
                <a:gridCol w="951400"/>
                <a:gridCol w="828325"/>
                <a:gridCol w="1700675"/>
                <a:gridCol w="2054375"/>
              </a:tblGrid>
              <a:tr h="265175">
                <a:tc>
                  <a:txBody>
                    <a:bodyPr/>
                    <a:lstStyle/>
                    <a:p>
                      <a:pPr indent="0" lvl="0" marL="403225" marR="0" rtl="0" algn="l">
                        <a:lnSpc>
                          <a:spcPct val="100000"/>
                        </a:lnSpc>
                        <a:spcBef>
                          <a:spcPts val="0"/>
                        </a:spcBef>
                        <a:spcAft>
                          <a:spcPts val="0"/>
                        </a:spcAft>
                        <a:buNone/>
                      </a:pPr>
                      <a:r>
                        <a:rPr b="1" lang="en-US" sz="800" u="none" cap="none" strike="noStrike">
                          <a:solidFill>
                            <a:srgbClr val="000080"/>
                          </a:solidFill>
                          <a:latin typeface="Arial"/>
                          <a:ea typeface="Arial"/>
                          <a:cs typeface="Arial"/>
                          <a:sym typeface="Arial"/>
                        </a:rPr>
                        <a:t>Recurso</a:t>
                      </a:r>
                      <a:endParaRPr sz="800" u="none" cap="none" strike="noStrike">
                        <a:latin typeface="Arial"/>
                        <a:ea typeface="Arial"/>
                        <a:cs typeface="Arial"/>
                        <a:sym typeface="Arial"/>
                      </a:endParaRPr>
                    </a:p>
                  </a:txBody>
                  <a:tcPr marT="63925" marB="0" marR="0" marL="0">
                    <a:lnR cap="flat" cmpd="sng" w="2857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solidFill>
                      <a:srgbClr val="CCCCCC"/>
                    </a:solidFill>
                  </a:tcPr>
                </a:tc>
                <a:tc>
                  <a:txBody>
                    <a:bodyPr/>
                    <a:lstStyle/>
                    <a:p>
                      <a:pPr indent="0" lvl="0" marL="313055" marR="0" rtl="0" algn="l">
                        <a:lnSpc>
                          <a:spcPct val="100000"/>
                        </a:lnSpc>
                        <a:spcBef>
                          <a:spcPts val="0"/>
                        </a:spcBef>
                        <a:spcAft>
                          <a:spcPts val="0"/>
                        </a:spcAft>
                        <a:buNone/>
                      </a:pPr>
                      <a:r>
                        <a:rPr b="1" lang="en-US" sz="800" u="none" cap="none" strike="noStrike">
                          <a:solidFill>
                            <a:srgbClr val="000080"/>
                          </a:solidFill>
                          <a:latin typeface="Arial"/>
                          <a:ea typeface="Arial"/>
                          <a:cs typeface="Arial"/>
                          <a:sym typeface="Arial"/>
                        </a:rPr>
                        <a:t>Proceso</a:t>
                      </a:r>
                      <a:endParaRPr sz="800" u="none" cap="none" strike="noStrike">
                        <a:latin typeface="Arial"/>
                        <a:ea typeface="Arial"/>
                        <a:cs typeface="Arial"/>
                        <a:sym typeface="Arial"/>
                      </a:endParaRPr>
                    </a:p>
                  </a:txBody>
                  <a:tcPr marT="639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solidFill>
                      <a:srgbClr val="CCCCCC"/>
                    </a:solidFill>
                  </a:tcPr>
                </a:tc>
                <a:tc>
                  <a:txBody>
                    <a:bodyPr/>
                    <a:lstStyle/>
                    <a:p>
                      <a:pPr indent="0" lvl="0" marL="1270" marR="0" rtl="0" algn="ctr">
                        <a:lnSpc>
                          <a:spcPct val="100000"/>
                        </a:lnSpc>
                        <a:spcBef>
                          <a:spcPts val="0"/>
                        </a:spcBef>
                        <a:spcAft>
                          <a:spcPts val="0"/>
                        </a:spcAft>
                        <a:buNone/>
                      </a:pPr>
                      <a:r>
                        <a:rPr b="1" lang="en-US" sz="800" u="none" cap="none" strike="noStrike">
                          <a:solidFill>
                            <a:srgbClr val="000080"/>
                          </a:solidFill>
                          <a:latin typeface="Arial"/>
                          <a:ea typeface="Arial"/>
                          <a:cs typeface="Arial"/>
                          <a:sym typeface="Arial"/>
                        </a:rPr>
                        <a:t>Producto</a:t>
                      </a:r>
                      <a:endParaRPr sz="800" u="none" cap="none" strike="noStrike">
                        <a:latin typeface="Arial"/>
                        <a:ea typeface="Arial"/>
                        <a:cs typeface="Arial"/>
                        <a:sym typeface="Arial"/>
                      </a:endParaRPr>
                    </a:p>
                  </a:txBody>
                  <a:tcPr marT="639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B cap="flat" cmpd="sng" w="28575">
                      <a:solidFill>
                        <a:srgbClr val="FFFFFF"/>
                      </a:solidFill>
                      <a:prstDash val="solid"/>
                      <a:round/>
                      <a:headEnd len="sm" w="sm" type="none"/>
                      <a:tailEnd len="sm" w="sm" type="none"/>
                    </a:lnB>
                    <a:solidFill>
                      <a:srgbClr val="CCCCCC"/>
                    </a:solidFill>
                  </a:tcPr>
                </a:tc>
                <a:tc>
                  <a:txBody>
                    <a:bodyPr/>
                    <a:lstStyle/>
                    <a:p>
                      <a:pPr indent="0" lvl="0" marL="570230" marR="0" rtl="0" algn="l">
                        <a:lnSpc>
                          <a:spcPct val="100000"/>
                        </a:lnSpc>
                        <a:spcBef>
                          <a:spcPts val="0"/>
                        </a:spcBef>
                        <a:spcAft>
                          <a:spcPts val="0"/>
                        </a:spcAft>
                        <a:buNone/>
                      </a:pPr>
                      <a:r>
                        <a:rPr b="1" lang="en-US" sz="800" u="none" cap="none" strike="noStrike">
                          <a:solidFill>
                            <a:srgbClr val="000080"/>
                          </a:solidFill>
                          <a:latin typeface="Arial"/>
                          <a:ea typeface="Arial"/>
                          <a:cs typeface="Arial"/>
                          <a:sym typeface="Arial"/>
                        </a:rPr>
                        <a:t>Ejemplo de recursos usados</a:t>
                      </a:r>
                      <a:endParaRPr sz="800" u="none" cap="none" strike="noStrike">
                        <a:latin typeface="Arial"/>
                        <a:ea typeface="Arial"/>
                        <a:cs typeface="Arial"/>
                        <a:sym typeface="Arial"/>
                      </a:endParaRPr>
                    </a:p>
                  </a:txBody>
                  <a:tcPr marT="63925" marB="0" marR="0" marL="0">
                    <a:lnL cap="flat" cmpd="sng" w="28575">
                      <a:solidFill>
                        <a:srgbClr val="FFFFFF"/>
                      </a:solidFill>
                      <a:prstDash val="solid"/>
                      <a:round/>
                      <a:headEnd len="sm" w="sm" type="none"/>
                      <a:tailEnd len="sm" w="sm" type="none"/>
                    </a:lnL>
                    <a:lnB cap="flat" cmpd="sng" w="28575">
                      <a:solidFill>
                        <a:srgbClr val="FFFFFF"/>
                      </a:solidFill>
                      <a:prstDash val="solid"/>
                      <a:round/>
                      <a:headEnd len="sm" w="sm" type="none"/>
                      <a:tailEnd len="sm" w="sm" type="none"/>
                    </a:lnB>
                    <a:solidFill>
                      <a:srgbClr val="CCCCCC"/>
                    </a:solidFill>
                  </a:tcPr>
                </a:tc>
              </a:tr>
              <a:tr h="160225">
                <a:tc>
                  <a:txBody>
                    <a:bodyPr/>
                    <a:lstStyle/>
                    <a:p>
                      <a:pPr indent="0" lvl="0" marL="6540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Programador</a:t>
                      </a:r>
                      <a:endParaRPr sz="800" u="none" cap="none" strike="noStrike">
                        <a:latin typeface="Arial"/>
                        <a:ea typeface="Arial"/>
                        <a:cs typeface="Arial"/>
                        <a:sym typeface="Arial"/>
                      </a:endParaRPr>
                    </a:p>
                  </a:txBody>
                  <a:tcPr marT="1685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Codificación</a:t>
                      </a:r>
                      <a:endParaRPr sz="800" u="none" cap="none" strike="noStrike">
                        <a:latin typeface="Arial"/>
                        <a:ea typeface="Arial"/>
                        <a:cs typeface="Arial"/>
                        <a:sym typeface="Arial"/>
                      </a:endParaRPr>
                    </a:p>
                  </a:txBody>
                  <a:tcPr marT="168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a:t>
                      </a:r>
                      <a:endParaRPr sz="800" u="none" cap="none" strike="noStrike">
                        <a:latin typeface="Arial"/>
                        <a:ea typeface="Arial"/>
                        <a:cs typeface="Arial"/>
                        <a:sym typeface="Arial"/>
                      </a:endParaRPr>
                    </a:p>
                  </a:txBody>
                  <a:tcPr marT="168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Compilador</a:t>
                      </a:r>
                      <a:endParaRPr sz="800" u="none" cap="none" strike="noStrike">
                        <a:latin typeface="Arial"/>
                        <a:ea typeface="Arial"/>
                        <a:cs typeface="Arial"/>
                        <a:sym typeface="Arial"/>
                      </a:endParaRPr>
                    </a:p>
                  </a:txBody>
                  <a:tcPr marT="1685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r>
              <a:tr h="161525">
                <a:tc>
                  <a:txBody>
                    <a:bodyPr/>
                    <a:lstStyle/>
                    <a:p>
                      <a:pPr indent="0" lvl="0" marL="6540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Programador</a:t>
                      </a:r>
                      <a:endParaRPr sz="800" u="none" cap="none" strike="noStrike">
                        <a:latin typeface="Arial"/>
                        <a:ea typeface="Arial"/>
                        <a:cs typeface="Arial"/>
                        <a:sym typeface="Arial"/>
                      </a:endParaRPr>
                    </a:p>
                  </a:txBody>
                  <a:tcPr marT="17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Codificación</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Grupo de programas</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Compilador y	analizador estático</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r>
              <a:tr h="249175">
                <a:tc>
                  <a:txBody>
                    <a:bodyPr/>
                    <a:lstStyle/>
                    <a:p>
                      <a:pPr indent="0" lvl="0" marL="65405" marR="410845" rtl="0" algn="l">
                        <a:lnSpc>
                          <a:spcPct val="168750"/>
                        </a:lnSpc>
                        <a:spcBef>
                          <a:spcPts val="0"/>
                        </a:spcBef>
                        <a:spcAft>
                          <a:spcPts val="0"/>
                        </a:spcAft>
                        <a:buNone/>
                      </a:pPr>
                      <a:r>
                        <a:rPr lang="en-US" sz="800" u="none" cap="none" strike="noStrike">
                          <a:solidFill>
                            <a:srgbClr val="000080"/>
                          </a:solidFill>
                          <a:latin typeface="Arial"/>
                          <a:ea typeface="Arial"/>
                          <a:cs typeface="Arial"/>
                          <a:sym typeface="Arial"/>
                        </a:rPr>
                        <a:t>Equipo de programación</a:t>
                      </a:r>
                      <a:endParaRPr sz="800" u="none" cap="none" strike="noStrike">
                        <a:latin typeface="Arial"/>
                        <a:ea typeface="Arial"/>
                        <a:cs typeface="Arial"/>
                        <a:sym typeface="Arial"/>
                      </a:endParaRPr>
                    </a:p>
                  </a:txBody>
                  <a:tcPr marT="735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Codificación</a:t>
                      </a:r>
                      <a:endParaRPr sz="800" u="none" cap="none" strike="noStrike">
                        <a:latin typeface="Arial"/>
                        <a:ea typeface="Arial"/>
                        <a:cs typeface="Arial"/>
                        <a:sym typeface="Arial"/>
                      </a:endParaRPr>
                    </a:p>
                  </a:txBody>
                  <a:tcPr marT="613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a:t>
                      </a:r>
                      <a:endParaRPr sz="800" u="none" cap="none" strike="noStrike">
                        <a:latin typeface="Arial"/>
                        <a:ea typeface="Arial"/>
                        <a:cs typeface="Arial"/>
                        <a:sym typeface="Arial"/>
                      </a:endParaRPr>
                    </a:p>
                  </a:txBody>
                  <a:tcPr marT="613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Compilador</a:t>
                      </a:r>
                      <a:endParaRPr sz="800" u="none" cap="none" strike="noStrike">
                        <a:latin typeface="Arial"/>
                        <a:ea typeface="Arial"/>
                        <a:cs typeface="Arial"/>
                        <a:sym typeface="Arial"/>
                      </a:endParaRPr>
                    </a:p>
                  </a:txBody>
                  <a:tcPr marT="6132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r>
              <a:tr h="249625">
                <a:tc>
                  <a:txBody>
                    <a:bodyPr/>
                    <a:lstStyle/>
                    <a:p>
                      <a:pPr indent="0" lvl="0" marL="65405" marR="410845" rtl="0" algn="l">
                        <a:lnSpc>
                          <a:spcPct val="168750"/>
                        </a:lnSpc>
                        <a:spcBef>
                          <a:spcPts val="0"/>
                        </a:spcBef>
                        <a:spcAft>
                          <a:spcPts val="0"/>
                        </a:spcAft>
                        <a:buNone/>
                      </a:pPr>
                      <a:r>
                        <a:rPr lang="en-US" sz="800" u="none" cap="none" strike="noStrike">
                          <a:solidFill>
                            <a:srgbClr val="000080"/>
                          </a:solidFill>
                          <a:latin typeface="Arial"/>
                          <a:ea typeface="Arial"/>
                          <a:cs typeface="Arial"/>
                          <a:sym typeface="Arial"/>
                        </a:rPr>
                        <a:t>Equipo de programación</a:t>
                      </a:r>
                      <a:endParaRPr sz="800" u="none" cap="none" strike="noStrike">
                        <a:latin typeface="Arial"/>
                        <a:ea typeface="Arial"/>
                        <a:cs typeface="Arial"/>
                        <a:sym typeface="Arial"/>
                      </a:endParaRPr>
                    </a:p>
                  </a:txBody>
                  <a:tcPr marT="77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Codificación</a:t>
                      </a:r>
                      <a:endParaRPr sz="800" u="none" cap="none" strike="noStrike">
                        <a:latin typeface="Arial"/>
                        <a:ea typeface="Arial"/>
                        <a:cs typeface="Arial"/>
                        <a:sym typeface="Arial"/>
                      </a:endParaRPr>
                    </a:p>
                  </a:txBody>
                  <a:tcPr marT="617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Grupo de programas</a:t>
                      </a:r>
                      <a:endParaRPr sz="800" u="none" cap="none" strike="noStrike">
                        <a:latin typeface="Arial"/>
                        <a:ea typeface="Arial"/>
                        <a:cs typeface="Arial"/>
                        <a:sym typeface="Arial"/>
                      </a:endParaRPr>
                    </a:p>
                  </a:txBody>
                  <a:tcPr marT="617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Compilador y LAN</a:t>
                      </a:r>
                      <a:endParaRPr sz="800" u="none" cap="none" strike="noStrike">
                        <a:latin typeface="Arial"/>
                        <a:ea typeface="Arial"/>
                        <a:cs typeface="Arial"/>
                        <a:sym typeface="Arial"/>
                      </a:endParaRPr>
                    </a:p>
                  </a:txBody>
                  <a:tcPr marT="6175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r>
              <a:tr h="160225">
                <a:tc>
                  <a:txBody>
                    <a:bodyPr/>
                    <a:lstStyle/>
                    <a:p>
                      <a:pPr indent="0" lvl="0" marL="6540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Diseñador</a:t>
                      </a:r>
                      <a:endParaRPr sz="800" u="none" cap="none" strike="noStrike">
                        <a:latin typeface="Arial"/>
                        <a:ea typeface="Arial"/>
                        <a:cs typeface="Arial"/>
                        <a:sym typeface="Arial"/>
                      </a:endParaRPr>
                    </a:p>
                  </a:txBody>
                  <a:tcPr marT="17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Desarrollo</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Diseño detallado de módulos</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Herramienta CASE</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r>
              <a:tr h="161525">
                <a:tc>
                  <a:txBody>
                    <a:bodyPr/>
                    <a:lstStyle/>
                    <a:p>
                      <a:pPr indent="0" lvl="0" marL="6540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Programador</a:t>
                      </a:r>
                      <a:endParaRPr sz="800" u="none" cap="none" strike="noStrike">
                        <a:latin typeface="Arial"/>
                        <a:ea typeface="Arial"/>
                        <a:cs typeface="Arial"/>
                        <a:sym typeface="Arial"/>
                      </a:endParaRPr>
                    </a:p>
                  </a:txBody>
                  <a:tcPr marT="17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Mantenimiento</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Programas y documentación</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r>
              <a:tr h="160650">
                <a:tc>
                  <a:txBody>
                    <a:bodyPr/>
                    <a:lstStyle/>
                    <a:p>
                      <a:pPr indent="0" lvl="0" marL="6540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Programador</a:t>
                      </a:r>
                      <a:endParaRPr sz="800" u="none" cap="none" strike="noStrike">
                        <a:latin typeface="Arial"/>
                        <a:ea typeface="Arial"/>
                        <a:cs typeface="Arial"/>
                        <a:sym typeface="Arial"/>
                      </a:endParaRPr>
                    </a:p>
                  </a:txBody>
                  <a:tcPr marT="172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Mantenimiento</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Programas y documentación</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Herramientas de reingeniería</a:t>
                      </a:r>
                      <a:endParaRPr sz="800" u="none" cap="none" strike="noStrike">
                        <a:latin typeface="Arial"/>
                        <a:ea typeface="Arial"/>
                        <a:cs typeface="Arial"/>
                        <a:sym typeface="Arial"/>
                      </a:endParaRPr>
                    </a:p>
                  </a:txBody>
                  <a:tcPr marT="1727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r>
              <a:tr h="152875">
                <a:tc>
                  <a:txBody>
                    <a:bodyPr/>
                    <a:lstStyle/>
                    <a:p>
                      <a:pPr indent="0" lvl="0" marL="6540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Compilador</a:t>
                      </a:r>
                      <a:endParaRPr sz="800" u="none" cap="none" strike="noStrike">
                        <a:latin typeface="Arial"/>
                        <a:ea typeface="Arial"/>
                        <a:cs typeface="Arial"/>
                        <a:sym typeface="Arial"/>
                      </a:endParaRPr>
                    </a:p>
                  </a:txBody>
                  <a:tcPr marT="1685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Compilación</a:t>
                      </a:r>
                      <a:endParaRPr sz="800" u="none" cap="none" strike="noStrike">
                        <a:latin typeface="Arial"/>
                        <a:ea typeface="Arial"/>
                        <a:cs typeface="Arial"/>
                        <a:sym typeface="Arial"/>
                      </a:endParaRPr>
                    </a:p>
                  </a:txBody>
                  <a:tcPr marT="168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CCCCCC"/>
                    </a:solidFill>
                  </a:tcPr>
                </a:tc>
                <a:tc>
                  <a:txBody>
                    <a:bodyPr/>
                    <a:lstStyle/>
                    <a:p>
                      <a:pPr indent="0" lvl="0" marL="57150"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Código</a:t>
                      </a:r>
                      <a:endParaRPr sz="800" u="none" cap="none" strike="noStrike">
                        <a:latin typeface="Arial"/>
                        <a:ea typeface="Arial"/>
                        <a:cs typeface="Arial"/>
                        <a:sym typeface="Arial"/>
                      </a:endParaRPr>
                    </a:p>
                  </a:txBody>
                  <a:tcPr marT="168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CCCCCC"/>
                    </a:solidFill>
                  </a:tcPr>
                </a:tc>
                <a:tc>
                  <a:txBody>
                    <a:bodyPr/>
                    <a:lstStyle/>
                    <a:p>
                      <a:pPr indent="0" lvl="0" marL="57785" marR="0" rtl="0" algn="l">
                        <a:lnSpc>
                          <a:spcPct val="100000"/>
                        </a:lnSpc>
                        <a:spcBef>
                          <a:spcPts val="0"/>
                        </a:spcBef>
                        <a:spcAft>
                          <a:spcPts val="0"/>
                        </a:spcAft>
                        <a:buNone/>
                      </a:pPr>
                      <a:r>
                        <a:rPr lang="en-US" sz="800" u="none" cap="none" strike="noStrike">
                          <a:solidFill>
                            <a:srgbClr val="000080"/>
                          </a:solidFill>
                          <a:latin typeface="Arial"/>
                          <a:ea typeface="Arial"/>
                          <a:cs typeface="Arial"/>
                          <a:sym typeface="Arial"/>
                        </a:rPr>
                        <a:t>Microprocesador</a:t>
                      </a:r>
                      <a:endParaRPr sz="800" u="none" cap="none" strike="noStrike">
                        <a:latin typeface="Arial"/>
                        <a:ea typeface="Arial"/>
                        <a:cs typeface="Arial"/>
                        <a:sym typeface="Arial"/>
                      </a:endParaRPr>
                    </a:p>
                  </a:txBody>
                  <a:tcPr marT="1685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solidFill>
                      <a:srgbClr val="CCCCCC"/>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32"/>
          <p:cNvSpPr txBox="1"/>
          <p:nvPr>
            <p:ph idx="4294967295" type="title"/>
          </p:nvPr>
        </p:nvSpPr>
        <p:spPr>
          <a:xfrm>
            <a:off x="1763380" y="282938"/>
            <a:ext cx="5805377" cy="483210"/>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Medición de recursos</a:t>
            </a:r>
            <a:endParaRPr>
              <a:solidFill>
                <a:srgbClr val="FF0000"/>
              </a:solidFill>
            </a:endParaRPr>
          </a:p>
        </p:txBody>
      </p:sp>
      <p:sp>
        <p:nvSpPr>
          <p:cNvPr id="1237" name="Google Shape;1237;p32"/>
          <p:cNvSpPr txBox="1"/>
          <p:nvPr>
            <p:ph idx="12" type="sldNum"/>
          </p:nvPr>
        </p:nvSpPr>
        <p:spPr>
          <a:xfrm>
            <a:off x="7315200" y="6859588"/>
            <a:ext cx="1828800" cy="196850"/>
          </a:xfrm>
          <a:prstGeom prst="rect">
            <a:avLst/>
          </a:prstGeom>
          <a:noFill/>
          <a:ln>
            <a:noFill/>
          </a:ln>
        </p:spPr>
        <p:txBody>
          <a:bodyPr anchorCtr="0" anchor="t" bIns="0" lIns="0" spcFirstLastPara="1" rIns="0" wrap="square" tIns="0">
            <a:spAutoFit/>
          </a:bodyPr>
          <a:lstStyle/>
          <a:p>
            <a:pPr indent="0" lvl="0" marL="97155" marR="0" rtl="0" algn="l">
              <a:lnSpc>
                <a:spcPct val="118750"/>
              </a:lnSpc>
              <a:spcBef>
                <a:spcPts val="0"/>
              </a:spcBef>
              <a:spcAft>
                <a:spcPts val="0"/>
              </a:spcAft>
              <a:buNone/>
            </a:pPr>
            <a:r>
              <a:rPr b="0" i="0" lang="en-US" sz="1200" u="none" cap="none" strike="noStrike">
                <a:solidFill>
                  <a:schemeClr val="dk1"/>
                </a:solidFill>
                <a:latin typeface="Arial"/>
                <a:ea typeface="Arial"/>
                <a:cs typeface="Arial"/>
                <a:sym typeface="Arial"/>
              </a:rPr>
              <a:t>Medición del software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238" name="Google Shape;1238;p32"/>
          <p:cNvSpPr/>
          <p:nvPr/>
        </p:nvSpPr>
        <p:spPr>
          <a:xfrm>
            <a:off x="1462674" y="820377"/>
            <a:ext cx="6218841" cy="1166033"/>
          </a:xfrm>
          <a:custGeom>
            <a:rect b="b" l="l" r="r" t="t"/>
            <a:pathLst>
              <a:path extrusionOk="0" h="1714500" w="9144000">
                <a:moveTo>
                  <a:pt x="9144000" y="0"/>
                </a:moveTo>
                <a:lnTo>
                  <a:pt x="0" y="0"/>
                </a:lnTo>
                <a:lnTo>
                  <a:pt x="0" y="856488"/>
                </a:lnTo>
                <a:lnTo>
                  <a:pt x="0" y="857250"/>
                </a:lnTo>
                <a:lnTo>
                  <a:pt x="0" y="1714500"/>
                </a:lnTo>
                <a:lnTo>
                  <a:pt x="9144000" y="1714500"/>
                </a:lnTo>
                <a:lnTo>
                  <a:pt x="9144000" y="857250"/>
                </a:lnTo>
                <a:lnTo>
                  <a:pt x="9144000" y="856488"/>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239" name="Google Shape;1239;p32"/>
          <p:cNvSpPr txBox="1"/>
          <p:nvPr/>
        </p:nvSpPr>
        <p:spPr>
          <a:xfrm>
            <a:off x="1834937" y="890470"/>
            <a:ext cx="5484241" cy="1863293"/>
          </a:xfrm>
          <a:prstGeom prst="rect">
            <a:avLst/>
          </a:prstGeom>
          <a:noFill/>
          <a:ln>
            <a:noFill/>
          </a:ln>
        </p:spPr>
        <p:txBody>
          <a:bodyPr anchorCtr="0" anchor="t" bIns="0" lIns="0" spcFirstLastPara="1" rIns="0" wrap="square" tIns="90250">
            <a:spAutoFit/>
          </a:bodyPr>
          <a:lstStyle/>
          <a:p>
            <a:pPr indent="0" lvl="0" marL="8637"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Métodos y herramientas </a:t>
            </a:r>
            <a:r>
              <a:rPr b="0" i="0" lang="en-US" sz="1360" u="none" cap="none" strike="noStrike">
                <a:solidFill>
                  <a:srgbClr val="CB132D"/>
                </a:solidFill>
                <a:latin typeface="Arial"/>
                <a:ea typeface="Arial"/>
                <a:cs typeface="Arial"/>
                <a:sym typeface="Arial"/>
              </a:rPr>
              <a:t>(I)</a:t>
            </a:r>
            <a:endParaRPr b="0" i="0" sz="1360" u="none" cap="none" strike="noStrike">
              <a:solidFill>
                <a:srgbClr val="000000"/>
              </a:solidFill>
              <a:latin typeface="Arial"/>
              <a:ea typeface="Arial"/>
              <a:cs typeface="Arial"/>
              <a:sym typeface="Arial"/>
            </a:endParaRPr>
          </a:p>
          <a:p>
            <a:pPr indent="-233206" lvl="0" marL="241412" marR="3455" rtl="0" algn="l">
              <a:lnSpc>
                <a:spcPct val="110000"/>
              </a:lnSpc>
              <a:spcBef>
                <a:spcPts val="435"/>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Existen pocos estudios sobre el grado en que las herramientas aumentan la productividad</a:t>
            </a:r>
            <a:endParaRPr b="0" i="0" sz="1224" u="none" cap="none" strike="noStrike">
              <a:solidFill>
                <a:srgbClr val="000000"/>
              </a:solidFill>
              <a:latin typeface="Arial"/>
              <a:ea typeface="Arial"/>
              <a:cs typeface="Arial"/>
              <a:sym typeface="Arial"/>
            </a:endParaRPr>
          </a:p>
          <a:p>
            <a:pPr indent="-233206" lvl="0" marL="241844" marR="83350" rtl="0" algn="l">
              <a:lnSpc>
                <a:spcPct val="110000"/>
              </a:lnSpc>
              <a:spcBef>
                <a:spcPts val="292"/>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Los modelos de estimación del esfuerzo requieren una medida del nivel de uso de métodos y herramientas</a:t>
            </a:r>
            <a:endParaRPr b="0" i="0" sz="1224" u="none" cap="none" strike="noStrike">
              <a:solidFill>
                <a:srgbClr val="000000"/>
              </a:solidFill>
              <a:latin typeface="Arial"/>
              <a:ea typeface="Arial"/>
              <a:cs typeface="Arial"/>
              <a:sym typeface="Arial"/>
            </a:endParaRPr>
          </a:p>
          <a:p>
            <a:pPr indent="-233206" lvl="0" marL="241844" marR="38004" rtl="0" algn="l">
              <a:lnSpc>
                <a:spcPct val="110000"/>
              </a:lnSpc>
              <a:spcBef>
                <a:spcPts val="292"/>
              </a:spcBef>
              <a:spcAft>
                <a:spcPts val="0"/>
              </a:spcAft>
              <a:buClr>
                <a:srgbClr val="00007C"/>
              </a:buClr>
              <a:buSzPts val="918"/>
              <a:buFont typeface="Noto Sans Symbols"/>
              <a:buChar char="■"/>
            </a:pPr>
            <a:r>
              <a:rPr b="0" i="0" lang="en-US" sz="1224" u="none" cap="none" strike="noStrike">
                <a:solidFill>
                  <a:srgbClr val="000000"/>
                </a:solidFill>
                <a:latin typeface="Arial"/>
                <a:ea typeface="Arial"/>
                <a:cs typeface="Arial"/>
                <a:sym typeface="Arial"/>
              </a:rPr>
              <a:t>El modelo COCOMO incluye dos guías de coste: </a:t>
            </a:r>
            <a:r>
              <a:rPr b="0" i="1" lang="en-US" sz="1224" u="none" cap="none" strike="noStrike">
                <a:solidFill>
                  <a:srgbClr val="000000"/>
                </a:solidFill>
                <a:latin typeface="Arial"/>
                <a:ea typeface="Arial"/>
                <a:cs typeface="Arial"/>
                <a:sym typeface="Arial"/>
              </a:rPr>
              <a:t>uso de herramientas </a:t>
            </a:r>
            <a:r>
              <a:rPr b="0" i="0" lang="en-US" sz="1224" u="none" cap="none" strike="noStrike">
                <a:solidFill>
                  <a:srgbClr val="000000"/>
                </a:solidFill>
                <a:latin typeface="Arial"/>
                <a:ea typeface="Arial"/>
                <a:cs typeface="Arial"/>
                <a:sym typeface="Arial"/>
              </a:rPr>
              <a:t>y </a:t>
            </a:r>
            <a:r>
              <a:rPr b="0" i="1" lang="en-US" sz="1224" u="none" cap="none" strike="noStrike">
                <a:solidFill>
                  <a:srgbClr val="000000"/>
                </a:solidFill>
                <a:latin typeface="Arial"/>
                <a:ea typeface="Arial"/>
                <a:cs typeface="Arial"/>
                <a:sym typeface="Arial"/>
              </a:rPr>
              <a:t>uso de técnicas modernas de programación </a:t>
            </a:r>
            <a:r>
              <a:rPr b="0" i="0" lang="en-US" sz="1224" u="none" cap="none" strike="noStrike">
                <a:solidFill>
                  <a:srgbClr val="000000"/>
                </a:solidFill>
                <a:latin typeface="Arial"/>
                <a:ea typeface="Arial"/>
                <a:cs typeface="Arial"/>
                <a:sym typeface="Arial"/>
              </a:rPr>
              <a:t>con las escalas de medida que muestra la tabla siguiente:</a:t>
            </a:r>
            <a:endParaRPr b="0" i="0" sz="1224" u="none" cap="none" strike="noStrike">
              <a:solidFill>
                <a:srgbClr val="000000"/>
              </a:solidFill>
              <a:latin typeface="Arial"/>
              <a:ea typeface="Arial"/>
              <a:cs typeface="Arial"/>
              <a:sym typeface="Arial"/>
            </a:endParaRPr>
          </a:p>
        </p:txBody>
      </p:sp>
      <p:sp>
        <p:nvSpPr>
          <p:cNvPr id="1240" name="Google Shape;1240;p32"/>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graphicFrame>
        <p:nvGraphicFramePr>
          <p:cNvPr id="1241" name="Google Shape;1241;p32"/>
          <p:cNvGraphicFramePr/>
          <p:nvPr/>
        </p:nvGraphicFramePr>
        <p:xfrm>
          <a:off x="2319320" y="2862222"/>
          <a:ext cx="3000000" cy="3000000"/>
        </p:xfrm>
        <a:graphic>
          <a:graphicData uri="http://schemas.openxmlformats.org/drawingml/2006/table">
            <a:tbl>
              <a:tblPr bandRow="1" firstRow="1">
                <a:noFill/>
                <a:tableStyleId>{FF63AD9A-016F-4C48-BA4E-4A51AB7C9AD3}</a:tableStyleId>
              </a:tblPr>
              <a:tblGrid>
                <a:gridCol w="766125"/>
                <a:gridCol w="3927375"/>
              </a:tblGrid>
              <a:tr h="236225">
                <a:tc gridSpan="2">
                  <a:txBody>
                    <a:bodyPr/>
                    <a:lstStyle/>
                    <a:p>
                      <a:pPr indent="0" lvl="0" marL="10160" marR="0" rtl="0" algn="ctr">
                        <a:lnSpc>
                          <a:spcPct val="100000"/>
                        </a:lnSpc>
                        <a:spcBef>
                          <a:spcPts val="0"/>
                        </a:spcBef>
                        <a:spcAft>
                          <a:spcPts val="0"/>
                        </a:spcAft>
                        <a:buNone/>
                      </a:pPr>
                      <a:r>
                        <a:rPr b="1" lang="en-US" sz="1100" u="none" cap="none" strike="noStrike">
                          <a:solidFill>
                            <a:srgbClr val="000080"/>
                          </a:solidFill>
                          <a:latin typeface="Arial"/>
                          <a:ea typeface="Arial"/>
                          <a:cs typeface="Arial"/>
                          <a:sym typeface="Arial"/>
                        </a:rPr>
                        <a:t>Uso de herramientas</a:t>
                      </a:r>
                      <a:endParaRPr sz="1100" u="none" cap="none" strike="noStrike">
                        <a:latin typeface="Arial"/>
                        <a:ea typeface="Arial"/>
                        <a:cs typeface="Arial"/>
                        <a:sym typeface="Arial"/>
                      </a:endParaRPr>
                    </a:p>
                  </a:txBody>
                  <a:tcPr marT="20725" marB="0" marR="0" marL="0">
                    <a:lnB cap="flat" cmpd="sng" w="28575">
                      <a:solidFill>
                        <a:srgbClr val="FFFFFF"/>
                      </a:solidFill>
                      <a:prstDash val="solid"/>
                      <a:round/>
                      <a:headEnd len="sm" w="sm" type="none"/>
                      <a:tailEnd len="sm" w="sm" type="none"/>
                    </a:lnB>
                    <a:solidFill>
                      <a:srgbClr val="CCCCCC"/>
                    </a:solidFill>
                  </a:tcPr>
                </a:tc>
                <a:tc hMerge="1"/>
              </a:tr>
              <a:tr h="244875">
                <a:tc>
                  <a:txBody>
                    <a:bodyPr/>
                    <a:lstStyle/>
                    <a:p>
                      <a:pPr indent="0" lvl="0" marL="111125" marR="0" rtl="0" algn="l">
                        <a:lnSpc>
                          <a:spcPct val="100000"/>
                        </a:lnSpc>
                        <a:spcBef>
                          <a:spcPts val="0"/>
                        </a:spcBef>
                        <a:spcAft>
                          <a:spcPts val="0"/>
                        </a:spcAft>
                        <a:buNone/>
                      </a:pPr>
                      <a:r>
                        <a:rPr b="1" lang="en-US" sz="1000" u="none" cap="none" strike="noStrike">
                          <a:solidFill>
                            <a:srgbClr val="0000FF"/>
                          </a:solidFill>
                          <a:latin typeface="Arial"/>
                          <a:ea typeface="Arial"/>
                          <a:cs typeface="Arial"/>
                          <a:sym typeface="Arial"/>
                        </a:rPr>
                        <a:t>Categoría</a:t>
                      </a:r>
                      <a:endParaRPr sz="1000" u="none" cap="none" strike="noStrike">
                        <a:latin typeface="Arial"/>
                        <a:ea typeface="Arial"/>
                        <a:cs typeface="Arial"/>
                        <a:sym typeface="Arial"/>
                      </a:endParaRPr>
                    </a:p>
                  </a:txBody>
                  <a:tcPr marT="3800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None/>
                      </a:pPr>
                      <a:r>
                        <a:rPr b="1" lang="en-US" sz="1000" u="none" cap="none" strike="noStrike">
                          <a:solidFill>
                            <a:srgbClr val="0000FF"/>
                          </a:solidFill>
                          <a:latin typeface="Arial"/>
                          <a:ea typeface="Arial"/>
                          <a:cs typeface="Arial"/>
                          <a:sym typeface="Arial"/>
                        </a:rPr>
                        <a:t>Significado</a:t>
                      </a:r>
                      <a:endParaRPr sz="1000" u="none" cap="none" strike="noStrike">
                        <a:latin typeface="Arial"/>
                        <a:ea typeface="Arial"/>
                        <a:cs typeface="Arial"/>
                        <a:sym typeface="Arial"/>
                      </a:endParaRPr>
                    </a:p>
                  </a:txBody>
                  <a:tcPr marT="3800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r>
              <a:tr h="244425">
                <a:tc>
                  <a:txBody>
                    <a:bodyPr/>
                    <a:lstStyle/>
                    <a:p>
                      <a:pPr indent="0" lvl="0" marL="7493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Muy baja</a:t>
                      </a:r>
                      <a:endParaRPr sz="900" u="none" cap="none" strike="noStrike">
                        <a:latin typeface="Arial"/>
                        <a:ea typeface="Arial"/>
                        <a:cs typeface="Arial"/>
                        <a:sym typeface="Arial"/>
                      </a:endParaRPr>
                    </a:p>
                  </a:txBody>
                  <a:tcPr marT="496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c>
                  <a:txBody>
                    <a:bodyPr/>
                    <a:lstStyle/>
                    <a:p>
                      <a:pPr indent="0" lvl="0" marL="6604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Editores, depuradores</a:t>
                      </a:r>
                      <a:endParaRPr sz="900" u="none" cap="none" strike="noStrike">
                        <a:latin typeface="Arial"/>
                        <a:ea typeface="Arial"/>
                        <a:cs typeface="Arial"/>
                        <a:sym typeface="Arial"/>
                      </a:endParaRPr>
                    </a:p>
                  </a:txBody>
                  <a:tcPr marT="4967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CCCCCC"/>
                    </a:solidFill>
                  </a:tcPr>
                </a:tc>
              </a:tr>
              <a:tr h="236225">
                <a:tc>
                  <a:txBody>
                    <a:bodyPr/>
                    <a:lstStyle/>
                    <a:p>
                      <a:pPr indent="0" lvl="0" marL="7493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Baja</a:t>
                      </a:r>
                      <a:endParaRPr sz="900" u="none" cap="none" strike="noStrike">
                        <a:latin typeface="Arial"/>
                        <a:ea typeface="Arial"/>
                        <a:cs typeface="Arial"/>
                        <a:sym typeface="Arial"/>
                      </a:endParaRPr>
                    </a:p>
                  </a:txBody>
                  <a:tcPr marT="50100"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1F1F1"/>
                    </a:solidFill>
                  </a:tcPr>
                </a:tc>
                <a:tc>
                  <a:txBody>
                    <a:bodyPr/>
                    <a:lstStyle/>
                    <a:p>
                      <a:pPr indent="0" lvl="0" marL="6604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CASE front-end, back-end, baja integración</a:t>
                      </a:r>
                      <a:endParaRPr sz="900" u="none" cap="none" strike="noStrike">
                        <a:latin typeface="Arial"/>
                        <a:ea typeface="Arial"/>
                        <a:cs typeface="Arial"/>
                        <a:sym typeface="Arial"/>
                      </a:endParaRPr>
                    </a:p>
                  </a:txBody>
                  <a:tcPr marT="50100"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1F1F1"/>
                    </a:solidFill>
                  </a:tcPr>
                </a:tc>
              </a:tr>
              <a:tr h="244875">
                <a:tc>
                  <a:txBody>
                    <a:bodyPr/>
                    <a:lstStyle/>
                    <a:p>
                      <a:pPr indent="0" lvl="0" marL="7493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Nominal</a:t>
                      </a:r>
                      <a:endParaRPr sz="900" u="none" cap="none" strike="noStrike">
                        <a:latin typeface="Arial"/>
                        <a:ea typeface="Arial"/>
                        <a:cs typeface="Arial"/>
                        <a:sym typeface="Arial"/>
                      </a:endParaRPr>
                    </a:p>
                  </a:txBody>
                  <a:tcPr marT="58725" marB="0" marR="0" marL="0">
                    <a:lnR cap="flat" cmpd="sng" w="2857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6604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Herramientas de ciclo de vida básicas, integración moderada</a:t>
                      </a:r>
                      <a:endParaRPr sz="900" u="none" cap="none" strike="noStrike">
                        <a:latin typeface="Arial"/>
                        <a:ea typeface="Arial"/>
                        <a:cs typeface="Arial"/>
                        <a:sym typeface="Arial"/>
                      </a:endParaRPr>
                    </a:p>
                  </a:txBody>
                  <a:tcPr marT="58725" marB="0" marR="0" marL="0">
                    <a:lnL cap="flat" cmpd="sng" w="28575">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253500">
                <a:tc>
                  <a:txBody>
                    <a:bodyPr/>
                    <a:lstStyle/>
                    <a:p>
                      <a:pPr indent="0" lvl="0" marL="7493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Alta</a:t>
                      </a:r>
                      <a:endParaRPr sz="900" u="none" cap="none" strike="noStrike">
                        <a:latin typeface="Arial"/>
                        <a:ea typeface="Arial"/>
                        <a:cs typeface="Arial"/>
                        <a:sym typeface="Arial"/>
                      </a:endParaRPr>
                    </a:p>
                  </a:txBody>
                  <a:tcPr marT="58725" marB="0" marR="0" marL="0">
                    <a:lnR cap="flat" cmpd="sng" w="2857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c>
                  <a:txBody>
                    <a:bodyPr/>
                    <a:lstStyle/>
                    <a:p>
                      <a:pPr indent="0" lvl="0" marL="6604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Herramientas de ciclo de vida potentes y maduras, integración moderada</a:t>
                      </a:r>
                      <a:endParaRPr sz="900" u="none" cap="none" strike="noStrike">
                        <a:latin typeface="Arial"/>
                        <a:ea typeface="Arial"/>
                        <a:cs typeface="Arial"/>
                        <a:sym typeface="Arial"/>
                      </a:endParaRPr>
                    </a:p>
                  </a:txBody>
                  <a:tcPr marT="58725" marB="0" marR="0" marL="0">
                    <a:lnL cap="flat" cmpd="sng" w="28575">
                      <a:solidFill>
                        <a:srgbClr val="FFFFFF"/>
                      </a:solidFill>
                      <a:prstDash val="solid"/>
                      <a:round/>
                      <a:headEnd len="sm" w="sm" type="none"/>
                      <a:tailEnd len="sm" w="sm" type="none"/>
                    </a:lnL>
                    <a:lnT cap="flat" cmpd="sng" w="952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1F1F1"/>
                    </a:solidFill>
                  </a:tcPr>
                </a:tc>
              </a:tr>
              <a:tr h="269925">
                <a:tc>
                  <a:txBody>
                    <a:bodyPr/>
                    <a:lstStyle/>
                    <a:p>
                      <a:pPr indent="0" lvl="0" marL="74930" marR="0" rtl="0" algn="l">
                        <a:lnSpc>
                          <a:spcPct val="100000"/>
                        </a:lnSpc>
                        <a:spcBef>
                          <a:spcPts val="0"/>
                        </a:spcBef>
                        <a:spcAft>
                          <a:spcPts val="0"/>
                        </a:spcAft>
                        <a:buNone/>
                      </a:pPr>
                      <a:r>
                        <a:rPr lang="en-US" sz="900" u="none" cap="none" strike="noStrike">
                          <a:solidFill>
                            <a:srgbClr val="000080"/>
                          </a:solidFill>
                          <a:latin typeface="Arial"/>
                          <a:ea typeface="Arial"/>
                          <a:cs typeface="Arial"/>
                          <a:sym typeface="Arial"/>
                        </a:rPr>
                        <a:t>Muy alta</a:t>
                      </a:r>
                      <a:endParaRPr sz="900" u="none" cap="none" strike="noStrike">
                        <a:latin typeface="Arial"/>
                        <a:ea typeface="Arial"/>
                        <a:cs typeface="Arial"/>
                        <a:sym typeface="Arial"/>
                      </a:endParaRPr>
                    </a:p>
                  </a:txBody>
                  <a:tcPr marT="67375" marB="0" marR="0" marL="0">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solidFill>
                      <a:srgbClr val="CCCCCC"/>
                    </a:solidFill>
                  </a:tcPr>
                </a:tc>
                <a:tc>
                  <a:txBody>
                    <a:bodyPr/>
                    <a:lstStyle/>
                    <a:p>
                      <a:pPr indent="0" lvl="0" marL="66040" marR="243204" rtl="0" algn="l">
                        <a:lnSpc>
                          <a:spcPct val="167777"/>
                        </a:lnSpc>
                        <a:spcBef>
                          <a:spcPts val="0"/>
                        </a:spcBef>
                        <a:spcAft>
                          <a:spcPts val="0"/>
                        </a:spcAft>
                        <a:buNone/>
                      </a:pPr>
                      <a:r>
                        <a:rPr lang="en-US" sz="900" u="none" cap="none" strike="noStrike">
                          <a:solidFill>
                            <a:srgbClr val="000080"/>
                          </a:solidFill>
                          <a:latin typeface="Arial"/>
                          <a:ea typeface="Arial"/>
                          <a:cs typeface="Arial"/>
                          <a:sym typeface="Arial"/>
                        </a:rPr>
                        <a:t>Herramientas de ciclo de vida potentes y maduras, bien integradas con procesos, métodos y reutilización</a:t>
                      </a:r>
                      <a:endParaRPr sz="900" u="none" cap="none" strike="noStrike">
                        <a:latin typeface="Arial"/>
                        <a:ea typeface="Arial"/>
                        <a:cs typeface="Arial"/>
                        <a:sym typeface="Arial"/>
                      </a:endParaRPr>
                    </a:p>
                  </a:txBody>
                  <a:tcPr marT="425" marB="0" marR="0" marL="0">
                    <a:lnL cap="flat" cmpd="sng" w="28575">
                      <a:solidFill>
                        <a:srgbClr val="FFFFFF"/>
                      </a:solidFill>
                      <a:prstDash val="solid"/>
                      <a:round/>
                      <a:headEnd len="sm" w="sm" type="none"/>
                      <a:tailEnd len="sm" w="sm" type="none"/>
                    </a:lnL>
                    <a:lnT cap="flat" cmpd="sng" w="28575">
                      <a:solidFill>
                        <a:srgbClr val="FFFFFF"/>
                      </a:solidFill>
                      <a:prstDash val="solid"/>
                      <a:round/>
                      <a:headEnd len="sm" w="sm" type="none"/>
                      <a:tailEnd len="sm" w="sm" type="none"/>
                    </a:lnT>
                    <a:solidFill>
                      <a:srgbClr val="CCCCCC"/>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33"/>
          <p:cNvSpPr txBox="1"/>
          <p:nvPr/>
        </p:nvSpPr>
        <p:spPr>
          <a:xfrm>
            <a:off x="5438237" y="350501"/>
            <a:ext cx="1920499" cy="134269"/>
          </a:xfrm>
          <a:prstGeom prst="rect">
            <a:avLst/>
          </a:prstGeom>
          <a:noFill/>
          <a:ln>
            <a:noFill/>
          </a:ln>
        </p:spPr>
        <p:txBody>
          <a:bodyPr anchorCtr="0" anchor="t" bIns="0" lIns="0" spcFirstLastPara="1" rIns="0" wrap="square" tIns="8625">
            <a:spAutoFit/>
          </a:bodyPr>
          <a:lstStyle/>
          <a:p>
            <a:pPr indent="0" lvl="0" marL="8637" marR="0" rtl="0" algn="l">
              <a:lnSpc>
                <a:spcPct val="100000"/>
              </a:lnSpc>
              <a:spcBef>
                <a:spcPts val="0"/>
              </a:spcBef>
              <a:spcAft>
                <a:spcPts val="0"/>
              </a:spcAft>
              <a:buNone/>
            </a:pPr>
            <a:r>
              <a:rPr b="0" i="0" lang="en-US" sz="816" u="none" cap="none" strike="noStrike">
                <a:solidFill>
                  <a:srgbClr val="00007C"/>
                </a:solidFill>
                <a:latin typeface="Arial"/>
                <a:ea typeface="Arial"/>
                <a:cs typeface="Arial"/>
                <a:sym typeface="Arial"/>
              </a:rPr>
              <a:t>Administración de Proyectos Informáticos</a:t>
            </a:r>
            <a:endParaRPr b="0" i="0" sz="816" u="none" cap="none" strike="noStrike">
              <a:solidFill>
                <a:srgbClr val="000000"/>
              </a:solidFill>
              <a:latin typeface="Arial"/>
              <a:ea typeface="Arial"/>
              <a:cs typeface="Arial"/>
              <a:sym typeface="Arial"/>
            </a:endParaRPr>
          </a:p>
        </p:txBody>
      </p:sp>
      <p:pic>
        <p:nvPicPr>
          <p:cNvPr id="1247" name="Google Shape;1247;p33"/>
          <p:cNvPicPr preferRelativeResize="0"/>
          <p:nvPr/>
        </p:nvPicPr>
        <p:blipFill rotWithShape="1">
          <a:blip r:embed="rId3">
            <a:alphaModFix/>
          </a:blip>
          <a:srcRect b="0" l="0" r="0" t="0"/>
          <a:stretch/>
        </p:blipFill>
        <p:spPr>
          <a:xfrm>
            <a:off x="1575132" y="806376"/>
            <a:ext cx="3682590" cy="2082794"/>
          </a:xfrm>
          <a:prstGeom prst="rect">
            <a:avLst/>
          </a:prstGeom>
          <a:noFill/>
          <a:ln>
            <a:noFill/>
          </a:ln>
        </p:spPr>
      </p:pic>
      <p:pic>
        <p:nvPicPr>
          <p:cNvPr id="1248" name="Google Shape;1248;p33"/>
          <p:cNvPicPr preferRelativeResize="0"/>
          <p:nvPr/>
        </p:nvPicPr>
        <p:blipFill rotWithShape="1">
          <a:blip r:embed="rId4">
            <a:alphaModFix/>
          </a:blip>
          <a:srcRect b="0" l="0" r="0" t="0"/>
          <a:stretch/>
        </p:blipFill>
        <p:spPr>
          <a:xfrm>
            <a:off x="5352041" y="513054"/>
            <a:ext cx="2237746" cy="2595330"/>
          </a:xfrm>
          <a:prstGeom prst="rect">
            <a:avLst/>
          </a:prstGeom>
          <a:noFill/>
          <a:ln>
            <a:noFill/>
          </a:ln>
        </p:spPr>
      </p:pic>
      <p:sp>
        <p:nvSpPr>
          <p:cNvPr id="1249" name="Google Shape;1249;p33"/>
          <p:cNvSpPr txBox="1"/>
          <p:nvPr/>
        </p:nvSpPr>
        <p:spPr>
          <a:xfrm>
            <a:off x="1736472" y="3174890"/>
            <a:ext cx="2500924" cy="559718"/>
          </a:xfrm>
          <a:prstGeom prst="rect">
            <a:avLst/>
          </a:prstGeom>
          <a:noFill/>
          <a:ln>
            <a:noFill/>
          </a:ln>
        </p:spPr>
        <p:txBody>
          <a:bodyPr anchorCtr="0" anchor="t" bIns="0" lIns="0" spcFirstLastPara="1" rIns="0" wrap="square" tIns="8200">
            <a:spAutoFit/>
          </a:bodyPr>
          <a:lstStyle/>
          <a:p>
            <a:pPr indent="0" lvl="0" marL="8637" marR="0" rtl="0" algn="l">
              <a:lnSpc>
                <a:spcPct val="112500"/>
              </a:lnSpc>
              <a:spcBef>
                <a:spcPts val="0"/>
              </a:spcBef>
              <a:spcAft>
                <a:spcPts val="0"/>
              </a:spcAft>
              <a:buNone/>
            </a:pPr>
            <a:r>
              <a:rPr b="1" i="1" lang="en-US" sz="952" u="none" cap="none" strike="noStrike">
                <a:solidFill>
                  <a:srgbClr val="3333CC"/>
                </a:solidFill>
                <a:latin typeface="Times New Roman"/>
                <a:ea typeface="Times New Roman"/>
                <a:cs typeface="Times New Roman"/>
                <a:sym typeface="Times New Roman"/>
              </a:rPr>
              <a:t>Product attributes</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09663"/>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•Required software reliability (RELY)</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3970"/>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•Database size (DATA)</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•Documentation match to life-cycle needs (DOCU)</a:t>
            </a:r>
            <a:endParaRPr b="0" i="0" sz="952" u="none" cap="none" strike="noStrike">
              <a:solidFill>
                <a:srgbClr val="000000"/>
              </a:solidFill>
              <a:latin typeface="Times New Roman"/>
              <a:ea typeface="Times New Roman"/>
              <a:cs typeface="Times New Roman"/>
              <a:sym typeface="Times New Roman"/>
            </a:endParaRPr>
          </a:p>
        </p:txBody>
      </p:sp>
      <p:sp>
        <p:nvSpPr>
          <p:cNvPr id="1250" name="Google Shape;1250;p33"/>
          <p:cNvSpPr txBox="1"/>
          <p:nvPr/>
        </p:nvSpPr>
        <p:spPr>
          <a:xfrm>
            <a:off x="4625637" y="3177994"/>
            <a:ext cx="1658358" cy="577993"/>
          </a:xfrm>
          <a:prstGeom prst="rect">
            <a:avLst/>
          </a:prstGeom>
          <a:noFill/>
          <a:ln>
            <a:noFill/>
          </a:ln>
        </p:spPr>
        <p:txBody>
          <a:bodyPr anchorCtr="0" anchor="t" bIns="0" lIns="0" spcFirstLastPara="1" rIns="0" wrap="square" tIns="8200">
            <a:spAutoFit/>
          </a:bodyPr>
          <a:lstStyle/>
          <a:p>
            <a:pPr indent="0" lvl="0" marL="8637" marR="0" rtl="0" algn="l">
              <a:lnSpc>
                <a:spcPct val="100000"/>
              </a:lnSpc>
              <a:spcBef>
                <a:spcPts val="0"/>
              </a:spcBef>
              <a:spcAft>
                <a:spcPts val="0"/>
              </a:spcAft>
              <a:buNone/>
            </a:pPr>
            <a:r>
              <a:rPr b="1" i="1" lang="en-US" sz="952" u="none" cap="none" strike="noStrike">
                <a:solidFill>
                  <a:srgbClr val="3333CC"/>
                </a:solidFill>
                <a:latin typeface="Times New Roman"/>
                <a:ea typeface="Times New Roman"/>
                <a:cs typeface="Times New Roman"/>
                <a:sym typeface="Times New Roman"/>
              </a:rPr>
              <a:t>Personnel attributes</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3"/>
              </a:spcBef>
              <a:spcAft>
                <a:spcPts val="0"/>
              </a:spcAft>
              <a:buNone/>
            </a:pPr>
            <a:r>
              <a:rPr b="0" i="0" lang="en-US" sz="952" u="none" cap="none" strike="noStrike">
                <a:solidFill>
                  <a:srgbClr val="323232"/>
                </a:solidFill>
                <a:latin typeface="Times New Roman"/>
                <a:ea typeface="Times New Roman"/>
                <a:cs typeface="Times New Roman"/>
                <a:sym typeface="Times New Roman"/>
              </a:rPr>
              <a:t>•Analyst capabilities (ACAP)</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3970"/>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•Applications experience (AEXP)</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•Programmer capabilities (PCAP)</a:t>
            </a:r>
            <a:endParaRPr b="0" i="0" sz="952" u="none" cap="none" strike="noStrike">
              <a:solidFill>
                <a:srgbClr val="000000"/>
              </a:solidFill>
              <a:latin typeface="Times New Roman"/>
              <a:ea typeface="Times New Roman"/>
              <a:cs typeface="Times New Roman"/>
              <a:sym typeface="Times New Roman"/>
            </a:endParaRPr>
          </a:p>
        </p:txBody>
      </p:sp>
      <p:sp>
        <p:nvSpPr>
          <p:cNvPr id="1251" name="Google Shape;1251;p33"/>
          <p:cNvSpPr/>
          <p:nvPr/>
        </p:nvSpPr>
        <p:spPr>
          <a:xfrm>
            <a:off x="1462674" y="3734941"/>
            <a:ext cx="6218841" cy="1166896"/>
          </a:xfrm>
          <a:custGeom>
            <a:rect b="b" l="l" r="r" t="t"/>
            <a:pathLst>
              <a:path extrusionOk="0" h="1715770" w="9144000">
                <a:moveTo>
                  <a:pt x="9144000" y="0"/>
                </a:moveTo>
                <a:lnTo>
                  <a:pt x="0" y="0"/>
                </a:lnTo>
                <a:lnTo>
                  <a:pt x="0" y="857250"/>
                </a:lnTo>
                <a:lnTo>
                  <a:pt x="0" y="858012"/>
                </a:lnTo>
                <a:lnTo>
                  <a:pt x="0" y="1715262"/>
                </a:lnTo>
                <a:lnTo>
                  <a:pt x="9144000" y="1715262"/>
                </a:lnTo>
                <a:lnTo>
                  <a:pt x="9144000" y="858012"/>
                </a:lnTo>
                <a:lnTo>
                  <a:pt x="9144000" y="857250"/>
                </a:lnTo>
                <a:lnTo>
                  <a:pt x="914400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252" name="Google Shape;1252;p33"/>
          <p:cNvSpPr txBox="1"/>
          <p:nvPr/>
        </p:nvSpPr>
        <p:spPr>
          <a:xfrm>
            <a:off x="1736472" y="3715412"/>
            <a:ext cx="1707158" cy="872945"/>
          </a:xfrm>
          <a:prstGeom prst="rect">
            <a:avLst/>
          </a:prstGeom>
          <a:noFill/>
          <a:ln>
            <a:noFill/>
          </a:ln>
        </p:spPr>
        <p:txBody>
          <a:bodyPr anchorCtr="0" anchor="t" bIns="0" lIns="0" spcFirstLastPara="1" rIns="0" wrap="square" tIns="8200">
            <a:spAutoFit/>
          </a:bodyPr>
          <a:lstStyle/>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•Product complexity (CPLX)</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•Required Reusability (RUSE)</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00000"/>
              </a:lnSpc>
              <a:spcBef>
                <a:spcPts val="112"/>
              </a:spcBef>
              <a:spcAft>
                <a:spcPts val="0"/>
              </a:spcAft>
              <a:buNone/>
            </a:pPr>
            <a:r>
              <a:rPr b="1" i="1" lang="en-US" sz="952" u="none" cap="none" strike="noStrike">
                <a:solidFill>
                  <a:srgbClr val="3333CC"/>
                </a:solidFill>
                <a:latin typeface="Times New Roman"/>
                <a:ea typeface="Times New Roman"/>
                <a:cs typeface="Times New Roman"/>
                <a:sym typeface="Times New Roman"/>
              </a:rPr>
              <a:t>Platform attributes</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3"/>
              </a:spcBef>
              <a:spcAft>
                <a:spcPts val="0"/>
              </a:spcAft>
              <a:buNone/>
            </a:pPr>
            <a:r>
              <a:rPr b="0" i="0" lang="en-US" sz="952" u="none" cap="none" strike="noStrike">
                <a:solidFill>
                  <a:srgbClr val="323232"/>
                </a:solidFill>
                <a:latin typeface="Times New Roman"/>
                <a:ea typeface="Times New Roman"/>
                <a:cs typeface="Times New Roman"/>
                <a:sym typeface="Times New Roman"/>
              </a:rPr>
              <a:t>•Execution time constraint (TIME)</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3970"/>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•Main storage constraint (STOR)</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•Platform volatility (PVOL)</a:t>
            </a:r>
            <a:endParaRPr b="0" i="0" sz="952" u="none" cap="none" strike="noStrike">
              <a:solidFill>
                <a:srgbClr val="000000"/>
              </a:solidFill>
              <a:latin typeface="Times New Roman"/>
              <a:ea typeface="Times New Roman"/>
              <a:cs typeface="Times New Roman"/>
              <a:sym typeface="Times New Roman"/>
            </a:endParaRPr>
          </a:p>
        </p:txBody>
      </p:sp>
      <p:sp>
        <p:nvSpPr>
          <p:cNvPr id="1253" name="Google Shape;1253;p33"/>
          <p:cNvSpPr txBox="1"/>
          <p:nvPr/>
        </p:nvSpPr>
        <p:spPr>
          <a:xfrm>
            <a:off x="4625642" y="3737178"/>
            <a:ext cx="2158024" cy="885769"/>
          </a:xfrm>
          <a:prstGeom prst="rect">
            <a:avLst/>
          </a:prstGeom>
          <a:noFill/>
          <a:ln>
            <a:noFill/>
          </a:ln>
        </p:spPr>
        <p:txBody>
          <a:bodyPr anchorCtr="0" anchor="t" bIns="0" lIns="0" spcFirstLastPara="1" rIns="0" wrap="square" tIns="8200">
            <a:spAutoFit/>
          </a:bodyPr>
          <a:lstStyle/>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•Platform experience (PEXP)</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3970"/>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•Programming language experience (LEXP)</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•Personnel Continuity (PCON)</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00000"/>
              </a:lnSpc>
              <a:spcBef>
                <a:spcPts val="197"/>
              </a:spcBef>
              <a:spcAft>
                <a:spcPts val="0"/>
              </a:spcAft>
              <a:buNone/>
            </a:pPr>
            <a:r>
              <a:rPr b="1" i="1" lang="en-US" sz="952" u="none" cap="none" strike="noStrike">
                <a:solidFill>
                  <a:srgbClr val="3333CC"/>
                </a:solidFill>
                <a:latin typeface="Times New Roman"/>
                <a:ea typeface="Times New Roman"/>
                <a:cs typeface="Times New Roman"/>
                <a:sym typeface="Times New Roman"/>
              </a:rPr>
              <a:t>Project attributes</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34"/>
              </a:spcBef>
              <a:spcAft>
                <a:spcPts val="0"/>
              </a:spcAft>
              <a:buNone/>
            </a:pPr>
            <a:r>
              <a:rPr b="0" i="0" lang="en-US" sz="952" u="none" cap="none" strike="noStrike">
                <a:solidFill>
                  <a:srgbClr val="323232"/>
                </a:solidFill>
                <a:latin typeface="Times New Roman"/>
                <a:ea typeface="Times New Roman"/>
                <a:cs typeface="Times New Roman"/>
                <a:sym typeface="Times New Roman"/>
              </a:rPr>
              <a:t>•Use of software tools (TOOL)</a:t>
            </a:r>
            <a:endParaRPr b="0" i="0" sz="952" u="none" cap="none" strike="noStrike">
              <a:solidFill>
                <a:srgbClr val="000000"/>
              </a:solidFill>
              <a:latin typeface="Times New Roman"/>
              <a:ea typeface="Times New Roman"/>
              <a:cs typeface="Times New Roman"/>
              <a:sym typeface="Times New Roman"/>
            </a:endParaRPr>
          </a:p>
          <a:p>
            <a:pPr indent="0" lvl="0" marL="8637" marR="0" rtl="0" algn="l">
              <a:lnSpc>
                <a:spcPct val="117121"/>
              </a:lnSpc>
              <a:spcBef>
                <a:spcPts val="0"/>
              </a:spcBef>
              <a:spcAft>
                <a:spcPts val="0"/>
              </a:spcAft>
              <a:buNone/>
            </a:pPr>
            <a:r>
              <a:rPr b="0" i="0" lang="en-US" sz="952" u="none" cap="none" strike="noStrike">
                <a:solidFill>
                  <a:srgbClr val="323232"/>
                </a:solidFill>
                <a:latin typeface="Times New Roman"/>
                <a:ea typeface="Times New Roman"/>
                <a:cs typeface="Times New Roman"/>
                <a:sym typeface="Times New Roman"/>
              </a:rPr>
              <a:t>•Multisite Development (SITE)</a:t>
            </a:r>
            <a:endParaRPr b="0" i="0" sz="952"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34"/>
          <p:cNvSpPr txBox="1"/>
          <p:nvPr>
            <p:ph idx="4294967295" type="title"/>
          </p:nvPr>
        </p:nvSpPr>
        <p:spPr>
          <a:xfrm>
            <a:off x="946298" y="8842"/>
            <a:ext cx="8708065" cy="944875"/>
          </a:xfrm>
          <a:prstGeom prst="rect">
            <a:avLst/>
          </a:prstGeom>
          <a:noFill/>
          <a:ln>
            <a:noFill/>
          </a:ln>
        </p:spPr>
        <p:txBody>
          <a:bodyPr anchorCtr="0" anchor="t" bIns="0" lIns="0" spcFirstLastPara="1" rIns="0" wrap="square" tIns="8625">
            <a:spAutoFit/>
          </a:bodyPr>
          <a:lstStyle/>
          <a:p>
            <a:pPr indent="0" lvl="0" marL="8637" rtl="0" algn="ctr">
              <a:lnSpc>
                <a:spcPct val="100000"/>
              </a:lnSpc>
              <a:spcBef>
                <a:spcPts val="68"/>
              </a:spcBef>
              <a:spcAft>
                <a:spcPts val="0"/>
              </a:spcAft>
              <a:buSzPts val="3000"/>
              <a:buNone/>
            </a:pPr>
            <a:r>
              <a:rPr lang="en-US">
                <a:solidFill>
                  <a:srgbClr val="FF0000"/>
                </a:solidFill>
              </a:rPr>
              <a:t>Métricas para sistemas orientados a objetos</a:t>
            </a:r>
            <a:endParaRPr>
              <a:solidFill>
                <a:srgbClr val="FF0000"/>
              </a:solidFill>
            </a:endParaRPr>
          </a:p>
        </p:txBody>
      </p:sp>
      <p:sp>
        <p:nvSpPr>
          <p:cNvPr id="1259" name="Google Shape;1259;p34"/>
          <p:cNvSpPr/>
          <p:nvPr/>
        </p:nvSpPr>
        <p:spPr>
          <a:xfrm>
            <a:off x="1462674" y="3734933"/>
            <a:ext cx="6218841" cy="583879"/>
          </a:xfrm>
          <a:custGeom>
            <a:rect b="b" l="l" r="r" t="t"/>
            <a:pathLst>
              <a:path extrusionOk="0" h="858520" w="9144000">
                <a:moveTo>
                  <a:pt x="9143999" y="858012"/>
                </a:moveTo>
                <a:lnTo>
                  <a:pt x="9143999" y="0"/>
                </a:lnTo>
                <a:lnTo>
                  <a:pt x="0" y="0"/>
                </a:lnTo>
                <a:lnTo>
                  <a:pt x="0" y="858012"/>
                </a:lnTo>
                <a:lnTo>
                  <a:pt x="9143999" y="858012"/>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952" u="none" cap="none" strike="noStrike">
              <a:solidFill>
                <a:srgbClr val="000000"/>
              </a:solidFill>
              <a:latin typeface="Arial"/>
              <a:ea typeface="Arial"/>
              <a:cs typeface="Arial"/>
              <a:sym typeface="Arial"/>
            </a:endParaRPr>
          </a:p>
        </p:txBody>
      </p:sp>
      <p:sp>
        <p:nvSpPr>
          <p:cNvPr id="1260" name="Google Shape;1260;p34"/>
          <p:cNvSpPr txBox="1"/>
          <p:nvPr/>
        </p:nvSpPr>
        <p:spPr>
          <a:xfrm>
            <a:off x="1809025" y="906841"/>
            <a:ext cx="5649212" cy="3579231"/>
          </a:xfrm>
          <a:prstGeom prst="rect">
            <a:avLst/>
          </a:prstGeom>
          <a:noFill/>
          <a:ln>
            <a:noFill/>
          </a:ln>
        </p:spPr>
        <p:txBody>
          <a:bodyPr anchorCtr="0" anchor="t" bIns="0" lIns="0" spcFirstLastPara="1" rIns="0" wrap="square" tIns="50525">
            <a:spAutoFit/>
          </a:bodyPr>
          <a:lstStyle/>
          <a:p>
            <a:pPr indent="0" lvl="0" marL="34549" marR="0" rtl="0" algn="l">
              <a:lnSpc>
                <a:spcPct val="100000"/>
              </a:lnSpc>
              <a:spcBef>
                <a:spcPts val="0"/>
              </a:spcBef>
              <a:spcAft>
                <a:spcPts val="0"/>
              </a:spcAft>
              <a:buNone/>
            </a:pPr>
            <a:r>
              <a:rPr b="1" i="0" lang="en-US" sz="1360" u="none" cap="none" strike="noStrike">
                <a:solidFill>
                  <a:srgbClr val="CB132D"/>
                </a:solidFill>
                <a:latin typeface="Arial"/>
                <a:ea typeface="Arial"/>
                <a:cs typeface="Arial"/>
                <a:sym typeface="Arial"/>
              </a:rPr>
              <a:t>Métricas para diagramas UML (II)</a:t>
            </a:r>
            <a:endParaRPr b="0" i="0" sz="1360" u="none" cap="none" strike="noStrike">
              <a:solidFill>
                <a:srgbClr val="000000"/>
              </a:solidFill>
              <a:latin typeface="Arial"/>
              <a:ea typeface="Arial"/>
              <a:cs typeface="Arial"/>
              <a:sym typeface="Arial"/>
            </a:endParaRPr>
          </a:p>
          <a:p>
            <a:pPr indent="-232774" lvl="0" marL="267324" marR="0" rtl="0" algn="l">
              <a:lnSpc>
                <a:spcPct val="100000"/>
              </a:lnSpc>
              <a:spcBef>
                <a:spcPts val="299"/>
              </a:spcBef>
              <a:spcAft>
                <a:spcPts val="0"/>
              </a:spcAft>
              <a:buClr>
                <a:srgbClr val="00007C"/>
              </a:buClr>
              <a:buSzPts val="918"/>
              <a:buFont typeface="Noto Sans Symbols"/>
              <a:buChar char="■"/>
            </a:pPr>
            <a:r>
              <a:rPr b="1" i="1" lang="en-US" sz="1224" u="none" cap="none" strike="noStrike">
                <a:solidFill>
                  <a:srgbClr val="3333CC"/>
                </a:solidFill>
                <a:latin typeface="Arial"/>
                <a:ea typeface="Arial"/>
                <a:cs typeface="Arial"/>
                <a:sym typeface="Arial"/>
              </a:rPr>
              <a:t>Métricas de Marchesi </a:t>
            </a:r>
            <a:r>
              <a:rPr b="0" i="0" lang="en-US" sz="1224" u="none" cap="none" strike="noStrike">
                <a:solidFill>
                  <a:srgbClr val="3333CC"/>
                </a:solidFill>
                <a:latin typeface="Arial"/>
                <a:ea typeface="Arial"/>
                <a:cs typeface="Arial"/>
                <a:sym typeface="Arial"/>
              </a:rPr>
              <a:t>(II)</a:t>
            </a:r>
            <a:endParaRPr b="0" i="0" sz="1224" u="none" cap="none" strike="noStrike">
              <a:solidFill>
                <a:srgbClr val="000000"/>
              </a:solidFill>
              <a:latin typeface="Arial"/>
              <a:ea typeface="Arial"/>
              <a:cs typeface="Arial"/>
              <a:sym typeface="Arial"/>
            </a:endParaRPr>
          </a:p>
          <a:p>
            <a:pPr indent="-194339" lvl="1" marL="539398" marR="0" rtl="0" algn="l">
              <a:lnSpc>
                <a:spcPct val="100000"/>
              </a:lnSpc>
              <a:spcBef>
                <a:spcPts val="558"/>
              </a:spcBef>
              <a:spcAft>
                <a:spcPts val="0"/>
              </a:spcAft>
              <a:buClr>
                <a:srgbClr val="9A9ACC"/>
              </a:buClr>
              <a:buSzPts val="850"/>
              <a:buFont typeface="Noto Sans Symbols"/>
              <a:buChar char="◻"/>
            </a:pPr>
            <a:r>
              <a:rPr b="1" i="0" lang="en-US" sz="1088" u="none" cap="none" strike="noStrike">
                <a:solidFill>
                  <a:srgbClr val="000000"/>
                </a:solidFill>
                <a:latin typeface="Arial"/>
                <a:ea typeface="Arial"/>
                <a:cs typeface="Arial"/>
                <a:sym typeface="Arial"/>
              </a:rPr>
              <a:t>Métricas de clase</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155471" lvl="2" marL="811472" marR="0" rtl="0" algn="l">
              <a:lnSpc>
                <a:spcPct val="100000"/>
              </a:lnSpc>
              <a:spcBef>
                <a:spcPts val="231"/>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CL1: número ponderado de responsabilidades de una clase, heredadas o no.</a:t>
            </a:r>
            <a:endParaRPr b="0" i="0" sz="952" u="none" cap="none" strike="noStrike">
              <a:solidFill>
                <a:srgbClr val="000000"/>
              </a:solidFill>
              <a:latin typeface="Arial"/>
              <a:ea typeface="Arial"/>
              <a:cs typeface="Arial"/>
              <a:sym typeface="Arial"/>
            </a:endParaRPr>
          </a:p>
          <a:p>
            <a:pPr indent="-155471" lvl="2" marL="811903" marR="113580" rtl="0" algn="l">
              <a:lnSpc>
                <a:spcPct val="100000"/>
              </a:lnSpc>
              <a:spcBef>
                <a:spcPts val="231"/>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CL2: número ponderado de dependencias de una clase, las específicas y las heredades tendrán diferentes pesos.</a:t>
            </a:r>
            <a:endParaRPr b="0" i="0" sz="952" u="none" cap="none" strike="noStrike">
              <a:solidFill>
                <a:srgbClr val="000000"/>
              </a:solidFill>
              <a:latin typeface="Arial"/>
              <a:ea typeface="Arial"/>
              <a:cs typeface="Arial"/>
              <a:sym typeface="Arial"/>
            </a:endParaRPr>
          </a:p>
          <a:p>
            <a:pPr indent="-193907" lvl="1" marL="539398" marR="0" rtl="0" algn="l">
              <a:lnSpc>
                <a:spcPct val="100000"/>
              </a:lnSpc>
              <a:spcBef>
                <a:spcPts val="374"/>
              </a:spcBef>
              <a:spcAft>
                <a:spcPts val="0"/>
              </a:spcAft>
              <a:buClr>
                <a:srgbClr val="9A9ACC"/>
              </a:buClr>
              <a:buSzPts val="850"/>
              <a:buFont typeface="Noto Sans Symbols"/>
              <a:buChar char="◻"/>
            </a:pPr>
            <a:r>
              <a:rPr b="1" i="0" lang="en-US" sz="1088" u="none" cap="none" strike="noStrike">
                <a:solidFill>
                  <a:srgbClr val="000000"/>
                </a:solidFill>
                <a:latin typeface="Arial"/>
                <a:ea typeface="Arial"/>
                <a:cs typeface="Arial"/>
                <a:sym typeface="Arial"/>
              </a:rPr>
              <a:t>Métricas de paquete</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155471" lvl="2" marL="811903" marR="46641" rtl="0" algn="l">
              <a:lnSpc>
                <a:spcPct val="100000"/>
              </a:lnSpc>
              <a:spcBef>
                <a:spcPts val="374"/>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PK1: relativa al número de dependencias entre las clases del paquete, P</a:t>
            </a:r>
            <a:r>
              <a:rPr b="0" baseline="-25000" i="0" lang="en-US" sz="918" u="none" cap="none" strike="noStrike">
                <a:solidFill>
                  <a:srgbClr val="000000"/>
                </a:solidFill>
                <a:latin typeface="Arial"/>
                <a:ea typeface="Arial"/>
                <a:cs typeface="Arial"/>
                <a:sym typeface="Arial"/>
              </a:rPr>
              <a:t>k</a:t>
            </a:r>
            <a:r>
              <a:rPr b="0" i="0" lang="en-US" sz="952" u="none" cap="none" strike="noStrike">
                <a:solidFill>
                  <a:srgbClr val="000000"/>
                </a:solidFill>
                <a:latin typeface="Arial"/>
                <a:ea typeface="Arial"/>
                <a:cs typeface="Arial"/>
                <a:sym typeface="Arial"/>
              </a:rPr>
              <a:t>, y las clases de los otros paquetes.</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31"/>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PK2: dependencias cuyas clases servidoras pertenecen al paquete P</a:t>
            </a:r>
            <a:r>
              <a:rPr b="0" baseline="-25000" i="0" lang="en-US" sz="918" u="none" cap="none" strike="noStrike">
                <a:solidFill>
                  <a:srgbClr val="000000"/>
                </a:solidFill>
                <a:latin typeface="Arial"/>
                <a:ea typeface="Arial"/>
                <a:cs typeface="Arial"/>
                <a:sym typeface="Arial"/>
              </a:rPr>
              <a:t>k</a:t>
            </a:r>
            <a:r>
              <a:rPr b="0" i="0" lang="en-US" sz="952" u="none" cap="none" strike="noStrike">
                <a:solidFill>
                  <a:srgbClr val="000000"/>
                </a:solidFill>
                <a:latin typeface="Arial"/>
                <a:ea typeface="Arial"/>
                <a:cs typeface="Arial"/>
                <a:sym typeface="Arial"/>
              </a:rPr>
              <a:t>.</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28"/>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PK3: media de los valores de la métrica PK1.</a:t>
            </a:r>
            <a:endParaRPr b="0" i="0" sz="952" u="none" cap="none" strike="noStrike">
              <a:solidFill>
                <a:srgbClr val="000000"/>
              </a:solidFill>
              <a:latin typeface="Arial"/>
              <a:ea typeface="Arial"/>
              <a:cs typeface="Arial"/>
              <a:sym typeface="Arial"/>
            </a:endParaRPr>
          </a:p>
          <a:p>
            <a:pPr indent="-193907" lvl="1" marL="539398" marR="0" rtl="0" algn="l">
              <a:lnSpc>
                <a:spcPct val="100000"/>
              </a:lnSpc>
              <a:spcBef>
                <a:spcPts val="374"/>
              </a:spcBef>
              <a:spcAft>
                <a:spcPts val="0"/>
              </a:spcAft>
              <a:buClr>
                <a:srgbClr val="9A9ACC"/>
              </a:buClr>
              <a:buSzPts val="850"/>
              <a:buFont typeface="Noto Sans Symbols"/>
              <a:buChar char="◻"/>
            </a:pPr>
            <a:r>
              <a:rPr b="1" i="0" lang="en-US" sz="1088" u="none" cap="none" strike="noStrike">
                <a:solidFill>
                  <a:srgbClr val="000000"/>
                </a:solidFill>
                <a:latin typeface="Arial"/>
                <a:ea typeface="Arial"/>
                <a:cs typeface="Arial"/>
                <a:sym typeface="Arial"/>
              </a:rPr>
              <a:t>Métricas de sistema</a:t>
            </a:r>
            <a:r>
              <a:rPr b="0" i="0" lang="en-US" sz="1088" u="none" cap="none" strike="noStrike">
                <a:solidFill>
                  <a:srgbClr val="000000"/>
                </a:solidFill>
                <a:latin typeface="Arial"/>
                <a:ea typeface="Arial"/>
                <a:cs typeface="Arial"/>
                <a:sym typeface="Arial"/>
              </a:rPr>
              <a:t>:</a:t>
            </a:r>
            <a:endParaRPr b="0" i="0" sz="1088" u="none" cap="none" strike="noStrike">
              <a:solidFill>
                <a:srgbClr val="000000"/>
              </a:solidFill>
              <a:latin typeface="Arial"/>
              <a:ea typeface="Arial"/>
              <a:cs typeface="Arial"/>
              <a:sym typeface="Arial"/>
            </a:endParaRPr>
          </a:p>
          <a:p>
            <a:pPr indent="-155039" lvl="2" marL="811472" marR="0" rtl="0" algn="l">
              <a:lnSpc>
                <a:spcPct val="100000"/>
              </a:lnSpc>
              <a:spcBef>
                <a:spcPts val="377"/>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OA1: número total de clases, N</a:t>
            </a:r>
            <a:r>
              <a:rPr b="0" baseline="-25000" i="0" lang="en-US" sz="918" u="none" cap="none" strike="noStrike">
                <a:solidFill>
                  <a:srgbClr val="000000"/>
                </a:solidFill>
                <a:latin typeface="Arial"/>
                <a:ea typeface="Arial"/>
                <a:cs typeface="Arial"/>
                <a:sym typeface="Arial"/>
              </a:rPr>
              <a:t>C</a:t>
            </a:r>
            <a:r>
              <a:rPr b="0" i="0" lang="en-US" sz="952" u="none" cap="none" strike="noStrike">
                <a:solidFill>
                  <a:srgbClr val="000000"/>
                </a:solidFill>
                <a:latin typeface="Arial"/>
                <a:ea typeface="Arial"/>
                <a:cs typeface="Arial"/>
                <a:sym typeface="Arial"/>
              </a:rPr>
              <a:t>.</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28"/>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OA2: número total de jerarquías de herencia, N</a:t>
            </a:r>
            <a:r>
              <a:rPr b="0" baseline="-25000" i="0" lang="en-US" sz="918" u="none" cap="none" strike="noStrike">
                <a:solidFill>
                  <a:srgbClr val="000000"/>
                </a:solidFill>
                <a:latin typeface="Arial"/>
                <a:ea typeface="Arial"/>
                <a:cs typeface="Arial"/>
                <a:sym typeface="Arial"/>
              </a:rPr>
              <a:t>G</a:t>
            </a:r>
            <a:r>
              <a:rPr b="0" i="0" lang="en-US" sz="952" u="none" cap="none" strike="noStrike">
                <a:solidFill>
                  <a:srgbClr val="000000"/>
                </a:solidFill>
                <a:latin typeface="Arial"/>
                <a:ea typeface="Arial"/>
                <a:cs typeface="Arial"/>
                <a:sym typeface="Arial"/>
              </a:rPr>
              <a:t>.</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28"/>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OA3: media ponderada del número de clases.</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28"/>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OA4: desviación estándar del número ponderado de clases</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28"/>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OA5: media del número de dependencias directas de las clases.</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31"/>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OA6: desviación estándar del número de dependencias directas de las clases.</a:t>
            </a:r>
            <a:endParaRPr b="0" i="0" sz="952" u="none" cap="none" strike="noStrike">
              <a:solidFill>
                <a:srgbClr val="000000"/>
              </a:solidFill>
              <a:latin typeface="Arial"/>
              <a:ea typeface="Arial"/>
              <a:cs typeface="Arial"/>
              <a:sym typeface="Arial"/>
            </a:endParaRPr>
          </a:p>
          <a:p>
            <a:pPr indent="-155039" lvl="2" marL="811472" marR="0" rtl="0" algn="l">
              <a:lnSpc>
                <a:spcPct val="100000"/>
              </a:lnSpc>
              <a:spcBef>
                <a:spcPts val="228"/>
              </a:spcBef>
              <a:spcAft>
                <a:spcPts val="0"/>
              </a:spcAft>
              <a:buClr>
                <a:srgbClr val="00007C"/>
              </a:buClr>
              <a:buSzPts val="612"/>
              <a:buFont typeface="Noto Sans Symbols"/>
              <a:buChar char="■"/>
            </a:pPr>
            <a:r>
              <a:rPr b="0" i="0" lang="en-US" sz="952" u="none" cap="none" strike="noStrike">
                <a:solidFill>
                  <a:srgbClr val="000000"/>
                </a:solidFill>
                <a:latin typeface="Arial"/>
                <a:ea typeface="Arial"/>
                <a:cs typeface="Arial"/>
                <a:sym typeface="Arial"/>
              </a:rPr>
              <a:t>OA7: porcentaje de responsabilidades heredadas respecto al número total de ellas.</a:t>
            </a:r>
            <a:endParaRPr b="0" i="0" sz="952" u="none" cap="none" strike="noStrike">
              <a:solidFill>
                <a:srgbClr val="000000"/>
              </a:solidFill>
              <a:latin typeface="Arial"/>
              <a:ea typeface="Arial"/>
              <a:cs typeface="Arial"/>
              <a:sym typeface="Arial"/>
            </a:endParaRPr>
          </a:p>
        </p:txBody>
      </p:sp>
      <p:sp>
        <p:nvSpPr>
          <p:cNvPr id="1261" name="Google Shape;1261;p34"/>
          <p:cNvSpPr txBox="1"/>
          <p:nvPr/>
        </p:nvSpPr>
        <p:spPr>
          <a:xfrm>
            <a:off x="6033173" y="4665310"/>
            <a:ext cx="1301637" cy="120033"/>
          </a:xfrm>
          <a:prstGeom prst="rect">
            <a:avLst/>
          </a:prstGeom>
          <a:noFill/>
          <a:ln>
            <a:noFill/>
          </a:ln>
        </p:spPr>
        <p:txBody>
          <a:bodyPr anchorCtr="0" anchor="t" bIns="0" lIns="0" spcFirstLastPara="1" rIns="0" wrap="square" tIns="0">
            <a:spAutoFit/>
          </a:bodyPr>
          <a:lstStyle/>
          <a:p>
            <a:pPr indent="0" lvl="0" marL="8637" marR="0" rtl="0" algn="l">
              <a:lnSpc>
                <a:spcPct val="118750"/>
              </a:lnSpc>
              <a:spcBef>
                <a:spcPts val="0"/>
              </a:spcBef>
              <a:spcAft>
                <a:spcPts val="0"/>
              </a:spcAft>
              <a:buNone/>
            </a:pPr>
            <a:r>
              <a:rPr b="0" i="0" lang="en-US" sz="816" u="none" cap="none" strike="noStrike">
                <a:solidFill>
                  <a:srgbClr val="000000"/>
                </a:solidFill>
                <a:latin typeface="Arial"/>
                <a:ea typeface="Arial"/>
                <a:cs typeface="Arial"/>
                <a:sym typeface="Arial"/>
              </a:rPr>
              <a:t>Medición del software	</a:t>
            </a:r>
            <a:fld id="{00000000-1234-1234-1234-123412341234}" type="slidenum">
              <a:rPr b="0" i="0" lang="en-US" sz="816" u="none" cap="none" strike="noStrike">
                <a:solidFill>
                  <a:srgbClr val="000000"/>
                </a:solidFill>
                <a:latin typeface="Arial"/>
                <a:ea typeface="Arial"/>
                <a:cs typeface="Arial"/>
                <a:sym typeface="Arial"/>
              </a:rPr>
              <a:t>‹#›</a:t>
            </a:fld>
            <a:endParaRPr b="0" i="0" sz="816"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graphicFrame>
        <p:nvGraphicFramePr>
          <p:cNvPr id="1266" name="Google Shape;1266;p35"/>
          <p:cNvGraphicFramePr/>
          <p:nvPr/>
        </p:nvGraphicFramePr>
        <p:xfrm>
          <a:off x="1864195" y="1268361"/>
          <a:ext cx="3000000" cy="3000000"/>
        </p:xfrm>
        <a:graphic>
          <a:graphicData uri="http://schemas.openxmlformats.org/drawingml/2006/table">
            <a:tbl>
              <a:tblPr>
                <a:noFill/>
                <a:tableStyleId>{BD06D686-26C9-4579-90C2-B125D3EE7CB5}</a:tableStyleId>
              </a:tblPr>
              <a:tblGrid>
                <a:gridCol w="1183175"/>
                <a:gridCol w="1183175"/>
                <a:gridCol w="1262050"/>
                <a:gridCol w="2011400"/>
              </a:tblGrid>
              <a:tr h="267650">
                <a:tc>
                  <a:txBody>
                    <a:bodyPr/>
                    <a:lstStyle/>
                    <a:p>
                      <a:pPr indent="0" lvl="0" marL="0" marR="0" rtl="0" algn="ctr">
                        <a:lnSpc>
                          <a:spcPct val="100000"/>
                        </a:lnSpc>
                        <a:spcBef>
                          <a:spcPts val="0"/>
                        </a:spcBef>
                        <a:spcAft>
                          <a:spcPts val="0"/>
                        </a:spcAft>
                        <a:buNone/>
                      </a:pPr>
                      <a:r>
                        <a:t/>
                      </a:r>
                      <a:endParaRPr sz="1000" u="none" cap="none" strike="noStrike"/>
                    </a:p>
                    <a:p>
                      <a:pPr indent="0" lvl="0" marL="0" marR="0" rtl="0" algn="ctr">
                        <a:lnSpc>
                          <a:spcPct val="100000"/>
                        </a:lnSpc>
                        <a:spcBef>
                          <a:spcPts val="0"/>
                        </a:spcBef>
                        <a:spcAft>
                          <a:spcPts val="0"/>
                        </a:spcAft>
                        <a:buNone/>
                      </a:pPr>
                      <a:r>
                        <a:rPr lang="en-US" sz="1000" u="none" cap="none" strike="noStrike"/>
                        <a:t>Atributo</a:t>
                      </a:r>
                      <a:endParaRPr b="1"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ctr">
                        <a:lnSpc>
                          <a:spcPct val="100000"/>
                        </a:lnSpc>
                        <a:spcBef>
                          <a:spcPts val="0"/>
                        </a:spcBef>
                        <a:spcAft>
                          <a:spcPts val="0"/>
                        </a:spcAft>
                        <a:buNone/>
                      </a:pPr>
                      <a:r>
                        <a:rPr lang="en-US" sz="1000" u="none" cap="none" strike="noStrike"/>
                        <a:t>Característica</a:t>
                      </a:r>
                      <a:endParaRPr b="1"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ctr">
                        <a:lnSpc>
                          <a:spcPct val="100000"/>
                        </a:lnSpc>
                        <a:spcBef>
                          <a:spcPts val="0"/>
                        </a:spcBef>
                        <a:spcAft>
                          <a:spcPts val="0"/>
                        </a:spcAft>
                        <a:buNone/>
                      </a:pPr>
                      <a:r>
                        <a:rPr lang="en-US" sz="1000" u="none" cap="none" strike="noStrike"/>
                        <a:t>Subcaracterística</a:t>
                      </a:r>
                      <a:endParaRPr b="1"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ctr">
                        <a:lnSpc>
                          <a:spcPct val="100000"/>
                        </a:lnSpc>
                        <a:spcBef>
                          <a:spcPts val="0"/>
                        </a:spcBef>
                        <a:spcAft>
                          <a:spcPts val="0"/>
                        </a:spcAft>
                        <a:buNone/>
                      </a:pPr>
                      <a:r>
                        <a:rPr lang="en-US" sz="1000" u="none" cap="none" strike="noStrike"/>
                        <a:t>Métrica / Indicador Propuesto</a:t>
                      </a:r>
                      <a:endParaRPr b="1" i="0" sz="1000" u="none" cap="none" strike="noStrike">
                        <a:solidFill>
                          <a:srgbClr val="000000"/>
                        </a:solidFill>
                        <a:latin typeface="Arial"/>
                        <a:ea typeface="Arial"/>
                        <a:cs typeface="Arial"/>
                        <a:sym typeface="Arial"/>
                      </a:endParaRPr>
                    </a:p>
                  </a:txBody>
                  <a:tcPr marT="6350" marB="0" marR="6350" marL="6350" anchor="ctr"/>
                </a:tc>
              </a:tr>
              <a:tr h="401450">
                <a:tc>
                  <a:txBody>
                    <a:bodyPr/>
                    <a:lstStyle/>
                    <a:p>
                      <a:pPr indent="0" lvl="0" marL="0" marR="0" rtl="0" algn="l">
                        <a:lnSpc>
                          <a:spcPct val="100000"/>
                        </a:lnSpc>
                        <a:spcBef>
                          <a:spcPts val="0"/>
                        </a:spcBef>
                        <a:spcAft>
                          <a:spcPts val="0"/>
                        </a:spcAft>
                        <a:buNone/>
                      </a:pPr>
                      <a:r>
                        <a:rPr lang="en-US" sz="1000" u="none" cap="none" strike="noStrike"/>
                        <a:t>Utilidad</a:t>
                      </a:r>
                      <a:endParaRPr b="1"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Adecuación Funcional</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Completitud funcional</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Porcentaje de requisitos funcionales implementados con éxito.</a:t>
                      </a:r>
                      <a:endParaRPr b="0" i="0" sz="1000" u="none" cap="none" strike="noStrike">
                        <a:solidFill>
                          <a:srgbClr val="000000"/>
                        </a:solidFill>
                        <a:latin typeface="Arial"/>
                        <a:ea typeface="Arial"/>
                        <a:cs typeface="Arial"/>
                        <a:sym typeface="Arial"/>
                      </a:endParaRPr>
                    </a:p>
                  </a:txBody>
                  <a:tcPr marT="6350" marB="0" marR="6350" marL="6350" anchor="ctr"/>
                </a:tc>
              </a:tr>
              <a:tr h="267650">
                <a:tc>
                  <a:txBody>
                    <a:bodyPr/>
                    <a:lstStyle/>
                    <a:p>
                      <a:pPr indent="0" lvl="0" marL="0" marR="0" rtl="0" algn="l">
                        <a:lnSpc>
                          <a:spcPct val="100000"/>
                        </a:lnSpc>
                        <a:spcBef>
                          <a:spcPts val="0"/>
                        </a:spcBef>
                        <a:spcAft>
                          <a:spcPts val="0"/>
                        </a:spcAft>
                        <a:buNone/>
                      </a:pPr>
                      <a:r>
                        <a:rPr lang="en-US" sz="1000" u="none" cap="none" strike="noStrike"/>
                        <a:t> </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 </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Exactitud funcional</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Tasa de errores en resultados de cálculo generados.</a:t>
                      </a:r>
                      <a:endParaRPr b="0" i="0" sz="1000" u="none" cap="none" strike="noStrike">
                        <a:solidFill>
                          <a:srgbClr val="000000"/>
                        </a:solidFill>
                        <a:latin typeface="Arial"/>
                        <a:ea typeface="Arial"/>
                        <a:cs typeface="Arial"/>
                        <a:sym typeface="Arial"/>
                      </a:endParaRPr>
                    </a:p>
                  </a:txBody>
                  <a:tcPr marT="6350" marB="0" marR="6350" marL="6350" anchor="ctr"/>
                </a:tc>
              </a:tr>
              <a:tr h="267650">
                <a:tc>
                  <a:txBody>
                    <a:bodyPr/>
                    <a:lstStyle/>
                    <a:p>
                      <a:pPr indent="0" lvl="0" marL="0" marR="0" rtl="0" algn="l">
                        <a:lnSpc>
                          <a:spcPct val="100000"/>
                        </a:lnSpc>
                        <a:spcBef>
                          <a:spcPts val="0"/>
                        </a:spcBef>
                        <a:spcAft>
                          <a:spcPts val="0"/>
                        </a:spcAft>
                        <a:buNone/>
                      </a:pPr>
                      <a:r>
                        <a:rPr lang="en-US" sz="1000" u="none" cap="none" strike="noStrike"/>
                        <a:t>Rendimiento</a:t>
                      </a:r>
                      <a:endParaRPr b="1"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Eficiencia de Desempeño</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Comportamiento temporal</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Tiempo medio de respuesta (segundos) bajo carga normal.</a:t>
                      </a:r>
                      <a:endParaRPr b="0" i="0" sz="1000" u="none" cap="none" strike="noStrike">
                        <a:solidFill>
                          <a:srgbClr val="000000"/>
                        </a:solidFill>
                        <a:latin typeface="Arial"/>
                        <a:ea typeface="Arial"/>
                        <a:cs typeface="Arial"/>
                        <a:sym typeface="Arial"/>
                      </a:endParaRPr>
                    </a:p>
                  </a:txBody>
                  <a:tcPr marT="6350" marB="0" marR="6350" marL="6350" anchor="ctr"/>
                </a:tc>
              </a:tr>
              <a:tr h="401450">
                <a:tc>
                  <a:txBody>
                    <a:bodyPr/>
                    <a:lstStyle/>
                    <a:p>
                      <a:pPr indent="0" lvl="0" marL="0" marR="0" rtl="0" algn="l">
                        <a:lnSpc>
                          <a:spcPct val="100000"/>
                        </a:lnSpc>
                        <a:spcBef>
                          <a:spcPts val="0"/>
                        </a:spcBef>
                        <a:spcAft>
                          <a:spcPts val="0"/>
                        </a:spcAft>
                        <a:buNone/>
                      </a:pPr>
                      <a:r>
                        <a:rPr lang="en-US" sz="1000" u="none" cap="none" strike="noStrike"/>
                        <a:t> </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 </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Utilización de recursos</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Porcentaje máximo de consumo de CPU y memoria RAM.</a:t>
                      </a:r>
                      <a:endParaRPr b="0" i="0" sz="1000" u="none" cap="none" strike="noStrike">
                        <a:solidFill>
                          <a:srgbClr val="000000"/>
                        </a:solidFill>
                        <a:latin typeface="Arial"/>
                        <a:ea typeface="Arial"/>
                        <a:cs typeface="Arial"/>
                        <a:sym typeface="Arial"/>
                      </a:endParaRPr>
                    </a:p>
                  </a:txBody>
                  <a:tcPr marT="6350" marB="0" marR="6350" marL="6350" anchor="ctr"/>
                </a:tc>
              </a:tr>
              <a:tr h="401450">
                <a:tc>
                  <a:txBody>
                    <a:bodyPr/>
                    <a:lstStyle/>
                    <a:p>
                      <a:pPr indent="0" lvl="0" marL="0" marR="0" rtl="0" algn="l">
                        <a:lnSpc>
                          <a:spcPct val="100000"/>
                        </a:lnSpc>
                        <a:spcBef>
                          <a:spcPts val="0"/>
                        </a:spcBef>
                        <a:spcAft>
                          <a:spcPts val="0"/>
                        </a:spcAft>
                        <a:buNone/>
                      </a:pPr>
                      <a:r>
                        <a:rPr lang="en-US" sz="1000" u="none" cap="none" strike="noStrike"/>
                        <a:t>Experiencia</a:t>
                      </a:r>
                      <a:endParaRPr b="1"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Capacidad de Interacción (Usabilidad)</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Aprendibilidad</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Tiempo promedio que tarda un nuevo usuario en completar una tarea.</a:t>
                      </a:r>
                      <a:endParaRPr b="0" i="0" sz="1000" u="none" cap="none" strike="noStrike">
                        <a:solidFill>
                          <a:srgbClr val="000000"/>
                        </a:solidFill>
                        <a:latin typeface="Arial"/>
                        <a:ea typeface="Arial"/>
                        <a:cs typeface="Arial"/>
                        <a:sym typeface="Arial"/>
                      </a:endParaRPr>
                    </a:p>
                  </a:txBody>
                  <a:tcPr marT="6350" marB="0" marR="6350" marL="6350" anchor="ctr"/>
                </a:tc>
              </a:tr>
              <a:tr h="267650">
                <a:tc>
                  <a:txBody>
                    <a:bodyPr/>
                    <a:lstStyle/>
                    <a:p>
                      <a:pPr indent="0" lvl="0" marL="0" marR="0" rtl="0" algn="l">
                        <a:lnSpc>
                          <a:spcPct val="100000"/>
                        </a:lnSpc>
                        <a:spcBef>
                          <a:spcPts val="0"/>
                        </a:spcBef>
                        <a:spcAft>
                          <a:spcPts val="0"/>
                        </a:spcAft>
                        <a:buNone/>
                      </a:pPr>
                      <a:r>
                        <a:rPr lang="en-US" sz="1000" u="none" cap="none" strike="noStrike"/>
                        <a:t> </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 </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Estética de interfaz</a:t>
                      </a:r>
                      <a:endParaRPr b="0" i="0" sz="10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000" u="none" cap="none" strike="noStrike"/>
                        <a:t>Puntaje de satisfacción en encuestas de diseño visual. </a:t>
                      </a:r>
                      <a:endParaRPr b="0" i="0" sz="1000" u="none" cap="none" strike="noStrike">
                        <a:solidFill>
                          <a:srgbClr val="000000"/>
                        </a:solidFill>
                        <a:latin typeface="Arial"/>
                        <a:ea typeface="Arial"/>
                        <a:cs typeface="Arial"/>
                        <a:sym typeface="Arial"/>
                      </a:endParaRPr>
                    </a:p>
                  </a:txBody>
                  <a:tcPr marT="6350" marB="0" marR="6350" marL="6350" anchor="ctr"/>
                </a:tc>
              </a:tr>
            </a:tbl>
          </a:graphicData>
        </a:graphic>
      </p:graphicFrame>
      <p:sp>
        <p:nvSpPr>
          <p:cNvPr id="1267" name="Google Shape;1267;p35"/>
          <p:cNvSpPr txBox="1"/>
          <p:nvPr/>
        </p:nvSpPr>
        <p:spPr>
          <a:xfrm>
            <a:off x="627733" y="510287"/>
            <a:ext cx="8708065" cy="329322"/>
          </a:xfrm>
          <a:prstGeom prst="rect">
            <a:avLst/>
          </a:prstGeom>
          <a:noFill/>
          <a:ln>
            <a:noFill/>
          </a:ln>
        </p:spPr>
        <p:txBody>
          <a:bodyPr anchorCtr="0" anchor="t" bIns="0" lIns="0" spcFirstLastPara="1" rIns="0" wrap="square" tIns="8625">
            <a:spAutoFit/>
          </a:bodyPr>
          <a:lstStyle/>
          <a:p>
            <a:pPr indent="0" lvl="0" marL="8637" marR="0" rtl="0" algn="ctr">
              <a:lnSpc>
                <a:spcPct val="100000"/>
              </a:lnSpc>
              <a:spcBef>
                <a:spcPts val="68"/>
              </a:spcBef>
              <a:spcAft>
                <a:spcPts val="0"/>
              </a:spcAft>
              <a:buClr>
                <a:schemeClr val="dk2"/>
              </a:buClr>
              <a:buSzPts val="3000"/>
              <a:buFont typeface="IBM Plex Mono"/>
              <a:buNone/>
            </a:pPr>
            <a:r>
              <a:rPr b="1" i="0" lang="en-US" sz="2000" u="none" cap="none" strike="noStrike">
                <a:solidFill>
                  <a:srgbClr val="FF0000"/>
                </a:solidFill>
                <a:latin typeface="IBM Plex Mono"/>
                <a:ea typeface="IBM Plex Mono"/>
                <a:cs typeface="IBM Plex Mono"/>
                <a:sym typeface="IBM Plex Mono"/>
              </a:rPr>
              <a:t>Adecuación Funcional, Eficiencia y Usabilidad</a:t>
            </a:r>
            <a:endParaRPr b="1" i="0" sz="2000" u="none" cap="none" strike="noStrike">
              <a:solidFill>
                <a:srgbClr val="FF0000"/>
              </a:solidFill>
              <a:latin typeface="IBM Plex Mono"/>
              <a:ea typeface="IBM Plex Mono"/>
              <a:cs typeface="IBM Plex Mono"/>
              <a:sym typeface="IBM Plex Mon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graphicFrame>
        <p:nvGraphicFramePr>
          <p:cNvPr id="1272" name="Google Shape;1272;p36"/>
          <p:cNvGraphicFramePr/>
          <p:nvPr/>
        </p:nvGraphicFramePr>
        <p:xfrm>
          <a:off x="1875995" y="1221166"/>
          <a:ext cx="3000000" cy="3000000"/>
        </p:xfrm>
        <a:graphic>
          <a:graphicData uri="http://schemas.openxmlformats.org/drawingml/2006/table">
            <a:tbl>
              <a:tblPr>
                <a:noFill/>
                <a:tableStyleId>{BD06D686-26C9-4579-90C2-B125D3EE7CB5}</a:tableStyleId>
              </a:tblPr>
              <a:tblGrid>
                <a:gridCol w="1223900"/>
                <a:gridCol w="1223900"/>
                <a:gridCol w="1305500"/>
                <a:gridCol w="2039850"/>
              </a:tblGrid>
              <a:tr h="283125">
                <a:tc>
                  <a:txBody>
                    <a:bodyPr/>
                    <a:lstStyle/>
                    <a:p>
                      <a:pPr indent="0" lvl="0" marL="0" marR="0" rtl="0" algn="ctr">
                        <a:lnSpc>
                          <a:spcPct val="100000"/>
                        </a:lnSpc>
                        <a:spcBef>
                          <a:spcPts val="0"/>
                        </a:spcBef>
                        <a:spcAft>
                          <a:spcPts val="0"/>
                        </a:spcAft>
                        <a:buNone/>
                      </a:pPr>
                      <a:r>
                        <a:rPr lang="en-US" sz="1100" u="none" cap="none" strike="noStrike"/>
                        <a:t>Atributo</a:t>
                      </a:r>
                      <a:endParaRPr b="1"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ctr">
                        <a:lnSpc>
                          <a:spcPct val="100000"/>
                        </a:lnSpc>
                        <a:spcBef>
                          <a:spcPts val="0"/>
                        </a:spcBef>
                        <a:spcAft>
                          <a:spcPts val="0"/>
                        </a:spcAft>
                        <a:buNone/>
                      </a:pPr>
                      <a:r>
                        <a:rPr lang="en-US" sz="1100" u="none" cap="none" strike="noStrike"/>
                        <a:t>Característica</a:t>
                      </a:r>
                      <a:endParaRPr b="1"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ctr">
                        <a:lnSpc>
                          <a:spcPct val="100000"/>
                        </a:lnSpc>
                        <a:spcBef>
                          <a:spcPts val="0"/>
                        </a:spcBef>
                        <a:spcAft>
                          <a:spcPts val="0"/>
                        </a:spcAft>
                        <a:buNone/>
                      </a:pPr>
                      <a:r>
                        <a:rPr lang="en-US" sz="1100" u="none" cap="none" strike="noStrike"/>
                        <a:t>Subcaracterística</a:t>
                      </a:r>
                      <a:endParaRPr b="1"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ctr">
                        <a:lnSpc>
                          <a:spcPct val="100000"/>
                        </a:lnSpc>
                        <a:spcBef>
                          <a:spcPts val="0"/>
                        </a:spcBef>
                        <a:spcAft>
                          <a:spcPts val="0"/>
                        </a:spcAft>
                        <a:buNone/>
                      </a:pPr>
                      <a:r>
                        <a:rPr lang="en-US" sz="1100" u="none" cap="none" strike="noStrike"/>
                        <a:t>Métrica / Indicador Propuesto</a:t>
                      </a:r>
                      <a:endParaRPr b="1" i="0" sz="1100" u="none" cap="none" strike="noStrike">
                        <a:solidFill>
                          <a:srgbClr val="000000"/>
                        </a:solidFill>
                        <a:latin typeface="Arial"/>
                        <a:ea typeface="Arial"/>
                        <a:cs typeface="Arial"/>
                        <a:sym typeface="Arial"/>
                      </a:endParaRPr>
                    </a:p>
                  </a:txBody>
                  <a:tcPr marT="6350" marB="0" marR="6350" marL="6350" anchor="ctr"/>
                </a:tc>
              </a:tr>
              <a:tr h="283125">
                <a:tc>
                  <a:txBody>
                    <a:bodyPr/>
                    <a:lstStyle/>
                    <a:p>
                      <a:pPr indent="0" lvl="0" marL="0" marR="0" rtl="0" algn="l">
                        <a:lnSpc>
                          <a:spcPct val="100000"/>
                        </a:lnSpc>
                        <a:spcBef>
                          <a:spcPts val="0"/>
                        </a:spcBef>
                        <a:spcAft>
                          <a:spcPts val="0"/>
                        </a:spcAft>
                        <a:buNone/>
                      </a:pPr>
                      <a:r>
                        <a:rPr lang="en-US" sz="1100" u="none" cap="none" strike="noStrike"/>
                        <a:t>Estabilidad</a:t>
                      </a:r>
                      <a:endParaRPr b="1"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Fiabilidad</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Tolerancia a fallos</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Número de caídas del sistema permitidas por mes.</a:t>
                      </a:r>
                      <a:endParaRPr b="0" i="0" sz="1100" u="none" cap="none" strike="noStrike">
                        <a:solidFill>
                          <a:srgbClr val="000000"/>
                        </a:solidFill>
                        <a:latin typeface="Arial"/>
                        <a:ea typeface="Arial"/>
                        <a:cs typeface="Arial"/>
                        <a:sym typeface="Arial"/>
                      </a:endParaRPr>
                    </a:p>
                  </a:txBody>
                  <a:tcPr marT="6350" marB="0" marR="6350" marL="6350" anchor="ctr"/>
                </a:tc>
              </a:tr>
              <a:tr h="283125">
                <a:tc>
                  <a:txBody>
                    <a:bodyPr/>
                    <a:lstStyle/>
                    <a:p>
                      <a:pPr indent="0" lvl="0" marL="0" marR="0" rtl="0" algn="l">
                        <a:lnSpc>
                          <a:spcPct val="100000"/>
                        </a:lnSpc>
                        <a:spcBef>
                          <a:spcPts val="0"/>
                        </a:spcBef>
                        <a:spcAft>
                          <a:spcPts val="0"/>
                        </a:spcAft>
                        <a:buNone/>
                      </a:pPr>
                      <a:r>
                        <a:rPr lang="en-US" sz="1100" u="none" cap="none" strike="noStrike"/>
                        <a:t> </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 </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Recuperabilidad</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Tiempo Medio de Reparación (MTTR) tras un fallo.</a:t>
                      </a:r>
                      <a:endParaRPr b="0" i="0" sz="1100" u="none" cap="none" strike="noStrike">
                        <a:solidFill>
                          <a:srgbClr val="000000"/>
                        </a:solidFill>
                        <a:latin typeface="Arial"/>
                        <a:ea typeface="Arial"/>
                        <a:cs typeface="Arial"/>
                        <a:sym typeface="Arial"/>
                      </a:endParaRPr>
                    </a:p>
                  </a:txBody>
                  <a:tcPr marT="6350" marB="0" marR="6350" marL="6350" anchor="ctr"/>
                </a:tc>
              </a:tr>
              <a:tr h="283125">
                <a:tc>
                  <a:txBody>
                    <a:bodyPr/>
                    <a:lstStyle/>
                    <a:p>
                      <a:pPr indent="0" lvl="0" marL="0" marR="0" rtl="0" algn="l">
                        <a:lnSpc>
                          <a:spcPct val="100000"/>
                        </a:lnSpc>
                        <a:spcBef>
                          <a:spcPts val="0"/>
                        </a:spcBef>
                        <a:spcAft>
                          <a:spcPts val="0"/>
                        </a:spcAft>
                        <a:buNone/>
                      </a:pPr>
                      <a:r>
                        <a:rPr lang="en-US" sz="1100" u="none" cap="none" strike="noStrike"/>
                        <a:t>Protección</a:t>
                      </a:r>
                      <a:endParaRPr b="1"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Seguridad</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Confidencialidad</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Porcentaje de datos sensibles que viajan cifrados.</a:t>
                      </a:r>
                      <a:endParaRPr b="0" i="0" sz="1100" u="none" cap="none" strike="noStrike">
                        <a:solidFill>
                          <a:srgbClr val="000000"/>
                        </a:solidFill>
                        <a:latin typeface="Arial"/>
                        <a:ea typeface="Arial"/>
                        <a:cs typeface="Arial"/>
                        <a:sym typeface="Arial"/>
                      </a:endParaRPr>
                    </a:p>
                  </a:txBody>
                  <a:tcPr marT="6350" marB="0" marR="6350" marL="6350" anchor="ctr"/>
                </a:tc>
              </a:tr>
              <a:tr h="424675">
                <a:tc>
                  <a:txBody>
                    <a:bodyPr/>
                    <a:lstStyle/>
                    <a:p>
                      <a:pPr indent="0" lvl="0" marL="0" marR="0" rtl="0" algn="l">
                        <a:lnSpc>
                          <a:spcPct val="100000"/>
                        </a:lnSpc>
                        <a:spcBef>
                          <a:spcPts val="0"/>
                        </a:spcBef>
                        <a:spcAft>
                          <a:spcPts val="0"/>
                        </a:spcAft>
                        <a:buNone/>
                      </a:pPr>
                      <a:r>
                        <a:rPr lang="en-US" sz="1100" u="none" cap="none" strike="noStrike"/>
                        <a:t> </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 </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Integridad</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Número de accesos no autorizados detectados en base de datos.</a:t>
                      </a:r>
                      <a:endParaRPr b="0" i="0" sz="1100" u="none" cap="none" strike="noStrike">
                        <a:solidFill>
                          <a:srgbClr val="000000"/>
                        </a:solidFill>
                        <a:latin typeface="Arial"/>
                        <a:ea typeface="Arial"/>
                        <a:cs typeface="Arial"/>
                        <a:sym typeface="Arial"/>
                      </a:endParaRPr>
                    </a:p>
                  </a:txBody>
                  <a:tcPr marT="6350" marB="0" marR="6350" marL="6350" anchor="ctr"/>
                </a:tc>
              </a:tr>
              <a:tr h="283125">
                <a:tc>
                  <a:txBody>
                    <a:bodyPr/>
                    <a:lstStyle/>
                    <a:p>
                      <a:pPr indent="0" lvl="0" marL="0" marR="0" rtl="0" algn="l">
                        <a:lnSpc>
                          <a:spcPct val="100000"/>
                        </a:lnSpc>
                        <a:spcBef>
                          <a:spcPts val="0"/>
                        </a:spcBef>
                        <a:spcAft>
                          <a:spcPts val="0"/>
                        </a:spcAft>
                        <a:buNone/>
                      </a:pPr>
                      <a:r>
                        <a:rPr lang="en-US" sz="1100" u="none" cap="none" strike="noStrike"/>
                        <a:t>Soporte</a:t>
                      </a:r>
                      <a:endParaRPr b="1"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Mantenibilidad</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Modularidad</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Grado de acoplamiento entre componentes técnicos.</a:t>
                      </a:r>
                      <a:endParaRPr b="0" i="0" sz="1100" u="none" cap="none" strike="noStrike">
                        <a:solidFill>
                          <a:srgbClr val="000000"/>
                        </a:solidFill>
                        <a:latin typeface="Arial"/>
                        <a:ea typeface="Arial"/>
                        <a:cs typeface="Arial"/>
                        <a:sym typeface="Arial"/>
                      </a:endParaRPr>
                    </a:p>
                  </a:txBody>
                  <a:tcPr marT="6350" marB="0" marR="6350" marL="6350" anchor="ctr"/>
                </a:tc>
              </a:tr>
              <a:tr h="424675">
                <a:tc>
                  <a:txBody>
                    <a:bodyPr/>
                    <a:lstStyle/>
                    <a:p>
                      <a:pPr indent="0" lvl="0" marL="0" marR="0" rtl="0" algn="l">
                        <a:lnSpc>
                          <a:spcPct val="100000"/>
                        </a:lnSpc>
                        <a:spcBef>
                          <a:spcPts val="0"/>
                        </a:spcBef>
                        <a:spcAft>
                          <a:spcPts val="0"/>
                        </a:spcAft>
                        <a:buNone/>
                      </a:pPr>
                      <a:r>
                        <a:rPr lang="en-US" sz="1100" u="none" cap="none" strike="noStrike"/>
                        <a:t> </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 </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Capacidad de ser probado</a:t>
                      </a:r>
                      <a:endParaRPr b="0" i="0" sz="1100" u="none" cap="none" strike="noStrike">
                        <a:solidFill>
                          <a:srgbClr val="000000"/>
                        </a:solidFill>
                        <a:latin typeface="Arial"/>
                        <a:ea typeface="Arial"/>
                        <a:cs typeface="Arial"/>
                        <a:sym typeface="Arial"/>
                      </a:endParaRPr>
                    </a:p>
                  </a:txBody>
                  <a:tcPr marT="6350" marB="0" marR="6350" marL="6350" anchor="ctr"/>
                </a:tc>
                <a:tc>
                  <a:txBody>
                    <a:bodyPr/>
                    <a:lstStyle/>
                    <a:p>
                      <a:pPr indent="0" lvl="0" marL="0" marR="0" rtl="0" algn="l">
                        <a:lnSpc>
                          <a:spcPct val="100000"/>
                        </a:lnSpc>
                        <a:spcBef>
                          <a:spcPts val="0"/>
                        </a:spcBef>
                        <a:spcAft>
                          <a:spcPts val="0"/>
                        </a:spcAft>
                        <a:buNone/>
                      </a:pPr>
                      <a:r>
                        <a:rPr lang="en-US" sz="1100" u="none" cap="none" strike="noStrike"/>
                        <a:t>Porcentaje de cobertura de código por pruebas unitarias (Code Coverage).</a:t>
                      </a:r>
                      <a:endParaRPr b="0" i="0" sz="1100" u="none" cap="none" strike="noStrike">
                        <a:solidFill>
                          <a:srgbClr val="000000"/>
                        </a:solidFill>
                        <a:latin typeface="Arial"/>
                        <a:ea typeface="Arial"/>
                        <a:cs typeface="Arial"/>
                        <a:sym typeface="Arial"/>
                      </a:endParaRPr>
                    </a:p>
                  </a:txBody>
                  <a:tcPr marT="6350" marB="0" marR="6350" marL="6350" anchor="ctr"/>
                </a:tc>
              </a:tr>
            </a:tbl>
          </a:graphicData>
        </a:graphic>
      </p:graphicFrame>
      <p:sp>
        <p:nvSpPr>
          <p:cNvPr id="1273" name="Google Shape;1273;p36"/>
          <p:cNvSpPr txBox="1"/>
          <p:nvPr/>
        </p:nvSpPr>
        <p:spPr>
          <a:xfrm>
            <a:off x="627733" y="510287"/>
            <a:ext cx="8708065" cy="390877"/>
          </a:xfrm>
          <a:prstGeom prst="rect">
            <a:avLst/>
          </a:prstGeom>
          <a:noFill/>
          <a:ln>
            <a:noFill/>
          </a:ln>
        </p:spPr>
        <p:txBody>
          <a:bodyPr anchorCtr="0" anchor="t" bIns="0" lIns="0" spcFirstLastPara="1" rIns="0" wrap="square" tIns="8625">
            <a:spAutoFit/>
          </a:bodyPr>
          <a:lstStyle/>
          <a:p>
            <a:pPr indent="0" lvl="0" marL="8637" marR="0" rtl="0" algn="ctr">
              <a:lnSpc>
                <a:spcPct val="100000"/>
              </a:lnSpc>
              <a:spcBef>
                <a:spcPts val="68"/>
              </a:spcBef>
              <a:spcAft>
                <a:spcPts val="0"/>
              </a:spcAft>
              <a:buClr>
                <a:schemeClr val="dk2"/>
              </a:buClr>
              <a:buSzPts val="3000"/>
              <a:buFont typeface="IBM Plex Mono"/>
              <a:buNone/>
            </a:pPr>
            <a:r>
              <a:rPr b="1" i="0" lang="en-US" sz="2400" u="none" cap="none" strike="noStrike">
                <a:solidFill>
                  <a:srgbClr val="FF0000"/>
                </a:solidFill>
                <a:latin typeface="IBM Plex Mono"/>
                <a:ea typeface="IBM Plex Mono"/>
                <a:cs typeface="IBM Plex Mono"/>
                <a:sym typeface="IBM Plex Mono"/>
              </a:rPr>
              <a:t>Fiabilidad, Seguridad y Mantenibilidad</a:t>
            </a:r>
            <a:endParaRPr b="1" i="0" sz="2400" u="none" cap="none" strike="noStrike">
              <a:solidFill>
                <a:srgbClr val="FF0000"/>
              </a:solidFill>
              <a:latin typeface="IBM Plex Mono"/>
              <a:ea typeface="IBM Plex Mono"/>
              <a:cs typeface="IBM Plex Mono"/>
              <a:sym typeface="IBM Plex Mon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37"/>
          <p:cNvSpPr txBox="1"/>
          <p:nvPr>
            <p:ph idx="4294967295" type="title"/>
          </p:nvPr>
        </p:nvSpPr>
        <p:spPr>
          <a:xfrm>
            <a:off x="0" y="444500"/>
            <a:ext cx="4926505" cy="573088"/>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solidFill>
                  <a:srgbClr val="FF0000"/>
                </a:solidFill>
              </a:rPr>
              <a:t>Control de Lectura </a:t>
            </a:r>
            <a:endParaRPr>
              <a:solidFill>
                <a:srgbClr val="FF0000"/>
              </a:solidFill>
            </a:endParaRPr>
          </a:p>
        </p:txBody>
      </p:sp>
      <p:sp>
        <p:nvSpPr>
          <p:cNvPr id="1279" name="Google Shape;1279;p37"/>
          <p:cNvSpPr txBox="1"/>
          <p:nvPr>
            <p:ph idx="12" type="sldNum"/>
          </p:nvPr>
        </p:nvSpPr>
        <p:spPr>
          <a:xfrm>
            <a:off x="8594725" y="0"/>
            <a:ext cx="549275" cy="393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4BB5D9"/>
                </a:solidFill>
                <a:latin typeface="Roboto Condensed"/>
                <a:ea typeface="Roboto Condensed"/>
                <a:cs typeface="Roboto Condensed"/>
                <a:sym typeface="Roboto Condensed"/>
              </a:rPr>
              <a:t>‹#›</a:t>
            </a:fld>
            <a:endParaRPr b="0" i="0" sz="1300" u="none" cap="none" strike="noStrike">
              <a:solidFill>
                <a:srgbClr val="4BB5D9"/>
              </a:solidFill>
              <a:latin typeface="Roboto Condensed"/>
              <a:ea typeface="Roboto Condensed"/>
              <a:cs typeface="Roboto Condensed"/>
              <a:sym typeface="Roboto Condensed"/>
            </a:endParaRPr>
          </a:p>
        </p:txBody>
      </p:sp>
      <p:sp>
        <p:nvSpPr>
          <p:cNvPr id="1280" name="Google Shape;1280;p37"/>
          <p:cNvSpPr txBox="1"/>
          <p:nvPr/>
        </p:nvSpPr>
        <p:spPr>
          <a:xfrm>
            <a:off x="274638" y="1173409"/>
            <a:ext cx="5264925" cy="337015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Revisar y responder:</a:t>
            </a:r>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https://www.researchgate.net/profile/Faizan-Berlas/publication/379096213_Software_Metrics_in_Agile_Software_Development_A_Review_Report/links/66024526a4857c796282d4ad/Software-Metrics-in-Agile-Software-Development-A-Review-Report.pdf?_tp=eyJjb250ZXh0Ijp7ImZpcnN0UGFnZSI6InB1YmxpY2F0aW9uRGlyZWN0b3J5IiwicGFnZSI6InB1YmxpY2F0aW9uIn19</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Cuales de las métricas son propias de ASD, porque?</a:t>
            </a:r>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Cual nivel tiene mas complejidad para implementar métrica de calidad, describir un ejemplo.</a:t>
            </a:r>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Interpretar la métrica de mayor y menor % de uso en ASD, justificar.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PRESENTACION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Individual</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Responder preguntas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Fecha: Sesión actual</a:t>
            </a:r>
            <a:endParaRPr/>
          </a:p>
        </p:txBody>
      </p:sp>
      <p:pic>
        <p:nvPicPr>
          <p:cNvPr id="1281" name="Google Shape;1281;p37"/>
          <p:cNvPicPr preferRelativeResize="0"/>
          <p:nvPr/>
        </p:nvPicPr>
        <p:blipFill rotWithShape="1">
          <a:blip r:embed="rId3">
            <a:alphaModFix/>
          </a:blip>
          <a:srcRect b="0" l="0" r="0" t="0"/>
          <a:stretch/>
        </p:blipFill>
        <p:spPr>
          <a:xfrm>
            <a:off x="5539563" y="908666"/>
            <a:ext cx="3329799" cy="348258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38"/>
          <p:cNvSpPr txBox="1"/>
          <p:nvPr>
            <p:ph idx="4294967295" type="title"/>
          </p:nvPr>
        </p:nvSpPr>
        <p:spPr>
          <a:xfrm>
            <a:off x="0" y="444500"/>
            <a:ext cx="7702550" cy="573088"/>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solidFill>
                  <a:srgbClr val="FF0000"/>
                </a:solidFill>
              </a:rPr>
              <a:t>Referencias</a:t>
            </a:r>
            <a:endParaRPr>
              <a:solidFill>
                <a:srgbClr val="FF0000"/>
              </a:solidFill>
            </a:endParaRPr>
          </a:p>
        </p:txBody>
      </p:sp>
      <p:sp>
        <p:nvSpPr>
          <p:cNvPr id="1287" name="Google Shape;1287;p38"/>
          <p:cNvSpPr txBox="1"/>
          <p:nvPr>
            <p:ph idx="12" type="sldNum"/>
          </p:nvPr>
        </p:nvSpPr>
        <p:spPr>
          <a:xfrm>
            <a:off x="8594725" y="0"/>
            <a:ext cx="549275" cy="393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4BB5D9"/>
                </a:solidFill>
                <a:latin typeface="Roboto Condensed"/>
                <a:ea typeface="Roboto Condensed"/>
                <a:cs typeface="Roboto Condensed"/>
                <a:sym typeface="Roboto Condensed"/>
              </a:rPr>
              <a:t>‹#›</a:t>
            </a:fld>
            <a:endParaRPr b="0" i="0" sz="1300" u="none" cap="none" strike="noStrike">
              <a:solidFill>
                <a:srgbClr val="4BB5D9"/>
              </a:solidFill>
              <a:latin typeface="Roboto Condensed"/>
              <a:ea typeface="Roboto Condensed"/>
              <a:cs typeface="Roboto Condensed"/>
              <a:sym typeface="Roboto Condensed"/>
            </a:endParaRPr>
          </a:p>
        </p:txBody>
      </p:sp>
      <p:sp>
        <p:nvSpPr>
          <p:cNvPr id="1288" name="Google Shape;1288;p38"/>
          <p:cNvSpPr txBox="1"/>
          <p:nvPr/>
        </p:nvSpPr>
        <p:spPr>
          <a:xfrm>
            <a:off x="606055" y="1520456"/>
            <a:ext cx="6996223" cy="95410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Arial"/>
              <a:buAutoNum type="arabicPeriod"/>
            </a:pPr>
            <a:r>
              <a:rPr b="0" i="0" lang="en-US" sz="1400" u="sng" cap="none" strike="noStrike">
                <a:solidFill>
                  <a:srgbClr val="000000"/>
                </a:solidFill>
                <a:latin typeface="Arial"/>
                <a:ea typeface="Arial"/>
                <a:cs typeface="Arial"/>
                <a:sym typeface="Arial"/>
                <a:hlinkClick r:id="rId3">
                  <a:extLst>
                    <a:ext uri="{A12FA001-AC4F-418D-AE19-62706E023703}">
                      <ahyp:hlinkClr val="tx"/>
                    </a:ext>
                  </a:extLst>
                </a:hlinkClick>
              </a:rPr>
              <a:t>https://www.mphasis.com/content/dam/mphasis-com/global/en/downloads/WhitePapers/Whitepaper_Software-Testing-Metrics.pdf</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en-US" sz="1400" u="sng" cap="none" strike="noStrike">
                <a:solidFill>
                  <a:srgbClr val="000000"/>
                </a:solidFill>
                <a:latin typeface="Arial"/>
                <a:ea typeface="Arial"/>
                <a:cs typeface="Arial"/>
                <a:sym typeface="Arial"/>
                <a:hlinkClick r:id="rId4">
                  <a:extLst>
                    <a:ext uri="{A12FA001-AC4F-418D-AE19-62706E023703}">
                      <ahyp:hlinkClr val="tx"/>
                    </a:ext>
                  </a:extLst>
                </a:hlinkClick>
              </a:rPr>
              <a:t>https://www.academia.edu/92208514/A_study_on_software_quality_factors_and_metrics_to_enhance_software_quality_assurance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39"/>
          <p:cNvSpPr txBox="1"/>
          <p:nvPr>
            <p:ph idx="4294967295" type="title"/>
          </p:nvPr>
        </p:nvSpPr>
        <p:spPr>
          <a:xfrm>
            <a:off x="542260" y="136156"/>
            <a:ext cx="7702550" cy="573088"/>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a:solidFill>
                  <a:srgbClr val="FE9202"/>
                </a:solidFill>
                <a:latin typeface="Arial"/>
                <a:ea typeface="Arial"/>
                <a:cs typeface="Arial"/>
                <a:sym typeface="Arial"/>
              </a:rPr>
              <a:t>Trabajo Parcial 4: </a:t>
            </a:r>
            <a:br>
              <a:rPr lang="en-US" sz="2400">
                <a:solidFill>
                  <a:srgbClr val="FE9202"/>
                </a:solidFill>
                <a:latin typeface="Arial"/>
                <a:ea typeface="Arial"/>
                <a:cs typeface="Arial"/>
                <a:sym typeface="Arial"/>
              </a:rPr>
            </a:br>
            <a:r>
              <a:rPr lang="en-US" sz="2400">
                <a:solidFill>
                  <a:srgbClr val="FE9202"/>
                </a:solidFill>
                <a:latin typeface="Arial"/>
                <a:ea typeface="Arial"/>
                <a:cs typeface="Arial"/>
                <a:sym typeface="Arial"/>
              </a:rPr>
              <a:t>Aplicación de norma ISO 25000</a:t>
            </a:r>
            <a:endParaRPr/>
          </a:p>
        </p:txBody>
      </p:sp>
      <p:sp>
        <p:nvSpPr>
          <p:cNvPr id="1294" name="Google Shape;1294;p39"/>
          <p:cNvSpPr txBox="1"/>
          <p:nvPr>
            <p:ph idx="4294967295" type="body"/>
          </p:nvPr>
        </p:nvSpPr>
        <p:spPr>
          <a:xfrm>
            <a:off x="414670" y="422700"/>
            <a:ext cx="7702550" cy="411163"/>
          </a:xfrm>
          <a:prstGeom prst="rect">
            <a:avLst/>
          </a:prstGeom>
          <a:noFill/>
          <a:ln>
            <a:noFill/>
          </a:ln>
        </p:spPr>
        <p:txBody>
          <a:bodyPr anchorCtr="0" anchor="t" bIns="91425" lIns="91425" spcFirstLastPara="1" rIns="91425" wrap="square" tIns="91425">
            <a:noAutofit/>
          </a:bodyPr>
          <a:lstStyle/>
          <a:p>
            <a:pPr indent="0" lvl="0" marL="139700" rtl="0" algn="l">
              <a:lnSpc>
                <a:spcPct val="115000"/>
              </a:lnSpc>
              <a:spcBef>
                <a:spcPts val="0"/>
              </a:spcBef>
              <a:spcAft>
                <a:spcPts val="0"/>
              </a:spcAft>
              <a:buSzPts val="1400"/>
              <a:buNone/>
            </a:pPr>
            <a:r>
              <a:t/>
            </a:r>
            <a:endParaRPr sz="1800">
              <a:solidFill>
                <a:srgbClr val="272727"/>
              </a:solidFill>
              <a:latin typeface="Arial"/>
              <a:ea typeface="Arial"/>
              <a:cs typeface="Arial"/>
              <a:sym typeface="Arial"/>
            </a:endParaRPr>
          </a:p>
          <a:p>
            <a:pPr indent="0" lvl="0" marL="139700" rtl="0" algn="l">
              <a:lnSpc>
                <a:spcPct val="115000"/>
              </a:lnSpc>
              <a:spcBef>
                <a:spcPts val="0"/>
              </a:spcBef>
              <a:spcAft>
                <a:spcPts val="0"/>
              </a:spcAft>
              <a:buSzPts val="1400"/>
              <a:buNone/>
            </a:pPr>
            <a:r>
              <a:rPr lang="en-US" sz="1800">
                <a:solidFill>
                  <a:srgbClr val="272727"/>
                </a:solidFill>
                <a:latin typeface="Arial"/>
                <a:ea typeface="Arial"/>
                <a:cs typeface="Arial"/>
                <a:sym typeface="Arial"/>
              </a:rPr>
              <a:t>Revisar:</a:t>
            </a:r>
            <a:endParaRPr/>
          </a:p>
          <a:p>
            <a:pPr indent="0" lvl="0" marL="139700" rtl="0" algn="l">
              <a:lnSpc>
                <a:spcPct val="115000"/>
              </a:lnSpc>
              <a:spcBef>
                <a:spcPts val="0"/>
              </a:spcBef>
              <a:spcAft>
                <a:spcPts val="0"/>
              </a:spcAft>
              <a:buSzPts val="1400"/>
              <a:buNone/>
            </a:pPr>
            <a:r>
              <a:rPr lang="en-US" sz="1200" u="sng">
                <a:solidFill>
                  <a:srgbClr val="272727"/>
                </a:solidFill>
                <a:latin typeface="Arial"/>
                <a:ea typeface="Arial"/>
                <a:cs typeface="Arial"/>
                <a:sym typeface="Arial"/>
                <a:hlinkClick r:id="rId3">
                  <a:extLst>
                    <a:ext uri="{A12FA001-AC4F-418D-AE19-62706E023703}">
                      <ahyp:hlinkClr val="tx"/>
                    </a:ext>
                  </a:extLst>
                </a:hlinkClick>
              </a:rPr>
              <a:t>https://www.scielo.cl/pdf/ingeniare/v29n2/0718-3305-ingeniare-29-02-346.pdf</a:t>
            </a:r>
            <a:endParaRPr sz="1200">
              <a:solidFill>
                <a:srgbClr val="272727"/>
              </a:solidFill>
              <a:latin typeface="Arial"/>
              <a:ea typeface="Arial"/>
              <a:cs typeface="Arial"/>
              <a:sym typeface="Arial"/>
            </a:endParaRPr>
          </a:p>
          <a:p>
            <a:pPr indent="0" lvl="0" marL="139700" rtl="0" algn="l">
              <a:lnSpc>
                <a:spcPct val="115000"/>
              </a:lnSpc>
              <a:spcBef>
                <a:spcPts val="0"/>
              </a:spcBef>
              <a:spcAft>
                <a:spcPts val="0"/>
              </a:spcAft>
              <a:buSzPts val="1400"/>
              <a:buNone/>
            </a:pPr>
            <a:r>
              <a:rPr lang="en-US" sz="1200" u="sng">
                <a:solidFill>
                  <a:srgbClr val="272727"/>
                </a:solidFill>
                <a:latin typeface="Arial"/>
                <a:ea typeface="Arial"/>
                <a:cs typeface="Arial"/>
                <a:sym typeface="Arial"/>
                <a:hlinkClick r:id="rId4">
                  <a:extLst>
                    <a:ext uri="{A12FA001-AC4F-418D-AE19-62706E023703}">
                      <ahyp:hlinkClr val="tx"/>
                    </a:ext>
                  </a:extLst>
                </a:hlinkClick>
              </a:rPr>
              <a:t>https://github.com/JuanJFarina/pymetrica</a:t>
            </a:r>
            <a:endParaRPr sz="1200">
              <a:solidFill>
                <a:srgbClr val="272727"/>
              </a:solidFill>
              <a:latin typeface="Arial"/>
              <a:ea typeface="Arial"/>
              <a:cs typeface="Arial"/>
              <a:sym typeface="Arial"/>
            </a:endParaRPr>
          </a:p>
          <a:p>
            <a:pPr indent="0" lvl="0" marL="139700" rtl="0" algn="l">
              <a:lnSpc>
                <a:spcPct val="115000"/>
              </a:lnSpc>
              <a:spcBef>
                <a:spcPts val="0"/>
              </a:spcBef>
              <a:spcAft>
                <a:spcPts val="0"/>
              </a:spcAft>
              <a:buSzPts val="1400"/>
              <a:buNone/>
            </a:pPr>
            <a:r>
              <a:t/>
            </a:r>
            <a:endParaRPr sz="1200">
              <a:solidFill>
                <a:srgbClr val="272727"/>
              </a:solidFill>
              <a:latin typeface="Arial"/>
              <a:ea typeface="Arial"/>
              <a:cs typeface="Arial"/>
              <a:sym typeface="Arial"/>
            </a:endParaRPr>
          </a:p>
          <a:p>
            <a:pPr indent="0" lvl="0" marL="139700" rtl="0" algn="l">
              <a:lnSpc>
                <a:spcPct val="115000"/>
              </a:lnSpc>
              <a:spcBef>
                <a:spcPts val="0"/>
              </a:spcBef>
              <a:spcAft>
                <a:spcPts val="0"/>
              </a:spcAft>
              <a:buSzPts val="1400"/>
              <a:buNone/>
            </a:pPr>
            <a:r>
              <a:rPr lang="en-US" sz="1800">
                <a:solidFill>
                  <a:srgbClr val="272727"/>
                </a:solidFill>
                <a:latin typeface="Arial"/>
                <a:ea typeface="Arial"/>
                <a:cs typeface="Arial"/>
                <a:sym typeface="Arial"/>
              </a:rPr>
              <a:t>Revisar, seleccionar y adoptar características de la norma ISO 25000 en el proyecto seleccionado.</a:t>
            </a:r>
            <a:endParaRPr/>
          </a:p>
          <a:p>
            <a:pPr indent="-317500" lvl="0" marL="457200" rtl="0" algn="l">
              <a:lnSpc>
                <a:spcPct val="115000"/>
              </a:lnSpc>
              <a:spcBef>
                <a:spcPts val="0"/>
              </a:spcBef>
              <a:spcAft>
                <a:spcPts val="0"/>
              </a:spcAft>
              <a:buSzPts val="1400"/>
              <a:buFont typeface="Noto Sans Symbols"/>
              <a:buAutoNum type="arabicPeriod"/>
            </a:pPr>
            <a:r>
              <a:rPr lang="en-US" sz="1800">
                <a:solidFill>
                  <a:srgbClr val="272727"/>
                </a:solidFill>
                <a:latin typeface="Arial"/>
                <a:ea typeface="Arial"/>
                <a:cs typeface="Arial"/>
                <a:sym typeface="Arial"/>
              </a:rPr>
              <a:t>Seleccionar los componentes y atributos para medir la calidad.</a:t>
            </a:r>
            <a:endParaRPr/>
          </a:p>
          <a:p>
            <a:pPr indent="-317500" lvl="0" marL="457200" rtl="0" algn="l">
              <a:lnSpc>
                <a:spcPct val="115000"/>
              </a:lnSpc>
              <a:spcBef>
                <a:spcPts val="0"/>
              </a:spcBef>
              <a:spcAft>
                <a:spcPts val="0"/>
              </a:spcAft>
              <a:buSzPts val="1400"/>
              <a:buFont typeface="Noto Sans Symbols"/>
              <a:buAutoNum type="arabicPeriod"/>
            </a:pPr>
            <a:r>
              <a:rPr lang="en-US" sz="1800">
                <a:solidFill>
                  <a:srgbClr val="272727"/>
                </a:solidFill>
                <a:latin typeface="Arial"/>
                <a:ea typeface="Arial"/>
                <a:cs typeface="Arial"/>
                <a:sym typeface="Arial"/>
              </a:rPr>
              <a:t>Describa el modelo formal de indicadores de medición y la forma de captura de información</a:t>
            </a:r>
            <a:endParaRPr/>
          </a:p>
          <a:p>
            <a:pPr indent="-317500" lvl="0" marL="457200" rtl="0" algn="l">
              <a:lnSpc>
                <a:spcPct val="115000"/>
              </a:lnSpc>
              <a:spcBef>
                <a:spcPts val="0"/>
              </a:spcBef>
              <a:spcAft>
                <a:spcPts val="0"/>
              </a:spcAft>
              <a:buSzPts val="1400"/>
              <a:buFont typeface="Noto Sans Symbols"/>
              <a:buAutoNum type="arabicPeriod"/>
            </a:pPr>
            <a:r>
              <a:rPr lang="en-US" sz="1800">
                <a:solidFill>
                  <a:srgbClr val="272727"/>
                </a:solidFill>
                <a:latin typeface="Arial"/>
                <a:ea typeface="Arial"/>
                <a:cs typeface="Arial"/>
                <a:sym typeface="Arial"/>
              </a:rPr>
              <a:t>Seleccionar herramienta para captura de información, proceso y presentación de indicadores.</a:t>
            </a:r>
            <a:endParaRPr/>
          </a:p>
          <a:p>
            <a:pPr indent="0" lvl="0" marL="139700" rtl="0" algn="l">
              <a:lnSpc>
                <a:spcPct val="115000"/>
              </a:lnSpc>
              <a:spcBef>
                <a:spcPts val="0"/>
              </a:spcBef>
              <a:spcAft>
                <a:spcPts val="0"/>
              </a:spcAft>
              <a:buSzPts val="1400"/>
              <a:buNone/>
            </a:pPr>
            <a:r>
              <a:rPr lang="en-US" sz="1800">
                <a:solidFill>
                  <a:srgbClr val="272727"/>
                </a:solidFill>
                <a:latin typeface="Arial"/>
                <a:ea typeface="Arial"/>
                <a:cs typeface="Arial"/>
                <a:sym typeface="Arial"/>
              </a:rPr>
              <a:t>Grupo:   05 personas</a:t>
            </a:r>
            <a:endParaRPr/>
          </a:p>
          <a:p>
            <a:pPr indent="0" lvl="0" marL="139700" rtl="0" algn="l">
              <a:lnSpc>
                <a:spcPct val="115000"/>
              </a:lnSpc>
              <a:spcBef>
                <a:spcPts val="0"/>
              </a:spcBef>
              <a:spcAft>
                <a:spcPts val="0"/>
              </a:spcAft>
              <a:buSzPts val="1400"/>
              <a:buNone/>
            </a:pPr>
            <a:r>
              <a:rPr lang="en-US" sz="1800">
                <a:solidFill>
                  <a:srgbClr val="272727"/>
                </a:solidFill>
                <a:latin typeface="Arial"/>
                <a:ea typeface="Arial"/>
                <a:cs typeface="Arial"/>
                <a:sym typeface="Arial"/>
              </a:rPr>
              <a:t>Entregable: Reporte y presentación ppt</a:t>
            </a:r>
            <a:endParaRPr sz="1800">
              <a:solidFill>
                <a:srgbClr val="272727"/>
              </a:solidFill>
              <a:latin typeface="Arial"/>
              <a:ea typeface="Arial"/>
              <a:cs typeface="Arial"/>
              <a:sym typeface="Arial"/>
            </a:endParaRPr>
          </a:p>
          <a:p>
            <a:pPr indent="0" lvl="0" marL="139700" rtl="0" algn="l">
              <a:lnSpc>
                <a:spcPct val="115000"/>
              </a:lnSpc>
              <a:spcBef>
                <a:spcPts val="0"/>
              </a:spcBef>
              <a:spcAft>
                <a:spcPts val="0"/>
              </a:spcAft>
              <a:buSzPts val="1400"/>
              <a:buNone/>
            </a:pPr>
            <a:r>
              <a:rPr lang="en-US" sz="1800">
                <a:solidFill>
                  <a:srgbClr val="272727"/>
                </a:solidFill>
                <a:latin typeface="Arial"/>
                <a:ea typeface="Arial"/>
                <a:cs typeface="Arial"/>
                <a:sym typeface="Arial"/>
              </a:rPr>
              <a:t>Entrega: 22/09/2026</a:t>
            </a:r>
            <a:endParaRPr/>
          </a:p>
          <a:p>
            <a:pPr indent="-228600" lvl="0" marL="457200" rtl="0" algn="l">
              <a:lnSpc>
                <a:spcPct val="115000"/>
              </a:lnSpc>
              <a:spcBef>
                <a:spcPts val="0"/>
              </a:spcBef>
              <a:spcAft>
                <a:spcPts val="0"/>
              </a:spcAft>
              <a:buSzPts val="1400"/>
              <a:buNone/>
            </a:pPr>
            <a:r>
              <a:t/>
            </a:r>
            <a:endParaRPr sz="1500">
              <a:solidFill>
                <a:srgbClr val="272727"/>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40"/>
          <p:cNvSpPr txBox="1"/>
          <p:nvPr>
            <p:ph type="title"/>
          </p:nvPr>
        </p:nvSpPr>
        <p:spPr>
          <a:xfrm>
            <a:off x="1157288" y="685275"/>
            <a:ext cx="4448100" cy="105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Thanks!</a:t>
            </a:r>
            <a:endParaRPr/>
          </a:p>
        </p:txBody>
      </p:sp>
      <p:sp>
        <p:nvSpPr>
          <p:cNvPr id="1300" name="Google Shape;1300;p40"/>
          <p:cNvSpPr txBox="1"/>
          <p:nvPr>
            <p:ph idx="1" type="subTitle"/>
          </p:nvPr>
        </p:nvSpPr>
        <p:spPr>
          <a:xfrm>
            <a:off x="1157250" y="2203275"/>
            <a:ext cx="4448100" cy="1007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400"/>
              <a:buNone/>
            </a:pPr>
            <a:r>
              <a:rPr lang="en-US"/>
              <a:t>jsilvaf@unsa.edu.pe</a:t>
            </a:r>
            <a:endParaRPr/>
          </a:p>
        </p:txBody>
      </p:sp>
      <p:sp>
        <p:nvSpPr>
          <p:cNvPr id="1301" name="Google Shape;1301;p40"/>
          <p:cNvSpPr txBox="1"/>
          <p:nvPr>
            <p:ph idx="2" type="subTitle"/>
          </p:nvPr>
        </p:nvSpPr>
        <p:spPr>
          <a:xfrm>
            <a:off x="1157250" y="1800075"/>
            <a:ext cx="4448100" cy="3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500"/>
              <a:buNone/>
            </a:pPr>
            <a:r>
              <a:rPr lang="en-US"/>
              <a:t>Do you have any questions?</a:t>
            </a:r>
            <a:endParaRPr/>
          </a:p>
        </p:txBody>
      </p:sp>
      <p:grpSp>
        <p:nvGrpSpPr>
          <p:cNvPr id="1302" name="Google Shape;1302;p40"/>
          <p:cNvGrpSpPr/>
          <p:nvPr/>
        </p:nvGrpSpPr>
        <p:grpSpPr>
          <a:xfrm>
            <a:off x="5361478" y="2513937"/>
            <a:ext cx="597900" cy="385800"/>
            <a:chOff x="2289878" y="3082512"/>
            <a:chExt cx="597900" cy="385800"/>
          </a:xfrm>
        </p:grpSpPr>
        <p:sp>
          <p:nvSpPr>
            <p:cNvPr id="1303" name="Google Shape;1303;p40"/>
            <p:cNvSpPr/>
            <p:nvPr/>
          </p:nvSpPr>
          <p:spPr>
            <a:xfrm>
              <a:off x="2447030" y="3130409"/>
              <a:ext cx="282876" cy="283216"/>
            </a:xfrm>
            <a:custGeom>
              <a:rect b="b" l="l" r="r" t="t"/>
              <a:pathLst>
                <a:path extrusionOk="0" h="10872" w="1086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40"/>
            <p:cNvSpPr/>
            <p:nvPr/>
          </p:nvSpPr>
          <p:spPr>
            <a:xfrm>
              <a:off x="2289878" y="3082512"/>
              <a:ext cx="597900" cy="3858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05" name="Google Shape;1305;p40"/>
          <p:cNvGrpSpPr/>
          <p:nvPr/>
        </p:nvGrpSpPr>
        <p:grpSpPr>
          <a:xfrm>
            <a:off x="4573177" y="2513937"/>
            <a:ext cx="597900" cy="385800"/>
            <a:chOff x="1501577" y="3082512"/>
            <a:chExt cx="597900" cy="385800"/>
          </a:xfrm>
        </p:grpSpPr>
        <p:grpSp>
          <p:nvGrpSpPr>
            <p:cNvPr id="1306" name="Google Shape;1306;p40"/>
            <p:cNvGrpSpPr/>
            <p:nvPr/>
          </p:nvGrpSpPr>
          <p:grpSpPr>
            <a:xfrm>
              <a:off x="1659114" y="3130469"/>
              <a:ext cx="283212" cy="282899"/>
              <a:chOff x="3303268" y="3817349"/>
              <a:chExt cx="346056" cy="345674"/>
            </a:xfrm>
          </p:grpSpPr>
          <p:sp>
            <p:nvSpPr>
              <p:cNvPr id="1307" name="Google Shape;1307;p40"/>
              <p:cNvSpPr/>
              <p:nvPr/>
            </p:nvSpPr>
            <p:spPr>
              <a:xfrm>
                <a:off x="3303268" y="3817349"/>
                <a:ext cx="346056" cy="345674"/>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40"/>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40"/>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40"/>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1" name="Google Shape;1311;p40"/>
            <p:cNvSpPr/>
            <p:nvPr/>
          </p:nvSpPr>
          <p:spPr>
            <a:xfrm>
              <a:off x="1501577" y="3082512"/>
              <a:ext cx="597900" cy="3858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2" name="Google Shape;1312;p40"/>
          <p:cNvGrpSpPr/>
          <p:nvPr/>
        </p:nvGrpSpPr>
        <p:grpSpPr>
          <a:xfrm>
            <a:off x="3784875" y="2513937"/>
            <a:ext cx="597900" cy="385800"/>
            <a:chOff x="713275" y="3082512"/>
            <a:chExt cx="597900" cy="385800"/>
          </a:xfrm>
        </p:grpSpPr>
        <p:grpSp>
          <p:nvGrpSpPr>
            <p:cNvPr id="1313" name="Google Shape;1313;p40"/>
            <p:cNvGrpSpPr/>
            <p:nvPr/>
          </p:nvGrpSpPr>
          <p:grpSpPr>
            <a:xfrm>
              <a:off x="870716" y="3133963"/>
              <a:ext cx="283558" cy="283245"/>
              <a:chOff x="3752358" y="3817349"/>
              <a:chExt cx="346056" cy="345674"/>
            </a:xfrm>
          </p:grpSpPr>
          <p:sp>
            <p:nvSpPr>
              <p:cNvPr id="1314" name="Google Shape;1314;p40"/>
              <p:cNvSpPr/>
              <p:nvPr/>
            </p:nvSpPr>
            <p:spPr>
              <a:xfrm>
                <a:off x="3752358" y="3817349"/>
                <a:ext cx="346056" cy="345674"/>
              </a:xfrm>
              <a:custGeom>
                <a:rect b="b" l="l" r="r" t="t"/>
                <a:pathLst>
                  <a:path extrusionOk="0" h="10860" w="10872">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40"/>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40"/>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40"/>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8" name="Google Shape;1318;p40"/>
            <p:cNvSpPr/>
            <p:nvPr/>
          </p:nvSpPr>
          <p:spPr>
            <a:xfrm>
              <a:off x="713275" y="3082512"/>
              <a:ext cx="597900" cy="3858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9" name="Google Shape;1319;p40"/>
          <p:cNvGrpSpPr/>
          <p:nvPr/>
        </p:nvGrpSpPr>
        <p:grpSpPr>
          <a:xfrm flipH="1" rot="10800000">
            <a:off x="6773992" y="-1205455"/>
            <a:ext cx="4151820" cy="5527899"/>
            <a:chOff x="6309526" y="836950"/>
            <a:chExt cx="3920510" cy="5219924"/>
          </a:xfrm>
        </p:grpSpPr>
        <p:pic>
          <p:nvPicPr>
            <p:cNvPr id="1320" name="Google Shape;1320;p40"/>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1321" name="Google Shape;1321;p40"/>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40"/>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40"/>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4" name="Google Shape;1324;p40"/>
            <p:cNvGrpSpPr/>
            <p:nvPr/>
          </p:nvGrpSpPr>
          <p:grpSpPr>
            <a:xfrm>
              <a:off x="7280400" y="3719575"/>
              <a:ext cx="582050" cy="582425"/>
              <a:chOff x="959750" y="3039275"/>
              <a:chExt cx="582050" cy="582425"/>
            </a:xfrm>
          </p:grpSpPr>
          <p:sp>
            <p:nvSpPr>
              <p:cNvPr id="1325" name="Google Shape;1325;p4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4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4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4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4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4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4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7255"/>
                    </a:srgbClr>
                  </a:gs>
                  <a:gs pos="100000">
                    <a:srgbClr val="FFFFFF">
                      <a:alpha val="37255"/>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2" name="Google Shape;1332;p40"/>
            <p:cNvGrpSpPr/>
            <p:nvPr/>
          </p:nvGrpSpPr>
          <p:grpSpPr>
            <a:xfrm>
              <a:off x="7728436" y="3524084"/>
              <a:ext cx="134004" cy="134004"/>
              <a:chOff x="8356813" y="1074288"/>
              <a:chExt cx="351900" cy="351900"/>
            </a:xfrm>
          </p:grpSpPr>
          <p:sp>
            <p:nvSpPr>
              <p:cNvPr id="1333" name="Google Shape;1333;p4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4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5" name="Google Shape;1335;p40"/>
            <p:cNvGrpSpPr/>
            <p:nvPr/>
          </p:nvGrpSpPr>
          <p:grpSpPr>
            <a:xfrm>
              <a:off x="7344361" y="3150259"/>
              <a:ext cx="134004" cy="134004"/>
              <a:chOff x="8356813" y="1074288"/>
              <a:chExt cx="351900" cy="351900"/>
            </a:xfrm>
          </p:grpSpPr>
          <p:sp>
            <p:nvSpPr>
              <p:cNvPr id="1336" name="Google Shape;1336;p4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4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8" name="Google Shape;1338;p40"/>
            <p:cNvGrpSpPr/>
            <p:nvPr/>
          </p:nvGrpSpPr>
          <p:grpSpPr>
            <a:xfrm>
              <a:off x="8337811" y="2464059"/>
              <a:ext cx="134004" cy="134004"/>
              <a:chOff x="8356813" y="1074288"/>
              <a:chExt cx="351900" cy="351900"/>
            </a:xfrm>
          </p:grpSpPr>
          <p:sp>
            <p:nvSpPr>
              <p:cNvPr id="1339" name="Google Shape;1339;p4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4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1" name="Google Shape;1341;p40"/>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7"/>
                  </a:srgbClr>
                </a:gs>
                <a:gs pos="78000">
                  <a:srgbClr val="F5F8FF">
                    <a:alpha val="46667"/>
                  </a:srgbClr>
                </a:gs>
                <a:gs pos="100000">
                  <a:srgbClr val="F5F8FF">
                    <a:alpha val="46667"/>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2" name="Google Shape;1342;p40"/>
            <p:cNvGrpSpPr/>
            <p:nvPr/>
          </p:nvGrpSpPr>
          <p:grpSpPr>
            <a:xfrm>
              <a:off x="8337812" y="3492483"/>
              <a:ext cx="699928" cy="1651024"/>
              <a:chOff x="8337812" y="3492483"/>
              <a:chExt cx="699928" cy="1651024"/>
            </a:xfrm>
          </p:grpSpPr>
          <p:sp>
            <p:nvSpPr>
              <p:cNvPr id="1343" name="Google Shape;1343;p4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4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4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6" name="Google Shape;1346;p40"/>
            <p:cNvGrpSpPr/>
            <p:nvPr/>
          </p:nvGrpSpPr>
          <p:grpSpPr>
            <a:xfrm>
              <a:off x="7945225" y="4302000"/>
              <a:ext cx="904666" cy="726121"/>
              <a:chOff x="7945225" y="4302000"/>
              <a:chExt cx="904666" cy="726121"/>
            </a:xfrm>
          </p:grpSpPr>
          <p:sp>
            <p:nvSpPr>
              <p:cNvPr id="1347" name="Google Shape;1347;p4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4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4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0" name="Google Shape;1350;p40"/>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54" name="Shape 1354"/>
        <p:cNvGrpSpPr/>
        <p:nvPr/>
      </p:nvGrpSpPr>
      <p:grpSpPr>
        <a:xfrm>
          <a:off x="0" y="0"/>
          <a:ext cx="0" cy="0"/>
          <a:chOff x="0" y="0"/>
          <a:chExt cx="0" cy="0"/>
        </a:xfrm>
      </p:grpSpPr>
      <p:sp>
        <p:nvSpPr>
          <p:cNvPr id="1355" name="Google Shape;1355;p41"/>
          <p:cNvSpPr txBox="1"/>
          <p:nvPr/>
        </p:nvSpPr>
        <p:spPr>
          <a:xfrm>
            <a:off x="2743200" y="1977656"/>
            <a:ext cx="375329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chemeClr val="lt2"/>
                </a:solidFill>
                <a:latin typeface="Arial"/>
                <a:ea typeface="Arial"/>
                <a:cs typeface="Arial"/>
                <a:sym typeface="Arial"/>
              </a:rPr>
              <a:t>Calidad de Software</a:t>
            </a:r>
            <a:endParaRPr b="0" i="0" sz="1400" u="none" cap="none" strike="noStrike">
              <a:solidFill>
                <a:schemeClr val="lt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coreProperties>
</file>