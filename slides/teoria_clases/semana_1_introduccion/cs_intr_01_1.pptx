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Proxima Nova"/>
      <p:regular r:id="rId36"/>
      <p:bold r:id="rId37"/>
      <p:italic r:id="rId38"/>
      <p:boldItalic r:id="rId39"/>
    </p:embeddedFont>
    <p:embeddedFont>
      <p:font typeface="Poppins"/>
      <p:regular r:id="rId40"/>
      <p:bold r:id="rId41"/>
      <p:italic r:id="rId42"/>
      <p:boldItalic r:id="rId43"/>
    </p:embeddedFont>
    <p:embeddedFont>
      <p:font typeface="Roboto Condensed"/>
      <p:regular r:id="rId44"/>
      <p:bold r:id="rId45"/>
      <p:italic r:id="rId46"/>
      <p:boldItalic r:id="rId47"/>
    </p:embeddedFont>
    <p:embeddedFont>
      <p:font typeface="Arial Black"/>
      <p:regular r:id="rId48"/>
    </p:embeddedFont>
    <p:embeddedFont>
      <p:font typeface="Oswald"/>
      <p:regular r:id="rId49"/>
      <p:bold r:id="rId50"/>
    </p:embeddedFont>
    <p:embeddedFont>
      <p:font typeface="IBM Plex Mono"/>
      <p:regular r:id="rId51"/>
      <p:bold r:id="rId52"/>
      <p:italic r:id="rId53"/>
      <p:boldItalic r:id="rId54"/>
    </p:embeddedFont>
    <p:embeddedFont>
      <p:font typeface="Century Gothic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9" roundtripDataSignature="AMtx7mijJd8jJbJ8p8c85dzh3LSD3lwu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76BAC6-CE7B-446E-B1AA-4B2FB5AA813B}">
  <a:tblStyle styleId="{4776BAC6-CE7B-446E-B1AA-4B2FB5AA813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regular.fntdata"/><Relationship Id="rId42" Type="http://schemas.openxmlformats.org/officeDocument/2006/relationships/font" Target="fonts/Poppins-italic.fntdata"/><Relationship Id="rId41" Type="http://schemas.openxmlformats.org/officeDocument/2006/relationships/font" Target="fonts/Poppins-bold.fntdata"/><Relationship Id="rId44" Type="http://schemas.openxmlformats.org/officeDocument/2006/relationships/font" Target="fonts/RobotoCondensed-regular.fntdata"/><Relationship Id="rId43" Type="http://schemas.openxmlformats.org/officeDocument/2006/relationships/font" Target="fonts/Poppins-boldItalic.fntdata"/><Relationship Id="rId46" Type="http://schemas.openxmlformats.org/officeDocument/2006/relationships/font" Target="fonts/RobotoCondensed-italic.fntdata"/><Relationship Id="rId45" Type="http://schemas.openxmlformats.org/officeDocument/2006/relationships/font" Target="fonts/RobotoCondense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ArialBlack-regular.fntdata"/><Relationship Id="rId47" Type="http://schemas.openxmlformats.org/officeDocument/2006/relationships/font" Target="fonts/RobotoCondensed-boldItalic.fntdata"/><Relationship Id="rId49" Type="http://schemas.openxmlformats.org/officeDocument/2006/relationships/font" Target="fonts/Oswal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ProximaNova-bold.fntdata"/><Relationship Id="rId36" Type="http://schemas.openxmlformats.org/officeDocument/2006/relationships/font" Target="fonts/ProximaNova-regular.fntdata"/><Relationship Id="rId39" Type="http://schemas.openxmlformats.org/officeDocument/2006/relationships/font" Target="fonts/ProximaNova-boldItalic.fntdata"/><Relationship Id="rId38" Type="http://schemas.openxmlformats.org/officeDocument/2006/relationships/font" Target="fonts/ProximaNova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BMPlexMono-regular.fntdata"/><Relationship Id="rId50" Type="http://schemas.openxmlformats.org/officeDocument/2006/relationships/font" Target="fonts/Oswald-bold.fntdata"/><Relationship Id="rId53" Type="http://schemas.openxmlformats.org/officeDocument/2006/relationships/font" Target="fonts/IBMPlexMono-italic.fntdata"/><Relationship Id="rId52" Type="http://schemas.openxmlformats.org/officeDocument/2006/relationships/font" Target="fonts/IBMPlexMono-bold.fntdata"/><Relationship Id="rId11" Type="http://schemas.openxmlformats.org/officeDocument/2006/relationships/slide" Target="slides/slide5.xml"/><Relationship Id="rId55" Type="http://schemas.openxmlformats.org/officeDocument/2006/relationships/font" Target="fonts/CenturyGothic-regular.fntdata"/><Relationship Id="rId10" Type="http://schemas.openxmlformats.org/officeDocument/2006/relationships/slide" Target="slides/slide4.xml"/><Relationship Id="rId54" Type="http://schemas.openxmlformats.org/officeDocument/2006/relationships/font" Target="fonts/IBMPlexMono-boldItalic.fntdata"/><Relationship Id="rId13" Type="http://schemas.openxmlformats.org/officeDocument/2006/relationships/slide" Target="slides/slide7.xml"/><Relationship Id="rId57" Type="http://schemas.openxmlformats.org/officeDocument/2006/relationships/font" Target="fonts/CenturyGothic-italic.fntdata"/><Relationship Id="rId12" Type="http://schemas.openxmlformats.org/officeDocument/2006/relationships/slide" Target="slides/slide6.xml"/><Relationship Id="rId56" Type="http://schemas.openxmlformats.org/officeDocument/2006/relationships/font" Target="fonts/CenturyGothic-bold.fntdata"/><Relationship Id="rId15" Type="http://schemas.openxmlformats.org/officeDocument/2006/relationships/slide" Target="slides/slide9.xml"/><Relationship Id="rId59" Type="http://customschemas.google.com/relationships/presentationmetadata" Target="metadata"/><Relationship Id="rId14" Type="http://schemas.openxmlformats.org/officeDocument/2006/relationships/slide" Target="slides/slide8.xml"/><Relationship Id="rId58" Type="http://schemas.openxmlformats.org/officeDocument/2006/relationships/font" Target="fonts/CenturyGothic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7" name="Google Shape;6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31"/>
          <p:cNvGrpSpPr/>
          <p:nvPr/>
        </p:nvGrpSpPr>
        <p:grpSpPr>
          <a:xfrm>
            <a:off x="-3255181" y="-2900775"/>
            <a:ext cx="10039931" cy="6871129"/>
            <a:chOff x="-3102781" y="-2727750"/>
            <a:chExt cx="10039931" cy="6871129"/>
          </a:xfrm>
        </p:grpSpPr>
        <p:grpSp>
          <p:nvGrpSpPr>
            <p:cNvPr id="10" name="Google Shape;10;p31"/>
            <p:cNvGrpSpPr/>
            <p:nvPr/>
          </p:nvGrpSpPr>
          <p:grpSpPr>
            <a:xfrm rot="-7778255">
              <a:off x="-2414440" y="-1445047"/>
              <a:ext cx="5355679" cy="4305725"/>
              <a:chOff x="7103825" y="-713112"/>
              <a:chExt cx="3785226" cy="3043150"/>
            </a:xfrm>
          </p:grpSpPr>
          <p:sp>
            <p:nvSpPr>
              <p:cNvPr id="11" name="Google Shape;11;p3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" name="Google Shape;12;p31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31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1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1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6" name="Google Shape;16;p31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1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" name="Google Shape;18;p31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31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31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" name="Google Shape;27;p31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oogle Shape;30;p31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3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3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" name="Google Shape;33;p31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31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31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1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31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3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3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3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3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p31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7"/>
                  </a:srgbClr>
                </a:gs>
                <a:gs pos="78000">
                  <a:srgbClr val="F5F8FF">
                    <a:alpha val="46667"/>
                  </a:srgbClr>
                </a:gs>
                <a:gs pos="100000">
                  <a:srgbClr val="F5F8FF">
                    <a:alpha val="4666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46;p31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3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3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" name="Google Shape;50;p31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3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3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3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4" name="Google Shape;54;p31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31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31"/>
          <p:cNvGrpSpPr/>
          <p:nvPr/>
        </p:nvGrpSpPr>
        <p:grpSpPr>
          <a:xfrm>
            <a:off x="-309885" y="3617406"/>
            <a:ext cx="1448824" cy="2238805"/>
            <a:chOff x="-309885" y="3617406"/>
            <a:chExt cx="1448824" cy="2238805"/>
          </a:xfrm>
        </p:grpSpPr>
        <p:grpSp>
          <p:nvGrpSpPr>
            <p:cNvPr id="57" name="Google Shape;57;p31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58" name="Google Shape;58;p3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3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" name="Google Shape;60;p31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61" name="Google Shape;61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3" name="Google Shape;63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4" name="Google Shape;64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" name="Google Shape;67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" name="Google Shape;68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9" name="Google Shape;69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70;p31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71" name="Google Shape;71;p3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46667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46667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46667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46667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75;p31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76" name="Google Shape;76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8" name="Google Shape;78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9" name="Google Shape;79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" name="Google Shape;80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" name="Google Shape;81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" name="Google Shape;82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" name="Google Shape;83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4" name="Google Shape;84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31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86" name="Google Shape;86;p3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3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8" name="Google Shape;88;p3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9" name="Google Shape;89;p3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" name="Google Shape;90;p3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" name="Google Shape;91;p3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" name="Google Shape;92;p3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" name="Google Shape;93;p3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4" name="Google Shape;94;p3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32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8" name="Google Shape;98;p32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99" name="Google Shape;99;p3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" name="Google Shape;100;p32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01" name="Google Shape;101;p32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2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" name="Google Shape;103;p32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32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05" name="Google Shape;105;p32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" name="Google Shape;106;p32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07" name="Google Shape;107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" name="Google Shape;108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9" name="Google Shape;109;p32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10" name="Google Shape;110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" name="Google Shape;111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2" name="Google Shape;112;p32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13" name="Google Shape;113;p32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" name="Google Shape;114;p32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15" name="Google Shape;115;p32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16" name="Google Shape;116;p32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2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32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19" name="Google Shape;119;p32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20" name="Google Shape;120;p3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" name="Google Shape;123;p32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2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" name="Google Shape;125;p32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26" name="Google Shape;126;p3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3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3"/>
          <p:cNvSpPr txBox="1"/>
          <p:nvPr>
            <p:ph type="title"/>
          </p:nvPr>
        </p:nvSpPr>
        <p:spPr>
          <a:xfrm>
            <a:off x="1157288" y="68527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" type="subTitle"/>
          </p:nvPr>
        </p:nvSpPr>
        <p:spPr>
          <a:xfrm>
            <a:off x="1157250" y="2203275"/>
            <a:ext cx="44481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2" type="subTitle"/>
          </p:nvPr>
        </p:nvSpPr>
        <p:spPr>
          <a:xfrm>
            <a:off x="1157250" y="1800075"/>
            <a:ext cx="4448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3" name="Google Shape;133;p33"/>
          <p:cNvGrpSpPr/>
          <p:nvPr/>
        </p:nvGrpSpPr>
        <p:grpSpPr>
          <a:xfrm>
            <a:off x="-291585" y="-494819"/>
            <a:ext cx="1448824" cy="2238805"/>
            <a:chOff x="-308635" y="-494819"/>
            <a:chExt cx="1448824" cy="2238805"/>
          </a:xfrm>
        </p:grpSpPr>
        <p:grpSp>
          <p:nvGrpSpPr>
            <p:cNvPr id="134" name="Google Shape;134;p33"/>
            <p:cNvGrpSpPr/>
            <p:nvPr/>
          </p:nvGrpSpPr>
          <p:grpSpPr>
            <a:xfrm>
              <a:off x="-275757" y="-242066"/>
              <a:ext cx="981772" cy="1986052"/>
              <a:chOff x="-293545" y="3454371"/>
              <a:chExt cx="981772" cy="1986052"/>
            </a:xfrm>
          </p:grpSpPr>
          <p:sp>
            <p:nvSpPr>
              <p:cNvPr id="135" name="Google Shape;135;p33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33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" name="Google Shape;137;p33"/>
            <p:cNvGrpSpPr/>
            <p:nvPr/>
          </p:nvGrpSpPr>
          <p:grpSpPr>
            <a:xfrm>
              <a:off x="364499" y="794648"/>
              <a:ext cx="699940" cy="478601"/>
              <a:chOff x="39723" y="4349021"/>
              <a:chExt cx="1061964" cy="726143"/>
            </a:xfrm>
          </p:grpSpPr>
          <p:grpSp>
            <p:nvGrpSpPr>
              <p:cNvPr id="138" name="Google Shape;138;p3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9" name="Google Shape;139;p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0" name="Google Shape;140;p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41" name="Google Shape;141;p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2" name="Google Shape;142;p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3" name="Google Shape;143;p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4" name="Google Shape;144;p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45" name="Google Shape;145;p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46" name="Google Shape;146;p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" name="Google Shape;147;p33"/>
            <p:cNvGrpSpPr/>
            <p:nvPr/>
          </p:nvGrpSpPr>
          <p:grpSpPr>
            <a:xfrm rot="-5400000">
              <a:off x="-460622" y="-342831"/>
              <a:ext cx="1351491" cy="1047516"/>
              <a:chOff x="-2460210" y="2758494"/>
              <a:chExt cx="1351491" cy="1047516"/>
            </a:xfrm>
          </p:grpSpPr>
          <p:sp>
            <p:nvSpPr>
              <p:cNvPr id="148" name="Google Shape;148;p33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7"/>
                    </a:srgbClr>
                  </a:gs>
                  <a:gs pos="78000">
                    <a:srgbClr val="F5F8FF">
                      <a:alpha val="46667"/>
                    </a:srgbClr>
                  </a:gs>
                  <a:gs pos="100000">
                    <a:srgbClr val="F5F8FF">
                      <a:alpha val="46667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33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7"/>
                    </a:srgbClr>
                  </a:gs>
                  <a:gs pos="78000">
                    <a:srgbClr val="F5F8FF">
                      <a:alpha val="46667"/>
                    </a:srgbClr>
                  </a:gs>
                  <a:gs pos="100000">
                    <a:srgbClr val="F5F8FF">
                      <a:alpha val="46667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3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7"/>
                    </a:srgbClr>
                  </a:gs>
                  <a:gs pos="78000">
                    <a:srgbClr val="F5F8FF">
                      <a:alpha val="46667"/>
                    </a:srgbClr>
                  </a:gs>
                  <a:gs pos="100000">
                    <a:srgbClr val="F5F8FF">
                      <a:alpha val="46667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3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7"/>
                    </a:srgbClr>
                  </a:gs>
                  <a:gs pos="78000">
                    <a:srgbClr val="F5F8FF">
                      <a:alpha val="46667"/>
                    </a:srgbClr>
                  </a:gs>
                  <a:gs pos="100000">
                    <a:srgbClr val="F5F8FF">
                      <a:alpha val="46667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33"/>
            <p:cNvGrpSpPr/>
            <p:nvPr/>
          </p:nvGrpSpPr>
          <p:grpSpPr>
            <a:xfrm>
              <a:off x="440249" y="455173"/>
              <a:ext cx="699940" cy="478601"/>
              <a:chOff x="39723" y="4349021"/>
              <a:chExt cx="1061964" cy="726143"/>
            </a:xfrm>
          </p:grpSpPr>
          <p:grpSp>
            <p:nvGrpSpPr>
              <p:cNvPr id="153" name="Google Shape;153;p3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54" name="Google Shape;154;p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55" name="Google Shape;155;p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56" name="Google Shape;156;p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7" name="Google Shape;157;p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8" name="Google Shape;158;p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59" name="Google Shape;159;p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0" name="Google Shape;160;p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61" name="Google Shape;161;p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" name="Google Shape;162;p33"/>
            <p:cNvGrpSpPr/>
            <p:nvPr/>
          </p:nvGrpSpPr>
          <p:grpSpPr>
            <a:xfrm>
              <a:off x="-63826" y="511661"/>
              <a:ext cx="699940" cy="478601"/>
              <a:chOff x="39723" y="4349021"/>
              <a:chExt cx="1061964" cy="726143"/>
            </a:xfrm>
          </p:grpSpPr>
          <p:grpSp>
            <p:nvGrpSpPr>
              <p:cNvPr id="163" name="Google Shape;163;p3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64" name="Google Shape;164;p3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5" name="Google Shape;165;p33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166" name="Google Shape;166;p3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7" name="Google Shape;167;p3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8" name="Google Shape;168;p3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69" name="Google Shape;169;p3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70" name="Google Shape;170;p3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46667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71" name="Google Shape;171;p3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2" name="Google Shape;172;p33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73" name="Google Shape;173;p3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4" name="Google Shape;174;p33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75" name="Google Shape;175;p33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3"/>
                    </a:srgbClr>
                  </a:gs>
                  <a:gs pos="22000">
                    <a:srgbClr val="F5F8FF">
                      <a:alpha val="31373"/>
                    </a:srgbClr>
                  </a:gs>
                  <a:gs pos="45000">
                    <a:srgbClr val="FFFFFF">
                      <a:alpha val="31373"/>
                    </a:srgbClr>
                  </a:gs>
                  <a:gs pos="100000">
                    <a:srgbClr val="0C0A9E">
                      <a:alpha val="31373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33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33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3"/>
                    </a:srgbClr>
                  </a:gs>
                  <a:gs pos="22000">
                    <a:srgbClr val="F5F8FF">
                      <a:alpha val="31373"/>
                    </a:srgbClr>
                  </a:gs>
                  <a:gs pos="45000">
                    <a:srgbClr val="FFFFFF">
                      <a:alpha val="31373"/>
                    </a:srgbClr>
                  </a:gs>
                  <a:gs pos="100000">
                    <a:srgbClr val="0C0A9E">
                      <a:alpha val="31373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33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" name="Google Shape;179;p33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80" name="Google Shape;180;p33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81" name="Google Shape;181;p33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82" name="Google Shape;182;p3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" name="Google Shape;183;p3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4" name="Google Shape;184;p33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85" name="Google Shape;185;p3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86;p3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37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90" name="Google Shape;190;p37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91" name="Google Shape;191;p37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3"/>
                    </a:srgbClr>
                  </a:gs>
                  <a:gs pos="22000">
                    <a:srgbClr val="F5F8FF">
                      <a:alpha val="31373"/>
                    </a:srgbClr>
                  </a:gs>
                  <a:gs pos="45000">
                    <a:srgbClr val="FFFFFF">
                      <a:alpha val="31373"/>
                    </a:srgbClr>
                  </a:gs>
                  <a:gs pos="100000">
                    <a:srgbClr val="0C0A9E">
                      <a:alpha val="31373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37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37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3"/>
                    </a:srgbClr>
                  </a:gs>
                  <a:gs pos="22000">
                    <a:srgbClr val="F5F8FF">
                      <a:alpha val="31373"/>
                    </a:srgbClr>
                  </a:gs>
                  <a:gs pos="45000">
                    <a:srgbClr val="FFFFFF">
                      <a:alpha val="31373"/>
                    </a:srgbClr>
                  </a:gs>
                  <a:gs pos="100000">
                    <a:srgbClr val="0C0A9E">
                      <a:alpha val="31373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7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37"/>
            <p:cNvGrpSpPr/>
            <p:nvPr/>
          </p:nvGrpSpPr>
          <p:grpSpPr>
            <a:xfrm>
              <a:off x="-623241" y="3946425"/>
              <a:ext cx="2833357" cy="1421047"/>
              <a:chOff x="-677366" y="4067275"/>
              <a:chExt cx="2833357" cy="1421047"/>
            </a:xfrm>
          </p:grpSpPr>
          <p:sp>
            <p:nvSpPr>
              <p:cNvPr id="196" name="Google Shape;196;p37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7" name="Google Shape;197;p37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98" name="Google Shape;198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0" name="Google Shape;200;p37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201" name="Google Shape;201;p37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37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03" name="Google Shape;203;p37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37"/>
          <p:cNvGrpSpPr/>
          <p:nvPr/>
        </p:nvGrpSpPr>
        <p:grpSpPr>
          <a:xfrm>
            <a:off x="6323926" y="-1678249"/>
            <a:ext cx="4189198" cy="3065874"/>
            <a:chOff x="6171526" y="-1678249"/>
            <a:chExt cx="4189198" cy="3065874"/>
          </a:xfrm>
        </p:grpSpPr>
        <p:sp>
          <p:nvSpPr>
            <p:cNvPr id="205" name="Google Shape;205;p37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6" name="Google Shape;206;p3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37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" name="Google Shape;208;p37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209" name="Google Shape;209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37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217" name="Google Shape;217;p3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3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3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3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3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3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3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" name="Google Shape;224;p37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225" name="Google Shape;225;p3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38"/>
          <p:cNvGrpSpPr/>
          <p:nvPr/>
        </p:nvGrpSpPr>
        <p:grpSpPr>
          <a:xfrm>
            <a:off x="8332551" y="-7"/>
            <a:ext cx="2386151" cy="3293872"/>
            <a:chOff x="8256352" y="-7"/>
            <a:chExt cx="2386151" cy="3293872"/>
          </a:xfrm>
        </p:grpSpPr>
        <p:pic>
          <p:nvPicPr>
            <p:cNvPr id="229" name="Google Shape;229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0" name="Google Shape;230;p38"/>
            <p:cNvGrpSpPr/>
            <p:nvPr/>
          </p:nvGrpSpPr>
          <p:grpSpPr>
            <a:xfrm rot="10800000">
              <a:off x="8452443" y="-7"/>
              <a:ext cx="325155" cy="1788670"/>
              <a:chOff x="8869019" y="-622132"/>
              <a:chExt cx="325155" cy="1788670"/>
            </a:xfrm>
          </p:grpSpPr>
          <p:sp>
            <p:nvSpPr>
              <p:cNvPr id="231" name="Google Shape;231;p38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32" name="Google Shape;232;p38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233" name="Google Shape;233;p3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3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35" name="Google Shape;235;p38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236" name="Google Shape;236;p3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3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p38"/>
          <p:cNvGrpSpPr/>
          <p:nvPr/>
        </p:nvGrpSpPr>
        <p:grpSpPr>
          <a:xfrm>
            <a:off x="-1262974" y="3161327"/>
            <a:ext cx="4822591" cy="2934500"/>
            <a:chOff x="-1186774" y="3161328"/>
            <a:chExt cx="4822591" cy="2934500"/>
          </a:xfrm>
        </p:grpSpPr>
        <p:pic>
          <p:nvPicPr>
            <p:cNvPr id="239" name="Google Shape;239;p3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38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1" name="Google Shape;241;p38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242" name="Google Shape;242;p38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243" name="Google Shape;243;p3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7"/>
                      </a:srgbClr>
                    </a:gs>
                    <a:gs pos="78000">
                      <a:srgbClr val="F5F8FF">
                        <a:alpha val="46667"/>
                      </a:srgbClr>
                    </a:gs>
                    <a:gs pos="100000">
                      <a:srgbClr val="F5F8FF">
                        <a:alpha val="46667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3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7"/>
                      </a:srgbClr>
                    </a:gs>
                    <a:gs pos="78000">
                      <a:srgbClr val="F5F8FF">
                        <a:alpha val="46667"/>
                      </a:srgbClr>
                    </a:gs>
                    <a:gs pos="100000">
                      <a:srgbClr val="F5F8FF">
                        <a:alpha val="46667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3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7"/>
                      </a:srgbClr>
                    </a:gs>
                    <a:gs pos="78000">
                      <a:srgbClr val="F5F8FF">
                        <a:alpha val="46667"/>
                      </a:srgbClr>
                    </a:gs>
                    <a:gs pos="100000">
                      <a:srgbClr val="F5F8FF">
                        <a:alpha val="46667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3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7"/>
                      </a:srgbClr>
                    </a:gs>
                    <a:gs pos="78000">
                      <a:srgbClr val="F5F8FF">
                        <a:alpha val="46667"/>
                      </a:srgbClr>
                    </a:gs>
                    <a:gs pos="100000">
                      <a:srgbClr val="F5F8FF">
                        <a:alpha val="46667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3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7"/>
                      </a:srgbClr>
                    </a:gs>
                    <a:gs pos="78000">
                      <a:srgbClr val="F5F8FF">
                        <a:alpha val="46667"/>
                      </a:srgbClr>
                    </a:gs>
                    <a:gs pos="100000">
                      <a:srgbClr val="F5F8FF">
                        <a:alpha val="46667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3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7"/>
                      </a:srgbClr>
                    </a:gs>
                    <a:gs pos="78000">
                      <a:srgbClr val="F5F8FF">
                        <a:alpha val="46667"/>
                      </a:srgbClr>
                    </a:gs>
                    <a:gs pos="100000">
                      <a:srgbClr val="F5F8FF">
                        <a:alpha val="46667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3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7"/>
                      </a:srgbClr>
                    </a:gs>
                    <a:gs pos="78000">
                      <a:srgbClr val="F5F8FF">
                        <a:alpha val="46667"/>
                      </a:srgbClr>
                    </a:gs>
                    <a:gs pos="100000">
                      <a:srgbClr val="F5F8FF">
                        <a:alpha val="46667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" name="Google Shape;250;p38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251" name="Google Shape;251;p3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3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3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3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" name="Google Shape;255;p3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3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3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8" name="Google Shape;258;p38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259" name="Google Shape;259;p38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38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38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38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38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38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38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7"/>
                      </a:srgbClr>
                    </a:gs>
                    <a:gs pos="100000">
                      <a:srgbClr val="FFFFFF">
                        <a:alpha val="46667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6" name="Google Shape;266;p38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267" name="Google Shape;267;p3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8" name="Google Shape;268;p3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69" name="Google Shape;269;p3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1_Quote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idx="1" type="body"/>
          </p:nvPr>
        </p:nvSpPr>
        <p:spPr>
          <a:xfrm>
            <a:off x="2822775" y="2161800"/>
            <a:ext cx="34983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»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810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810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810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810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-3810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●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-3810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○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-3810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■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grpSp>
        <p:nvGrpSpPr>
          <p:cNvPr id="272" name="Google Shape;272;p39"/>
          <p:cNvGrpSpPr/>
          <p:nvPr/>
        </p:nvGrpSpPr>
        <p:grpSpPr>
          <a:xfrm>
            <a:off x="5609677" y="2185857"/>
            <a:ext cx="3534593" cy="3432795"/>
            <a:chOff x="6172210" y="2656118"/>
            <a:chExt cx="2971744" cy="2886157"/>
          </a:xfrm>
        </p:grpSpPr>
        <p:sp>
          <p:nvSpPr>
            <p:cNvPr id="273" name="Google Shape;273;p39"/>
            <p:cNvSpPr/>
            <p:nvPr/>
          </p:nvSpPr>
          <p:spPr>
            <a:xfrm flipH="1" rot="9208626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39"/>
            <p:cNvSpPr/>
            <p:nvPr/>
          </p:nvSpPr>
          <p:spPr>
            <a:xfrm flipH="1" rot="9208633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39"/>
            <p:cNvSpPr/>
            <p:nvPr/>
          </p:nvSpPr>
          <p:spPr>
            <a:xfrm flipH="1" rot="9208606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39"/>
            <p:cNvSpPr/>
            <p:nvPr/>
          </p:nvSpPr>
          <p:spPr>
            <a:xfrm flipH="1" rot="9208678">
              <a:off x="6287617" y="4657701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39"/>
            <p:cNvSpPr/>
            <p:nvPr/>
          </p:nvSpPr>
          <p:spPr>
            <a:xfrm>
              <a:off x="8289303" y="2656118"/>
              <a:ext cx="854651" cy="1929080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grpSp>
        <p:nvGrpSpPr>
          <p:cNvPr id="278" name="Google Shape;278;p39"/>
          <p:cNvGrpSpPr/>
          <p:nvPr/>
        </p:nvGrpSpPr>
        <p:grpSpPr>
          <a:xfrm>
            <a:off x="-22" y="-324555"/>
            <a:ext cx="3068565" cy="1910899"/>
            <a:chOff x="-32" y="-215971"/>
            <a:chExt cx="2163551" cy="1347316"/>
          </a:xfrm>
        </p:grpSpPr>
        <p:sp>
          <p:nvSpPr>
            <p:cNvPr id="279" name="Google Shape;279;p39"/>
            <p:cNvSpPr/>
            <p:nvPr/>
          </p:nvSpPr>
          <p:spPr>
            <a:xfrm flipH="1" rot="-1591408">
              <a:off x="1362169" y="-63166"/>
              <a:ext cx="205103" cy="509980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39"/>
            <p:cNvSpPr/>
            <p:nvPr/>
          </p:nvSpPr>
          <p:spPr>
            <a:xfrm flipH="1" rot="-159137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39"/>
            <p:cNvSpPr/>
            <p:nvPr/>
          </p:nvSpPr>
          <p:spPr>
            <a:xfrm flipH="1" rot="-1591339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9"/>
            <p:cNvSpPr/>
            <p:nvPr/>
          </p:nvSpPr>
          <p:spPr>
            <a:xfrm flipH="1" rot="-1591322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9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rect b="b" l="l" r="r" t="t"/>
              <a:pathLst>
                <a:path extrusionOk="0" h="84860" w="37596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284" name="Google Shape;284;p39"/>
          <p:cNvSpPr txBox="1"/>
          <p:nvPr>
            <p:ph idx="12" type="sldNum"/>
          </p:nvPr>
        </p:nvSpPr>
        <p:spPr>
          <a:xfrm>
            <a:off x="8556784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youtube.com/watch?v=CFiPeHER3u4" TargetMode="External"/><Relationship Id="rId4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revistas.utp.edu.co/index.php/revistaciencia/article/view/3241/1817" TargetMode="External"/><Relationship Id="rId4" Type="http://schemas.openxmlformats.org/officeDocument/2006/relationships/hyperlink" Target="https://www.researchgate.net/publication/236610453_An_Overview_of_Software_Quality_Concepts_and_Management_Issues" TargetMode="External"/><Relationship Id="rId5" Type="http://schemas.openxmlformats.org/officeDocument/2006/relationships/hyperlink" Target="https://www.pearsonhighered.com/assets/samplechapter/0/2/0/1/0201729156.pdf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1"/>
          <p:cNvGrpSpPr/>
          <p:nvPr/>
        </p:nvGrpSpPr>
        <p:grpSpPr>
          <a:xfrm>
            <a:off x="8017432" y="-313900"/>
            <a:ext cx="134070" cy="1891363"/>
            <a:chOff x="8017432" y="-313900"/>
            <a:chExt cx="134070" cy="1891363"/>
          </a:xfrm>
        </p:grpSpPr>
        <p:sp>
          <p:nvSpPr>
            <p:cNvPr id="294" name="Google Shape;294;p1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5" name="Google Shape;295;p1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6" name="Google Shape;296;p1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1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MX" sz="1200"/>
              <a:t>M en C JESUS MARTÍN SILVA FERNÁNDEZ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jsilvaf@unsa.edu.pe </a:t>
            </a:r>
            <a:endParaRPr/>
          </a:p>
        </p:txBody>
      </p:sp>
      <p:sp>
        <p:nvSpPr>
          <p:cNvPr id="298" name="Google Shape;298;p1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MX">
                <a:solidFill>
                  <a:schemeClr val="dk2"/>
                </a:solidFill>
              </a:rPr>
              <a:t>Introducción </a:t>
            </a:r>
            <a:br>
              <a:rPr lang="es-MX">
                <a:solidFill>
                  <a:schemeClr val="dk2"/>
                </a:solidFill>
              </a:rPr>
            </a:br>
            <a:r>
              <a:rPr lang="es-MX" sz="2800">
                <a:solidFill>
                  <a:schemeClr val="dk1"/>
                </a:solidFill>
              </a:rPr>
              <a:t>Capítulo 1</a:t>
            </a:r>
            <a:endParaRPr sz="2800">
              <a:solidFill>
                <a:schemeClr val="dk1"/>
              </a:solidFill>
            </a:endParaRPr>
          </a:p>
        </p:txBody>
      </p:sp>
      <p:grpSp>
        <p:nvGrpSpPr>
          <p:cNvPr id="299" name="Google Shape;299;p1"/>
          <p:cNvGrpSpPr/>
          <p:nvPr/>
        </p:nvGrpSpPr>
        <p:grpSpPr>
          <a:xfrm>
            <a:off x="1096850" y="3242809"/>
            <a:ext cx="3936668" cy="134070"/>
            <a:chOff x="1096850" y="3242809"/>
            <a:chExt cx="3936668" cy="134070"/>
          </a:xfrm>
        </p:grpSpPr>
        <p:cxnSp>
          <p:nvCxnSpPr>
            <p:cNvPr id="300" name="Google Shape;300;p1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01" name="Google Shape;301;p1"/>
            <p:cNvGrpSpPr/>
            <p:nvPr/>
          </p:nvGrpSpPr>
          <p:grpSpPr>
            <a:xfrm>
              <a:off x="4899449" y="3242809"/>
              <a:ext cx="134070" cy="134070"/>
              <a:chOff x="8382514" y="1084976"/>
              <a:chExt cx="265800" cy="265800"/>
            </a:xfrm>
          </p:grpSpPr>
          <p:sp>
            <p:nvSpPr>
              <p:cNvPr id="302" name="Google Shape;302;p1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4" name="Google Shape;304;p1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305" name="Google Shape;305;p1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6" name="Google Shape;306;p1"/>
            <p:cNvGrpSpPr/>
            <p:nvPr/>
          </p:nvGrpSpPr>
          <p:grpSpPr>
            <a:xfrm>
              <a:off x="7728425" y="3524083"/>
              <a:ext cx="134004" cy="134004"/>
              <a:chOff x="8356813" y="1074288"/>
              <a:chExt cx="351900" cy="351900"/>
            </a:xfrm>
          </p:grpSpPr>
          <p:sp>
            <p:nvSpPr>
              <p:cNvPr id="307" name="Google Shape;307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9" name="Google Shape;309;p1"/>
            <p:cNvGrpSpPr/>
            <p:nvPr/>
          </p:nvGrpSpPr>
          <p:grpSpPr>
            <a:xfrm>
              <a:off x="7344350" y="3150258"/>
              <a:ext cx="134004" cy="134004"/>
              <a:chOff x="8356813" y="1074288"/>
              <a:chExt cx="351900" cy="351900"/>
            </a:xfrm>
          </p:grpSpPr>
          <p:sp>
            <p:nvSpPr>
              <p:cNvPr id="310" name="Google Shape;310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2" name="Google Shape;312;p1"/>
            <p:cNvGrpSpPr/>
            <p:nvPr/>
          </p:nvGrpSpPr>
          <p:grpSpPr>
            <a:xfrm>
              <a:off x="8337800" y="2464058"/>
              <a:ext cx="134004" cy="134004"/>
              <a:chOff x="8356813" y="1074288"/>
              <a:chExt cx="351900" cy="351900"/>
            </a:xfrm>
          </p:grpSpPr>
          <p:sp>
            <p:nvSpPr>
              <p:cNvPr id="313" name="Google Shape;313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" name="Google Shape;315;p1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1"/>
          <p:cNvSpPr txBox="1"/>
          <p:nvPr/>
        </p:nvSpPr>
        <p:spPr>
          <a:xfrm>
            <a:off x="4065224" y="473725"/>
            <a:ext cx="395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rPr>
              <a:t>CALIDAD DE SOFTWARE</a:t>
            </a:r>
            <a:endParaRPr b="0" i="0" sz="1400" u="none" cap="none" strike="noStrike">
              <a:solidFill>
                <a:schemeClr val="lt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s-MX"/>
              <a:t>“Quotations are commonly printed as a means of inspiration and to invoke philosophical thoughts from the reader”</a:t>
            </a:r>
            <a:endParaRPr/>
          </a:p>
        </p:txBody>
      </p:sp>
      <p:sp>
        <p:nvSpPr>
          <p:cNvPr id="322" name="Google Shape;322;p2"/>
          <p:cNvSpPr txBox="1"/>
          <p:nvPr>
            <p:ph idx="12" type="sldNum"/>
          </p:nvPr>
        </p:nvSpPr>
        <p:spPr>
          <a:xfrm>
            <a:off x="8594725" y="0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DEFINICION DE CALIDAD</a:t>
            </a:r>
            <a:endParaRPr/>
          </a:p>
        </p:txBody>
      </p:sp>
      <p:sp>
        <p:nvSpPr>
          <p:cNvPr id="328" name="Google Shape;328;p3"/>
          <p:cNvSpPr/>
          <p:nvPr/>
        </p:nvSpPr>
        <p:spPr>
          <a:xfrm>
            <a:off x="1098292" y="1054249"/>
            <a:ext cx="7542300" cy="3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producto desarrollado cumple su especificación” (Crosby, 1979)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r>
              <a:rPr b="0" i="0" lang="es-MX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La totalidad de características de un producto de software que tienen como habilidad, satisfacer necesidades explícitas o implícitas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b="0" i="0" lang="es-MX" sz="18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Si cumple o excede las expectativas del usuario en cuanto 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Funcionalidad (que sirva un propósito),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Ejecución (que sea práctico),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Confiabilidad (que haga lo que debe),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Disponibilidad (que funcione bajo cualquier circunstancia) 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Apoyo, a un costo menor o igual al que el usuario está dispuesto a pagar.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Administración de Calidad</a:t>
            </a:r>
            <a:endParaRPr/>
          </a:p>
        </p:txBody>
      </p:sp>
      <p:sp>
        <p:nvSpPr>
          <p:cNvPr id="334" name="Google Shape;334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/>
              <a:t>Aseguramiento calidad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>
                <a:solidFill>
                  <a:srgbClr val="545454"/>
                </a:solidFill>
              </a:rPr>
              <a:t>Establecer un marco de trabajo de procedimientos y estándares organizacionales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>
                <a:solidFill>
                  <a:srgbClr val="545454"/>
                </a:solidFill>
              </a:rPr>
              <a:t>Planeación de la calidad: selección de procedimientos y estándares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>
                <a:solidFill>
                  <a:srgbClr val="545454"/>
                </a:solidFill>
              </a:rPr>
              <a:t>Control de calidad: definición y promulgación de  procesos que aseguran que procedimientos se cumplan</a:t>
            </a:r>
            <a:endParaRPr>
              <a:solidFill>
                <a:srgbClr val="545454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Estándares de componentes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 u="sng">
                <a:solidFill>
                  <a:srgbClr val="545454"/>
                </a:solidFill>
              </a:rPr>
              <a:t>Del producto</a:t>
            </a:r>
            <a:r>
              <a:rPr lang="es-MX">
                <a:solidFill>
                  <a:srgbClr val="545454"/>
                </a:solidFill>
              </a:rPr>
              <a:t>: se aplican sobre el elemento a desarrollar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 u="sng">
                <a:solidFill>
                  <a:srgbClr val="545454"/>
                </a:solidFill>
              </a:rPr>
              <a:t>Del proceso</a:t>
            </a:r>
            <a:r>
              <a:rPr lang="es-MX">
                <a:solidFill>
                  <a:srgbClr val="545454"/>
                </a:solidFill>
              </a:rPr>
              <a:t>: definen actividades de desarrollo</a:t>
            </a:r>
            <a:endParaRPr>
              <a:solidFill>
                <a:srgbClr val="545454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Estándares de documentación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>
                <a:solidFill>
                  <a:srgbClr val="545454"/>
                </a:solidFill>
              </a:rPr>
              <a:t>Proceso de documentación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>
                <a:solidFill>
                  <a:srgbClr val="545454"/>
                </a:solidFill>
              </a:rPr>
              <a:t>Del documento: gobierna la estructura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🠶"/>
            </a:pPr>
            <a:r>
              <a:rPr lang="es-MX">
                <a:solidFill>
                  <a:srgbClr val="545454"/>
                </a:solidFill>
              </a:rPr>
              <a:t>Intercambio de documentos</a:t>
            </a:r>
            <a:endParaRPr>
              <a:solidFill>
                <a:srgbClr val="545454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>
              <a:solidFill>
                <a:srgbClr val="545454"/>
              </a:solidFill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>
              <a:solidFill>
                <a:srgbClr val="54545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Calidad de proceso y producto</a:t>
            </a:r>
            <a:endParaRPr/>
          </a:p>
        </p:txBody>
      </p:sp>
      <p:graphicFrame>
        <p:nvGraphicFramePr>
          <p:cNvPr id="340" name="Google Shape;340;p5"/>
          <p:cNvGraphicFramePr/>
          <p:nvPr/>
        </p:nvGraphicFramePr>
        <p:xfrm>
          <a:off x="1116419" y="1465262"/>
          <a:ext cx="6102350" cy="2212975"/>
        </p:xfrm>
        <a:graphic>
          <a:graphicData uri="http://schemas.openxmlformats.org/presentationml/2006/ole">
            <mc:AlternateContent>
              <mc:Choice Requires="v">
                <p:oleObj r:id="rId4" imgH="2212975" imgW="6102350" progId="Visio.Drawing.11" spid="_x0000_s1">
                  <p:embed/>
                </p:oleObj>
              </mc:Choice>
              <mc:Fallback>
                <p:oleObj r:id="rId5" imgH="2212975" imgW="6102350" progId="Visio.Drawing.11">
                  <p:embed/>
                  <p:pic>
                    <p:nvPicPr>
                      <p:cNvPr id="340" name="Google Shape;340;p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116419" y="1465262"/>
                        <a:ext cx="6102350" cy="221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Capacidad y Resultados</a:t>
            </a:r>
            <a:endParaRPr/>
          </a:p>
        </p:txBody>
      </p:sp>
      <p:grpSp>
        <p:nvGrpSpPr>
          <p:cNvPr id="346" name="Google Shape;346;p6"/>
          <p:cNvGrpSpPr/>
          <p:nvPr/>
        </p:nvGrpSpPr>
        <p:grpSpPr>
          <a:xfrm>
            <a:off x="834404" y="1314632"/>
            <a:ext cx="2585293" cy="1741713"/>
            <a:chOff x="372" y="2255"/>
            <a:chExt cx="2172" cy="1463"/>
          </a:xfrm>
        </p:grpSpPr>
        <p:grpSp>
          <p:nvGrpSpPr>
            <p:cNvPr id="347" name="Google Shape;347;p6"/>
            <p:cNvGrpSpPr/>
            <p:nvPr/>
          </p:nvGrpSpPr>
          <p:grpSpPr>
            <a:xfrm>
              <a:off x="672" y="2304"/>
              <a:ext cx="1872" cy="1106"/>
              <a:chOff x="720" y="2544"/>
              <a:chExt cx="1872" cy="1106"/>
            </a:xfrm>
          </p:grpSpPr>
          <p:cxnSp>
            <p:nvCxnSpPr>
              <p:cNvPr id="348" name="Google Shape;348;p6"/>
              <p:cNvCxnSpPr/>
              <p:nvPr/>
            </p:nvCxnSpPr>
            <p:spPr>
              <a:xfrm>
                <a:off x="720" y="2544"/>
                <a:ext cx="0" cy="1104"/>
              </a:xfrm>
              <a:prstGeom prst="straightConnector1">
                <a:avLst/>
              </a:prstGeom>
              <a:noFill/>
              <a:ln cap="sq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6"/>
              <p:cNvCxnSpPr/>
              <p:nvPr/>
            </p:nvCxnSpPr>
            <p:spPr>
              <a:xfrm>
                <a:off x="720" y="3650"/>
                <a:ext cx="1872" cy="0"/>
              </a:xfrm>
              <a:prstGeom prst="straightConnector1">
                <a:avLst/>
              </a:prstGeom>
              <a:noFill/>
              <a:ln cap="sq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50" name="Google Shape;350;p6"/>
            <p:cNvSpPr txBox="1"/>
            <p:nvPr/>
          </p:nvSpPr>
          <p:spPr>
            <a:xfrm rot="-5395779">
              <a:off x="-48" y="2676"/>
              <a:ext cx="1152" cy="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MX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Probabilidad</a:t>
              </a:r>
              <a:endParaRPr/>
            </a:p>
          </p:txBody>
        </p:sp>
        <p:sp>
          <p:nvSpPr>
            <p:cNvPr id="351" name="Google Shape;351;p6"/>
            <p:cNvSpPr txBox="1"/>
            <p:nvPr/>
          </p:nvSpPr>
          <p:spPr>
            <a:xfrm>
              <a:off x="912" y="3408"/>
              <a:ext cx="1200" cy="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MX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Resultado</a:t>
              </a:r>
              <a:endParaRPr/>
            </a:p>
          </p:txBody>
        </p:sp>
      </p:grpSp>
      <p:cxnSp>
        <p:nvCxnSpPr>
          <p:cNvPr id="352" name="Google Shape;352;p6"/>
          <p:cNvCxnSpPr/>
          <p:nvPr/>
        </p:nvCxnSpPr>
        <p:spPr>
          <a:xfrm>
            <a:off x="2505296" y="1372006"/>
            <a:ext cx="0" cy="13144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3" name="Google Shape;353;p6"/>
          <p:cNvSpPr/>
          <p:nvPr/>
        </p:nvSpPr>
        <p:spPr>
          <a:xfrm>
            <a:off x="2105246" y="2000657"/>
            <a:ext cx="2000250" cy="581025"/>
          </a:xfrm>
          <a:custGeom>
            <a:rect b="b" l="l" r="r" t="t"/>
            <a:pathLst>
              <a:path extrusionOk="0" h="488" w="1680">
                <a:moveTo>
                  <a:pt x="0" y="488"/>
                </a:moveTo>
                <a:cubicBezTo>
                  <a:pt x="88" y="480"/>
                  <a:pt x="176" y="472"/>
                  <a:pt x="240" y="440"/>
                </a:cubicBezTo>
                <a:cubicBezTo>
                  <a:pt x="304" y="408"/>
                  <a:pt x="344" y="352"/>
                  <a:pt x="384" y="296"/>
                </a:cubicBezTo>
                <a:cubicBezTo>
                  <a:pt x="424" y="240"/>
                  <a:pt x="424" y="152"/>
                  <a:pt x="480" y="104"/>
                </a:cubicBezTo>
                <a:cubicBezTo>
                  <a:pt x="536" y="56"/>
                  <a:pt x="640" y="16"/>
                  <a:pt x="720" y="8"/>
                </a:cubicBezTo>
                <a:cubicBezTo>
                  <a:pt x="800" y="0"/>
                  <a:pt x="880" y="16"/>
                  <a:pt x="960" y="56"/>
                </a:cubicBezTo>
                <a:cubicBezTo>
                  <a:pt x="1040" y="96"/>
                  <a:pt x="1136" y="192"/>
                  <a:pt x="1200" y="248"/>
                </a:cubicBezTo>
                <a:cubicBezTo>
                  <a:pt x="1264" y="304"/>
                  <a:pt x="1280" y="360"/>
                  <a:pt x="1344" y="392"/>
                </a:cubicBezTo>
                <a:cubicBezTo>
                  <a:pt x="1408" y="424"/>
                  <a:pt x="1528" y="432"/>
                  <a:pt x="1584" y="440"/>
                </a:cubicBezTo>
                <a:cubicBezTo>
                  <a:pt x="1640" y="448"/>
                  <a:pt x="1660" y="444"/>
                  <a:pt x="1680" y="440"/>
                </a:cubicBezTo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" name="Google Shape;354;p6"/>
          <p:cNvGrpSpPr/>
          <p:nvPr/>
        </p:nvGrpSpPr>
        <p:grpSpPr>
          <a:xfrm>
            <a:off x="4263404" y="1314632"/>
            <a:ext cx="2585293" cy="1741713"/>
            <a:chOff x="372" y="2255"/>
            <a:chExt cx="2172" cy="1463"/>
          </a:xfrm>
        </p:grpSpPr>
        <p:grpSp>
          <p:nvGrpSpPr>
            <p:cNvPr id="355" name="Google Shape;355;p6"/>
            <p:cNvGrpSpPr/>
            <p:nvPr/>
          </p:nvGrpSpPr>
          <p:grpSpPr>
            <a:xfrm>
              <a:off x="672" y="2304"/>
              <a:ext cx="1872" cy="1106"/>
              <a:chOff x="720" y="2544"/>
              <a:chExt cx="1872" cy="1106"/>
            </a:xfrm>
          </p:grpSpPr>
          <p:cxnSp>
            <p:nvCxnSpPr>
              <p:cNvPr id="356" name="Google Shape;356;p6"/>
              <p:cNvCxnSpPr/>
              <p:nvPr/>
            </p:nvCxnSpPr>
            <p:spPr>
              <a:xfrm>
                <a:off x="720" y="2544"/>
                <a:ext cx="0" cy="1104"/>
              </a:xfrm>
              <a:prstGeom prst="straightConnector1">
                <a:avLst/>
              </a:prstGeom>
              <a:noFill/>
              <a:ln cap="sq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6"/>
              <p:cNvCxnSpPr/>
              <p:nvPr/>
            </p:nvCxnSpPr>
            <p:spPr>
              <a:xfrm>
                <a:off x="720" y="3650"/>
                <a:ext cx="1872" cy="0"/>
              </a:xfrm>
              <a:prstGeom prst="straightConnector1">
                <a:avLst/>
              </a:prstGeom>
              <a:noFill/>
              <a:ln cap="sq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58" name="Google Shape;358;p6"/>
            <p:cNvSpPr txBox="1"/>
            <p:nvPr/>
          </p:nvSpPr>
          <p:spPr>
            <a:xfrm rot="-5395779">
              <a:off x="-48" y="2676"/>
              <a:ext cx="1152" cy="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MX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Probabilidad</a:t>
              </a:r>
              <a:endParaRPr/>
            </a:p>
          </p:txBody>
        </p:sp>
        <p:sp>
          <p:nvSpPr>
            <p:cNvPr id="359" name="Google Shape;359;p6"/>
            <p:cNvSpPr txBox="1"/>
            <p:nvPr/>
          </p:nvSpPr>
          <p:spPr>
            <a:xfrm>
              <a:off x="912" y="3408"/>
              <a:ext cx="1200" cy="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MX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Resultado</a:t>
              </a:r>
              <a:endParaRPr/>
            </a:p>
          </p:txBody>
        </p:sp>
      </p:grpSp>
      <p:cxnSp>
        <p:nvCxnSpPr>
          <p:cNvPr id="360" name="Google Shape;360;p6"/>
          <p:cNvCxnSpPr/>
          <p:nvPr/>
        </p:nvCxnSpPr>
        <p:spPr>
          <a:xfrm>
            <a:off x="5419946" y="1372006"/>
            <a:ext cx="0" cy="13144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1" name="Google Shape;361;p6"/>
          <p:cNvSpPr/>
          <p:nvPr/>
        </p:nvSpPr>
        <p:spPr>
          <a:xfrm>
            <a:off x="4953222" y="1448206"/>
            <a:ext cx="923925" cy="1162050"/>
          </a:xfrm>
          <a:custGeom>
            <a:rect b="b" l="l" r="r" t="t"/>
            <a:pathLst>
              <a:path extrusionOk="0" h="976" w="776">
                <a:moveTo>
                  <a:pt x="0" y="976"/>
                </a:moveTo>
                <a:cubicBezTo>
                  <a:pt x="23" y="959"/>
                  <a:pt x="104" y="949"/>
                  <a:pt x="137" y="876"/>
                </a:cubicBezTo>
                <a:cubicBezTo>
                  <a:pt x="170" y="803"/>
                  <a:pt x="183" y="638"/>
                  <a:pt x="200" y="538"/>
                </a:cubicBezTo>
                <a:cubicBezTo>
                  <a:pt x="217" y="438"/>
                  <a:pt x="215" y="359"/>
                  <a:pt x="238" y="275"/>
                </a:cubicBezTo>
                <a:cubicBezTo>
                  <a:pt x="261" y="191"/>
                  <a:pt x="301" y="74"/>
                  <a:pt x="338" y="37"/>
                </a:cubicBezTo>
                <a:cubicBezTo>
                  <a:pt x="375" y="0"/>
                  <a:pt x="426" y="17"/>
                  <a:pt x="463" y="50"/>
                </a:cubicBezTo>
                <a:cubicBezTo>
                  <a:pt x="500" y="83"/>
                  <a:pt x="538" y="159"/>
                  <a:pt x="563" y="238"/>
                </a:cubicBezTo>
                <a:cubicBezTo>
                  <a:pt x="588" y="317"/>
                  <a:pt x="592" y="420"/>
                  <a:pt x="613" y="526"/>
                </a:cubicBezTo>
                <a:cubicBezTo>
                  <a:pt x="634" y="632"/>
                  <a:pt x="661" y="801"/>
                  <a:pt x="688" y="876"/>
                </a:cubicBezTo>
                <a:cubicBezTo>
                  <a:pt x="715" y="951"/>
                  <a:pt x="758" y="955"/>
                  <a:pt x="776" y="976"/>
                </a:cubicBezTo>
              </a:path>
            </a:pathLst>
          </a:custGeom>
          <a:noFill/>
          <a:ln cap="sq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 txBox="1"/>
          <p:nvPr/>
        </p:nvSpPr>
        <p:spPr>
          <a:xfrm>
            <a:off x="1076547" y="971957"/>
            <a:ext cx="28200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 de Baja capacidad</a:t>
            </a:r>
            <a:endParaRPr/>
          </a:p>
        </p:txBody>
      </p:sp>
      <p:sp>
        <p:nvSpPr>
          <p:cNvPr id="363" name="Google Shape;363;p6"/>
          <p:cNvSpPr txBox="1"/>
          <p:nvPr/>
        </p:nvSpPr>
        <p:spPr>
          <a:xfrm>
            <a:off x="4219797" y="971957"/>
            <a:ext cx="27815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</a:t>
            </a:r>
            <a:r>
              <a:rPr b="1" i="0" lang="es-MX" sz="1800" u="none" cap="none" strike="noStrike">
                <a:solidFill>
                  <a:srgbClr val="FF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s-MX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Alta capacidad</a:t>
            </a:r>
            <a:endParaRPr/>
          </a:p>
        </p:txBody>
      </p:sp>
      <p:sp>
        <p:nvSpPr>
          <p:cNvPr id="364" name="Google Shape;364;p6"/>
          <p:cNvSpPr txBox="1"/>
          <p:nvPr/>
        </p:nvSpPr>
        <p:spPr>
          <a:xfrm>
            <a:off x="1762347" y="2972206"/>
            <a:ext cx="413125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podría ser  plazo / fit presup / # bugs, etc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5" name="Google Shape;365;p6"/>
          <p:cNvCxnSpPr/>
          <p:nvPr/>
        </p:nvCxnSpPr>
        <p:spPr>
          <a:xfrm>
            <a:off x="5429250" y="3913188"/>
            <a:ext cx="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6"/>
          <p:cNvCxnSpPr/>
          <p:nvPr/>
        </p:nvCxnSpPr>
        <p:spPr>
          <a:xfrm>
            <a:off x="4791296" y="4229506"/>
            <a:ext cx="4000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7" name="Google Shape;367;p6"/>
          <p:cNvSpPr/>
          <p:nvPr/>
        </p:nvSpPr>
        <p:spPr>
          <a:xfrm>
            <a:off x="5419946" y="3543706"/>
            <a:ext cx="12001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Proceso</a:t>
            </a:r>
            <a:r>
              <a:rPr b="0" i="0" lang="es-MX" sz="1800" u="none" cap="none" strike="noStrike">
                <a:solidFill>
                  <a:srgbClr val="FFFF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s-MX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maduro tendrá alta capacidad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6"/>
          <p:cNvSpPr txBox="1"/>
          <p:nvPr/>
        </p:nvSpPr>
        <p:spPr>
          <a:xfrm>
            <a:off x="790796" y="3343681"/>
            <a:ext cx="40576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</a:pPr>
            <a:r>
              <a:rPr b="0" i="0" lang="es-MX" sz="1500" u="none" cap="none" strike="noStrik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Madurez de un proceso</a:t>
            </a:r>
            <a:endParaRPr b="0" i="0" sz="1500" u="none" cap="none" strike="noStrike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892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</a:pPr>
            <a:r>
              <a:rPr b="0" i="0" lang="es-MX" sz="1500" u="none" cap="none" strike="noStrik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La medida en la cual un proceso está explícitamente documentado, gestionado, medido, controlado y continuamente mejorado</a:t>
            </a:r>
            <a:endParaRPr b="0" i="0" sz="1500" u="none" cap="none" strike="noStrike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Modelos de calidad</a:t>
            </a:r>
            <a:endParaRPr/>
          </a:p>
        </p:txBody>
      </p:sp>
      <p:sp>
        <p:nvSpPr>
          <p:cNvPr id="374" name="Google Shape;374;p7"/>
          <p:cNvSpPr/>
          <p:nvPr/>
        </p:nvSpPr>
        <p:spPr>
          <a:xfrm>
            <a:off x="611187" y="1251346"/>
            <a:ext cx="7921625" cy="3187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NTP ISO/IEC 12207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Proporcionar una estructura común para que compradores, proveedores, desarrolladores, personal de mantenimiento, operadores, gestores y técnicos involucrados en el desarrollo de software usen un lenguaje común</a:t>
            </a:r>
            <a:endParaRPr b="0" i="0" sz="1050" u="none" cap="none" strike="noStrike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CMM (Capability Maturity Model)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Desarrollado por SEI (Software Engineering Institute), org. creado por el DoD de USA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Fuerte impacto en mejora del proceso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Estipula un Camino para la mejora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Areas Clave que se deben atacar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 12207 – Modelos de Ciclos de Vida del Software</a:t>
            </a:r>
            <a:endParaRPr/>
          </a:p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Actividades que debe incluir</a:t>
            </a:r>
            <a:endParaRPr b="0" i="0" sz="15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SPICE (Software Process Improvement and Capability dEtermination) – ISO 15504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Moprosoft (modelo Mexicano)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8"/>
          <p:cNvGrpSpPr/>
          <p:nvPr/>
        </p:nvGrpSpPr>
        <p:grpSpPr>
          <a:xfrm>
            <a:off x="1949026" y="1860696"/>
            <a:ext cx="1885951" cy="425053"/>
            <a:chOff x="1248" y="1920"/>
            <a:chExt cx="1584" cy="357"/>
          </a:xfrm>
        </p:grpSpPr>
        <p:sp>
          <p:nvSpPr>
            <p:cNvPr id="380" name="Google Shape;380;p8"/>
            <p:cNvSpPr txBox="1"/>
            <p:nvPr/>
          </p:nvSpPr>
          <p:spPr>
            <a:xfrm>
              <a:off x="1248" y="2064"/>
              <a:ext cx="1014" cy="21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Functionalidades</a:t>
              </a:r>
              <a:endParaRPr/>
            </a:p>
          </p:txBody>
        </p:sp>
        <p:cxnSp>
          <p:nvCxnSpPr>
            <p:cNvPr id="381" name="Google Shape;381;p8"/>
            <p:cNvCxnSpPr/>
            <p:nvPr/>
          </p:nvCxnSpPr>
          <p:spPr>
            <a:xfrm flipH="1" rot="10800000">
              <a:off x="2400" y="1920"/>
              <a:ext cx="432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2" name="Google Shape;382;p8"/>
          <p:cNvGrpSpPr/>
          <p:nvPr/>
        </p:nvGrpSpPr>
        <p:grpSpPr>
          <a:xfrm>
            <a:off x="3834975" y="1860696"/>
            <a:ext cx="1828800" cy="425053"/>
            <a:chOff x="2832" y="1920"/>
            <a:chExt cx="1536" cy="357"/>
          </a:xfrm>
        </p:grpSpPr>
        <p:sp>
          <p:nvSpPr>
            <p:cNvPr id="383" name="Google Shape;383;p8"/>
            <p:cNvSpPr txBox="1"/>
            <p:nvPr/>
          </p:nvSpPr>
          <p:spPr>
            <a:xfrm>
              <a:off x="3264" y="2064"/>
              <a:ext cx="1104" cy="21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Calidad</a:t>
              </a:r>
              <a:endParaRPr/>
            </a:p>
          </p:txBody>
        </p:sp>
        <p:cxnSp>
          <p:nvCxnSpPr>
            <p:cNvPr id="384" name="Google Shape;384;p8"/>
            <p:cNvCxnSpPr/>
            <p:nvPr/>
          </p:nvCxnSpPr>
          <p:spPr>
            <a:xfrm rot="10800000">
              <a:off x="2832" y="1920"/>
              <a:ext cx="432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5" name="Google Shape;385;p8"/>
          <p:cNvGrpSpPr/>
          <p:nvPr/>
        </p:nvGrpSpPr>
        <p:grpSpPr>
          <a:xfrm>
            <a:off x="3320625" y="1117747"/>
            <a:ext cx="1028700" cy="710803"/>
            <a:chOff x="2400" y="1296"/>
            <a:chExt cx="864" cy="597"/>
          </a:xfrm>
        </p:grpSpPr>
        <p:sp>
          <p:nvSpPr>
            <p:cNvPr id="386" name="Google Shape;386;p8"/>
            <p:cNvSpPr txBox="1"/>
            <p:nvPr/>
          </p:nvSpPr>
          <p:spPr>
            <a:xfrm>
              <a:off x="2400" y="1296"/>
              <a:ext cx="864" cy="21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Usuario</a:t>
              </a:r>
              <a:endParaRPr/>
            </a:p>
          </p:txBody>
        </p:sp>
        <p:sp>
          <p:nvSpPr>
            <p:cNvPr id="387" name="Google Shape;387;p8"/>
            <p:cNvSpPr txBox="1"/>
            <p:nvPr/>
          </p:nvSpPr>
          <p:spPr>
            <a:xfrm>
              <a:off x="2400" y="1680"/>
              <a:ext cx="864" cy="21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Software</a:t>
              </a:r>
              <a:endParaRPr/>
            </a:p>
          </p:txBody>
        </p:sp>
        <p:cxnSp>
          <p:nvCxnSpPr>
            <p:cNvPr id="388" name="Google Shape;388;p8"/>
            <p:cNvCxnSpPr/>
            <p:nvPr/>
          </p:nvCxnSpPr>
          <p:spPr>
            <a:xfrm rot="10800000">
              <a:off x="2832" y="1536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89" name="Google Shape;389;p8"/>
          <p:cNvGrpSpPr/>
          <p:nvPr/>
        </p:nvGrpSpPr>
        <p:grpSpPr>
          <a:xfrm>
            <a:off x="2006175" y="2317898"/>
            <a:ext cx="1257300" cy="1143000"/>
            <a:chOff x="1296" y="2304"/>
            <a:chExt cx="1056" cy="960"/>
          </a:xfrm>
        </p:grpSpPr>
        <p:sp>
          <p:nvSpPr>
            <p:cNvPr id="390" name="Google Shape;390;p8"/>
            <p:cNvSpPr txBox="1"/>
            <p:nvPr/>
          </p:nvSpPr>
          <p:spPr>
            <a:xfrm>
              <a:off x="1296" y="2448"/>
              <a:ext cx="1056" cy="34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Proceso de desarrollo</a:t>
              </a:r>
              <a:endParaRPr/>
            </a:p>
          </p:txBody>
        </p:sp>
        <p:cxnSp>
          <p:nvCxnSpPr>
            <p:cNvPr id="391" name="Google Shape;391;p8"/>
            <p:cNvCxnSpPr/>
            <p:nvPr/>
          </p:nvCxnSpPr>
          <p:spPr>
            <a:xfrm rot="10800000">
              <a:off x="1824" y="2304"/>
              <a:ext cx="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2" name="Google Shape;392;p8"/>
            <p:cNvSpPr/>
            <p:nvPr/>
          </p:nvSpPr>
          <p:spPr>
            <a:xfrm>
              <a:off x="1392" y="2928"/>
              <a:ext cx="576" cy="336"/>
            </a:xfrm>
            <a:prstGeom prst="ellipse">
              <a:avLst/>
            </a:prstGeom>
            <a:solidFill>
              <a:srgbClr val="00FA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Dev/Test</a:t>
              </a:r>
              <a:endParaRPr/>
            </a:p>
          </p:txBody>
        </p:sp>
        <p:cxnSp>
          <p:nvCxnSpPr>
            <p:cNvPr id="393" name="Google Shape;393;p8"/>
            <p:cNvCxnSpPr/>
            <p:nvPr/>
          </p:nvCxnSpPr>
          <p:spPr>
            <a:xfrm rot="10800000">
              <a:off x="1680" y="2832"/>
              <a:ext cx="0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94" name="Google Shape;394;p8"/>
          <p:cNvGrpSpPr/>
          <p:nvPr/>
        </p:nvGrpSpPr>
        <p:grpSpPr>
          <a:xfrm>
            <a:off x="3949275" y="2317898"/>
            <a:ext cx="1143000" cy="1143000"/>
            <a:chOff x="2928" y="2304"/>
            <a:chExt cx="960" cy="960"/>
          </a:xfrm>
        </p:grpSpPr>
        <p:sp>
          <p:nvSpPr>
            <p:cNvPr id="395" name="Google Shape;395;p8"/>
            <p:cNvSpPr txBox="1"/>
            <p:nvPr/>
          </p:nvSpPr>
          <p:spPr>
            <a:xfrm>
              <a:off x="2928" y="2448"/>
              <a:ext cx="960" cy="21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Proceso ACS</a:t>
              </a:r>
              <a:endParaRPr/>
            </a:p>
          </p:txBody>
        </p:sp>
        <p:cxnSp>
          <p:nvCxnSpPr>
            <p:cNvPr id="396" name="Google Shape;396;p8"/>
            <p:cNvCxnSpPr/>
            <p:nvPr/>
          </p:nvCxnSpPr>
          <p:spPr>
            <a:xfrm flipH="1" rot="10800000">
              <a:off x="3408" y="2304"/>
              <a:ext cx="336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7" name="Google Shape;397;p8"/>
            <p:cNvSpPr/>
            <p:nvPr/>
          </p:nvSpPr>
          <p:spPr>
            <a:xfrm>
              <a:off x="3072" y="2928"/>
              <a:ext cx="576" cy="336"/>
            </a:xfrm>
            <a:prstGeom prst="ellipse">
              <a:avLst/>
            </a:prstGeom>
            <a:solidFill>
              <a:srgbClr val="A8A8E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ACS Esp</a:t>
              </a:r>
              <a:endParaRPr/>
            </a:p>
          </p:txBody>
        </p:sp>
        <p:cxnSp>
          <p:nvCxnSpPr>
            <p:cNvPr id="398" name="Google Shape;398;p8"/>
            <p:cNvCxnSpPr/>
            <p:nvPr/>
          </p:nvCxnSpPr>
          <p:spPr>
            <a:xfrm rot="10800000">
              <a:off x="3360" y="2832"/>
              <a:ext cx="0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99" name="Google Shape;399;p8"/>
          <p:cNvGrpSpPr/>
          <p:nvPr/>
        </p:nvGrpSpPr>
        <p:grpSpPr>
          <a:xfrm>
            <a:off x="5206575" y="2317898"/>
            <a:ext cx="1257300" cy="1143000"/>
            <a:chOff x="3984" y="2304"/>
            <a:chExt cx="1056" cy="960"/>
          </a:xfrm>
        </p:grpSpPr>
        <p:sp>
          <p:nvSpPr>
            <p:cNvPr id="400" name="Google Shape;400;p8"/>
            <p:cNvSpPr txBox="1"/>
            <p:nvPr/>
          </p:nvSpPr>
          <p:spPr>
            <a:xfrm>
              <a:off x="4080" y="2448"/>
              <a:ext cx="960" cy="349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Todos</a:t>
              </a:r>
              <a:b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ICS</a:t>
              </a:r>
              <a:endParaRPr/>
            </a:p>
          </p:txBody>
        </p:sp>
        <p:cxnSp>
          <p:nvCxnSpPr>
            <p:cNvPr id="401" name="Google Shape;401;p8"/>
            <p:cNvCxnSpPr/>
            <p:nvPr/>
          </p:nvCxnSpPr>
          <p:spPr>
            <a:xfrm rot="10800000">
              <a:off x="3984" y="2304"/>
              <a:ext cx="480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2" name="Google Shape;402;p8"/>
            <p:cNvSpPr/>
            <p:nvPr/>
          </p:nvSpPr>
          <p:spPr>
            <a:xfrm>
              <a:off x="4368" y="2928"/>
              <a:ext cx="528" cy="336"/>
            </a:xfrm>
            <a:prstGeom prst="ellipse">
              <a:avLst/>
            </a:prstGeom>
            <a:solidFill>
              <a:srgbClr val="5555C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CS Ig</a:t>
              </a:r>
              <a:endParaRPr/>
            </a:p>
          </p:txBody>
        </p:sp>
        <p:cxnSp>
          <p:nvCxnSpPr>
            <p:cNvPr id="403" name="Google Shape;403;p8"/>
            <p:cNvCxnSpPr/>
            <p:nvPr/>
          </p:nvCxnSpPr>
          <p:spPr>
            <a:xfrm rot="10800000">
              <a:off x="4608" y="2832"/>
              <a:ext cx="0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04" name="Google Shape;404;p8"/>
          <p:cNvGrpSpPr/>
          <p:nvPr/>
        </p:nvGrpSpPr>
        <p:grpSpPr>
          <a:xfrm>
            <a:off x="2749125" y="3403748"/>
            <a:ext cx="3257550" cy="514350"/>
            <a:chOff x="1920" y="3216"/>
            <a:chExt cx="2736" cy="432"/>
          </a:xfrm>
        </p:grpSpPr>
        <p:sp>
          <p:nvSpPr>
            <p:cNvPr id="405" name="Google Shape;405;p8"/>
            <p:cNvSpPr/>
            <p:nvPr/>
          </p:nvSpPr>
          <p:spPr>
            <a:xfrm>
              <a:off x="2112" y="3312"/>
              <a:ext cx="576" cy="336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Admin</a:t>
              </a:r>
              <a:endParaRPr/>
            </a:p>
          </p:txBody>
        </p:sp>
        <p:cxnSp>
          <p:nvCxnSpPr>
            <p:cNvPr id="406" name="Google Shape;406;p8"/>
            <p:cNvCxnSpPr/>
            <p:nvPr/>
          </p:nvCxnSpPr>
          <p:spPr>
            <a:xfrm>
              <a:off x="1920" y="3216"/>
              <a:ext cx="288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07" name="Google Shape;407;p8"/>
            <p:cNvCxnSpPr/>
            <p:nvPr/>
          </p:nvCxnSpPr>
          <p:spPr>
            <a:xfrm>
              <a:off x="2688" y="3456"/>
              <a:ext cx="196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8"/>
            <p:cNvCxnSpPr/>
            <p:nvPr/>
          </p:nvCxnSpPr>
          <p:spPr>
            <a:xfrm rot="10800000">
              <a:off x="4656" y="3264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9" name="Google Shape;409;p8"/>
            <p:cNvCxnSpPr/>
            <p:nvPr/>
          </p:nvCxnSpPr>
          <p:spPr>
            <a:xfrm rot="10800000">
              <a:off x="3360" y="3264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10" name="Google Shape;410;p8"/>
          <p:cNvGrpSpPr/>
          <p:nvPr/>
        </p:nvGrpSpPr>
        <p:grpSpPr>
          <a:xfrm>
            <a:off x="3606375" y="3746648"/>
            <a:ext cx="1543050" cy="400050"/>
            <a:chOff x="2640" y="3504"/>
            <a:chExt cx="1296" cy="336"/>
          </a:xfrm>
        </p:grpSpPr>
        <p:sp>
          <p:nvSpPr>
            <p:cNvPr id="411" name="Google Shape;411;p8"/>
            <p:cNvSpPr/>
            <p:nvPr/>
          </p:nvSpPr>
          <p:spPr>
            <a:xfrm>
              <a:off x="3360" y="3504"/>
              <a:ext cx="576" cy="336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Noto Sans Symbols"/>
                <a:buNone/>
              </a:pPr>
              <a:r>
                <a:rPr b="0" i="0" lang="es-MX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 Contr</a:t>
              </a:r>
              <a:endParaRPr/>
            </a:p>
          </p:txBody>
        </p:sp>
        <p:cxnSp>
          <p:nvCxnSpPr>
            <p:cNvPr id="412" name="Google Shape;412;p8"/>
            <p:cNvCxnSpPr/>
            <p:nvPr/>
          </p:nvCxnSpPr>
          <p:spPr>
            <a:xfrm rot="10800000">
              <a:off x="2640" y="3552"/>
              <a:ext cx="720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13" name="Google Shape;413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Que es calidad de software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 sz="24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Metodologías de Programación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818708" y="1119452"/>
            <a:ext cx="7062788" cy="3532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Principios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Abstracción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Esconder Información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Descomposición Funcional (50s)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Modularización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Reutilización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Programación Estructurada (70s)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 Data Types (74)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Lenguajes Orientados a Objetos (80s)</a:t>
            </a:r>
            <a:endParaRPr/>
          </a:p>
          <a:p>
            <a:pPr indent="-228600" lvl="2" marL="1143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 Base Programming (COTS – Components of the Shelf)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Modelos de Desarrollo de Software</a:t>
            </a:r>
            <a:endParaRPr/>
          </a:p>
        </p:txBody>
      </p:sp>
      <p:sp>
        <p:nvSpPr>
          <p:cNvPr id="425" name="Google Shape;425;p10"/>
          <p:cNvSpPr txBox="1"/>
          <p:nvPr/>
        </p:nvSpPr>
        <p:spPr>
          <a:xfrm>
            <a:off x="935039" y="1322389"/>
            <a:ext cx="7900987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modelo intenta proveer un conjunto de guías para el diseño e implementación del sistema.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 Cascada (Royce 70)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Prototipos (Curtis y colegas 87)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Espiral (Boehm 88)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 (GMOD 92)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Evolucionario (Lehman 85, Gilb 88, Gustavsson 89)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</a:pP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Incremental (Mills y colegas 80)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MX">
                <a:solidFill>
                  <a:srgbClr val="FE9202"/>
                </a:solidFill>
              </a:rPr>
              <a:t>El Proceso de Desarrollo</a:t>
            </a:r>
            <a:endParaRPr/>
          </a:p>
        </p:txBody>
      </p:sp>
      <p:sp>
        <p:nvSpPr>
          <p:cNvPr id="431" name="Google Shape;431;p11"/>
          <p:cNvSpPr txBox="1"/>
          <p:nvPr/>
        </p:nvSpPr>
        <p:spPr>
          <a:xfrm>
            <a:off x="1363959" y="1179845"/>
            <a:ext cx="6015037" cy="369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Nueva disciplina de Proceso de Ingeniería de Software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 de CMM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 9000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 IS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Establecimiento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Mejoramiento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🠶"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Estandarización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… de procesos de software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wQuagmire" id="436" name="Google Shape;4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4800" y="1006476"/>
            <a:ext cx="5994400" cy="4011613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MX">
                <a:solidFill>
                  <a:srgbClr val="FE9202"/>
                </a:solidFill>
              </a:rPr>
              <a:t>Estándares </a:t>
            </a:r>
            <a:endParaRPr>
              <a:solidFill>
                <a:srgbClr val="FE920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Modelo de Calidad ISO 9126</a:t>
            </a:r>
            <a:endParaRPr/>
          </a:p>
        </p:txBody>
      </p:sp>
      <p:graphicFrame>
        <p:nvGraphicFramePr>
          <p:cNvPr id="443" name="Google Shape;443;p13"/>
          <p:cNvGraphicFramePr/>
          <p:nvPr/>
        </p:nvGraphicFramePr>
        <p:xfrm>
          <a:off x="1222744" y="1180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{4776BAC6-CE7B-446E-B1AA-4B2FB5AA813B}</a:tableStyleId>
              </a:tblPr>
              <a:tblGrid>
                <a:gridCol w="2944025"/>
                <a:gridCol w="2944025"/>
              </a:tblGrid>
              <a:tr h="38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90"/>
                        <a:buFont typeface="Noto Sans Symbols"/>
                        <a:buNone/>
                      </a:pPr>
                      <a:r>
                        <a:rPr b="1" i="0" lang="es-MX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Característica</a:t>
                      </a:r>
                      <a:endParaRPr/>
                    </a:p>
                  </a:txBody>
                  <a:tcPr marT="34300" marB="34300" marR="68550" marL="685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90"/>
                        <a:buFont typeface="Noto Sans Symbols"/>
                        <a:buNone/>
                      </a:pPr>
                      <a:r>
                        <a:rPr b="1" i="0" lang="es-MX" sz="2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Atributo</a:t>
                      </a:r>
                      <a:endParaRPr/>
                    </a:p>
                  </a:txBody>
                  <a:tcPr marT="34300" marB="34300" marR="68550" marL="68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Funcionalidad</a:t>
                      </a:r>
                      <a:endParaRPr/>
                    </a:p>
                  </a:txBody>
                  <a:tcPr marT="34300" marB="34300" marR="68550" marL="685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Conveniente, exactitud, interoperabilidad, seguridad </a:t>
                      </a:r>
                      <a:endParaRPr/>
                    </a:p>
                  </a:txBody>
                  <a:tcPr marT="34300" marB="34300" marR="68550" marL="68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Confiabilidad</a:t>
                      </a:r>
                      <a:endParaRPr/>
                    </a:p>
                  </a:txBody>
                  <a:tcPr marT="34300" marB="34300" marR="68550" marL="685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Maduro, tolerancia a fallas, recuperabilidad </a:t>
                      </a:r>
                      <a:endParaRPr/>
                    </a:p>
                  </a:txBody>
                  <a:tcPr marT="34300" marB="34300" marR="68550" marL="68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Utilidad</a:t>
                      </a:r>
                      <a:endParaRPr/>
                    </a:p>
                  </a:txBody>
                  <a:tcPr marT="34300" marB="34300" marR="68550" marL="685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Fácil de entender, aprender, operar</a:t>
                      </a:r>
                      <a:endParaRPr/>
                    </a:p>
                  </a:txBody>
                  <a:tcPr marT="34300" marB="34300" marR="68550" marL="68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Eficiencia</a:t>
                      </a:r>
                      <a:endParaRPr/>
                    </a:p>
                  </a:txBody>
                  <a:tcPr marT="34300" marB="34300" marR="68550" marL="685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Comportamiento en el tiempo, Comportamiento de los recursos</a:t>
                      </a:r>
                      <a:endParaRPr/>
                    </a:p>
                  </a:txBody>
                  <a:tcPr marT="34300" marB="34300" marR="68550" marL="68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Fácil de Mantener</a:t>
                      </a:r>
                      <a:endParaRPr/>
                    </a:p>
                  </a:txBody>
                  <a:tcPr marT="34300" marB="34300" marR="68550" marL="685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Fácil de analizar, modificar, probar; estabilidad</a:t>
                      </a:r>
                      <a:endParaRPr/>
                    </a:p>
                  </a:txBody>
                  <a:tcPr marT="34300" marB="34300" marR="68550" marL="68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7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Portabilidad</a:t>
                      </a:r>
                      <a:endParaRPr/>
                    </a:p>
                  </a:txBody>
                  <a:tcPr marT="34300" marB="34300" marR="68550" marL="685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0" i="0" lang="es-MX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Fácil de adaptarse, instalarse, adecuarse, reemplazarse.</a:t>
                      </a:r>
                      <a:endParaRPr/>
                    </a:p>
                  </a:txBody>
                  <a:tcPr marT="34300" marB="34300" marR="68550" marL="685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4"/>
          <p:cNvSpPr/>
          <p:nvPr/>
        </p:nvSpPr>
        <p:spPr>
          <a:xfrm>
            <a:off x="3131030" y="1826142"/>
            <a:ext cx="1828800" cy="228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Noto Sans Symbol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 sz="28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Modelo Genérico del Desarrollo de Software</a:t>
            </a:r>
            <a:endParaRPr/>
          </a:p>
        </p:txBody>
      </p:sp>
      <p:sp>
        <p:nvSpPr>
          <p:cNvPr id="450" name="Google Shape;450;p14"/>
          <p:cNvSpPr/>
          <p:nvPr/>
        </p:nvSpPr>
        <p:spPr>
          <a:xfrm>
            <a:off x="1645130" y="2740542"/>
            <a:ext cx="1143000" cy="457200"/>
          </a:xfrm>
          <a:prstGeom prst="rect">
            <a:avLst/>
          </a:prstGeom>
          <a:solidFill>
            <a:srgbClr val="F0F0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3473930" y="1997592"/>
            <a:ext cx="1143000" cy="457200"/>
          </a:xfrm>
          <a:prstGeom prst="rect">
            <a:avLst/>
          </a:prstGeom>
          <a:solidFill>
            <a:srgbClr val="F0F0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Procesos de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452" name="Google Shape;452;p14"/>
          <p:cNvSpPr/>
          <p:nvPr/>
        </p:nvSpPr>
        <p:spPr>
          <a:xfrm>
            <a:off x="3473930" y="3312042"/>
            <a:ext cx="1143000" cy="457200"/>
          </a:xfrm>
          <a:prstGeom prst="rect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Procesos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5074130" y="1997592"/>
            <a:ext cx="1257300" cy="457200"/>
          </a:xfrm>
          <a:prstGeom prst="rect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Desarrolladores</a:t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5074130" y="3312042"/>
            <a:ext cx="1314450" cy="457200"/>
          </a:xfrm>
          <a:prstGeom prst="rect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Administradores</a:t>
            </a:r>
            <a:endParaRPr/>
          </a:p>
        </p:txBody>
      </p:sp>
      <p:cxnSp>
        <p:nvCxnSpPr>
          <p:cNvPr id="455" name="Google Shape;455;p14"/>
          <p:cNvCxnSpPr/>
          <p:nvPr/>
        </p:nvCxnSpPr>
        <p:spPr>
          <a:xfrm>
            <a:off x="2788130" y="2969142"/>
            <a:ext cx="34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6" name="Google Shape;456;p14"/>
          <p:cNvCxnSpPr/>
          <p:nvPr/>
        </p:nvCxnSpPr>
        <p:spPr>
          <a:xfrm>
            <a:off x="3131030" y="2226192"/>
            <a:ext cx="34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7" name="Google Shape;457;p14"/>
          <p:cNvCxnSpPr/>
          <p:nvPr/>
        </p:nvCxnSpPr>
        <p:spPr>
          <a:xfrm>
            <a:off x="3131030" y="3540642"/>
            <a:ext cx="342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8" name="Google Shape;458;p14"/>
          <p:cNvCxnSpPr/>
          <p:nvPr/>
        </p:nvCxnSpPr>
        <p:spPr>
          <a:xfrm>
            <a:off x="4616930" y="2226192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9" name="Google Shape;459;p14"/>
          <p:cNvCxnSpPr/>
          <p:nvPr/>
        </p:nvCxnSpPr>
        <p:spPr>
          <a:xfrm>
            <a:off x="4616930" y="3540642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60" name="Google Shape;460;p14"/>
          <p:cNvCxnSpPr/>
          <p:nvPr/>
        </p:nvCxnSpPr>
        <p:spPr>
          <a:xfrm>
            <a:off x="3988280" y="2454792"/>
            <a:ext cx="0" cy="8572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1" name="Google Shape;461;p14"/>
          <p:cNvGrpSpPr/>
          <p:nvPr/>
        </p:nvGrpSpPr>
        <p:grpSpPr>
          <a:xfrm>
            <a:off x="2216630" y="3197742"/>
            <a:ext cx="3429000" cy="1200150"/>
            <a:chOff x="1968" y="2352"/>
            <a:chExt cx="2880" cy="1008"/>
          </a:xfrm>
        </p:grpSpPr>
        <p:cxnSp>
          <p:nvCxnSpPr>
            <p:cNvPr id="462" name="Google Shape;462;p14"/>
            <p:cNvCxnSpPr/>
            <p:nvPr/>
          </p:nvCxnSpPr>
          <p:spPr>
            <a:xfrm>
              <a:off x="1968" y="2352"/>
              <a:ext cx="0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63" name="Google Shape;463;p14"/>
            <p:cNvCxnSpPr/>
            <p:nvPr/>
          </p:nvCxnSpPr>
          <p:spPr>
            <a:xfrm>
              <a:off x="1968" y="3360"/>
              <a:ext cx="288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14"/>
            <p:cNvCxnSpPr/>
            <p:nvPr/>
          </p:nvCxnSpPr>
          <p:spPr>
            <a:xfrm rot="10800000">
              <a:off x="4848" y="2832"/>
              <a:ext cx="0" cy="5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5" name="Google Shape;465;p14"/>
          <p:cNvSpPr txBox="1"/>
          <p:nvPr/>
        </p:nvSpPr>
        <p:spPr>
          <a:xfrm>
            <a:off x="3131031" y="3826393"/>
            <a:ext cx="19062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 Organización</a:t>
            </a:r>
            <a:endParaRPr/>
          </a:p>
        </p:txBody>
      </p:sp>
      <p:cxnSp>
        <p:nvCxnSpPr>
          <p:cNvPr id="466" name="Google Shape;466;p14"/>
          <p:cNvCxnSpPr/>
          <p:nvPr/>
        </p:nvCxnSpPr>
        <p:spPr>
          <a:xfrm rot="10800000">
            <a:off x="2216630" y="1483242"/>
            <a:ext cx="0" cy="1200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67" name="Google Shape;467;p14"/>
          <p:cNvCxnSpPr/>
          <p:nvPr/>
        </p:nvCxnSpPr>
        <p:spPr>
          <a:xfrm>
            <a:off x="2216630" y="1483242"/>
            <a:ext cx="3429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14"/>
          <p:cNvCxnSpPr/>
          <p:nvPr/>
        </p:nvCxnSpPr>
        <p:spPr>
          <a:xfrm>
            <a:off x="5645630" y="1483242"/>
            <a:ext cx="0" cy="514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 sz="33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Implementación del Modelo Genérico</a:t>
            </a: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3602000" y="1101725"/>
            <a:ext cx="1028700" cy="514350"/>
          </a:xfrm>
          <a:prstGeom prst="rect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Organización</a:t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5087900" y="1101725"/>
            <a:ext cx="1028700" cy="514350"/>
          </a:xfrm>
          <a:prstGeom prst="flowChartAlternateProcess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Referencia</a:t>
            </a:r>
            <a:endParaRPr/>
          </a:p>
        </p:txBody>
      </p:sp>
      <p:cxnSp>
        <p:nvCxnSpPr>
          <p:cNvPr id="476" name="Google Shape;476;p15"/>
          <p:cNvCxnSpPr/>
          <p:nvPr/>
        </p:nvCxnSpPr>
        <p:spPr>
          <a:xfrm>
            <a:off x="1658900" y="1958975"/>
            <a:ext cx="457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15"/>
          <p:cNvCxnSpPr/>
          <p:nvPr/>
        </p:nvCxnSpPr>
        <p:spPr>
          <a:xfrm>
            <a:off x="1658900" y="2244725"/>
            <a:ext cx="4572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15"/>
          <p:cNvSpPr/>
          <p:nvPr/>
        </p:nvSpPr>
        <p:spPr>
          <a:xfrm>
            <a:off x="1716050" y="2530475"/>
            <a:ext cx="857250" cy="1143000"/>
          </a:xfrm>
          <a:prstGeom prst="roundRect">
            <a:avLst>
              <a:gd fmla="val 16667" name="adj"/>
            </a:avLst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Derivado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Referencia</a:t>
            </a: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2801900" y="2530475"/>
            <a:ext cx="1028700" cy="514350"/>
          </a:xfrm>
          <a:prstGeom prst="rect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2801900" y="3273425"/>
            <a:ext cx="1028700" cy="514350"/>
          </a:xfrm>
          <a:prstGeom prst="rect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2801900" y="4187825"/>
            <a:ext cx="1085850" cy="457200"/>
          </a:xfrm>
          <a:prstGeom prst="ellipse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 1</a:t>
            </a:r>
            <a:endParaRPr/>
          </a:p>
        </p:txBody>
      </p:sp>
      <p:cxnSp>
        <p:nvCxnSpPr>
          <p:cNvPr id="482" name="Google Shape;482;p15"/>
          <p:cNvCxnSpPr/>
          <p:nvPr/>
        </p:nvCxnSpPr>
        <p:spPr>
          <a:xfrm>
            <a:off x="2573300" y="2816225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3" name="Google Shape;483;p15"/>
          <p:cNvCxnSpPr/>
          <p:nvPr/>
        </p:nvCxnSpPr>
        <p:spPr>
          <a:xfrm>
            <a:off x="2573300" y="3444875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4" name="Google Shape;484;p15"/>
          <p:cNvCxnSpPr/>
          <p:nvPr/>
        </p:nvCxnSpPr>
        <p:spPr>
          <a:xfrm>
            <a:off x="2116100" y="2244725"/>
            <a:ext cx="0" cy="2857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5" name="Google Shape;485;p15"/>
          <p:cNvCxnSpPr/>
          <p:nvPr/>
        </p:nvCxnSpPr>
        <p:spPr>
          <a:xfrm>
            <a:off x="3316250" y="1958975"/>
            <a:ext cx="0" cy="57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6" name="Google Shape;486;p15"/>
          <p:cNvCxnSpPr/>
          <p:nvPr/>
        </p:nvCxnSpPr>
        <p:spPr>
          <a:xfrm>
            <a:off x="4116350" y="1616075"/>
            <a:ext cx="0" cy="34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7" name="Google Shape;487;p15"/>
          <p:cNvCxnSpPr/>
          <p:nvPr/>
        </p:nvCxnSpPr>
        <p:spPr>
          <a:xfrm>
            <a:off x="5545100" y="1616075"/>
            <a:ext cx="0" cy="34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8" name="Google Shape;488;p15"/>
          <p:cNvCxnSpPr/>
          <p:nvPr/>
        </p:nvCxnSpPr>
        <p:spPr>
          <a:xfrm>
            <a:off x="3316250" y="3787775"/>
            <a:ext cx="0" cy="400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89" name="Google Shape;489;p15"/>
          <p:cNvCxnSpPr/>
          <p:nvPr/>
        </p:nvCxnSpPr>
        <p:spPr>
          <a:xfrm>
            <a:off x="3316250" y="3044825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90" name="Google Shape;490;p15"/>
          <p:cNvSpPr/>
          <p:nvPr/>
        </p:nvSpPr>
        <p:spPr>
          <a:xfrm>
            <a:off x="4230650" y="2530475"/>
            <a:ext cx="857250" cy="1143000"/>
          </a:xfrm>
          <a:prstGeom prst="roundRect">
            <a:avLst>
              <a:gd fmla="val 16667" name="adj"/>
            </a:avLst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Derivado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Referencia</a:t>
            </a: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5316500" y="2530475"/>
            <a:ext cx="1028700" cy="514350"/>
          </a:xfrm>
          <a:prstGeom prst="rect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5316500" y="3273425"/>
            <a:ext cx="1028700" cy="514350"/>
          </a:xfrm>
          <a:prstGeom prst="rect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 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5316500" y="4187825"/>
            <a:ext cx="1085850" cy="457200"/>
          </a:xfrm>
          <a:prstGeom prst="ellipse">
            <a:avLst/>
          </a:prstGeom>
          <a:solidFill>
            <a:srgbClr val="E6C5FD">
              <a:alpha val="50196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 n</a:t>
            </a:r>
            <a:endParaRPr/>
          </a:p>
        </p:txBody>
      </p:sp>
      <p:cxnSp>
        <p:nvCxnSpPr>
          <p:cNvPr id="494" name="Google Shape;494;p15"/>
          <p:cNvCxnSpPr/>
          <p:nvPr/>
        </p:nvCxnSpPr>
        <p:spPr>
          <a:xfrm>
            <a:off x="5087900" y="2816225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5" name="Google Shape;495;p15"/>
          <p:cNvCxnSpPr/>
          <p:nvPr/>
        </p:nvCxnSpPr>
        <p:spPr>
          <a:xfrm>
            <a:off x="5087900" y="3444875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6" name="Google Shape;496;p15"/>
          <p:cNvCxnSpPr/>
          <p:nvPr/>
        </p:nvCxnSpPr>
        <p:spPr>
          <a:xfrm>
            <a:off x="4630700" y="2244725"/>
            <a:ext cx="0" cy="2857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7" name="Google Shape;497;p15"/>
          <p:cNvCxnSpPr/>
          <p:nvPr/>
        </p:nvCxnSpPr>
        <p:spPr>
          <a:xfrm>
            <a:off x="5830850" y="1958975"/>
            <a:ext cx="0" cy="57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8" name="Google Shape;498;p15"/>
          <p:cNvCxnSpPr/>
          <p:nvPr/>
        </p:nvCxnSpPr>
        <p:spPr>
          <a:xfrm>
            <a:off x="5830850" y="3787775"/>
            <a:ext cx="0" cy="400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99" name="Google Shape;499;p15"/>
          <p:cNvCxnSpPr/>
          <p:nvPr/>
        </p:nvCxnSpPr>
        <p:spPr>
          <a:xfrm>
            <a:off x="5830850" y="3044825"/>
            <a:ext cx="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00" name="Google Shape;500;p15"/>
          <p:cNvSpPr txBox="1"/>
          <p:nvPr/>
        </p:nvSpPr>
        <p:spPr>
          <a:xfrm>
            <a:off x="4448138" y="4271963"/>
            <a:ext cx="319318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501" name="Google Shape;501;p15"/>
          <p:cNvSpPr txBox="1"/>
          <p:nvPr/>
        </p:nvSpPr>
        <p:spPr>
          <a:xfrm>
            <a:off x="1590638" y="1643063"/>
            <a:ext cx="952505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organización</a:t>
            </a:r>
            <a:endParaRPr/>
          </a:p>
        </p:txBody>
      </p:sp>
      <p:sp>
        <p:nvSpPr>
          <p:cNvPr id="502" name="Google Shape;502;p15"/>
          <p:cNvSpPr txBox="1"/>
          <p:nvPr/>
        </p:nvSpPr>
        <p:spPr>
          <a:xfrm>
            <a:off x="1601751" y="1958975"/>
            <a:ext cx="665567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102" y="1203319"/>
            <a:ext cx="6481763" cy="3614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Ingeniería de Calidad de Software: Definición</a:t>
            </a:r>
            <a:endParaRPr/>
          </a:p>
        </p:txBody>
      </p:sp>
      <p:sp>
        <p:nvSpPr>
          <p:cNvPr id="513" name="Google Shape;513;p17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6667"/>
              <a:buAutoNum type="arabicPeriod"/>
            </a:pPr>
            <a:r>
              <a:rPr lang="es-MX" sz="12000">
                <a:latin typeface="Arial"/>
                <a:ea typeface="Arial"/>
                <a:cs typeface="Arial"/>
                <a:sym typeface="Arial"/>
              </a:rPr>
              <a:t>Es la aplicación de alcances cuantificables, diciplinados, sistemáticos y continuos en el desarrollo y mantenimiento durante el ciclo de vida de productos de software y sistemas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8"/>
          <p:cNvSpPr/>
          <p:nvPr/>
        </p:nvSpPr>
        <p:spPr>
          <a:xfrm>
            <a:off x="3292142" y="1222314"/>
            <a:ext cx="2018180" cy="3467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ISO/IEC JTC 1 SC7</a:t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6117331" y="2581215"/>
            <a:ext cx="1312863" cy="339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 Software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6013647" y="2395477"/>
            <a:ext cx="431207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WG2</a:t>
            </a:r>
            <a:endParaRPr/>
          </a:p>
        </p:txBody>
      </p:sp>
      <p:sp>
        <p:nvSpPr>
          <p:cNvPr id="521" name="Google Shape;521;p18"/>
          <p:cNvSpPr/>
          <p:nvPr/>
        </p:nvSpPr>
        <p:spPr>
          <a:xfrm>
            <a:off x="6025553" y="2993965"/>
            <a:ext cx="431207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WG6</a:t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4496493" y="3228915"/>
            <a:ext cx="1306512" cy="3444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Assessment</a:t>
            </a:r>
            <a:endParaRPr/>
          </a:p>
        </p:txBody>
      </p:sp>
      <p:sp>
        <p:nvSpPr>
          <p:cNvPr id="523" name="Google Shape;523;p18"/>
          <p:cNvSpPr/>
          <p:nvPr/>
        </p:nvSpPr>
        <p:spPr>
          <a:xfrm>
            <a:off x="4445664" y="3043177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WG10</a:t>
            </a:r>
            <a:endParaRPr/>
          </a:p>
        </p:txBody>
      </p:sp>
      <p:sp>
        <p:nvSpPr>
          <p:cNvPr id="524" name="Google Shape;524;p18"/>
          <p:cNvSpPr/>
          <p:nvPr/>
        </p:nvSpPr>
        <p:spPr>
          <a:xfrm>
            <a:off x="2767705" y="3228915"/>
            <a:ext cx="1312863" cy="339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</a:t>
            </a:r>
            <a:endParaRPr/>
          </a:p>
        </p:txBody>
      </p:sp>
      <p:sp>
        <p:nvSpPr>
          <p:cNvPr id="525" name="Google Shape;525;p18"/>
          <p:cNvSpPr/>
          <p:nvPr/>
        </p:nvSpPr>
        <p:spPr>
          <a:xfrm>
            <a:off x="2718791" y="3043177"/>
            <a:ext cx="431207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WG4</a:t>
            </a:r>
            <a:endParaRPr/>
          </a:p>
        </p:txBody>
      </p:sp>
      <p:sp>
        <p:nvSpPr>
          <p:cNvPr id="526" name="Google Shape;526;p18"/>
          <p:cNvSpPr/>
          <p:nvPr/>
        </p:nvSpPr>
        <p:spPr>
          <a:xfrm>
            <a:off x="4496493" y="2581215"/>
            <a:ext cx="1314450" cy="339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 Cycle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</a:t>
            </a:r>
            <a:endParaRPr/>
          </a:p>
        </p:txBody>
      </p:sp>
      <p:sp>
        <p:nvSpPr>
          <p:cNvPr id="527" name="Google Shape;527;p18"/>
          <p:cNvSpPr/>
          <p:nvPr/>
        </p:nvSpPr>
        <p:spPr>
          <a:xfrm>
            <a:off x="4446784" y="2395477"/>
            <a:ext cx="431207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WG7</a:t>
            </a:r>
            <a:endParaRPr/>
          </a:p>
        </p:txBody>
      </p:sp>
      <p:sp>
        <p:nvSpPr>
          <p:cNvPr id="528" name="Google Shape;528;p18"/>
          <p:cNvSpPr/>
          <p:nvPr/>
        </p:nvSpPr>
        <p:spPr>
          <a:xfrm>
            <a:off x="6115743" y="4481452"/>
            <a:ext cx="1314450" cy="341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 Assurance</a:t>
            </a: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6013647" y="4294127"/>
            <a:ext cx="431207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WG9</a:t>
            </a:r>
            <a:endParaRPr/>
          </a:p>
        </p:txBody>
      </p:sp>
      <p:cxnSp>
        <p:nvCxnSpPr>
          <p:cNvPr id="530" name="Google Shape;530;p18"/>
          <p:cNvCxnSpPr/>
          <p:nvPr/>
        </p:nvCxnSpPr>
        <p:spPr>
          <a:xfrm>
            <a:off x="4334568" y="1560453"/>
            <a:ext cx="0" cy="250348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18"/>
          <p:cNvSpPr/>
          <p:nvPr/>
        </p:nvSpPr>
        <p:spPr>
          <a:xfrm>
            <a:off x="5749031" y="1222315"/>
            <a:ext cx="1206500" cy="3262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9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1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Planning Group</a:t>
            </a:r>
            <a:endParaRPr/>
          </a:p>
        </p:txBody>
      </p:sp>
      <p:cxnSp>
        <p:nvCxnSpPr>
          <p:cNvPr id="532" name="Google Shape;532;p18"/>
          <p:cNvCxnSpPr/>
          <p:nvPr/>
        </p:nvCxnSpPr>
        <p:spPr>
          <a:xfrm flipH="1" rot="10800000">
            <a:off x="3801168" y="1885890"/>
            <a:ext cx="533400" cy="635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18"/>
          <p:cNvCxnSpPr/>
          <p:nvPr/>
        </p:nvCxnSpPr>
        <p:spPr>
          <a:xfrm>
            <a:off x="5348980" y="1393764"/>
            <a:ext cx="369888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p18"/>
          <p:cNvSpPr/>
          <p:nvPr/>
        </p:nvSpPr>
        <p:spPr>
          <a:xfrm>
            <a:off x="5863332" y="993714"/>
            <a:ext cx="540211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SWG 1</a:t>
            </a: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1202431" y="2581214"/>
            <a:ext cx="1312863" cy="3413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Engineering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of Knowledge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1153189" y="2395477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WG20</a:t>
            </a:r>
            <a:endParaRPr/>
          </a:p>
        </p:txBody>
      </p:sp>
      <p:sp>
        <p:nvSpPr>
          <p:cNvPr id="537" name="Google Shape;537;p18"/>
          <p:cNvSpPr/>
          <p:nvPr/>
        </p:nvSpPr>
        <p:spPr>
          <a:xfrm>
            <a:off x="2767705" y="2581214"/>
            <a:ext cx="1314450" cy="3413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ODP and Modeling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Languages</a:t>
            </a: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2718464" y="2395477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WG19</a:t>
            </a:r>
            <a:endParaRPr/>
          </a:p>
        </p:txBody>
      </p:sp>
      <p:cxnSp>
        <p:nvCxnSpPr>
          <p:cNvPr id="539" name="Google Shape;539;p18"/>
          <p:cNvCxnSpPr/>
          <p:nvPr/>
        </p:nvCxnSpPr>
        <p:spPr>
          <a:xfrm>
            <a:off x="1092893" y="2257364"/>
            <a:ext cx="4862512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18"/>
          <p:cNvSpPr/>
          <p:nvPr/>
        </p:nvSpPr>
        <p:spPr>
          <a:xfrm>
            <a:off x="2485131" y="1716027"/>
            <a:ext cx="1312863" cy="342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050"/>
              <a:buFont typeface="Noto Sans Symbols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2813477" y="1763652"/>
            <a:ext cx="711733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Secretariat</a:t>
            </a:r>
            <a:endParaRPr/>
          </a:p>
        </p:txBody>
      </p:sp>
      <p:sp>
        <p:nvSpPr>
          <p:cNvPr id="542" name="Google Shape;542;p18"/>
          <p:cNvSpPr/>
          <p:nvPr/>
        </p:nvSpPr>
        <p:spPr>
          <a:xfrm>
            <a:off x="4496493" y="3878203"/>
            <a:ext cx="1314450" cy="34131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 Management</a:t>
            </a: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4445664" y="3692464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WG21</a:t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1519931" y="1165164"/>
            <a:ext cx="1287463" cy="39289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1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Management</a:t>
            </a:r>
            <a:endParaRPr/>
          </a:p>
        </p:txBody>
      </p:sp>
      <p:sp>
        <p:nvSpPr>
          <p:cNvPr id="545" name="Google Shape;545;p18"/>
          <p:cNvSpPr/>
          <p:nvPr/>
        </p:nvSpPr>
        <p:spPr>
          <a:xfrm>
            <a:off x="6012526" y="3692464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WG12</a:t>
            </a:r>
            <a:endParaRPr/>
          </a:p>
        </p:txBody>
      </p:sp>
      <p:sp>
        <p:nvSpPr>
          <p:cNvPr id="546" name="Google Shape;546;p18"/>
          <p:cNvSpPr/>
          <p:nvPr/>
        </p:nvSpPr>
        <p:spPr>
          <a:xfrm>
            <a:off x="6115743" y="3878202"/>
            <a:ext cx="1314450" cy="342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Size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1200843" y="3228914"/>
            <a:ext cx="1314450" cy="342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Vocabulary</a:t>
            </a: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1153189" y="3043177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WG22</a:t>
            </a:r>
            <a:endParaRPr/>
          </a:p>
        </p:txBody>
      </p:sp>
      <p:cxnSp>
        <p:nvCxnSpPr>
          <p:cNvPr id="549" name="Google Shape;549;p18"/>
          <p:cNvCxnSpPr/>
          <p:nvPr/>
        </p:nvCxnSpPr>
        <p:spPr>
          <a:xfrm>
            <a:off x="2834380" y="1393764"/>
            <a:ext cx="369888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0" name="Google Shape;550;p18"/>
          <p:cNvCxnSpPr/>
          <p:nvPr/>
        </p:nvCxnSpPr>
        <p:spPr>
          <a:xfrm>
            <a:off x="1062730" y="2251014"/>
            <a:ext cx="0" cy="2400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p18"/>
          <p:cNvCxnSpPr/>
          <p:nvPr/>
        </p:nvCxnSpPr>
        <p:spPr>
          <a:xfrm>
            <a:off x="2659756" y="2257365"/>
            <a:ext cx="3175" cy="216535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p18"/>
          <p:cNvCxnSpPr/>
          <p:nvPr/>
        </p:nvCxnSpPr>
        <p:spPr>
          <a:xfrm>
            <a:off x="5953818" y="2257364"/>
            <a:ext cx="0" cy="2408238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18"/>
          <p:cNvCxnSpPr/>
          <p:nvPr/>
        </p:nvCxnSpPr>
        <p:spPr>
          <a:xfrm>
            <a:off x="1062730" y="3394014"/>
            <a:ext cx="1143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18"/>
          <p:cNvCxnSpPr/>
          <p:nvPr/>
        </p:nvCxnSpPr>
        <p:spPr>
          <a:xfrm>
            <a:off x="1092894" y="2766952"/>
            <a:ext cx="10953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18"/>
          <p:cNvCxnSpPr/>
          <p:nvPr/>
        </p:nvCxnSpPr>
        <p:spPr>
          <a:xfrm>
            <a:off x="2659755" y="2766952"/>
            <a:ext cx="1095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18"/>
          <p:cNvCxnSpPr/>
          <p:nvPr/>
        </p:nvCxnSpPr>
        <p:spPr>
          <a:xfrm>
            <a:off x="2659755" y="3414652"/>
            <a:ext cx="10953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18"/>
          <p:cNvCxnSpPr/>
          <p:nvPr/>
        </p:nvCxnSpPr>
        <p:spPr>
          <a:xfrm>
            <a:off x="4334569" y="2766952"/>
            <a:ext cx="1619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8" name="Google Shape;558;p18"/>
          <p:cNvCxnSpPr/>
          <p:nvPr/>
        </p:nvCxnSpPr>
        <p:spPr>
          <a:xfrm>
            <a:off x="4334569" y="3414652"/>
            <a:ext cx="1619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18"/>
          <p:cNvCxnSpPr/>
          <p:nvPr/>
        </p:nvCxnSpPr>
        <p:spPr>
          <a:xfrm>
            <a:off x="4334569" y="4062352"/>
            <a:ext cx="1619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18"/>
          <p:cNvCxnSpPr/>
          <p:nvPr/>
        </p:nvCxnSpPr>
        <p:spPr>
          <a:xfrm>
            <a:off x="5953819" y="2766953"/>
            <a:ext cx="161925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18"/>
          <p:cNvCxnSpPr/>
          <p:nvPr/>
        </p:nvCxnSpPr>
        <p:spPr>
          <a:xfrm>
            <a:off x="5953819" y="4665602"/>
            <a:ext cx="161925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18"/>
          <p:cNvCxnSpPr/>
          <p:nvPr/>
        </p:nvCxnSpPr>
        <p:spPr>
          <a:xfrm>
            <a:off x="5953819" y="4062353"/>
            <a:ext cx="161925" cy="15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18"/>
          <p:cNvCxnSpPr/>
          <p:nvPr/>
        </p:nvCxnSpPr>
        <p:spPr>
          <a:xfrm>
            <a:off x="5953819" y="3460689"/>
            <a:ext cx="161925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18"/>
          <p:cNvSpPr txBox="1"/>
          <p:nvPr/>
        </p:nvSpPr>
        <p:spPr>
          <a:xfrm>
            <a:off x="4081074" y="4560828"/>
            <a:ext cx="1503938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Prof. M. Azuma</a:t>
            </a:r>
            <a:endParaRPr b="0" i="0" sz="1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6117331" y="3228915"/>
            <a:ext cx="1517650" cy="508000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Product Quality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and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/>
          </a:p>
        </p:txBody>
      </p:sp>
      <p:sp>
        <p:nvSpPr>
          <p:cNvPr id="566" name="Google Shape;566;p18"/>
          <p:cNvSpPr/>
          <p:nvPr/>
        </p:nvSpPr>
        <p:spPr>
          <a:xfrm>
            <a:off x="1177030" y="3908364"/>
            <a:ext cx="1314450" cy="342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Quality </a:t>
            </a:r>
            <a:b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</a:t>
            </a:r>
            <a:endParaRPr/>
          </a:p>
        </p:txBody>
      </p:sp>
      <p:sp>
        <p:nvSpPr>
          <p:cNvPr id="567" name="Google Shape;567;p18"/>
          <p:cNvSpPr/>
          <p:nvPr/>
        </p:nvSpPr>
        <p:spPr>
          <a:xfrm>
            <a:off x="1127789" y="3722627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WG23</a:t>
            </a:r>
            <a:endParaRPr/>
          </a:p>
        </p:txBody>
      </p:sp>
      <p:cxnSp>
        <p:nvCxnSpPr>
          <p:cNvPr id="568" name="Google Shape;568;p18"/>
          <p:cNvCxnSpPr/>
          <p:nvPr/>
        </p:nvCxnSpPr>
        <p:spPr>
          <a:xfrm>
            <a:off x="1062731" y="4079814"/>
            <a:ext cx="1079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18"/>
          <p:cNvSpPr/>
          <p:nvPr/>
        </p:nvSpPr>
        <p:spPr>
          <a:xfrm>
            <a:off x="1177030" y="4479865"/>
            <a:ext cx="1312863" cy="3413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SLC Profiles and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rPr b="0" i="0" lang="es-MX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Guidelines  for VSE</a:t>
            </a:r>
            <a:r>
              <a:rPr b="0" i="0" lang="es-MX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2777230" y="3736915"/>
            <a:ext cx="1312863" cy="3413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Service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</a:t>
            </a:r>
            <a:endParaRPr/>
          </a:p>
        </p:txBody>
      </p:sp>
      <p:cxnSp>
        <p:nvCxnSpPr>
          <p:cNvPr id="571" name="Google Shape;571;p18"/>
          <p:cNvCxnSpPr/>
          <p:nvPr/>
        </p:nvCxnSpPr>
        <p:spPr>
          <a:xfrm>
            <a:off x="2662931" y="3908364"/>
            <a:ext cx="1079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18"/>
          <p:cNvSpPr/>
          <p:nvPr/>
        </p:nvSpPr>
        <p:spPr>
          <a:xfrm>
            <a:off x="2748626" y="3565464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WG25</a:t>
            </a:r>
            <a:endParaRPr/>
          </a:p>
        </p:txBody>
      </p:sp>
      <p:sp>
        <p:nvSpPr>
          <p:cNvPr id="573" name="Google Shape;573;p18"/>
          <p:cNvSpPr/>
          <p:nvPr/>
        </p:nvSpPr>
        <p:spPr>
          <a:xfrm>
            <a:off x="1148426" y="4308414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WG24</a:t>
            </a:r>
            <a:endParaRPr/>
          </a:p>
        </p:txBody>
      </p:sp>
      <p:cxnSp>
        <p:nvCxnSpPr>
          <p:cNvPr id="574" name="Google Shape;574;p18"/>
          <p:cNvCxnSpPr/>
          <p:nvPr/>
        </p:nvCxnSpPr>
        <p:spPr>
          <a:xfrm>
            <a:off x="1062731" y="4651314"/>
            <a:ext cx="1079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18"/>
          <p:cNvSpPr/>
          <p:nvPr/>
        </p:nvSpPr>
        <p:spPr>
          <a:xfrm>
            <a:off x="2777230" y="4308415"/>
            <a:ext cx="1312863" cy="3413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2839114" y="4136964"/>
            <a:ext cx="498534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WG42</a:t>
            </a:r>
            <a:endParaRPr/>
          </a:p>
        </p:txBody>
      </p:sp>
      <p:cxnSp>
        <p:nvCxnSpPr>
          <p:cNvPr id="577" name="Google Shape;577;p18"/>
          <p:cNvCxnSpPr/>
          <p:nvPr/>
        </p:nvCxnSpPr>
        <p:spPr>
          <a:xfrm>
            <a:off x="2662931" y="4422714"/>
            <a:ext cx="10795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18"/>
          <p:cNvSpPr/>
          <p:nvPr/>
        </p:nvSpPr>
        <p:spPr>
          <a:xfrm>
            <a:off x="6091930" y="2022415"/>
            <a:ext cx="1312863" cy="339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CIF</a:t>
            </a:r>
            <a:endParaRPr/>
          </a:p>
        </p:txBody>
      </p:sp>
      <p:sp>
        <p:nvSpPr>
          <p:cNvPr id="579" name="Google Shape;579;p18"/>
          <p:cNvSpPr/>
          <p:nvPr/>
        </p:nvSpPr>
        <p:spPr>
          <a:xfrm>
            <a:off x="6104203" y="1850964"/>
            <a:ext cx="416781" cy="231315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b="0" i="0" lang="es-MX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JWG</a:t>
            </a:r>
            <a:endParaRPr/>
          </a:p>
        </p:txBody>
      </p:sp>
      <p:cxnSp>
        <p:nvCxnSpPr>
          <p:cNvPr id="580" name="Google Shape;580;p18"/>
          <p:cNvCxnSpPr/>
          <p:nvPr/>
        </p:nvCxnSpPr>
        <p:spPr>
          <a:xfrm>
            <a:off x="5920480" y="2251014"/>
            <a:ext cx="161925" cy="1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010"/>
              <a:buNone/>
            </a:pPr>
            <a:r>
              <a:rPr lang="es-MX" sz="33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Ingeniería de Calidad de Software: ISO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9"/>
          <p:cNvSpPr txBox="1"/>
          <p:nvPr/>
        </p:nvSpPr>
        <p:spPr>
          <a:xfrm>
            <a:off x="306831" y="1118044"/>
            <a:ext cx="81153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s-MX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ISO/IEC JTC1 SC7 WG6 best known international standards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s-MX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ISO/IEC 9126-1 : 2000 - Software engineering - Product quality - Part 1: Quality model (IS)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s-MX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ISO/IEC 9126-2 : 2003 - Software engineering - Product quality – Part 2: External metrics (TR)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s-MX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ISO/IEC 9126-3 : 2003 - Software engineering - Product quality – Part 3: Internal metrics (TR)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s-MX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ISO/IEC 9126-4 : 2004 - Software engineering - Product quality – Part 4: Quality in use metrics (TR)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</a:pPr>
            <a:r>
              <a:rPr b="0" i="0" lang="es-MX" sz="16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ISO/IEC 14598 (1 to 6) : 1999-2001 - Information technology - Software product evaluation </a:t>
            </a:r>
            <a:endParaRPr/>
          </a:p>
        </p:txBody>
      </p:sp>
      <p:sp>
        <p:nvSpPr>
          <p:cNvPr id="587" name="Google Shape;58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Ingeniería de Calidad de Software: ISO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9044" y="1916907"/>
            <a:ext cx="4125912" cy="2960688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010"/>
              <a:buNone/>
            </a:pPr>
            <a:r>
              <a:rPr lang="es-MX" sz="33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Ingeniería de Calidad de Software: ISO</a:t>
            </a:r>
            <a:endParaRPr/>
          </a:p>
        </p:txBody>
      </p:sp>
      <p:sp>
        <p:nvSpPr>
          <p:cNvPr id="594" name="Google Shape;594;p20"/>
          <p:cNvSpPr txBox="1"/>
          <p:nvPr/>
        </p:nvSpPr>
        <p:spPr>
          <a:xfrm>
            <a:off x="1439069" y="1051720"/>
            <a:ext cx="6172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rPr b="0" i="0" lang="es-MX" sz="2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ISO/IEC 25000</a:t>
            </a:r>
            <a:r>
              <a:rPr b="0" i="0" lang="es-MX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MX" sz="2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SQuaRE </a:t>
            </a:r>
            <a:r>
              <a:rPr b="0" i="0" lang="es-MX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s-MX" sz="2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MX" sz="21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s-MX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oftware Product </a:t>
            </a:r>
            <a:r>
              <a:rPr b="0" i="1" lang="es-MX" sz="21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Qua</a:t>
            </a:r>
            <a:r>
              <a:rPr b="0" i="0" lang="es-MX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lity </a:t>
            </a:r>
            <a:r>
              <a:rPr b="0" i="1" lang="es-MX" sz="21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s-MX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equirements and </a:t>
            </a:r>
            <a:r>
              <a:rPr b="0" i="1" lang="es-MX" sz="21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s-MX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valuation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230" y="945042"/>
            <a:ext cx="5702300" cy="404653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1"/>
          <p:cNvSpPr txBox="1"/>
          <p:nvPr/>
        </p:nvSpPr>
        <p:spPr>
          <a:xfrm>
            <a:off x="352529" y="1759430"/>
            <a:ext cx="19431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ISO/IEC 25000 SQuaRE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Reference model</a:t>
            </a:r>
            <a:endParaRPr/>
          </a:p>
        </p:txBody>
      </p:sp>
      <p:sp>
        <p:nvSpPr>
          <p:cNvPr id="601" name="Google Shape;601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 sz="28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Ingeniería de Calidad de Software: ISO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5401" y="1081711"/>
            <a:ext cx="451485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8301" y="3399462"/>
            <a:ext cx="3771900" cy="12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2"/>
          <p:cNvSpPr txBox="1"/>
          <p:nvPr/>
        </p:nvSpPr>
        <p:spPr>
          <a:xfrm>
            <a:off x="662801" y="1734174"/>
            <a:ext cx="19431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ISO/IEC 25000 SQuaRE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0" i="0" lang="es-MX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quality model</a:t>
            </a:r>
            <a:endParaRPr/>
          </a:p>
        </p:txBody>
      </p:sp>
      <p:sp>
        <p:nvSpPr>
          <p:cNvPr id="609" name="Google Shape;60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 sz="28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Ingeniería de Calidad de Software: ISO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6588" y="1466850"/>
            <a:ext cx="5657850" cy="3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23"/>
          <p:cNvSpPr txBox="1"/>
          <p:nvPr/>
        </p:nvSpPr>
        <p:spPr>
          <a:xfrm>
            <a:off x="1439863" y="1123950"/>
            <a:ext cx="6572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Cuanto de Ingeniería tiene ISO/IEC 25000 SQuaRE?</a:t>
            </a:r>
            <a:endParaRPr/>
          </a:p>
        </p:txBody>
      </p:sp>
      <p:sp>
        <p:nvSpPr>
          <p:cNvPr id="616" name="Google Shape;61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 sz="28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Ingeniería de Calidad de Software: ISO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qimap" id="621" name="Google Shape;6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742" y="1797273"/>
            <a:ext cx="6515100" cy="26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010"/>
              <a:buNone/>
            </a:pPr>
            <a:r>
              <a:rPr lang="es-MX" sz="33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Ingeniería de Calidad de Software: ISO</a:t>
            </a:r>
            <a:endParaRPr/>
          </a:p>
        </p:txBody>
      </p:sp>
      <p:sp>
        <p:nvSpPr>
          <p:cNvPr id="623" name="Google Shape;623;p24"/>
          <p:cNvSpPr txBox="1"/>
          <p:nvPr/>
        </p:nvSpPr>
        <p:spPr>
          <a:xfrm>
            <a:off x="1435101" y="1079500"/>
            <a:ext cx="6516688" cy="433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None/>
            </a:pPr>
            <a:r>
              <a:rPr b="0" i="0" lang="es-MX" sz="21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Diseño de calidad</a:t>
            </a:r>
            <a:r>
              <a:rPr b="0" i="0" lang="es-MX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mapa de diseño personalizado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>
                <a:solidFill>
                  <a:srgbClr val="FF0000"/>
                </a:solidFill>
              </a:rPr>
              <a:t>Control de Lectura 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29" name="Google Shape;629;p25"/>
          <p:cNvSpPr txBox="1"/>
          <p:nvPr>
            <p:ph idx="12" type="sldNum"/>
          </p:nvPr>
        </p:nvSpPr>
        <p:spPr>
          <a:xfrm>
            <a:off x="8594725" y="0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s-MX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b="0" i="0" sz="1300" u="none" cap="none" strike="noStrike">
              <a:solidFill>
                <a:srgbClr val="4BB5D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0" name="Google Shape;630;p25"/>
          <p:cNvSpPr txBox="1"/>
          <p:nvPr/>
        </p:nvSpPr>
        <p:spPr>
          <a:xfrm>
            <a:off x="1169581" y="1180214"/>
            <a:ext cx="5231220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Revisar y responder: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https://www.youtube.com/watch?v=CFiPeHER3u4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 aseguramiento de calidad de software, cual es el instrumento y porque?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los atributos FURPS cuales se cumple con frecuencia en desarrollo de software?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que se realizan las observaciones objetivas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Individual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Responder preguntas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Fecha: Sesión actual</a:t>
            </a:r>
            <a:endParaRPr/>
          </a:p>
        </p:txBody>
      </p:sp>
      <p:pic>
        <p:nvPicPr>
          <p:cNvPr id="631" name="Google Shape;6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1868" y="1400321"/>
            <a:ext cx="2342857" cy="234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>
                <a:solidFill>
                  <a:srgbClr val="FF0000"/>
                </a:solidFill>
              </a:rPr>
              <a:t>Referencias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637" name="Google Shape;637;p26"/>
          <p:cNvSpPr txBox="1"/>
          <p:nvPr>
            <p:ph idx="12" type="sldNum"/>
          </p:nvPr>
        </p:nvSpPr>
        <p:spPr>
          <a:xfrm>
            <a:off x="8594725" y="0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s-MX" sz="1300" u="none" cap="none" strike="noStrike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b="0" i="0" sz="1300" u="none" cap="none" strike="noStrike">
              <a:solidFill>
                <a:srgbClr val="4BB5D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8" name="Google Shape;638;p26"/>
          <p:cNvSpPr txBox="1"/>
          <p:nvPr/>
        </p:nvSpPr>
        <p:spPr>
          <a:xfrm>
            <a:off x="606056" y="1520456"/>
            <a:ext cx="662408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s-MX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https://revistas.utp.edu.co/index.php/revistaciencia/article/view/3241/1817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s-MX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https://www.researchgate.net/publication/236610453_An_Overview_of_Software_Quality_Concepts_and_Management_Issues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0" i="0" lang="es-MX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https://www.pearsonhighered.com/assets/samplechapter/0/2/0/1/0201729156.pdf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 sz="24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Trabajo Parcial 1: </a:t>
            </a:r>
            <a:br>
              <a:rPr lang="es-MX" sz="24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2400">
                <a:solidFill>
                  <a:srgbClr val="FE9202"/>
                </a:solidFill>
                <a:latin typeface="Arial"/>
                <a:ea typeface="Arial"/>
                <a:cs typeface="Arial"/>
                <a:sym typeface="Arial"/>
              </a:rPr>
              <a:t>Evaluación de Modelos de Calidad</a:t>
            </a:r>
            <a:endParaRPr/>
          </a:p>
        </p:txBody>
      </p:sp>
      <p:sp>
        <p:nvSpPr>
          <p:cNvPr id="644" name="Google Shape;644;p27"/>
          <p:cNvSpPr txBox="1"/>
          <p:nvPr>
            <p:ph idx="1" type="body"/>
          </p:nvPr>
        </p:nvSpPr>
        <p:spPr>
          <a:xfrm>
            <a:off x="720000" y="1139544"/>
            <a:ext cx="77040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sz="1800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Conformar equipos de 5/6 y realizar: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-MX" sz="1800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Revisar y ejecutar proyecto de carpeta  /intr</a:t>
            </a:r>
            <a:endParaRPr sz="1800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AutoNum type="arabicPeriod"/>
            </a:pPr>
            <a:r>
              <a:rPr lang="es-MX" sz="1800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Implementar actividades de documento intr.doc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AutoNum type="arabicPeriod"/>
            </a:pPr>
            <a:r>
              <a:rPr lang="es-MX" sz="1800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Generar entregables descritos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sz="1800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Grupo:   05 personas</a:t>
            </a:r>
            <a:endParaRPr/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sz="1800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Entregable: Reporte y presentación ppt</a:t>
            </a:r>
            <a:endParaRPr sz="1800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 sz="1800">
                <a:solidFill>
                  <a:srgbClr val="272727"/>
                </a:solidFill>
                <a:latin typeface="Arial"/>
                <a:ea typeface="Arial"/>
                <a:cs typeface="Arial"/>
                <a:sym typeface="Arial"/>
              </a:rPr>
              <a:t>Entrega: 01/09/2026</a:t>
            </a:r>
            <a:endParaRPr sz="1800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>
              <a:solidFill>
                <a:srgbClr val="27272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8"/>
          <p:cNvSpPr txBox="1"/>
          <p:nvPr>
            <p:ph type="title"/>
          </p:nvPr>
        </p:nvSpPr>
        <p:spPr>
          <a:xfrm>
            <a:off x="1157288" y="68527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MX"/>
              <a:t>Thanks!</a:t>
            </a:r>
            <a:endParaRPr/>
          </a:p>
        </p:txBody>
      </p:sp>
      <p:sp>
        <p:nvSpPr>
          <p:cNvPr id="650" name="Google Shape;650;p28"/>
          <p:cNvSpPr txBox="1"/>
          <p:nvPr>
            <p:ph idx="1" type="subTitle"/>
          </p:nvPr>
        </p:nvSpPr>
        <p:spPr>
          <a:xfrm>
            <a:off x="1157250" y="2203275"/>
            <a:ext cx="4448100" cy="10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jsilvaf@unsa.edu.pe</a:t>
            </a:r>
            <a:endParaRPr/>
          </a:p>
        </p:txBody>
      </p:sp>
      <p:sp>
        <p:nvSpPr>
          <p:cNvPr id="651" name="Google Shape;651;p28"/>
          <p:cNvSpPr txBox="1"/>
          <p:nvPr>
            <p:ph idx="2" type="subTitle"/>
          </p:nvPr>
        </p:nvSpPr>
        <p:spPr>
          <a:xfrm>
            <a:off x="1157250" y="1800075"/>
            <a:ext cx="44481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s-MX"/>
              <a:t>Do you have any questions?</a:t>
            </a:r>
            <a:endParaRPr/>
          </a:p>
        </p:txBody>
      </p:sp>
      <p:grpSp>
        <p:nvGrpSpPr>
          <p:cNvPr id="652" name="Google Shape;652;p28"/>
          <p:cNvGrpSpPr/>
          <p:nvPr/>
        </p:nvGrpSpPr>
        <p:grpSpPr>
          <a:xfrm>
            <a:off x="5361478" y="2513937"/>
            <a:ext cx="597900" cy="385800"/>
            <a:chOff x="2289878" y="3082512"/>
            <a:chExt cx="597900" cy="385800"/>
          </a:xfrm>
        </p:grpSpPr>
        <p:sp>
          <p:nvSpPr>
            <p:cNvPr id="653" name="Google Shape;653;p28"/>
            <p:cNvSpPr/>
            <p:nvPr/>
          </p:nvSpPr>
          <p:spPr>
            <a:xfrm>
              <a:off x="2447030" y="3130409"/>
              <a:ext cx="282876" cy="283216"/>
            </a:xfrm>
            <a:custGeom>
              <a:rect b="b" l="l" r="r" t="t"/>
              <a:pathLst>
                <a:path extrusionOk="0" h="10872" w="10860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2289878" y="3082512"/>
              <a:ext cx="597900" cy="3858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5" name="Google Shape;655;p28"/>
          <p:cNvGrpSpPr/>
          <p:nvPr/>
        </p:nvGrpSpPr>
        <p:grpSpPr>
          <a:xfrm>
            <a:off x="4573177" y="2513937"/>
            <a:ext cx="597900" cy="385800"/>
            <a:chOff x="1501577" y="3082512"/>
            <a:chExt cx="597900" cy="385800"/>
          </a:xfrm>
        </p:grpSpPr>
        <p:grpSp>
          <p:nvGrpSpPr>
            <p:cNvPr id="656" name="Google Shape;656;p28"/>
            <p:cNvGrpSpPr/>
            <p:nvPr/>
          </p:nvGrpSpPr>
          <p:grpSpPr>
            <a:xfrm>
              <a:off x="1659114" y="3130469"/>
              <a:ext cx="283212" cy="282899"/>
              <a:chOff x="3303268" y="3817349"/>
              <a:chExt cx="346056" cy="345674"/>
            </a:xfrm>
          </p:grpSpPr>
          <p:sp>
            <p:nvSpPr>
              <p:cNvPr id="657" name="Google Shape;657;p28"/>
              <p:cNvSpPr/>
              <p:nvPr/>
            </p:nvSpPr>
            <p:spPr>
              <a:xfrm>
                <a:off x="3303268" y="3817349"/>
                <a:ext cx="346056" cy="345674"/>
              </a:xfrm>
              <a:custGeom>
                <a:rect b="b" l="l" r="r" t="t"/>
                <a:pathLst>
                  <a:path extrusionOk="0" h="10860" w="10872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28"/>
              <p:cNvSpPr/>
              <p:nvPr/>
            </p:nvSpPr>
            <p:spPr>
              <a:xfrm>
                <a:off x="3368074" y="3882537"/>
                <a:ext cx="215298" cy="215298"/>
              </a:xfrm>
              <a:custGeom>
                <a:rect b="b" l="l" r="r" t="t"/>
                <a:pathLst>
                  <a:path extrusionOk="0" h="6764" w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28"/>
              <p:cNvSpPr/>
              <p:nvPr/>
            </p:nvSpPr>
            <p:spPr>
              <a:xfrm>
                <a:off x="3418143" y="3933656"/>
                <a:ext cx="114811" cy="112742"/>
              </a:xfrm>
              <a:custGeom>
                <a:rect b="b" l="l" r="r" t="t"/>
                <a:pathLst>
                  <a:path extrusionOk="0" h="3542" w="3607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28"/>
              <p:cNvSpPr/>
              <p:nvPr/>
            </p:nvSpPr>
            <p:spPr>
              <a:xfrm>
                <a:off x="3519298" y="3910197"/>
                <a:ext cx="29570" cy="29220"/>
              </a:xfrm>
              <a:custGeom>
                <a:rect b="b" l="l" r="r" t="t"/>
                <a:pathLst>
                  <a:path extrusionOk="0" h="918" w="929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1" name="Google Shape;661;p28"/>
            <p:cNvSpPr/>
            <p:nvPr/>
          </p:nvSpPr>
          <p:spPr>
            <a:xfrm>
              <a:off x="1501577" y="3082512"/>
              <a:ext cx="597900" cy="3858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28"/>
          <p:cNvGrpSpPr/>
          <p:nvPr/>
        </p:nvGrpSpPr>
        <p:grpSpPr>
          <a:xfrm>
            <a:off x="3784875" y="2513937"/>
            <a:ext cx="597900" cy="385800"/>
            <a:chOff x="713275" y="3082512"/>
            <a:chExt cx="597900" cy="385800"/>
          </a:xfrm>
        </p:grpSpPr>
        <p:grpSp>
          <p:nvGrpSpPr>
            <p:cNvPr id="663" name="Google Shape;663;p28"/>
            <p:cNvGrpSpPr/>
            <p:nvPr/>
          </p:nvGrpSpPr>
          <p:grpSpPr>
            <a:xfrm>
              <a:off x="870716" y="3133963"/>
              <a:ext cx="283558" cy="283245"/>
              <a:chOff x="3752358" y="3817349"/>
              <a:chExt cx="346056" cy="345674"/>
            </a:xfrm>
          </p:grpSpPr>
          <p:sp>
            <p:nvSpPr>
              <p:cNvPr id="664" name="Google Shape;664;p28"/>
              <p:cNvSpPr/>
              <p:nvPr/>
            </p:nvSpPr>
            <p:spPr>
              <a:xfrm>
                <a:off x="3752358" y="3817349"/>
                <a:ext cx="346056" cy="345674"/>
              </a:xfrm>
              <a:custGeom>
                <a:rect b="b" l="l" r="r" t="t"/>
                <a:pathLst>
                  <a:path extrusionOk="0" h="10860" w="10872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28"/>
              <p:cNvSpPr/>
              <p:nvPr/>
            </p:nvSpPr>
            <p:spPr>
              <a:xfrm>
                <a:off x="3831933" y="3955682"/>
                <a:ext cx="47809" cy="120540"/>
              </a:xfrm>
              <a:custGeom>
                <a:rect b="b" l="l" r="r" t="t"/>
                <a:pathLst>
                  <a:path extrusionOk="0" h="3787" w="1502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8"/>
              <p:cNvSpPr/>
              <p:nvPr/>
            </p:nvSpPr>
            <p:spPr>
              <a:xfrm>
                <a:off x="3824739" y="3890112"/>
                <a:ext cx="55002" cy="55002"/>
              </a:xfrm>
              <a:custGeom>
                <a:rect b="b" l="l" r="r" t="t"/>
                <a:pathLst>
                  <a:path extrusionOk="0" h="1728" w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28"/>
              <p:cNvSpPr/>
              <p:nvPr/>
            </p:nvSpPr>
            <p:spPr>
              <a:xfrm>
                <a:off x="3904696" y="3955682"/>
                <a:ext cx="128148" cy="120540"/>
              </a:xfrm>
              <a:custGeom>
                <a:rect b="b" l="l" r="r" t="t"/>
                <a:pathLst>
                  <a:path extrusionOk="0" h="3787" w="4026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8" name="Google Shape;668;p28"/>
            <p:cNvSpPr/>
            <p:nvPr/>
          </p:nvSpPr>
          <p:spPr>
            <a:xfrm>
              <a:off x="713275" y="3082512"/>
              <a:ext cx="597900" cy="385800"/>
            </a:xfrm>
            <a:prstGeom prst="rect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28"/>
          <p:cNvGrpSpPr/>
          <p:nvPr/>
        </p:nvGrpSpPr>
        <p:grpSpPr>
          <a:xfrm flipH="1" rot="10800000">
            <a:off x="6773992" y="-1205455"/>
            <a:ext cx="4151820" cy="5527899"/>
            <a:chOff x="6309526" y="836950"/>
            <a:chExt cx="3920510" cy="5219924"/>
          </a:xfrm>
        </p:grpSpPr>
        <p:pic>
          <p:nvPicPr>
            <p:cNvPr id="670" name="Google Shape;670;p28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28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4" name="Google Shape;674;p28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675" name="Google Shape;675;p28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28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28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28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28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28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37255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5" name="Google Shape;685;p28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686" name="Google Shape;686;p2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2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8" name="Google Shape;688;p28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689" name="Google Shape;689;p2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1" name="Google Shape;691;p28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7"/>
                  </a:srgbClr>
                </a:gs>
                <a:gs pos="78000">
                  <a:srgbClr val="F5F8FF">
                    <a:alpha val="46667"/>
                  </a:srgbClr>
                </a:gs>
                <a:gs pos="100000">
                  <a:srgbClr val="F5F8FF">
                    <a:alpha val="4666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2" name="Google Shape;692;p28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693" name="Google Shape;693;p28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6" name="Google Shape;696;p28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697" name="Google Shape;697;p2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2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0" name="Google Shape;700;p28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9"/>
          <p:cNvSpPr txBox="1"/>
          <p:nvPr/>
        </p:nvSpPr>
        <p:spPr>
          <a:xfrm>
            <a:off x="2743200" y="1977656"/>
            <a:ext cx="37532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Calidad de Software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</cp:coreProperties>
</file>