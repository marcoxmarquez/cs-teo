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56"/>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24" r:id="rId31"/>
    <p:sldId id="286" r:id="rId32"/>
    <p:sldId id="287" r:id="rId33"/>
    <p:sldId id="288" r:id="rId34"/>
    <p:sldId id="289" r:id="rId35"/>
    <p:sldId id="290" r:id="rId36"/>
    <p:sldId id="325"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22" r:id="rId51"/>
    <p:sldId id="323" r:id="rId52"/>
    <p:sldId id="291" r:id="rId53"/>
    <p:sldId id="285" r:id="rId54"/>
    <p:sldId id="306" r:id="rId55"/>
  </p:sldIdLst>
  <p:sldSz cx="9144000" cy="5143500" type="screen16x9"/>
  <p:notesSz cx="6858000" cy="9144000"/>
  <p:embeddedFontLst>
    <p:embeddedFont>
      <p:font typeface="Arial Black" panose="020B0A04020102020204" pitchFamily="34" charset="0"/>
      <p:bold r:id="rId57"/>
    </p:embeddedFont>
    <p:embeddedFont>
      <p:font typeface="IBM Plex Mono" panose="020B0509050203000203" pitchFamily="49" charset="0"/>
      <p:regular r:id="rId58"/>
      <p:bold r:id="rId59"/>
      <p:italic r:id="rId60"/>
      <p:boldItalic r:id="rId61"/>
    </p:embeddedFont>
    <p:embeddedFont>
      <p:font typeface="Oswald" panose="00000500000000000000" pitchFamily="2" charset="0"/>
      <p:regular r:id="rId62"/>
      <p:bold r:id="rId63"/>
    </p:embeddedFont>
    <p:embeddedFont>
      <p:font typeface="Poppins" panose="00000500000000000000" pitchFamily="2"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Roboto Condensed" panose="02000000000000000000" pitchFamily="2" charset="0"/>
      <p:regular r:id="rId72"/>
      <p:bold r:id="rId73"/>
      <p:italic r:id="rId74"/>
      <p:boldItalic r:id="rId75"/>
    </p:embeddedFont>
    <p:embeddedFont>
      <p:font typeface="TIMES" panose="02020603050405020304" pitchFamily="18" charset="0"/>
      <p:regular r:id="rId76"/>
      <p:bold r:id="rId77"/>
      <p:italic r:id="rId78"/>
      <p:boldItalic r:id="rId79"/>
    </p:embeddedFont>
    <p:embeddedFont>
      <p:font typeface="Wingdings 3" panose="05040102010807070707" pitchFamily="18" charset="2"/>
      <p:regular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D8093D-D6F6-46D3-984B-4F09E29151E5}">
  <a:tblStyle styleId="{B4D8093D-D6F6-46D3-984B-4F09E29151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404" y="-3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7.fntdata"/><Relationship Id="rId68" Type="http://schemas.openxmlformats.org/officeDocument/2006/relationships/font" Target="fonts/font12.fntdata"/><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font" Target="fonts/font2.fntdata"/><Relationship Id="rId74" Type="http://schemas.openxmlformats.org/officeDocument/2006/relationships/font" Target="fonts/font18.fntdata"/><Relationship Id="rId79" Type="http://schemas.openxmlformats.org/officeDocument/2006/relationships/font" Target="fonts/font23.fntdata"/><Relationship Id="rId5" Type="http://schemas.openxmlformats.org/officeDocument/2006/relationships/slide" Target="slides/slide3.xml"/><Relationship Id="rId61" Type="http://schemas.openxmlformats.org/officeDocument/2006/relationships/font" Target="fonts/font5.fntdata"/><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font" Target="fonts/font2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6.fntdata"/><Relationship Id="rId80" Type="http://schemas.openxmlformats.org/officeDocument/2006/relationships/font" Target="fonts/font2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font" Target="fonts/font22.fntdata"/><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20.fntdata"/><Relationship Id="rId7" Type="http://schemas.openxmlformats.org/officeDocument/2006/relationships/slide" Target="slides/slide5.xml"/><Relationship Id="rId71" Type="http://schemas.openxmlformats.org/officeDocument/2006/relationships/font" Target="fonts/font15.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0.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g24ef22aa1ac_0_1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0" name="Google Shape;2410;g24ef22aa1ac_0_1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3"/>
        <p:cNvGrpSpPr/>
        <p:nvPr/>
      </p:nvGrpSpPr>
      <p:grpSpPr>
        <a:xfrm>
          <a:off x="0" y="0"/>
          <a:ext cx="0" cy="0"/>
          <a:chOff x="0" y="0"/>
          <a:chExt cx="0" cy="0"/>
        </a:xfrm>
      </p:grpSpPr>
      <p:sp>
        <p:nvSpPr>
          <p:cNvPr id="14814" name="Google Shape;14814;g20a542a8cd5_0_28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5" name="Google Shape;14815;g20a542a8cd5_0_28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40"/>
        <p:cNvGrpSpPr/>
        <p:nvPr/>
      </p:nvGrpSpPr>
      <p:grpSpPr>
        <a:xfrm>
          <a:off x="0" y="0"/>
          <a:ext cx="0" cy="0"/>
          <a:chOff x="0" y="0"/>
          <a:chExt cx="0" cy="0"/>
        </a:xfrm>
      </p:grpSpPr>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280"/>
        <p:cNvGrpSpPr/>
        <p:nvPr/>
      </p:nvGrpSpPr>
      <p:grpSpPr>
        <a:xfrm>
          <a:off x="0" y="0"/>
          <a:ext cx="0" cy="0"/>
          <a:chOff x="0" y="0"/>
          <a:chExt cx="0" cy="0"/>
        </a:xfrm>
      </p:grpSpPr>
      <p:sp>
        <p:nvSpPr>
          <p:cNvPr id="1281" name="Google Shape;1281;p29"/>
          <p:cNvSpPr txBox="1">
            <a:spLocks noGrp="1"/>
          </p:cNvSpPr>
          <p:nvPr>
            <p:ph type="title"/>
          </p:nvPr>
        </p:nvSpPr>
        <p:spPr>
          <a:xfrm>
            <a:off x="1157288" y="685275"/>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7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82" name="Google Shape;1282;p29"/>
          <p:cNvSpPr txBox="1">
            <a:spLocks noGrp="1"/>
          </p:cNvSpPr>
          <p:nvPr>
            <p:ph type="subTitle" idx="1"/>
          </p:nvPr>
        </p:nvSpPr>
        <p:spPr>
          <a:xfrm>
            <a:off x="1157250" y="2203275"/>
            <a:ext cx="4448100" cy="1007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3" name="Google Shape;1283;p29"/>
          <p:cNvSpPr txBox="1">
            <a:spLocks noGrp="1"/>
          </p:cNvSpPr>
          <p:nvPr>
            <p:ph type="subTitle" idx="2"/>
          </p:nvPr>
        </p:nvSpPr>
        <p:spPr>
          <a:xfrm>
            <a:off x="1157250" y="1800075"/>
            <a:ext cx="4448100" cy="3858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a:buNone/>
              <a:defRPr sz="2000" b="1">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85" name="Google Shape;1285;p29"/>
          <p:cNvGrpSpPr/>
          <p:nvPr/>
        </p:nvGrpSpPr>
        <p:grpSpPr>
          <a:xfrm>
            <a:off x="-291585" y="-494819"/>
            <a:ext cx="1448824" cy="2238804"/>
            <a:chOff x="-308635" y="-494819"/>
            <a:chExt cx="1448824" cy="2238804"/>
          </a:xfrm>
        </p:grpSpPr>
        <p:grpSp>
          <p:nvGrpSpPr>
            <p:cNvPr id="1286" name="Google Shape;1286;p29"/>
            <p:cNvGrpSpPr/>
            <p:nvPr/>
          </p:nvGrpSpPr>
          <p:grpSpPr>
            <a:xfrm>
              <a:off x="-275757" y="-242066"/>
              <a:ext cx="981772" cy="1986051"/>
              <a:chOff x="-293545" y="3454371"/>
              <a:chExt cx="981772" cy="1986051"/>
            </a:xfrm>
          </p:grpSpPr>
          <p:sp>
            <p:nvSpPr>
              <p:cNvPr id="1287" name="Google Shape;1287;p2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 name="Google Shape;1289;p29"/>
            <p:cNvGrpSpPr/>
            <p:nvPr/>
          </p:nvGrpSpPr>
          <p:grpSpPr>
            <a:xfrm>
              <a:off x="364499" y="794648"/>
              <a:ext cx="699940" cy="478601"/>
              <a:chOff x="39722" y="4349021"/>
              <a:chExt cx="1061964" cy="726143"/>
            </a:xfrm>
          </p:grpSpPr>
          <p:grpSp>
            <p:nvGrpSpPr>
              <p:cNvPr id="1290" name="Google Shape;1290;p29"/>
              <p:cNvGrpSpPr/>
              <p:nvPr/>
            </p:nvGrpSpPr>
            <p:grpSpPr>
              <a:xfrm rot="2700000">
                <a:off x="140502" y="4460924"/>
                <a:ext cx="524584" cy="502337"/>
                <a:chOff x="1189791" y="-1767331"/>
                <a:chExt cx="904284" cy="865933"/>
              </a:xfrm>
            </p:grpSpPr>
            <p:sp>
              <p:nvSpPr>
                <p:cNvPr id="1291" name="Google Shape;1291;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2" name="Google Shape;1292;p29"/>
                <p:cNvGrpSpPr/>
                <p:nvPr/>
              </p:nvGrpSpPr>
              <p:grpSpPr>
                <a:xfrm>
                  <a:off x="1232795" y="-1740829"/>
                  <a:ext cx="717621" cy="717392"/>
                  <a:chOff x="1483457" y="3953671"/>
                  <a:chExt cx="717621" cy="717392"/>
                </a:xfrm>
              </p:grpSpPr>
              <p:sp>
                <p:nvSpPr>
                  <p:cNvPr id="1293" name="Google Shape;1293;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8" name="Google Shape;1298;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 name="Google Shape;1299;p29"/>
            <p:cNvGrpSpPr/>
            <p:nvPr/>
          </p:nvGrpSpPr>
          <p:grpSpPr>
            <a:xfrm rot="-5400000">
              <a:off x="-460623" y="-342832"/>
              <a:ext cx="1351491" cy="1047516"/>
              <a:chOff x="-2460210" y="2758493"/>
              <a:chExt cx="1351491" cy="1047516"/>
            </a:xfrm>
          </p:grpSpPr>
          <p:sp>
            <p:nvSpPr>
              <p:cNvPr id="1300" name="Google Shape;1300;p2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29"/>
            <p:cNvGrpSpPr/>
            <p:nvPr/>
          </p:nvGrpSpPr>
          <p:grpSpPr>
            <a:xfrm>
              <a:off x="440249" y="455173"/>
              <a:ext cx="699940" cy="478601"/>
              <a:chOff x="39722" y="4349021"/>
              <a:chExt cx="1061964" cy="726143"/>
            </a:xfrm>
          </p:grpSpPr>
          <p:grpSp>
            <p:nvGrpSpPr>
              <p:cNvPr id="1305" name="Google Shape;1305;p29"/>
              <p:cNvGrpSpPr/>
              <p:nvPr/>
            </p:nvGrpSpPr>
            <p:grpSpPr>
              <a:xfrm rot="2700000">
                <a:off x="140502" y="4460924"/>
                <a:ext cx="524584" cy="502337"/>
                <a:chOff x="1189791" y="-1767331"/>
                <a:chExt cx="904284" cy="865933"/>
              </a:xfrm>
            </p:grpSpPr>
            <p:sp>
              <p:nvSpPr>
                <p:cNvPr id="1306" name="Google Shape;1306;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7" name="Google Shape;1307;p29"/>
                <p:cNvGrpSpPr/>
                <p:nvPr/>
              </p:nvGrpSpPr>
              <p:grpSpPr>
                <a:xfrm>
                  <a:off x="1232795" y="-1740829"/>
                  <a:ext cx="717621" cy="717392"/>
                  <a:chOff x="1483457" y="3953671"/>
                  <a:chExt cx="717621" cy="717392"/>
                </a:xfrm>
              </p:grpSpPr>
              <p:sp>
                <p:nvSpPr>
                  <p:cNvPr id="1308" name="Google Shape;1308;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13" name="Google Shape;1313;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29"/>
            <p:cNvGrpSpPr/>
            <p:nvPr/>
          </p:nvGrpSpPr>
          <p:grpSpPr>
            <a:xfrm>
              <a:off x="-63826" y="511661"/>
              <a:ext cx="699940" cy="478601"/>
              <a:chOff x="39722" y="4349021"/>
              <a:chExt cx="1061964" cy="726143"/>
            </a:xfrm>
          </p:grpSpPr>
          <p:grpSp>
            <p:nvGrpSpPr>
              <p:cNvPr id="1315" name="Google Shape;1315;p29"/>
              <p:cNvGrpSpPr/>
              <p:nvPr/>
            </p:nvGrpSpPr>
            <p:grpSpPr>
              <a:xfrm rot="2700000">
                <a:off x="140502" y="4460924"/>
                <a:ext cx="524584" cy="502337"/>
                <a:chOff x="1189791" y="-1767331"/>
                <a:chExt cx="904284" cy="865933"/>
              </a:xfrm>
            </p:grpSpPr>
            <p:sp>
              <p:nvSpPr>
                <p:cNvPr id="1316" name="Google Shape;1316;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7" name="Google Shape;1317;p29"/>
                <p:cNvGrpSpPr/>
                <p:nvPr/>
              </p:nvGrpSpPr>
              <p:grpSpPr>
                <a:xfrm>
                  <a:off x="1232795" y="-1740829"/>
                  <a:ext cx="717621" cy="717392"/>
                  <a:chOff x="1483457" y="3953671"/>
                  <a:chExt cx="717621" cy="717392"/>
                </a:xfrm>
              </p:grpSpPr>
              <p:sp>
                <p:nvSpPr>
                  <p:cNvPr id="1318" name="Google Shape;1318;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23" name="Google Shape;1323;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4" name="Google Shape;1324;p29"/>
          <p:cNvGrpSpPr/>
          <p:nvPr/>
        </p:nvGrpSpPr>
        <p:grpSpPr>
          <a:xfrm>
            <a:off x="2659712" y="4275400"/>
            <a:ext cx="4952059" cy="2992224"/>
            <a:chOff x="2659712" y="4275400"/>
            <a:chExt cx="4952059" cy="2992224"/>
          </a:xfrm>
        </p:grpSpPr>
        <p:pic>
          <p:nvPicPr>
            <p:cNvPr id="1325" name="Google Shape;1325;p29"/>
            <p:cNvPicPr preferRelativeResize="0"/>
            <p:nvPr/>
          </p:nvPicPr>
          <p:blipFill rotWithShape="1">
            <a:blip r:embed="rId2">
              <a:alphaModFix/>
            </a:blip>
            <a:srcRect l="16960" t="24718" r="7121" b="26177"/>
            <a:stretch/>
          </p:blipFill>
          <p:spPr>
            <a:xfrm rot="10800000">
              <a:off x="2659712" y="4275400"/>
              <a:ext cx="3549051" cy="2992224"/>
            </a:xfrm>
            <a:prstGeom prst="rect">
              <a:avLst/>
            </a:prstGeom>
            <a:noFill/>
            <a:ln>
              <a:noFill/>
            </a:ln>
          </p:spPr>
        </p:pic>
        <p:grpSp>
          <p:nvGrpSpPr>
            <p:cNvPr id="1326" name="Google Shape;1326;p29"/>
            <p:cNvGrpSpPr/>
            <p:nvPr/>
          </p:nvGrpSpPr>
          <p:grpSpPr>
            <a:xfrm rot="-5400000">
              <a:off x="3258038" y="4413859"/>
              <a:ext cx="906953" cy="1517787"/>
              <a:chOff x="79748" y="2808602"/>
              <a:chExt cx="906953" cy="1517787"/>
            </a:xfrm>
          </p:grpSpPr>
          <p:sp>
            <p:nvSpPr>
              <p:cNvPr id="1327" name="Google Shape;1327;p29"/>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9"/>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9"/>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9"/>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1" name="Google Shape;1331;p29"/>
            <p:cNvGrpSpPr/>
            <p:nvPr/>
          </p:nvGrpSpPr>
          <p:grpSpPr>
            <a:xfrm rot="5400000">
              <a:off x="5484569" y="3756062"/>
              <a:ext cx="1421047" cy="2833357"/>
              <a:chOff x="334358" y="2186737"/>
              <a:chExt cx="1421047" cy="2833357"/>
            </a:xfrm>
          </p:grpSpPr>
          <p:sp>
            <p:nvSpPr>
              <p:cNvPr id="1332" name="Google Shape;1332;p29"/>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3" name="Google Shape;1333;p29"/>
              <p:cNvGrpSpPr/>
              <p:nvPr/>
            </p:nvGrpSpPr>
            <p:grpSpPr>
              <a:xfrm rot="5400000">
                <a:off x="1046250" y="3181856"/>
                <a:ext cx="161977" cy="161940"/>
                <a:chOff x="1101075" y="2142375"/>
                <a:chExt cx="439200" cy="439100"/>
              </a:xfrm>
            </p:grpSpPr>
            <p:sp>
              <p:nvSpPr>
                <p:cNvPr id="1334" name="Google Shape;1334;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6" name="Google Shape;1336;p29"/>
              <p:cNvGrpSpPr/>
              <p:nvPr/>
            </p:nvGrpSpPr>
            <p:grpSpPr>
              <a:xfrm rot="-5400000">
                <a:off x="628029" y="4564272"/>
                <a:ext cx="161977" cy="161940"/>
                <a:chOff x="1101075" y="2142375"/>
                <a:chExt cx="439200" cy="439100"/>
              </a:xfrm>
            </p:grpSpPr>
            <p:sp>
              <p:nvSpPr>
                <p:cNvPr id="1337" name="Google Shape;1337;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1_Quote">
    <p:spTree>
      <p:nvGrpSpPr>
        <p:cNvPr id="1" name="Shape 39"/>
        <p:cNvGrpSpPr/>
        <p:nvPr/>
      </p:nvGrpSpPr>
      <p:grpSpPr>
        <a:xfrm>
          <a:off x="0" y="0"/>
          <a:ext cx="0" cy="0"/>
          <a:chOff x="0" y="0"/>
          <a:chExt cx="0" cy="0"/>
        </a:xfrm>
      </p:grpSpPr>
      <p:sp>
        <p:nvSpPr>
          <p:cNvPr id="40" name="Google Shape;40;p4"/>
          <p:cNvSpPr txBox="1">
            <a:spLocks noGrp="1"/>
          </p:cNvSpPr>
          <p:nvPr>
            <p:ph type="body" idx="1"/>
          </p:nvPr>
        </p:nvSpPr>
        <p:spPr>
          <a:xfrm>
            <a:off x="2822775" y="2161800"/>
            <a:ext cx="34983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Clr>
                <a:srgbClr val="3796BF"/>
              </a:buClr>
              <a:buSzPts val="2400"/>
              <a:buFont typeface="Oswald"/>
              <a:buChar char="»"/>
              <a:defRPr sz="2400">
                <a:solidFill>
                  <a:srgbClr val="3796BF"/>
                </a:solidFill>
                <a:latin typeface="Oswald"/>
                <a:ea typeface="Oswald"/>
                <a:cs typeface="Oswald"/>
                <a:sym typeface="Oswald"/>
              </a:defRPr>
            </a:lvl1pPr>
            <a:lvl2pPr marL="914400" lvl="1"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2pPr>
            <a:lvl3pPr marL="1371600" lvl="2"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3pPr>
            <a:lvl4pPr marL="1828800" lvl="3"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4pPr>
            <a:lvl5pPr marL="2286000" lvl="4"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5pPr>
            <a:lvl6pPr marL="2743200" lvl="5"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6pPr>
            <a:lvl7pPr marL="3200400" lvl="6"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7pPr>
            <a:lvl8pPr marL="3657600" lvl="7"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8pPr>
            <a:lvl9pPr marL="4114800" lvl="8" indent="-381000" algn="ctr">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9pPr>
          </a:lstStyle>
          <a:p>
            <a:endParaRPr/>
          </a:p>
        </p:txBody>
      </p:sp>
      <p:grpSp>
        <p:nvGrpSpPr>
          <p:cNvPr id="41" name="Google Shape;41;p4"/>
          <p:cNvGrpSpPr/>
          <p:nvPr/>
        </p:nvGrpSpPr>
        <p:grpSpPr>
          <a:xfrm>
            <a:off x="5609666" y="2185857"/>
            <a:ext cx="3534604" cy="3432788"/>
            <a:chOff x="6172200" y="2656118"/>
            <a:chExt cx="2971754" cy="2886151"/>
          </a:xfrm>
        </p:grpSpPr>
        <p:sp>
          <p:nvSpPr>
            <p:cNvPr id="42" name="Google Shape;42;p4"/>
            <p:cNvSpPr/>
            <p:nvPr/>
          </p:nvSpPr>
          <p:spPr>
            <a:xfrm rot="9208626" flipH="1">
              <a:off x="6704904" y="4110434"/>
              <a:ext cx="484232" cy="120400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9208633" flipH="1">
              <a:off x="7804300" y="3279013"/>
              <a:ext cx="877624" cy="2182136"/>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9208678" flipH="1">
              <a:off x="6287617" y="4657701"/>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grpSp>
        <p:nvGrpSpPr>
          <p:cNvPr id="47" name="Google Shape;47;p4"/>
          <p:cNvGrpSpPr/>
          <p:nvPr/>
        </p:nvGrpSpPr>
        <p:grpSpPr>
          <a:xfrm>
            <a:off x="-22" y="-324543"/>
            <a:ext cx="3068579" cy="1910876"/>
            <a:chOff x="-32" y="-215963"/>
            <a:chExt cx="2163561" cy="1347300"/>
          </a:xfrm>
        </p:grpSpPr>
        <p:sp>
          <p:nvSpPr>
            <p:cNvPr id="48" name="Google Shape;48;p4"/>
            <p:cNvSpPr/>
            <p:nvPr/>
          </p:nvSpPr>
          <p:spPr>
            <a:xfrm rot="-1591408" flipH="1">
              <a:off x="1362169" y="-63166"/>
              <a:ext cx="205103" cy="509980"/>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591339" flipH="1">
              <a:off x="892401" y="-169347"/>
              <a:ext cx="504374" cy="1254067"/>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1591322" flipH="1">
              <a:off x="1818452" y="-76292"/>
              <a:ext cx="229660" cy="571018"/>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81D1EC"/>
            </a:solidFill>
            <a:ln>
              <a:noFill/>
            </a:ln>
          </p:spPr>
        </p:sp>
      </p:grpSp>
      <p:sp>
        <p:nvSpPr>
          <p:cNvPr id="53" name="Google Shape;53;p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lgn="r" rtl="0">
              <a:buNone/>
              <a:defRPr sz="1300">
                <a:solidFill>
                  <a:srgbClr val="4BB5D9"/>
                </a:solidFill>
                <a:latin typeface="Roboto Condensed"/>
                <a:ea typeface="Roboto Condensed"/>
                <a:cs typeface="Roboto Condensed"/>
                <a:sym typeface="Roboto Condensed"/>
              </a:defRPr>
            </a:lvl1pPr>
            <a:lvl2pPr lvl="1" algn="r" rtl="0">
              <a:buNone/>
              <a:defRPr sz="1300">
                <a:solidFill>
                  <a:srgbClr val="4BB5D9"/>
                </a:solidFill>
                <a:latin typeface="Roboto Condensed"/>
                <a:ea typeface="Roboto Condensed"/>
                <a:cs typeface="Roboto Condensed"/>
                <a:sym typeface="Roboto Condensed"/>
              </a:defRPr>
            </a:lvl2pPr>
            <a:lvl3pPr lvl="2" algn="r" rtl="0">
              <a:buNone/>
              <a:defRPr sz="1300">
                <a:solidFill>
                  <a:srgbClr val="4BB5D9"/>
                </a:solidFill>
                <a:latin typeface="Roboto Condensed"/>
                <a:ea typeface="Roboto Condensed"/>
                <a:cs typeface="Roboto Condensed"/>
                <a:sym typeface="Roboto Condensed"/>
              </a:defRPr>
            </a:lvl3pPr>
            <a:lvl4pPr lvl="3" algn="r" rtl="0">
              <a:buNone/>
              <a:defRPr sz="1300">
                <a:solidFill>
                  <a:srgbClr val="4BB5D9"/>
                </a:solidFill>
                <a:latin typeface="Roboto Condensed"/>
                <a:ea typeface="Roboto Condensed"/>
                <a:cs typeface="Roboto Condensed"/>
                <a:sym typeface="Roboto Condensed"/>
              </a:defRPr>
            </a:lvl4pPr>
            <a:lvl5pPr lvl="4" algn="r" rtl="0">
              <a:buNone/>
              <a:defRPr sz="1300">
                <a:solidFill>
                  <a:srgbClr val="4BB5D9"/>
                </a:solidFill>
                <a:latin typeface="Roboto Condensed"/>
                <a:ea typeface="Roboto Condensed"/>
                <a:cs typeface="Roboto Condensed"/>
                <a:sym typeface="Roboto Condensed"/>
              </a:defRPr>
            </a:lvl5pPr>
            <a:lvl6pPr lvl="5" algn="r" rtl="0">
              <a:buNone/>
              <a:defRPr sz="1300">
                <a:solidFill>
                  <a:srgbClr val="4BB5D9"/>
                </a:solidFill>
                <a:latin typeface="Roboto Condensed"/>
                <a:ea typeface="Roboto Condensed"/>
                <a:cs typeface="Roboto Condensed"/>
                <a:sym typeface="Roboto Condensed"/>
              </a:defRPr>
            </a:lvl6pPr>
            <a:lvl7pPr lvl="6" algn="r" rtl="0">
              <a:buNone/>
              <a:defRPr sz="1300">
                <a:solidFill>
                  <a:srgbClr val="4BB5D9"/>
                </a:solidFill>
                <a:latin typeface="Roboto Condensed"/>
                <a:ea typeface="Roboto Condensed"/>
                <a:cs typeface="Roboto Condensed"/>
                <a:sym typeface="Roboto Condensed"/>
              </a:defRPr>
            </a:lvl7pPr>
            <a:lvl8pPr lvl="7" algn="r" rtl="0">
              <a:buNone/>
              <a:defRPr sz="1300">
                <a:solidFill>
                  <a:srgbClr val="4BB5D9"/>
                </a:solidFill>
                <a:latin typeface="Roboto Condensed"/>
                <a:ea typeface="Roboto Condensed"/>
                <a:cs typeface="Roboto Condensed"/>
                <a:sym typeface="Roboto Condensed"/>
              </a:defRPr>
            </a:lvl8pPr>
            <a:lvl9pPr lvl="8" algn="r" rtl="0">
              <a:buNone/>
              <a:defRPr sz="1300">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424217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6" name="PlaceHolder 2"/>
          <p:cNvSpPr>
            <a:spLocks noGrp="1"/>
          </p:cNvSpPr>
          <p:nvPr>
            <p:ph type="subTitle"/>
          </p:nvPr>
        </p:nvSpPr>
        <p:spPr>
          <a:xfrm>
            <a:off x="685800" y="1485810"/>
            <a:ext cx="7772400" cy="3086100"/>
          </a:xfrm>
          <a:prstGeom prst="rect">
            <a:avLst/>
          </a:prstGeom>
        </p:spPr>
        <p:txBody>
          <a:bodyPr lIns="0" tIns="0" rIns="0" bIns="0" anchor="ctr">
            <a:noAutofit/>
          </a:bodyPr>
          <a:lstStyle>
            <a:lvl1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229542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10" name="PlaceHolder 2"/>
          <p:cNvSpPr>
            <a:spLocks noGrp="1"/>
          </p:cNvSpPr>
          <p:nvPr>
            <p:ph type="body"/>
          </p:nvPr>
        </p:nvSpPr>
        <p:spPr>
          <a:xfrm>
            <a:off x="685800" y="1485810"/>
            <a:ext cx="37926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
        <p:nvSpPr>
          <p:cNvPr id="11" name="PlaceHolder 3"/>
          <p:cNvSpPr>
            <a:spLocks noGrp="1"/>
          </p:cNvSpPr>
          <p:nvPr>
            <p:ph type="body"/>
          </p:nvPr>
        </p:nvSpPr>
        <p:spPr>
          <a:xfrm>
            <a:off x="4668480" y="1485810"/>
            <a:ext cx="37926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3485108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8" name="PlaceHolder 2"/>
          <p:cNvSpPr>
            <a:spLocks noGrp="1"/>
          </p:cNvSpPr>
          <p:nvPr>
            <p:ph type="body"/>
          </p:nvPr>
        </p:nvSpPr>
        <p:spPr>
          <a:xfrm>
            <a:off x="685800" y="1485810"/>
            <a:ext cx="77724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1811346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Tree>
    <p:extLst>
      <p:ext uri="{BB962C8B-B14F-4D97-AF65-F5344CB8AC3E}">
        <p14:creationId xmlns:p14="http://schemas.microsoft.com/office/powerpoint/2010/main" val="3213748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5" r:id="rId4"/>
    <p:sldLayoutId id="2147483676" r:id="rId5"/>
    <p:sldLayoutId id="2147483677" r:id="rId6"/>
    <p:sldLayoutId id="2147483682" r:id="rId7"/>
    <p:sldLayoutId id="2147483684" r:id="rId8"/>
    <p:sldLayoutId id="2147483685" r:id="rId9"/>
    <p:sldLayoutId id="2147483686" r:id="rId10"/>
    <p:sldLayoutId id="214748368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421"/>
        <p:cNvGrpSpPr/>
        <p:nvPr/>
      </p:nvGrpSpPr>
      <p:grpSpPr>
        <a:xfrm>
          <a:off x="0" y="0"/>
          <a:ext cx="0" cy="0"/>
          <a:chOff x="0" y="0"/>
          <a:chExt cx="0" cy="0"/>
        </a:xfrm>
      </p:grpSpPr>
      <p:sp>
        <p:nvSpPr>
          <p:cNvPr id="1422" name="Google Shape;1422;p3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423" name="Google Shape;1423;p3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altexsoft.com/media/2016/10/Quality-Assurance-Quality-Control-and-Testing-%E2%80%94-the-Basics-of-Software-Quality-Management-Whitepaper.pdf" TargetMode="External"/><Relationship Id="rId2" Type="http://schemas.openxmlformats.org/officeDocument/2006/relationships/hyperlink" Target="https://www.nist.gov/system/files/documents/2018/01/12/procedure-for-software-qa-20180101.pdf"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sp>
        <p:nvSpPr>
          <p:cNvPr id="1431" name="Google Shape;1431;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PE" sz="1200" b="1" dirty="0"/>
              <a:t>M</a:t>
            </a:r>
            <a:r>
              <a:rPr lang="en" sz="1200" b="1" dirty="0"/>
              <a:t> en C JESUS MARTÍN SILVA FERNÁNDEZ</a:t>
            </a:r>
          </a:p>
          <a:p>
            <a:pPr marL="0" lvl="0" indent="0" algn="l" rtl="0">
              <a:spcBef>
                <a:spcPts val="0"/>
              </a:spcBef>
              <a:spcAft>
                <a:spcPts val="0"/>
              </a:spcAft>
              <a:buNone/>
            </a:pPr>
            <a:r>
              <a:rPr lang="en" dirty="0"/>
              <a:t>jsilvaf@unsa.edu.pe </a:t>
            </a:r>
            <a:endParaRPr dirty="0"/>
          </a:p>
        </p:txBody>
      </p:sp>
      <p:sp>
        <p:nvSpPr>
          <p:cNvPr id="1432" name="Google Shape;1432;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chemeClr val="dk2"/>
                </a:solidFill>
              </a:rPr>
              <a:t>Proceso y Aseguramiento de Calidad </a:t>
            </a:r>
            <a:br>
              <a:rPr lang="en" dirty="0">
                <a:solidFill>
                  <a:schemeClr val="dk2"/>
                </a:solidFill>
              </a:rPr>
            </a:br>
            <a:r>
              <a:rPr lang="en" sz="2800">
                <a:solidFill>
                  <a:schemeClr val="dk1"/>
                </a:solidFill>
              </a:rPr>
              <a:t>Capítulo 2</a:t>
            </a:r>
            <a:endParaRPr sz="2800" dirty="0">
              <a:solidFill>
                <a:schemeClr val="dk1"/>
              </a:solidFill>
            </a:endParaRPr>
          </a:p>
        </p:txBody>
      </p:sp>
      <p:grpSp>
        <p:nvGrpSpPr>
          <p:cNvPr id="1433" name="Google Shape;1433;p35"/>
          <p:cNvGrpSpPr/>
          <p:nvPr/>
        </p:nvGrpSpPr>
        <p:grpSpPr>
          <a:xfrm>
            <a:off x="1096850" y="3242811"/>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ACF85A0A-7258-E399-D4B4-4CD23047F210}"/>
              </a:ext>
            </a:extLst>
          </p:cNvPr>
          <p:cNvSpPr txBox="1"/>
          <p:nvPr/>
        </p:nvSpPr>
        <p:spPr>
          <a:xfrm>
            <a:off x="4065224" y="473725"/>
            <a:ext cx="3952174" cy="307777"/>
          </a:xfrm>
          <a:prstGeom prst="rect">
            <a:avLst/>
          </a:prstGeom>
          <a:noFill/>
        </p:spPr>
        <p:txBody>
          <a:bodyPr wrap="square" rtlCol="0">
            <a:spAutoFit/>
          </a:bodyPr>
          <a:lstStyle/>
          <a:p>
            <a:pPr algn="r"/>
            <a:r>
              <a:rPr lang="es-ES" dirty="0">
                <a:solidFill>
                  <a:schemeClr val="tx2"/>
                </a:solidFill>
                <a:latin typeface="Arial Black" panose="020B0A04020102020204" pitchFamily="34" charset="0"/>
              </a:rPr>
              <a:t>CALIDAD DE SOFTWARE</a:t>
            </a:r>
            <a:endParaRPr lang="es-PE" dirty="0">
              <a:solidFill>
                <a:schemeClr val="tx2"/>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Shape 1"/>
          <p:cNvSpPr txBox="1"/>
          <p:nvPr/>
        </p:nvSpPr>
        <p:spPr>
          <a:xfrm>
            <a:off x="1657350" y="182844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000" b="1" spc="-1">
                <a:latin typeface="Times New Roman"/>
              </a:rPr>
              <a:t>¿Qué es el aseguramiento de la calidad del software?</a:t>
            </a:r>
            <a:endParaRPr lang="en-US" sz="3000" spc="-1">
              <a:latin typeface="Times New Roman"/>
            </a:endParaRPr>
          </a:p>
        </p:txBody>
      </p:sp>
    </p:spTree>
    <p:extLst>
      <p:ext uri="{BB962C8B-B14F-4D97-AF65-F5344CB8AC3E}">
        <p14:creationId xmlns:p14="http://schemas.microsoft.com/office/powerpoint/2010/main" val="198955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a:t>
            </a:r>
            <a:r>
              <a:rPr lang="en-US" sz="2700" b="1" spc="-1" dirty="0" err="1">
                <a:solidFill>
                  <a:srgbClr val="FF0000"/>
                </a:solidFill>
                <a:effectLst>
                  <a:outerShdw blurRad="38100" dist="38100" dir="2700000" algn="tl">
                    <a:srgbClr val="000000">
                      <a:alpha val="43137"/>
                    </a:srgbClr>
                  </a:outerShdw>
                </a:effectLst>
                <a:latin typeface="Times New Roman"/>
              </a:rPr>
              <a:t>Qué</a:t>
            </a:r>
            <a:r>
              <a:rPr lang="en-US" sz="2700" b="1" spc="-1" dirty="0">
                <a:solidFill>
                  <a:srgbClr val="FF0000"/>
                </a:solidFill>
                <a:effectLst>
                  <a:outerShdw blurRad="38100" dist="38100" dir="2700000" algn="tl">
                    <a:srgbClr val="000000">
                      <a:alpha val="43137"/>
                    </a:srgbClr>
                  </a:outerShdw>
                </a:effectLst>
                <a:latin typeface="Times New Roman"/>
              </a:rPr>
              <a:t> es la </a:t>
            </a:r>
            <a:r>
              <a:rPr lang="en-US" sz="2700" b="1" spc="-1" dirty="0" err="1">
                <a:solidFill>
                  <a:srgbClr val="FF0000"/>
                </a:solidFill>
                <a:effectLst>
                  <a:outerShdw blurRad="38100" dist="38100" dir="2700000" algn="tl">
                    <a:srgbClr val="000000">
                      <a:alpha val="43137"/>
                    </a:srgbClr>
                  </a:outerShdw>
                </a:effectLst>
                <a:latin typeface="Times New Roman"/>
              </a:rPr>
              <a:t>calidad</a:t>
            </a:r>
            <a:r>
              <a:rPr lang="en-US" sz="2700" b="1" spc="-1" dirty="0">
                <a:solidFill>
                  <a:srgbClr val="FF0000"/>
                </a:solidFill>
                <a:effectLst>
                  <a:outerShdw blurRad="38100" dist="38100" dir="2700000" algn="tl">
                    <a:srgbClr val="000000">
                      <a:alpha val="43137"/>
                    </a:srgbClr>
                  </a:outerShdw>
                </a:effectLst>
                <a:latin typeface="Times New Roman"/>
              </a:rPr>
              <a:t>?</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49" name="CustomShape 2"/>
          <p:cNvSpPr/>
          <p:nvPr/>
        </p:nvSpPr>
        <p:spPr>
          <a:xfrm>
            <a:off x="1886040" y="1428840"/>
            <a:ext cx="5785290" cy="34290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sp>
      <p:sp>
        <p:nvSpPr>
          <p:cNvPr id="50" name="CustomShape 3"/>
          <p:cNvSpPr/>
          <p:nvPr/>
        </p:nvSpPr>
        <p:spPr>
          <a:xfrm>
            <a:off x="1657350" y="1200150"/>
            <a:ext cx="6140070" cy="2887041"/>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100" b="1" spc="-1">
                <a:latin typeface="Times New Roman"/>
                <a:ea typeface="Times New Roman"/>
              </a:rPr>
              <a:t>Calidad</a:t>
            </a:r>
            <a:r>
              <a:rPr lang="en-US" sz="2100" spc="-1">
                <a:latin typeface="Times New Roman"/>
                <a:ea typeface="Times New Roman"/>
              </a:rPr>
              <a:t>– el producto desarrollado cumple con sus especificaciones</a:t>
            </a:r>
            <a:endParaRPr lang="en-US" sz="21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21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Problemas:</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•La organización de desarrollo tiene requisitos que exceden las especificaciones del cliente (costo adicional de desarrollo del producto)</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•Ciertas características de calidad no se pueden especificar en</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Términos inequívocos (es decir, mantenibilidad)</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•Incluso si el producto cumple con sus especificaciones, los usuarios pueden</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No lo considero un producto de calidad (porque los usuarios pueden no estar involucrados en el desarrollo de los requisitos)</a:t>
            </a:r>
            <a:endParaRPr lang="en-US" sz="1500" spc="-1">
              <a:latin typeface="Times New Roman"/>
            </a:endParaRPr>
          </a:p>
        </p:txBody>
      </p:sp>
    </p:spTree>
    <p:extLst>
      <p:ext uri="{BB962C8B-B14F-4D97-AF65-F5344CB8AC3E}">
        <p14:creationId xmlns:p14="http://schemas.microsoft.com/office/powerpoint/2010/main" val="1220356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CustomShape 1"/>
          <p:cNvSpPr/>
          <p:nvPr/>
        </p:nvSpPr>
        <p:spPr>
          <a:xfrm>
            <a:off x="1657350" y="1523880"/>
            <a:ext cx="6074460" cy="2979374"/>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Gestión de calidad</a:t>
            </a:r>
            <a:r>
              <a:rPr lang="en-US" sz="1800" spc="-1">
                <a:latin typeface="Times New Roman"/>
                <a:ea typeface="Times New Roman"/>
              </a:rPr>
              <a:t>– garantizar que el nivel requerido de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Se logra la calidad del producto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•Definición de procedimientos y estándares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•Aplicación de procedimientos y normas al producto y al proceso.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•Comprobación de que se siguen los procedimientos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•Recopilación y análisis de diversos datos de calidad.</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Problemas:</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•Los aspectos intangibles de la calidad del software no se pueden estandarizar</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 (es decir, elegancia y legibilidad)</a:t>
            </a:r>
            <a:endParaRPr lang="en-US" sz="1500" spc="-1">
              <a:latin typeface="Times New Roman"/>
            </a:endParaRPr>
          </a:p>
        </p:txBody>
      </p:sp>
      <p:sp>
        <p:nvSpPr>
          <p:cNvPr id="52" name="TextShape 2"/>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a:t>
            </a:r>
            <a:r>
              <a:rPr lang="en-US" sz="2700" b="1" spc="-1" dirty="0" err="1">
                <a:solidFill>
                  <a:srgbClr val="FF0000"/>
                </a:solidFill>
                <a:effectLst>
                  <a:outerShdw blurRad="38100" dist="38100" dir="2700000" algn="tl">
                    <a:srgbClr val="000000">
                      <a:alpha val="43137"/>
                    </a:srgbClr>
                  </a:outerShdw>
                </a:effectLst>
                <a:latin typeface="Times New Roman"/>
              </a:rPr>
              <a:t>Qué</a:t>
            </a:r>
            <a:r>
              <a:rPr lang="en-US" sz="2700" b="1" spc="-1" dirty="0">
                <a:solidFill>
                  <a:srgbClr val="FF0000"/>
                </a:solidFill>
                <a:effectLst>
                  <a:outerShdw blurRad="38100" dist="38100" dir="2700000" algn="tl">
                    <a:srgbClr val="000000">
                      <a:alpha val="43137"/>
                    </a:srgbClr>
                  </a:outerShdw>
                </a:effectLst>
                <a:latin typeface="Times New Roman"/>
              </a:rPr>
              <a:t> es la </a:t>
            </a:r>
            <a:r>
              <a:rPr lang="en-US" sz="2700" b="1" spc="-1" dirty="0" err="1">
                <a:solidFill>
                  <a:srgbClr val="FF0000"/>
                </a:solidFill>
                <a:effectLst>
                  <a:outerShdw blurRad="38100" dist="38100" dir="2700000" algn="tl">
                    <a:srgbClr val="000000">
                      <a:alpha val="43137"/>
                    </a:srgbClr>
                  </a:outerShdw>
                </a:effectLst>
                <a:latin typeface="Times New Roman"/>
              </a:rPr>
              <a:t>Gestión</a:t>
            </a:r>
            <a:r>
              <a:rPr lang="en-US" sz="2700" b="1" spc="-1" dirty="0">
                <a:solidFill>
                  <a:srgbClr val="FF0000"/>
                </a:solidFill>
                <a:effectLst>
                  <a:outerShdw blurRad="38100" dist="38100" dir="2700000" algn="tl">
                    <a:srgbClr val="000000">
                      <a:alpha val="43137"/>
                    </a:srgbClr>
                  </a:outerShdw>
                </a:effectLst>
                <a:latin typeface="Times New Roman"/>
              </a:rPr>
              <a:t> de Calidad?</a:t>
            </a:r>
            <a:endParaRPr lang="en-US" sz="2700" spc="-1" dirty="0">
              <a:solidFill>
                <a:srgbClr val="FF0000"/>
              </a:solidFill>
              <a:effectLst>
                <a:outerShdw blurRad="38100" dist="38100" dir="2700000" algn="tl">
                  <a:srgbClr val="000000">
                    <a:alpha val="43137"/>
                  </a:srgbClr>
                </a:outerShdw>
              </a:effectLst>
              <a:latin typeface="Times New Roman"/>
            </a:endParaRPr>
          </a:p>
        </p:txBody>
      </p:sp>
    </p:spTree>
    <p:extLst>
      <p:ext uri="{BB962C8B-B14F-4D97-AF65-F5344CB8AC3E}">
        <p14:creationId xmlns:p14="http://schemas.microsoft.com/office/powerpoint/2010/main" val="357963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a:t>
            </a:r>
            <a:r>
              <a:rPr lang="en-US" sz="2700" b="1" spc="-1" dirty="0" err="1">
                <a:solidFill>
                  <a:srgbClr val="FF0000"/>
                </a:solidFill>
                <a:effectLst>
                  <a:outerShdw blurRad="38100" dist="38100" dir="2700000" algn="tl">
                    <a:srgbClr val="000000">
                      <a:alpha val="43137"/>
                    </a:srgbClr>
                  </a:outerShdw>
                </a:effectLst>
                <a:latin typeface="Times New Roman"/>
              </a:rPr>
              <a:t>Qué</a:t>
            </a:r>
            <a:r>
              <a:rPr lang="en-US" sz="2700" b="1" spc="-1" dirty="0">
                <a:solidFill>
                  <a:srgbClr val="FF0000"/>
                </a:solidFill>
                <a:effectLst>
                  <a:outerShdw blurRad="38100" dist="38100" dir="2700000" algn="tl">
                    <a:srgbClr val="000000">
                      <a:alpha val="43137"/>
                    </a:srgbClr>
                  </a:outerShdw>
                </a:effectLst>
                <a:latin typeface="Times New Roman"/>
              </a:rPr>
              <a:t> son SQA, SQP, SQC y SQM?</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54" name="CustomShape 2"/>
          <p:cNvSpPr/>
          <p:nvPr/>
        </p:nvSpPr>
        <p:spPr>
          <a:xfrm>
            <a:off x="1543140" y="800010"/>
            <a:ext cx="6172200" cy="394887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SQA incluye los 4 elementos…</a:t>
            </a:r>
            <a:endParaRPr lang="en-US" sz="1800" spc="-1">
              <a:latin typeface="Times New Roman"/>
            </a:endParaRPr>
          </a:p>
          <a:p>
            <a:pPr marL="342900" indent="-342900">
              <a:buFont typeface="Times New Roman"/>
              <a:buAutoNum type="arabicPeriod" startAt="2"/>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Garantía de calidad del software</a:t>
            </a:r>
            <a:r>
              <a:rPr lang="en-US" sz="1800" spc="-1">
                <a:latin typeface="Times New Roman"/>
                <a:ea typeface="Times New Roman"/>
              </a:rPr>
              <a:t>– establecimiento de una red de procedimientos y estándares organizativos que conduzcan a un software de alta calidad</a:t>
            </a:r>
            <a:endParaRPr lang="en-US" sz="1800" spc="-1">
              <a:latin typeface="Times New Roman"/>
            </a:endParaRPr>
          </a:p>
          <a:p>
            <a:pPr marL="342900" indent="-342900">
              <a:buFont typeface="Times New Roman"/>
              <a:buAutoNum type="arabicPeriod" startAt="2"/>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Planificación de la calidad del software</a:t>
            </a:r>
            <a:r>
              <a:rPr lang="en-US" sz="1800" spc="-1">
                <a:latin typeface="Times New Roman"/>
                <a:ea typeface="Times New Roman"/>
              </a:rPr>
              <a:t>– selección de procedimientos y estándares apropiados de este marco y adaptación de los mismos al proyecto de software específico</a:t>
            </a:r>
            <a:endParaRPr lang="en-US" sz="1800" spc="-1">
              <a:latin typeface="Times New Roman"/>
            </a:endParaRPr>
          </a:p>
          <a:p>
            <a:pPr marL="342900" indent="-342900">
              <a:buFont typeface="Times New Roman"/>
              <a:buAutoNum type="arabicPeriod" startAt="2"/>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Control de calidad del software</a:t>
            </a:r>
            <a:r>
              <a:rPr lang="en-US" sz="1800" spc="-1">
                <a:latin typeface="Times New Roman"/>
                <a:ea typeface="Times New Roman"/>
              </a:rPr>
              <a:t>– definición y puesta en marcha de procesos que garanticen que el equipo de desarrollo de software esté siguiendo los procedimientos y estándares de calidad del proyecto</a:t>
            </a:r>
            <a:endParaRPr lang="en-US" sz="1800" spc="-1">
              <a:latin typeface="Times New Roman"/>
            </a:endParaRPr>
          </a:p>
          <a:p>
            <a:pPr marL="342900" indent="-342900">
              <a:buFont typeface="Times New Roman"/>
              <a:buAutoNum type="arabicPeriod" startAt="2"/>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Métricas de calidad del software</a:t>
            </a:r>
            <a:r>
              <a:rPr lang="en-US" sz="1800" spc="-1">
                <a:latin typeface="Times New Roman"/>
                <a:ea typeface="Times New Roman"/>
              </a:rPr>
              <a:t>– recopilar y analizar datos de calidad para predecir y controlar la calidad del producto de software que se está desarrollando</a:t>
            </a:r>
            <a:endParaRPr lang="en-US" sz="1800" spc="-1">
              <a:latin typeface="Times New Roman"/>
            </a:endParaRPr>
          </a:p>
        </p:txBody>
      </p:sp>
    </p:spTree>
    <p:extLst>
      <p:ext uri="{BB962C8B-B14F-4D97-AF65-F5344CB8AC3E}">
        <p14:creationId xmlns:p14="http://schemas.microsoft.com/office/powerpoint/2010/main" val="346315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Proceso</a:t>
            </a:r>
            <a:r>
              <a:rPr lang="en-US" sz="3300" b="1" spc="-1" dirty="0">
                <a:solidFill>
                  <a:srgbClr val="FF0000"/>
                </a:solidFill>
                <a:effectLst>
                  <a:outerShdw blurRad="38100" dist="38100" dir="2700000" algn="tl">
                    <a:srgbClr val="000000">
                      <a:alpha val="43137"/>
                    </a:srgbClr>
                  </a:outerShdw>
                </a:effectLst>
                <a:latin typeface="Times New Roman"/>
              </a:rPr>
              <a:t> de </a:t>
            </a:r>
            <a:r>
              <a:rPr lang="en-US" sz="3300" b="1" spc="-1" dirty="0" err="1">
                <a:solidFill>
                  <a:srgbClr val="FF0000"/>
                </a:solidFill>
                <a:effectLst>
                  <a:outerShdw blurRad="38100" dist="38100" dir="2700000" algn="tl">
                    <a:srgbClr val="000000">
                      <a:alpha val="43137"/>
                    </a:srgbClr>
                  </a:outerShdw>
                </a:effectLst>
                <a:latin typeface="Times New Roman"/>
              </a:rPr>
              <a:t>desarrollo</a:t>
            </a:r>
            <a:r>
              <a:rPr lang="en-US" sz="3300" b="1" spc="-1" dirty="0">
                <a:solidFill>
                  <a:srgbClr val="FF0000"/>
                </a:solidFill>
                <a:effectLst>
                  <a:outerShdw blurRad="38100" dist="38100" dir="2700000" algn="tl">
                    <a:srgbClr val="000000">
                      <a:alpha val="43137"/>
                    </a:srgbClr>
                  </a:outerShdw>
                </a:effectLst>
                <a:latin typeface="Times New Roman"/>
              </a:rPr>
              <a:t> de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56" name="TextShape 2"/>
          <p:cNvSpPr txBox="1"/>
          <p:nvPr/>
        </p:nvSpPr>
        <p:spPr>
          <a:xfrm>
            <a:off x="2171700" y="2914650"/>
            <a:ext cx="4800600" cy="1314360"/>
          </a:xfrm>
          <a:prstGeom prst="rect">
            <a:avLst/>
          </a:prstGeom>
          <a:noFill/>
          <a:ln w="0">
            <a:noFill/>
          </a:ln>
        </p:spPr>
        <p:txBody>
          <a:bodyPr lIns="0" tIns="0" rIns="0" bIns="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2400" spc="-1">
              <a:latin typeface="Times New Roman"/>
            </a:endParaRPr>
          </a:p>
        </p:txBody>
      </p:sp>
    </p:spTree>
    <p:extLst>
      <p:ext uri="{BB962C8B-B14F-4D97-AF65-F5344CB8AC3E}">
        <p14:creationId xmlns:p14="http://schemas.microsoft.com/office/powerpoint/2010/main" val="4099070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Espiral</a:t>
            </a:r>
            <a:r>
              <a:rPr lang="en-US" sz="2700" b="1" spc="-1" dirty="0">
                <a:solidFill>
                  <a:srgbClr val="FF0000"/>
                </a:solidFill>
                <a:effectLst>
                  <a:outerShdw blurRad="38100" dist="38100" dir="2700000" algn="tl">
                    <a:srgbClr val="000000">
                      <a:alpha val="43137"/>
                    </a:srgbClr>
                  </a:outerShdw>
                </a:effectLst>
                <a:latin typeface="Times New Roman"/>
              </a:rPr>
              <a:t> del </a:t>
            </a:r>
            <a:r>
              <a:rPr lang="en-US" sz="2700" b="1" spc="-1" dirty="0" err="1">
                <a:solidFill>
                  <a:srgbClr val="FF0000"/>
                </a:solidFill>
                <a:effectLst>
                  <a:outerShdw blurRad="38100" dist="38100" dir="2700000" algn="tl">
                    <a:srgbClr val="000000">
                      <a:alpha val="43137"/>
                    </a:srgbClr>
                  </a:outerShdw>
                </a:effectLst>
                <a:latin typeface="Times New Roman"/>
              </a:rPr>
              <a:t>proceso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desarrollo</a:t>
            </a:r>
            <a:r>
              <a:rPr lang="en-US" sz="2700" b="1" spc="-1" dirty="0">
                <a:solidFill>
                  <a:srgbClr val="FF0000"/>
                </a:solidFill>
                <a:effectLst>
                  <a:outerShdw blurRad="38100" dist="38100" dir="2700000" algn="tl">
                    <a:srgbClr val="000000">
                      <a:alpha val="43137"/>
                    </a:srgbClr>
                  </a:outerShdw>
                </a:effectLst>
                <a:latin typeface="Times New Roman"/>
              </a:rPr>
              <a:t> de software</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58" name="staircase%2520outline"/>
          <p:cNvPicPr/>
          <p:nvPr/>
        </p:nvPicPr>
        <p:blipFill>
          <a:blip r:embed="rId2"/>
          <a:stretch/>
        </p:blipFill>
        <p:spPr>
          <a:xfrm>
            <a:off x="3943440" y="857250"/>
            <a:ext cx="1314360" cy="3714660"/>
          </a:xfrm>
          <a:prstGeom prst="rect">
            <a:avLst/>
          </a:prstGeom>
          <a:ln w="0">
            <a:noFill/>
          </a:ln>
        </p:spPr>
      </p:pic>
      <p:sp>
        <p:nvSpPr>
          <p:cNvPr id="59" name="CustomShape 2"/>
          <p:cNvSpPr/>
          <p:nvPr/>
        </p:nvSpPr>
        <p:spPr>
          <a:xfrm>
            <a:off x="5257800" y="2571751"/>
            <a:ext cx="2514510" cy="278635"/>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spcBef>
                <a:spcPts val="842"/>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350" b="1" spc="-1">
                <a:latin typeface="Times New Roman"/>
              </a:rPr>
              <a:t>Fases del desarrollo de software</a:t>
            </a:r>
            <a:endParaRPr lang="en-US" sz="1350" spc="-1">
              <a:latin typeface="Times New Roman"/>
            </a:endParaRPr>
          </a:p>
        </p:txBody>
      </p:sp>
      <p:sp>
        <p:nvSpPr>
          <p:cNvPr id="61" name="CustomShape 4"/>
          <p:cNvSpPr/>
          <p:nvPr/>
        </p:nvSpPr>
        <p:spPr>
          <a:xfrm>
            <a:off x="1256400" y="684585"/>
            <a:ext cx="4017124" cy="347884"/>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err="1">
                <a:latin typeface="Times New Roman"/>
              </a:rPr>
              <a:t>Modelo</a:t>
            </a:r>
            <a:r>
              <a:rPr lang="en-US" sz="1800" b="1" spc="-1" dirty="0">
                <a:latin typeface="Times New Roman"/>
              </a:rPr>
              <a:t> de </a:t>
            </a:r>
            <a:r>
              <a:rPr lang="en-US" sz="1800" b="1" spc="-1" dirty="0" err="1">
                <a:latin typeface="Times New Roman"/>
              </a:rPr>
              <a:t>diseño</a:t>
            </a:r>
            <a:r>
              <a:rPr lang="en-US" sz="1800" b="1" spc="-1" dirty="0">
                <a:latin typeface="Times New Roman"/>
              </a:rPr>
              <a:t> de </a:t>
            </a:r>
            <a:r>
              <a:rPr lang="en-US" sz="1800" b="1" spc="-1" dirty="0" err="1">
                <a:latin typeface="Times New Roman"/>
              </a:rPr>
              <a:t>arriba</a:t>
            </a:r>
            <a:r>
              <a:rPr lang="en-US" sz="1800" b="1" spc="-1" dirty="0">
                <a:latin typeface="Times New Roman"/>
              </a:rPr>
              <a:t> </a:t>
            </a:r>
            <a:r>
              <a:rPr lang="en-US" sz="1800" b="1" spc="-1" dirty="0" err="1">
                <a:latin typeface="Times New Roman"/>
              </a:rPr>
              <a:t>hacia</a:t>
            </a:r>
            <a:r>
              <a:rPr lang="en-US" sz="1800" b="1" spc="-1" dirty="0">
                <a:latin typeface="Times New Roman"/>
              </a:rPr>
              <a:t> </a:t>
            </a:r>
            <a:r>
              <a:rPr lang="en-US" sz="1800" b="1" spc="-1" dirty="0" err="1">
                <a:latin typeface="Times New Roman"/>
              </a:rPr>
              <a:t>abajo</a:t>
            </a:r>
            <a:endParaRPr lang="en-US" sz="1800" spc="-1" dirty="0">
              <a:latin typeface="Times New Roman"/>
            </a:endParaRPr>
          </a:p>
        </p:txBody>
      </p:sp>
    </p:spTree>
    <p:extLst>
      <p:ext uri="{BB962C8B-B14F-4D97-AF65-F5344CB8AC3E}">
        <p14:creationId xmlns:p14="http://schemas.microsoft.com/office/powerpoint/2010/main" val="1433655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latin typeface="Times New Roman"/>
              </a:rPr>
              <a:t>Ciclo</a:t>
            </a:r>
            <a:r>
              <a:rPr lang="en-US" sz="2700" b="1" spc="-1" dirty="0">
                <a:solidFill>
                  <a:srgbClr val="FF0000"/>
                </a:solidFill>
                <a:latin typeface="Times New Roman"/>
              </a:rPr>
              <a:t> de </a:t>
            </a:r>
            <a:r>
              <a:rPr lang="en-US" sz="2700" b="1" spc="-1" dirty="0" err="1">
                <a:solidFill>
                  <a:srgbClr val="FF0000"/>
                </a:solidFill>
                <a:latin typeface="Times New Roman"/>
              </a:rPr>
              <a:t>desarrollo</a:t>
            </a:r>
            <a:r>
              <a:rPr lang="en-US" sz="2700" b="1" spc="-1" dirty="0">
                <a:solidFill>
                  <a:srgbClr val="FF0000"/>
                </a:solidFill>
                <a:latin typeface="Times New Roman"/>
              </a:rPr>
              <a:t> de software</a:t>
            </a:r>
            <a:endParaRPr lang="en-US" sz="2700" spc="-1" dirty="0">
              <a:solidFill>
                <a:srgbClr val="FF0000"/>
              </a:solidFill>
              <a:latin typeface="Times New Roman"/>
            </a:endParaRPr>
          </a:p>
        </p:txBody>
      </p:sp>
      <p:sp>
        <p:nvSpPr>
          <p:cNvPr id="63" name="CustomShape 2"/>
          <p:cNvSpPr/>
          <p:nvPr/>
        </p:nvSpPr>
        <p:spPr>
          <a:xfrm>
            <a:off x="1875240" y="1345410"/>
            <a:ext cx="5439960" cy="34290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sp>
      <p:sp>
        <p:nvSpPr>
          <p:cNvPr id="64" name="CustomShape 3"/>
          <p:cNvSpPr/>
          <p:nvPr/>
        </p:nvSpPr>
        <p:spPr>
          <a:xfrm>
            <a:off x="1600110" y="971460"/>
            <a:ext cx="2901690" cy="4225869"/>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u="sng" spc="-1">
                <a:latin typeface="Times New Roman"/>
                <a:ea typeface="Times New Roman"/>
              </a:rPr>
              <a:t>Fase de desarrollo de software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•Requisitos de software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•Diseño preliminar</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•Diseño detallado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•Código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•Prueba unitaria</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•Integración de software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•Prueba de componentes de software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•Prueba del sistema de software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•Mantenimiento y soporte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p:txBody>
      </p:sp>
      <p:sp>
        <p:nvSpPr>
          <p:cNvPr id="65" name="CustomShape 4"/>
          <p:cNvSpPr/>
          <p:nvPr/>
        </p:nvSpPr>
        <p:spPr>
          <a:xfrm>
            <a:off x="4800690" y="971460"/>
            <a:ext cx="2672730" cy="394887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u="sng" spc="-1">
                <a:latin typeface="Times New Roman"/>
                <a:ea typeface="Times New Roman"/>
              </a:rPr>
              <a:t>Producto final</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•SRS, IRS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•Planes y procedimientos SDD, PQT/FAT/SAT, ICD, IDD</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•PDL, Manuales de usuario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•Código, Plan UT y Procedimientos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•Resultados de UT</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•VDD</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•Informe PQT</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•Informes FAT y SAT</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•ECP que conduce a actualizaciones</a:t>
            </a:r>
            <a:endParaRPr lang="en-US" sz="1800" spc="-1">
              <a:latin typeface="Times New Roman"/>
            </a:endParaRPr>
          </a:p>
        </p:txBody>
      </p:sp>
    </p:spTree>
    <p:extLst>
      <p:ext uri="{BB962C8B-B14F-4D97-AF65-F5344CB8AC3E}">
        <p14:creationId xmlns:p14="http://schemas.microsoft.com/office/powerpoint/2010/main" val="2756771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Ciclo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desarrollo</a:t>
            </a:r>
            <a:r>
              <a:rPr lang="en-US" sz="2700" b="1" spc="-1" dirty="0">
                <a:solidFill>
                  <a:srgbClr val="FF0000"/>
                </a:solidFill>
                <a:effectLst>
                  <a:outerShdw blurRad="38100" dist="38100" dir="2700000" algn="tl">
                    <a:srgbClr val="000000">
                      <a:alpha val="43137"/>
                    </a:srgbClr>
                  </a:outerShdw>
                </a:effectLst>
                <a:latin typeface="Times New Roman"/>
              </a:rPr>
              <a:t> de software (</a:t>
            </a:r>
            <a:r>
              <a:rPr lang="en-US" sz="2700" b="1" spc="-1" dirty="0" err="1">
                <a:solidFill>
                  <a:srgbClr val="FF0000"/>
                </a:solidFill>
                <a:effectLst>
                  <a:outerShdw blurRad="38100" dist="38100" dir="2700000" algn="tl">
                    <a:srgbClr val="000000">
                      <a:alpha val="43137"/>
                    </a:srgbClr>
                  </a:outerShdw>
                </a:effectLst>
                <a:latin typeface="Times New Roman"/>
              </a:rPr>
              <a:t>continuación</a:t>
            </a:r>
            <a:r>
              <a:rPr lang="en-US" sz="2700" b="1" spc="-1" dirty="0">
                <a:solidFill>
                  <a:srgbClr val="FF0000"/>
                </a:solidFill>
                <a:effectLst>
                  <a:outerShdw blurRad="38100" dist="38100" dir="2700000" algn="tl">
                    <a:srgbClr val="000000">
                      <a:alpha val="43137"/>
                    </a:srgbClr>
                  </a:outerShdw>
                </a:effectLst>
                <a:latin typeface="Times New Roman"/>
              </a:rPr>
              <a:t>)</a:t>
            </a:r>
            <a:endParaRPr lang="en-US" sz="2700" spc="-1" dirty="0">
              <a:solidFill>
                <a:srgbClr val="FF0000"/>
              </a:solidFill>
              <a:effectLst>
                <a:outerShdw blurRad="38100" dist="38100" dir="2700000" algn="tl">
                  <a:srgbClr val="000000">
                    <a:alpha val="43137"/>
                  </a:srgbClr>
                </a:outerShdw>
              </a:effectLst>
              <a:latin typeface="Times New Roman"/>
            </a:endParaRPr>
          </a:p>
        </p:txBody>
      </p:sp>
      <p:grpSp>
        <p:nvGrpSpPr>
          <p:cNvPr id="67" name="Group 2"/>
          <p:cNvGrpSpPr/>
          <p:nvPr/>
        </p:nvGrpSpPr>
        <p:grpSpPr>
          <a:xfrm>
            <a:off x="3028950" y="1200150"/>
            <a:ext cx="3257550" cy="3294000"/>
            <a:chOff x="2514600" y="1600200"/>
            <a:chExt cx="4343400" cy="4392000"/>
          </a:xfrm>
        </p:grpSpPr>
        <p:sp>
          <p:nvSpPr>
            <p:cNvPr id="68" name="CustomShape 3"/>
            <p:cNvSpPr/>
            <p:nvPr/>
          </p:nvSpPr>
          <p:spPr>
            <a:xfrm>
              <a:off x="4114800" y="160020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Req.</a:t>
              </a:r>
            </a:p>
          </p:txBody>
        </p:sp>
        <p:sp>
          <p:nvSpPr>
            <p:cNvPr id="69" name="CustomShape 4"/>
            <p:cNvSpPr/>
            <p:nvPr/>
          </p:nvSpPr>
          <p:spPr>
            <a:xfrm>
              <a:off x="5181480" y="198108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PD</a:t>
              </a:r>
            </a:p>
          </p:txBody>
        </p:sp>
        <p:sp>
          <p:nvSpPr>
            <p:cNvPr id="70" name="CustomShape 5"/>
            <p:cNvSpPr/>
            <p:nvPr/>
          </p:nvSpPr>
          <p:spPr>
            <a:xfrm>
              <a:off x="5943600" y="289548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DD</a:t>
              </a:r>
            </a:p>
          </p:txBody>
        </p:sp>
        <p:sp>
          <p:nvSpPr>
            <p:cNvPr id="71" name="CustomShape 6"/>
            <p:cNvSpPr/>
            <p:nvPr/>
          </p:nvSpPr>
          <p:spPr>
            <a:xfrm>
              <a:off x="5867280" y="403848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CUT</a:t>
              </a:r>
            </a:p>
          </p:txBody>
        </p:sp>
        <p:sp>
          <p:nvSpPr>
            <p:cNvPr id="72" name="CustomShape 7"/>
            <p:cNvSpPr/>
            <p:nvPr/>
          </p:nvSpPr>
          <p:spPr>
            <a:xfrm>
              <a:off x="4952880" y="480060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Int</a:t>
              </a:r>
            </a:p>
          </p:txBody>
        </p:sp>
        <p:sp>
          <p:nvSpPr>
            <p:cNvPr id="73" name="CustomShape 8"/>
            <p:cNvSpPr/>
            <p:nvPr/>
          </p:nvSpPr>
          <p:spPr>
            <a:xfrm>
              <a:off x="3733920" y="480060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PQT</a:t>
              </a:r>
            </a:p>
          </p:txBody>
        </p:sp>
        <p:sp>
          <p:nvSpPr>
            <p:cNvPr id="74" name="CustomShape 9"/>
            <p:cNvSpPr/>
            <p:nvPr/>
          </p:nvSpPr>
          <p:spPr>
            <a:xfrm>
              <a:off x="2743200" y="411480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FAT</a:t>
              </a:r>
            </a:p>
          </p:txBody>
        </p:sp>
        <p:sp>
          <p:nvSpPr>
            <p:cNvPr id="75" name="CustomShape 10"/>
            <p:cNvSpPr/>
            <p:nvPr/>
          </p:nvSpPr>
          <p:spPr>
            <a:xfrm>
              <a:off x="2514600" y="304812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SAT</a:t>
              </a:r>
            </a:p>
          </p:txBody>
        </p:sp>
        <p:sp>
          <p:nvSpPr>
            <p:cNvPr id="76" name="CustomShape 11"/>
            <p:cNvSpPr/>
            <p:nvPr/>
          </p:nvSpPr>
          <p:spPr>
            <a:xfrm>
              <a:off x="3124080" y="2057400"/>
              <a:ext cx="914400" cy="914400"/>
            </a:xfrm>
            <a:prstGeom prst="ellipse">
              <a:avLst/>
            </a:prstGeom>
            <a:solidFill>
              <a:srgbClr val="00CC99"/>
            </a:solid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err="1">
                  <a:latin typeface="Times New Roman"/>
                </a:rPr>
                <a:t>Mant</a:t>
              </a:r>
              <a:endParaRPr lang="en-US" sz="1500" spc="-1" dirty="0">
                <a:latin typeface="Times New Roman"/>
              </a:endParaRPr>
            </a:p>
          </p:txBody>
        </p:sp>
        <p:cxnSp>
          <p:nvCxnSpPr>
            <p:cNvPr id="77" name="Line 12"/>
            <p:cNvCxnSpPr>
              <a:stCxn id="68" idx="6"/>
              <a:endCxn id="69" idx="1"/>
            </p:cNvCxnSpPr>
            <p:nvPr/>
          </p:nvCxnSpPr>
          <p:spPr>
            <a:xfrm>
              <a:off x="5029200" y="2057040"/>
              <a:ext cx="286560" cy="57960"/>
            </a:xfrm>
            <a:prstGeom prst="curvedConnector3">
              <a:avLst/>
            </a:prstGeom>
            <a:ln w="9360">
              <a:solidFill>
                <a:srgbClr val="000000"/>
              </a:solidFill>
              <a:miter/>
              <a:tailEnd type="triangle" w="med" len="med"/>
            </a:ln>
          </p:spPr>
        </p:cxnSp>
        <p:cxnSp>
          <p:nvCxnSpPr>
            <p:cNvPr id="78" name="Line 13"/>
            <p:cNvCxnSpPr>
              <a:stCxn id="69" idx="6"/>
              <a:endCxn id="70" idx="0"/>
            </p:cNvCxnSpPr>
            <p:nvPr/>
          </p:nvCxnSpPr>
          <p:spPr>
            <a:xfrm>
              <a:off x="6095520" y="2438280"/>
              <a:ext cx="305640" cy="457920"/>
            </a:xfrm>
            <a:prstGeom prst="curvedConnector3">
              <a:avLst/>
            </a:prstGeom>
            <a:ln w="9360">
              <a:solidFill>
                <a:srgbClr val="000000"/>
              </a:solidFill>
              <a:miter/>
              <a:tailEnd type="triangle" w="med" len="med"/>
            </a:ln>
          </p:spPr>
        </p:cxnSp>
        <p:cxnSp>
          <p:nvCxnSpPr>
            <p:cNvPr id="79" name="Line 14"/>
            <p:cNvCxnSpPr>
              <a:stCxn id="70" idx="5"/>
              <a:endCxn id="71" idx="7"/>
            </p:cNvCxnSpPr>
            <p:nvPr/>
          </p:nvCxnSpPr>
          <p:spPr>
            <a:xfrm flipH="1">
              <a:off x="6648480" y="3676680"/>
              <a:ext cx="76680" cy="496080"/>
            </a:xfrm>
            <a:prstGeom prst="curvedConnector3">
              <a:avLst/>
            </a:prstGeom>
            <a:ln w="9360">
              <a:solidFill>
                <a:srgbClr val="000000"/>
              </a:solidFill>
              <a:miter/>
              <a:tailEnd type="triangle" w="med" len="med"/>
            </a:ln>
          </p:spPr>
        </p:cxnSp>
        <p:cxnSp>
          <p:nvCxnSpPr>
            <p:cNvPr id="80" name="Line 15"/>
            <p:cNvCxnSpPr>
              <a:stCxn id="71" idx="4"/>
              <a:endCxn id="72" idx="6"/>
            </p:cNvCxnSpPr>
            <p:nvPr/>
          </p:nvCxnSpPr>
          <p:spPr>
            <a:xfrm flipH="1">
              <a:off x="5866920" y="4952520"/>
              <a:ext cx="457920" cy="305640"/>
            </a:xfrm>
            <a:prstGeom prst="curvedConnector3">
              <a:avLst/>
            </a:prstGeom>
            <a:ln w="9360">
              <a:solidFill>
                <a:srgbClr val="000000"/>
              </a:solidFill>
              <a:miter/>
              <a:tailEnd type="triangle" w="med" len="med"/>
            </a:ln>
          </p:spPr>
        </p:cxnSp>
        <p:cxnSp>
          <p:nvCxnSpPr>
            <p:cNvPr id="81" name="Line 16"/>
            <p:cNvCxnSpPr>
              <a:stCxn id="72" idx="3"/>
              <a:endCxn id="73" idx="5"/>
            </p:cNvCxnSpPr>
            <p:nvPr/>
          </p:nvCxnSpPr>
          <p:spPr>
            <a:xfrm flipH="1">
              <a:off x="4514400" y="5581800"/>
              <a:ext cx="572400" cy="2160"/>
            </a:xfrm>
            <a:prstGeom prst="curvedConnector3">
              <a:avLst/>
            </a:prstGeom>
            <a:ln w="9360">
              <a:solidFill>
                <a:srgbClr val="000000"/>
              </a:solidFill>
              <a:miter/>
              <a:tailEnd type="triangle" w="med" len="med"/>
            </a:ln>
          </p:spPr>
        </p:cxnSp>
        <p:cxnSp>
          <p:nvCxnSpPr>
            <p:cNvPr id="82" name="Line 17"/>
            <p:cNvCxnSpPr>
              <a:stCxn id="73" idx="2"/>
              <a:endCxn id="74" idx="4"/>
            </p:cNvCxnSpPr>
            <p:nvPr/>
          </p:nvCxnSpPr>
          <p:spPr>
            <a:xfrm flipH="1" flipV="1">
              <a:off x="3200040" y="5028480"/>
              <a:ext cx="534240" cy="229320"/>
            </a:xfrm>
            <a:prstGeom prst="curvedConnector3">
              <a:avLst/>
            </a:prstGeom>
            <a:ln w="9360">
              <a:solidFill>
                <a:srgbClr val="000000"/>
              </a:solidFill>
              <a:miter/>
              <a:tailEnd type="triangle" w="med" len="med"/>
            </a:ln>
          </p:spPr>
        </p:cxnSp>
        <p:cxnSp>
          <p:nvCxnSpPr>
            <p:cNvPr id="83" name="Line 18"/>
            <p:cNvCxnSpPr>
              <a:stCxn id="74" idx="1"/>
              <a:endCxn id="75" idx="4"/>
            </p:cNvCxnSpPr>
            <p:nvPr/>
          </p:nvCxnSpPr>
          <p:spPr>
            <a:xfrm flipV="1">
              <a:off x="2876040" y="3961800"/>
              <a:ext cx="96120" cy="286200"/>
            </a:xfrm>
            <a:prstGeom prst="curvedConnector3">
              <a:avLst/>
            </a:prstGeom>
            <a:ln w="9360">
              <a:solidFill>
                <a:srgbClr val="000000"/>
              </a:solidFill>
              <a:miter/>
              <a:tailEnd type="triangle" w="med" len="med"/>
            </a:ln>
          </p:spPr>
        </p:cxnSp>
        <p:cxnSp>
          <p:nvCxnSpPr>
            <p:cNvPr id="84" name="Line 19"/>
            <p:cNvCxnSpPr>
              <a:stCxn id="75" idx="0"/>
              <a:endCxn id="76" idx="2"/>
            </p:cNvCxnSpPr>
            <p:nvPr/>
          </p:nvCxnSpPr>
          <p:spPr>
            <a:xfrm flipV="1">
              <a:off x="2971440" y="2514240"/>
              <a:ext cx="153000" cy="534240"/>
            </a:xfrm>
            <a:prstGeom prst="curvedConnector3">
              <a:avLst/>
            </a:prstGeom>
            <a:ln w="9360">
              <a:solidFill>
                <a:srgbClr val="000000"/>
              </a:solidFill>
              <a:miter/>
              <a:tailEnd type="triangle" w="med" len="med"/>
            </a:ln>
          </p:spPr>
        </p:cxnSp>
        <p:cxnSp>
          <p:nvCxnSpPr>
            <p:cNvPr id="85" name="Line 20"/>
            <p:cNvCxnSpPr>
              <a:stCxn id="76" idx="7"/>
              <a:endCxn id="68" idx="2"/>
            </p:cNvCxnSpPr>
            <p:nvPr/>
          </p:nvCxnSpPr>
          <p:spPr>
            <a:xfrm flipV="1">
              <a:off x="3905280" y="2057400"/>
              <a:ext cx="210240" cy="133560"/>
            </a:xfrm>
            <a:prstGeom prst="curvedConnector3">
              <a:avLst/>
            </a:prstGeom>
            <a:ln w="9360">
              <a:solidFill>
                <a:srgbClr val="000000"/>
              </a:solidFill>
              <a:miter/>
              <a:tailEnd type="triangle" w="med" len="med"/>
            </a:ln>
          </p:spPr>
        </p:cxnSp>
      </p:grpSp>
    </p:spTree>
    <p:extLst>
      <p:ext uri="{BB962C8B-B14F-4D97-AF65-F5344CB8AC3E}">
        <p14:creationId xmlns:p14="http://schemas.microsoft.com/office/powerpoint/2010/main" val="165181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Sistema </a:t>
            </a:r>
            <a:r>
              <a:rPr lang="en-US" sz="2700" b="1" spc="-1" dirty="0" err="1">
                <a:solidFill>
                  <a:srgbClr val="FF0000"/>
                </a:solidFill>
                <a:effectLst>
                  <a:outerShdw blurRad="38100" dist="38100" dir="2700000" algn="tl">
                    <a:srgbClr val="000000">
                      <a:alpha val="43137"/>
                    </a:srgbClr>
                  </a:outerShdw>
                </a:effectLst>
                <a:latin typeface="Times New Roman"/>
              </a:rPr>
              <a:t>integrado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desarrollo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productos</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87" name="IPDS"/>
          <p:cNvPicPr/>
          <p:nvPr/>
        </p:nvPicPr>
        <p:blipFill>
          <a:blip r:embed="rId2"/>
          <a:stretch/>
        </p:blipFill>
        <p:spPr>
          <a:xfrm>
            <a:off x="1657350" y="800010"/>
            <a:ext cx="5943510" cy="4172040"/>
          </a:xfrm>
          <a:prstGeom prst="rect">
            <a:avLst/>
          </a:prstGeom>
          <a:ln w="0">
            <a:noFill/>
          </a:ln>
        </p:spPr>
      </p:pic>
    </p:spTree>
    <p:extLst>
      <p:ext uri="{BB962C8B-B14F-4D97-AF65-F5344CB8AC3E}">
        <p14:creationId xmlns:p14="http://schemas.microsoft.com/office/powerpoint/2010/main" val="3008259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Garantía</a:t>
            </a:r>
            <a:r>
              <a:rPr lang="en-US" sz="3300" b="1" spc="-1" dirty="0">
                <a:solidFill>
                  <a:srgbClr val="FF0000"/>
                </a:solidFill>
                <a:effectLst>
                  <a:outerShdw blurRad="38100" dist="38100" dir="2700000" algn="tl">
                    <a:srgbClr val="000000">
                      <a:alpha val="43137"/>
                    </a:srgbClr>
                  </a:outerShdw>
                </a:effectLst>
                <a:latin typeface="Times New Roman"/>
              </a:rPr>
              <a:t> de </a:t>
            </a:r>
            <a:r>
              <a:rPr lang="en-US" sz="3300" b="1" spc="-1" dirty="0" err="1">
                <a:solidFill>
                  <a:srgbClr val="FF0000"/>
                </a:solidFill>
                <a:effectLst>
                  <a:outerShdw blurRad="38100" dist="38100" dir="2700000" algn="tl">
                    <a:srgbClr val="000000">
                      <a:alpha val="43137"/>
                    </a:srgbClr>
                  </a:outerShdw>
                </a:effectLst>
                <a:latin typeface="Times New Roman"/>
              </a:rPr>
              <a:t>calidad</a:t>
            </a:r>
            <a:r>
              <a:rPr lang="en-US" sz="3300" b="1" spc="-1" dirty="0">
                <a:solidFill>
                  <a:srgbClr val="FF0000"/>
                </a:solidFill>
                <a:effectLst>
                  <a:outerShdw blurRad="38100" dist="38100" dir="2700000" algn="tl">
                    <a:srgbClr val="000000">
                      <a:alpha val="43137"/>
                    </a:srgbClr>
                  </a:outerShdw>
                </a:effectLst>
                <a:latin typeface="Times New Roman"/>
              </a:rPr>
              <a:t> del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89" name="TextShape 2"/>
          <p:cNvSpPr txBox="1"/>
          <p:nvPr/>
        </p:nvSpPr>
        <p:spPr>
          <a:xfrm>
            <a:off x="2171700" y="2914650"/>
            <a:ext cx="4800600" cy="1314360"/>
          </a:xfrm>
          <a:prstGeom prst="rect">
            <a:avLst/>
          </a:prstGeom>
          <a:noFill/>
          <a:ln w="0">
            <a:noFill/>
          </a:ln>
        </p:spPr>
        <p:txBody>
          <a:bodyPr lIns="67500" tIns="35100" rIns="67500" bIns="3510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400" spc="-1">
                <a:latin typeface="Times New Roman"/>
              </a:rPr>
              <a:t>Elemento I</a:t>
            </a:r>
          </a:p>
        </p:txBody>
      </p:sp>
    </p:spTree>
    <p:extLst>
      <p:ext uri="{BB962C8B-B14F-4D97-AF65-F5344CB8AC3E}">
        <p14:creationId xmlns:p14="http://schemas.microsoft.com/office/powerpoint/2010/main" val="445184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1543140" y="1714230"/>
            <a:ext cx="61722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Estándares</a:t>
            </a:r>
            <a:r>
              <a:rPr lang="en-US" sz="3300" b="1" spc="-1" dirty="0">
                <a:solidFill>
                  <a:srgbClr val="FF0000"/>
                </a:solidFill>
                <a:effectLst>
                  <a:outerShdw blurRad="38100" dist="38100" dir="2700000" algn="tl">
                    <a:srgbClr val="000000">
                      <a:alpha val="43137"/>
                    </a:srgbClr>
                  </a:outerShdw>
                </a:effectLst>
                <a:latin typeface="Times New Roman"/>
              </a:rPr>
              <a:t> de </a:t>
            </a:r>
            <a:r>
              <a:rPr lang="en-US" sz="3300" b="1" spc="-1" dirty="0" err="1">
                <a:solidFill>
                  <a:srgbClr val="FF0000"/>
                </a:solidFill>
                <a:effectLst>
                  <a:outerShdw blurRad="38100" dist="38100" dir="2700000" algn="tl">
                    <a:srgbClr val="000000">
                      <a:alpha val="43137"/>
                    </a:srgbClr>
                  </a:outerShdw>
                </a:effectLst>
                <a:latin typeface="Times New Roman"/>
              </a:rPr>
              <a:t>desarrollo</a:t>
            </a:r>
            <a:r>
              <a:rPr lang="en-US" sz="3300" b="1" spc="-1" dirty="0">
                <a:solidFill>
                  <a:srgbClr val="FF0000"/>
                </a:solidFill>
                <a:effectLst>
                  <a:outerShdw blurRad="38100" dist="38100" dir="2700000" algn="tl">
                    <a:srgbClr val="000000">
                      <a:alpha val="43137"/>
                    </a:srgbClr>
                  </a:outerShdw>
                </a:effectLst>
                <a:latin typeface="Times New Roman"/>
              </a:rPr>
              <a:t> de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91" name="TextShape 2"/>
          <p:cNvSpPr txBox="1"/>
          <p:nvPr/>
        </p:nvSpPr>
        <p:spPr>
          <a:xfrm>
            <a:off x="2171700" y="2914650"/>
            <a:ext cx="4800600" cy="1314360"/>
          </a:xfrm>
          <a:prstGeom prst="rect">
            <a:avLst/>
          </a:prstGeom>
          <a:noFill/>
          <a:ln w="0">
            <a:noFill/>
          </a:ln>
        </p:spPr>
        <p:txBody>
          <a:bodyPr lIns="0" tIns="0" rIns="0" bIns="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2400" spc="-1">
              <a:latin typeface="Times New Roman"/>
            </a:endParaRPr>
          </a:p>
        </p:txBody>
      </p:sp>
    </p:spTree>
    <p:extLst>
      <p:ext uri="{BB962C8B-B14F-4D97-AF65-F5344CB8AC3E}">
        <p14:creationId xmlns:p14="http://schemas.microsoft.com/office/powerpoint/2010/main" val="13874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Shape 1"/>
          <p:cNvSpPr txBox="1"/>
          <p:nvPr/>
        </p:nvSpPr>
        <p:spPr>
          <a:xfrm>
            <a:off x="1142730" y="-270"/>
            <a:ext cx="640089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¿Por </a:t>
            </a:r>
            <a:r>
              <a:rPr lang="en-US" sz="2700" b="1" spc="-1" dirty="0" err="1">
                <a:solidFill>
                  <a:srgbClr val="FF0000"/>
                </a:solidFill>
                <a:effectLst>
                  <a:outerShdw blurRad="38100" dist="38100" dir="2700000" algn="tl">
                    <a:srgbClr val="000000">
                      <a:alpha val="43137"/>
                    </a:srgbClr>
                  </a:outerShdw>
                </a:effectLst>
                <a:latin typeface="Times New Roman"/>
              </a:rPr>
              <a:t>qué</a:t>
            </a:r>
            <a:r>
              <a:rPr lang="en-US" sz="2700" b="1" spc="-1" dirty="0">
                <a:solidFill>
                  <a:srgbClr val="FF0000"/>
                </a:solidFill>
                <a:effectLst>
                  <a:outerShdw blurRad="38100" dist="38100" dir="2700000" algn="tl">
                    <a:srgbClr val="000000">
                      <a:alpha val="43137"/>
                    </a:srgbClr>
                  </a:outerShdw>
                </a:effectLst>
                <a:latin typeface="Times New Roman"/>
              </a:rPr>
              <a:t> son </a:t>
            </a:r>
            <a:r>
              <a:rPr lang="en-US" sz="2700" b="1" spc="-1" dirty="0" err="1">
                <a:solidFill>
                  <a:srgbClr val="FF0000"/>
                </a:solidFill>
                <a:effectLst>
                  <a:outerShdw blurRad="38100" dist="38100" dir="2700000" algn="tl">
                    <a:srgbClr val="000000">
                      <a:alpha val="43137"/>
                    </a:srgbClr>
                  </a:outerShdw>
                </a:effectLst>
                <a:latin typeface="Times New Roman"/>
              </a:rPr>
              <a:t>importantes</a:t>
            </a:r>
            <a:r>
              <a:rPr lang="en-US" sz="2700" b="1" spc="-1" dirty="0">
                <a:solidFill>
                  <a:srgbClr val="FF0000"/>
                </a:solidFill>
                <a:effectLst>
                  <a:outerShdw blurRad="38100" dist="38100" dir="2700000" algn="tl">
                    <a:srgbClr val="000000">
                      <a:alpha val="43137"/>
                    </a:srgbClr>
                  </a:outerShdw>
                </a:effectLst>
                <a:latin typeface="Times New Roman"/>
              </a:rPr>
              <a:t> </a:t>
            </a:r>
            <a:r>
              <a:rPr lang="en-US" sz="2700" b="1" spc="-1" dirty="0" err="1">
                <a:solidFill>
                  <a:srgbClr val="FF0000"/>
                </a:solidFill>
                <a:effectLst>
                  <a:outerShdw blurRad="38100" dist="38100" dir="2700000" algn="tl">
                    <a:srgbClr val="000000">
                      <a:alpha val="43137"/>
                    </a:srgbClr>
                  </a:outerShdw>
                </a:effectLst>
                <a:latin typeface="Times New Roman"/>
              </a:rPr>
              <a:t>los</a:t>
            </a:r>
            <a:r>
              <a:rPr lang="en-US" sz="2700" b="1" spc="-1" dirty="0">
                <a:solidFill>
                  <a:srgbClr val="FF0000"/>
                </a:solidFill>
                <a:effectLst>
                  <a:outerShdw blurRad="38100" dist="38100" dir="2700000" algn="tl">
                    <a:srgbClr val="000000">
                      <a:alpha val="43137"/>
                    </a:srgbClr>
                  </a:outerShdw>
                </a:effectLst>
                <a:latin typeface="Times New Roman"/>
              </a:rPr>
              <a:t> </a:t>
            </a:r>
            <a:r>
              <a:rPr lang="en-US" sz="2700" b="1" spc="-1" dirty="0" err="1">
                <a:solidFill>
                  <a:srgbClr val="FF0000"/>
                </a:solidFill>
                <a:effectLst>
                  <a:outerShdw blurRad="38100" dist="38100" dir="2700000" algn="tl">
                    <a:srgbClr val="000000">
                      <a:alpha val="43137"/>
                    </a:srgbClr>
                  </a:outerShdw>
                </a:effectLst>
                <a:latin typeface="Times New Roman"/>
              </a:rPr>
              <a:t>estándares</a:t>
            </a:r>
            <a:r>
              <a:rPr lang="en-US" sz="2700" b="1" spc="-1" dirty="0">
                <a:solidFill>
                  <a:srgbClr val="FF0000"/>
                </a:solidFill>
                <a:effectLst>
                  <a:outerShdw blurRad="38100" dist="38100" dir="2700000" algn="tl">
                    <a:srgbClr val="000000">
                      <a:alpha val="43137"/>
                    </a:srgbClr>
                  </a:outerShdw>
                </a:effectLst>
                <a:latin typeface="Times New Roman"/>
              </a:rPr>
              <a:t>?</a:t>
            </a:r>
            <a:r>
              <a:rPr lang="en-US" sz="2700" spc="-1" dirty="0">
                <a:solidFill>
                  <a:srgbClr val="FF0000"/>
                </a:solidFill>
                <a:effectLst>
                  <a:outerShdw blurRad="38100" dist="38100" dir="2700000" algn="tl">
                    <a:srgbClr val="000000">
                      <a:alpha val="43137"/>
                    </a:srgbClr>
                  </a:outerShdw>
                </a:effectLst>
                <a:latin typeface="Times New Roman"/>
              </a:rPr>
              <a:t> </a:t>
            </a:r>
          </a:p>
        </p:txBody>
      </p:sp>
      <p:sp>
        <p:nvSpPr>
          <p:cNvPr id="93" name="CustomShape 2"/>
          <p:cNvSpPr/>
          <p:nvPr/>
        </p:nvSpPr>
        <p:spPr>
          <a:xfrm>
            <a:off x="1600110" y="971460"/>
            <a:ext cx="6000750" cy="3405132"/>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spcBef>
                <a:spcPts val="1125"/>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•Las normas proporcionan una síntesis de las mejores prácticas, o al menos las más apropiadas.</a:t>
            </a:r>
            <a:endParaRPr lang="en-US" sz="1800" spc="-1">
              <a:latin typeface="Times New Roman"/>
            </a:endParaRPr>
          </a:p>
          <a:p>
            <a:pPr>
              <a:spcBef>
                <a:spcPts val="1125"/>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•Las normas proporcionan un marco en torno al cual se puede implementar el proceso de garantía de calidad.</a:t>
            </a:r>
            <a:endParaRPr lang="en-US" sz="1800" spc="-1">
              <a:latin typeface="Times New Roman"/>
            </a:endParaRPr>
          </a:p>
          <a:p>
            <a:pPr>
              <a:spcBef>
                <a:spcPts val="1125"/>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•Los estándares ayudan a la continuidad del trabajo cuando lo llevan a cabo diferentes personas a lo largo del ciclo de vida del producto de software.</a:t>
            </a:r>
            <a:endParaRPr lang="en-US" sz="1800" spc="-1">
              <a:latin typeface="Times New Roman"/>
            </a:endParaRPr>
          </a:p>
          <a:p>
            <a:pPr>
              <a:spcBef>
                <a:spcPts val="1125"/>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spcBef>
                <a:spcPts val="1125"/>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No se deben eludir las normas. Si son demasiado extensas para la tarea en cuestión, entonces deben adaptarse.</a:t>
            </a:r>
            <a:endParaRPr lang="en-US" sz="1800" spc="-1">
              <a:latin typeface="Times New Roman"/>
            </a:endParaRPr>
          </a:p>
        </p:txBody>
      </p:sp>
    </p:spTree>
    <p:extLst>
      <p:ext uri="{BB962C8B-B14F-4D97-AF65-F5344CB8AC3E}">
        <p14:creationId xmlns:p14="http://schemas.microsoft.com/office/powerpoint/2010/main" val="161108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SDS: un </a:t>
            </a:r>
            <a:r>
              <a:rPr lang="en-US" sz="2700" b="1" spc="-1" dirty="0" err="1">
                <a:solidFill>
                  <a:srgbClr val="FF0000"/>
                </a:solidFill>
                <a:effectLst>
                  <a:outerShdw blurRad="38100" dist="38100" dir="2700000" algn="tl">
                    <a:srgbClr val="000000">
                      <a:alpha val="43137"/>
                    </a:srgbClr>
                  </a:outerShdw>
                </a:effectLst>
                <a:latin typeface="Times New Roman"/>
              </a:rPr>
              <a:t>enfoque</a:t>
            </a:r>
            <a:r>
              <a:rPr lang="en-US" sz="2700" b="1" spc="-1" dirty="0">
                <a:solidFill>
                  <a:srgbClr val="FF0000"/>
                </a:solidFill>
                <a:effectLst>
                  <a:outerShdw blurRad="38100" dist="38100" dir="2700000" algn="tl">
                    <a:srgbClr val="000000">
                      <a:alpha val="43137"/>
                    </a:srgbClr>
                  </a:outerShdw>
                </a:effectLst>
                <a:latin typeface="Times New Roman"/>
              </a:rPr>
              <a:t> </a:t>
            </a:r>
            <a:r>
              <a:rPr lang="en-US" sz="2700" b="1" spc="-1" dirty="0" err="1">
                <a:solidFill>
                  <a:srgbClr val="FF0000"/>
                </a:solidFill>
                <a:effectLst>
                  <a:outerShdw blurRad="38100" dist="38100" dir="2700000" algn="tl">
                    <a:srgbClr val="000000">
                      <a:alpha val="43137"/>
                    </a:srgbClr>
                  </a:outerShdw>
                </a:effectLst>
                <a:latin typeface="Times New Roman"/>
              </a:rPr>
              <a:t>simplista</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95" name="ISO%209000"/>
          <p:cNvPicPr/>
          <p:nvPr/>
        </p:nvPicPr>
        <p:blipFill>
          <a:blip r:embed="rId2"/>
          <a:stretch/>
        </p:blipFill>
        <p:spPr>
          <a:xfrm>
            <a:off x="1771560" y="743040"/>
            <a:ext cx="5543640" cy="2971620"/>
          </a:xfrm>
          <a:prstGeom prst="rect">
            <a:avLst/>
          </a:prstGeom>
          <a:ln w="0">
            <a:noFill/>
          </a:ln>
        </p:spPr>
      </p:pic>
      <p:sp>
        <p:nvSpPr>
          <p:cNvPr id="96" name="CustomShape 2"/>
          <p:cNvSpPr/>
          <p:nvPr/>
        </p:nvSpPr>
        <p:spPr>
          <a:xfrm>
            <a:off x="1428660" y="3714660"/>
            <a:ext cx="6392520" cy="145588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En la mayoría de las organizaciones maduras:</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a:t>
            </a:r>
            <a:r>
              <a:rPr lang="en-US" sz="1800" spc="-1">
                <a:latin typeface="Times New Roman"/>
              </a:rPr>
              <a:t> La ISO no es la única fuente de SDS</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•Los estándares de proceso y producto se derivan de forma independiente.</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•Los estándares de productos no los crea SQA</a:t>
            </a:r>
            <a:endParaRPr lang="en-US" sz="1800" spc="-1">
              <a:latin typeface="Times New Roman"/>
            </a:endParaRPr>
          </a:p>
        </p:txBody>
      </p:sp>
    </p:spTree>
    <p:extLst>
      <p:ext uri="{BB962C8B-B14F-4D97-AF65-F5344CB8AC3E}">
        <p14:creationId xmlns:p14="http://schemas.microsoft.com/office/powerpoint/2010/main" val="223118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Estándares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proceso</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98" name="CustomShape 2"/>
          <p:cNvSpPr/>
          <p:nvPr/>
        </p:nvSpPr>
        <p:spPr>
          <a:xfrm>
            <a:off x="1598760" y="800010"/>
            <a:ext cx="6200222" cy="717216"/>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100" b="1" spc="-1">
                <a:latin typeface="Times New Roman"/>
              </a:rPr>
              <a:t>Estándares de proceso</a:t>
            </a:r>
            <a:r>
              <a:rPr lang="en-US" sz="2100" spc="-1">
                <a:latin typeface="Times New Roman"/>
              </a:rPr>
              <a:t>– normas que definen el proceso</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100" spc="-1">
                <a:latin typeface="Times New Roman"/>
              </a:rPr>
              <a:t>que se deben seguir durante el desarrollo de software</a:t>
            </a:r>
          </a:p>
        </p:txBody>
      </p:sp>
      <p:grpSp>
        <p:nvGrpSpPr>
          <p:cNvPr id="99" name="Group 3"/>
          <p:cNvGrpSpPr/>
          <p:nvPr/>
        </p:nvGrpSpPr>
        <p:grpSpPr>
          <a:xfrm>
            <a:off x="946773" y="1657260"/>
            <a:ext cx="6294571" cy="2339383"/>
            <a:chOff x="-261637" y="2209680"/>
            <a:chExt cx="8392761" cy="3119177"/>
          </a:xfrm>
        </p:grpSpPr>
        <p:sp>
          <p:nvSpPr>
            <p:cNvPr id="100" name="Line 4"/>
            <p:cNvSpPr/>
            <p:nvPr/>
          </p:nvSpPr>
          <p:spPr>
            <a:xfrm>
              <a:off x="5638680" y="4191120"/>
              <a:ext cx="0" cy="15228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01" name="Line 5"/>
            <p:cNvSpPr/>
            <p:nvPr/>
          </p:nvSpPr>
          <p:spPr>
            <a:xfrm>
              <a:off x="3052800" y="3809880"/>
              <a:ext cx="609480" cy="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02" name="CustomShape 6"/>
            <p:cNvSpPr/>
            <p:nvPr/>
          </p:nvSpPr>
          <p:spPr>
            <a:xfrm>
              <a:off x="1612080" y="2209680"/>
              <a:ext cx="677107" cy="463845"/>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ISO</a:t>
              </a:r>
            </a:p>
          </p:txBody>
        </p:sp>
        <p:sp>
          <p:nvSpPr>
            <p:cNvPr id="103" name="CustomShape 7"/>
            <p:cNvSpPr/>
            <p:nvPr/>
          </p:nvSpPr>
          <p:spPr>
            <a:xfrm>
              <a:off x="3759840" y="2209680"/>
              <a:ext cx="933588" cy="463845"/>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CMM</a:t>
              </a:r>
            </a:p>
          </p:txBody>
        </p:sp>
        <p:sp>
          <p:nvSpPr>
            <p:cNvPr id="105" name="CustomShape 9"/>
            <p:cNvSpPr/>
            <p:nvPr/>
          </p:nvSpPr>
          <p:spPr>
            <a:xfrm>
              <a:off x="-261637" y="3352680"/>
              <a:ext cx="3680083" cy="833177"/>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square" lIns="67500" tIns="35100" rIns="67500" bIns="35100">
              <a:sp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Manual de Calidad </a:t>
              </a:r>
              <a:r>
                <a:rPr lang="en-US" sz="1800" spc="-1" dirty="0" err="1">
                  <a:latin typeface="Times New Roman"/>
                </a:rPr>
                <a:t>Organizacional</a:t>
              </a:r>
              <a:endParaRPr lang="en-US" sz="1800" spc="-1" dirty="0">
                <a:latin typeface="Times New Roman"/>
              </a:endParaRPr>
            </a:p>
          </p:txBody>
        </p:sp>
        <p:sp>
          <p:nvSpPr>
            <p:cNvPr id="106" name="Line 10"/>
            <p:cNvSpPr/>
            <p:nvPr/>
          </p:nvSpPr>
          <p:spPr>
            <a:xfrm>
              <a:off x="5796000" y="2666880"/>
              <a:ext cx="0" cy="304920"/>
            </a:xfrm>
            <a:prstGeom prst="line">
              <a:avLst/>
            </a:prstGeom>
            <a:ln w="9360">
              <a:solidFill>
                <a:srgbClr val="000000"/>
              </a:solidFill>
              <a:miter/>
              <a:tailEnd type="oval" w="med" len="med"/>
            </a:ln>
          </p:spPr>
          <p:style>
            <a:lnRef idx="0">
              <a:scrgbClr r="0" g="0" b="0"/>
            </a:lnRef>
            <a:fillRef idx="0">
              <a:scrgbClr r="0" g="0" b="0"/>
            </a:fillRef>
            <a:effectRef idx="0">
              <a:scrgbClr r="0" g="0" b="0"/>
            </a:effectRef>
            <a:fontRef idx="minor"/>
          </p:style>
        </p:sp>
        <p:sp>
          <p:nvSpPr>
            <p:cNvPr id="107" name="CustomShape 11"/>
            <p:cNvSpPr/>
            <p:nvPr/>
          </p:nvSpPr>
          <p:spPr>
            <a:xfrm>
              <a:off x="3662279" y="3352680"/>
              <a:ext cx="2962439" cy="1202509"/>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square" lIns="67500" tIns="35100" rIns="67500" bIns="35100">
              <a:sp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err="1">
                  <a:latin typeface="Times New Roman"/>
                </a:rPr>
                <a:t>Proceso</a:t>
              </a:r>
              <a:r>
                <a:rPr lang="en-US" sz="1800" spc="-1" dirty="0">
                  <a:latin typeface="Times New Roman"/>
                </a:rPr>
                <a:t> SD </a:t>
              </a:r>
              <a:r>
                <a:rPr lang="en-US" sz="1800" spc="-1" dirty="0" err="1">
                  <a:latin typeface="Times New Roman"/>
                </a:rPr>
                <a:t>Organizacional</a:t>
              </a:r>
              <a:r>
                <a:rPr lang="en-US" sz="1800" spc="-1" dirty="0">
                  <a:latin typeface="Times New Roman"/>
                </a:rPr>
                <a:t> STD’S</a:t>
              </a:r>
            </a:p>
          </p:txBody>
        </p:sp>
        <p:sp>
          <p:nvSpPr>
            <p:cNvPr id="108" name="Line 12"/>
            <p:cNvSpPr/>
            <p:nvPr/>
          </p:nvSpPr>
          <p:spPr>
            <a:xfrm>
              <a:off x="4272120" y="2666880"/>
              <a:ext cx="0" cy="304920"/>
            </a:xfrm>
            <a:prstGeom prst="line">
              <a:avLst/>
            </a:prstGeom>
            <a:ln w="9360">
              <a:solidFill>
                <a:srgbClr val="000000"/>
              </a:solidFill>
              <a:miter/>
              <a:tailEnd type="oval" w="med" len="med"/>
            </a:ln>
          </p:spPr>
          <p:style>
            <a:lnRef idx="0">
              <a:scrgbClr r="0" g="0" b="0"/>
            </a:lnRef>
            <a:fillRef idx="0">
              <a:scrgbClr r="0" g="0" b="0"/>
            </a:fillRef>
            <a:effectRef idx="0">
              <a:scrgbClr r="0" g="0" b="0"/>
            </a:effectRef>
            <a:fontRef idx="minor"/>
          </p:style>
        </p:sp>
        <p:sp>
          <p:nvSpPr>
            <p:cNvPr id="109" name="Line 13"/>
            <p:cNvSpPr/>
            <p:nvPr/>
          </p:nvSpPr>
          <p:spPr>
            <a:xfrm>
              <a:off x="1909800" y="2666880"/>
              <a:ext cx="0" cy="68580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10" name="CustomShape 14"/>
            <p:cNvSpPr/>
            <p:nvPr/>
          </p:nvSpPr>
          <p:spPr>
            <a:xfrm>
              <a:off x="7022520" y="3505320"/>
              <a:ext cx="847923" cy="463845"/>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IPDS</a:t>
              </a:r>
            </a:p>
          </p:txBody>
        </p:sp>
        <p:sp>
          <p:nvSpPr>
            <p:cNvPr id="111" name="Line 15"/>
            <p:cNvSpPr/>
            <p:nvPr/>
          </p:nvSpPr>
          <p:spPr>
            <a:xfrm flipH="1" flipV="1">
              <a:off x="6624716" y="3733919"/>
              <a:ext cx="390243" cy="1"/>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12" name="CustomShape 16"/>
            <p:cNvSpPr/>
            <p:nvPr/>
          </p:nvSpPr>
          <p:spPr>
            <a:xfrm>
              <a:off x="3053520" y="4495680"/>
              <a:ext cx="3887559" cy="833177"/>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Proceso del proyecto SD STD</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 (SDP, IP, Hojas de métodos)</a:t>
              </a:r>
            </a:p>
          </p:txBody>
        </p:sp>
        <p:sp>
          <p:nvSpPr>
            <p:cNvPr id="113" name="CustomShape 17"/>
            <p:cNvSpPr/>
            <p:nvPr/>
          </p:nvSpPr>
          <p:spPr>
            <a:xfrm>
              <a:off x="787791" y="4495680"/>
              <a:ext cx="1269609" cy="833177"/>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squar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Proyecto SQP</a:t>
              </a:r>
            </a:p>
          </p:txBody>
        </p:sp>
        <p:sp>
          <p:nvSpPr>
            <p:cNvPr id="114" name="Line 18"/>
            <p:cNvSpPr/>
            <p:nvPr/>
          </p:nvSpPr>
          <p:spPr>
            <a:xfrm>
              <a:off x="5033880" y="4191120"/>
              <a:ext cx="0" cy="3045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15" name="CustomShape 19"/>
            <p:cNvSpPr/>
            <p:nvPr/>
          </p:nvSpPr>
          <p:spPr>
            <a:xfrm>
              <a:off x="6857999" y="4495680"/>
              <a:ext cx="1273125" cy="833177"/>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squar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Proyecto SCMP</a:t>
              </a:r>
            </a:p>
          </p:txBody>
        </p:sp>
        <p:sp>
          <p:nvSpPr>
            <p:cNvPr id="116" name="Line 20"/>
            <p:cNvSpPr/>
            <p:nvPr/>
          </p:nvSpPr>
          <p:spPr>
            <a:xfrm flipH="1">
              <a:off x="4267080" y="2971800"/>
              <a:ext cx="1524240" cy="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17" name="Line 21"/>
            <p:cNvSpPr/>
            <p:nvPr/>
          </p:nvSpPr>
          <p:spPr>
            <a:xfrm>
              <a:off x="1295280" y="4191120"/>
              <a:ext cx="0" cy="30456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18" name="Line 22"/>
            <p:cNvSpPr/>
            <p:nvPr/>
          </p:nvSpPr>
          <p:spPr>
            <a:xfrm>
              <a:off x="5638680" y="4343400"/>
              <a:ext cx="1828800" cy="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19" name="Line 23"/>
            <p:cNvSpPr/>
            <p:nvPr/>
          </p:nvSpPr>
          <p:spPr>
            <a:xfrm>
              <a:off x="7467480" y="4343400"/>
              <a:ext cx="0" cy="15228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20" name="Line 24"/>
            <p:cNvSpPr/>
            <p:nvPr/>
          </p:nvSpPr>
          <p:spPr>
            <a:xfrm>
              <a:off x="2057400" y="4952880"/>
              <a:ext cx="990720" cy="0"/>
            </a:xfrm>
            <a:prstGeom prst="line">
              <a:avLst/>
            </a:prstGeom>
            <a:ln w="9360">
              <a:solidFill>
                <a:srgbClr val="000000"/>
              </a:solidFill>
              <a:miter/>
              <a:headEnd type="triangle" w="med" len="med"/>
              <a:tailEnd type="triangle" w="med" len="med"/>
            </a:ln>
          </p:spPr>
          <p:style>
            <a:lnRef idx="0">
              <a:scrgbClr r="0" g="0" b="0"/>
            </a:lnRef>
            <a:fillRef idx="0">
              <a:scrgbClr r="0" g="0" b="0"/>
            </a:fillRef>
            <a:effectRef idx="0">
              <a:scrgbClr r="0" g="0" b="0"/>
            </a:effectRef>
            <a:fontRef idx="minor"/>
          </p:style>
        </p:sp>
        <p:sp>
          <p:nvSpPr>
            <p:cNvPr id="121" name="Line 25"/>
            <p:cNvSpPr/>
            <p:nvPr/>
          </p:nvSpPr>
          <p:spPr>
            <a:xfrm>
              <a:off x="6477120" y="4876920"/>
              <a:ext cx="380880" cy="0"/>
            </a:xfrm>
            <a:prstGeom prst="line">
              <a:avLst/>
            </a:prstGeom>
            <a:ln w="9360">
              <a:solidFill>
                <a:srgbClr val="000000"/>
              </a:solidFill>
              <a:miter/>
              <a:headEnd type="triangle" w="med" len="med"/>
              <a:tailEnd type="triangle" w="med" len="med"/>
            </a:ln>
          </p:spPr>
          <p:style>
            <a:lnRef idx="0">
              <a:scrgbClr r="0" g="0" b="0"/>
            </a:lnRef>
            <a:fillRef idx="0">
              <a:scrgbClr r="0" g="0" b="0"/>
            </a:fillRef>
            <a:effectRef idx="0">
              <a:scrgbClr r="0" g="0" b="0"/>
            </a:effectRef>
            <a:fontRef idx="minor"/>
          </p:style>
        </p:sp>
        <p:sp>
          <p:nvSpPr>
            <p:cNvPr id="122" name="Line 26"/>
            <p:cNvSpPr/>
            <p:nvPr/>
          </p:nvSpPr>
          <p:spPr>
            <a:xfrm>
              <a:off x="5029200" y="2971800"/>
              <a:ext cx="0" cy="380880"/>
            </a:xfrm>
            <a:prstGeom prst="line">
              <a:avLst/>
            </a:prstGeom>
            <a:ln w="9360">
              <a:solidFill>
                <a:srgbClr val="000000"/>
              </a:solidFill>
              <a:miter/>
              <a:headEnd type="oval" w="med" len="med"/>
              <a:tailEnd type="triangle" w="med" len="med"/>
            </a:ln>
          </p:spPr>
          <p:style>
            <a:lnRef idx="0">
              <a:scrgbClr r="0" g="0" b="0"/>
            </a:lnRef>
            <a:fillRef idx="0">
              <a:scrgbClr r="0" g="0" b="0"/>
            </a:fillRef>
            <a:effectRef idx="0">
              <a:scrgbClr r="0" g="0" b="0"/>
            </a:effectRef>
            <a:fontRef idx="minor"/>
          </p:style>
        </p:sp>
        <p:sp>
          <p:nvSpPr>
            <p:cNvPr id="123" name="Line 27"/>
            <p:cNvSpPr/>
            <p:nvPr/>
          </p:nvSpPr>
          <p:spPr>
            <a:xfrm>
              <a:off x="4191120" y="4191120"/>
              <a:ext cx="0" cy="15228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24" name="Line 28"/>
            <p:cNvSpPr/>
            <p:nvPr/>
          </p:nvSpPr>
          <p:spPr>
            <a:xfrm>
              <a:off x="1676520" y="4343400"/>
              <a:ext cx="2514600" cy="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125" name="Line 29"/>
            <p:cNvSpPr/>
            <p:nvPr/>
          </p:nvSpPr>
          <p:spPr>
            <a:xfrm>
              <a:off x="1676520" y="4343400"/>
              <a:ext cx="0" cy="15228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grpSp>
      <p:sp>
        <p:nvSpPr>
          <p:cNvPr id="2" name="CustomShape 7">
            <a:extLst>
              <a:ext uri="{FF2B5EF4-FFF2-40B4-BE49-F238E27FC236}">
                <a16:creationId xmlns:a16="http://schemas.microsoft.com/office/drawing/2014/main" id="{1AAEDFE2-DA0B-5657-DA91-1B4E58F16C71}"/>
              </a:ext>
            </a:extLst>
          </p:cNvPr>
          <p:cNvSpPr/>
          <p:nvPr/>
        </p:nvSpPr>
        <p:spPr>
          <a:xfrm>
            <a:off x="5100605" y="1697703"/>
            <a:ext cx="777007" cy="347884"/>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CMMI</a:t>
            </a:r>
          </a:p>
        </p:txBody>
      </p:sp>
    </p:spTree>
    <p:extLst>
      <p:ext uri="{BB962C8B-B14F-4D97-AF65-F5344CB8AC3E}">
        <p14:creationId xmlns:p14="http://schemas.microsoft.com/office/powerpoint/2010/main" val="453648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Normas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productos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27" name="CustomShape 2"/>
          <p:cNvSpPr/>
          <p:nvPr/>
        </p:nvSpPr>
        <p:spPr>
          <a:xfrm>
            <a:off x="1600650" y="800010"/>
            <a:ext cx="6446828" cy="717216"/>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100" b="1" spc="-1">
                <a:latin typeface="Times New Roman"/>
              </a:rPr>
              <a:t>Normas de productos</a:t>
            </a:r>
            <a:r>
              <a:rPr lang="en-US" sz="2100" spc="-1">
                <a:latin typeface="Times New Roman"/>
              </a:rPr>
              <a:t>– normas que se aplican al software</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100" spc="-1">
                <a:latin typeface="Times New Roman"/>
              </a:rPr>
              <a:t> producto en desarrollo</a:t>
            </a:r>
          </a:p>
        </p:txBody>
      </p:sp>
      <p:grpSp>
        <p:nvGrpSpPr>
          <p:cNvPr id="128" name="Group 3"/>
          <p:cNvGrpSpPr/>
          <p:nvPr/>
        </p:nvGrpSpPr>
        <p:grpSpPr>
          <a:xfrm>
            <a:off x="495759" y="1795749"/>
            <a:ext cx="256648945" cy="2706583"/>
            <a:chOff x="1454760" y="2438280"/>
            <a:chExt cx="364837721" cy="3564829"/>
          </a:xfrm>
        </p:grpSpPr>
        <p:sp>
          <p:nvSpPr>
            <p:cNvPr id="129" name="CustomShape 4"/>
            <p:cNvSpPr/>
            <p:nvPr/>
          </p:nvSpPr>
          <p:spPr>
            <a:xfrm>
              <a:off x="3512161" y="2438280"/>
              <a:ext cx="362780320" cy="833177"/>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squar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ISO STD																																																																																																																																																																																																																																																																																																																											</a:t>
              </a:r>
            </a:p>
          </p:txBody>
        </p:sp>
        <p:sp>
          <p:nvSpPr>
            <p:cNvPr id="130" name="CustomShape 5"/>
            <p:cNvSpPr/>
            <p:nvPr/>
          </p:nvSpPr>
          <p:spPr>
            <a:xfrm>
              <a:off x="5033880" y="2438280"/>
              <a:ext cx="2657991" cy="463845"/>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MIL/ STD </a:t>
              </a:r>
              <a:r>
                <a:rPr lang="en-US" sz="1800" spc="-1" dirty="0" err="1">
                  <a:latin typeface="Times New Roman"/>
                </a:rPr>
                <a:t>Industria</a:t>
              </a:r>
              <a:endParaRPr lang="en-US" sz="1800" spc="-1" dirty="0">
                <a:latin typeface="Times New Roman"/>
              </a:endParaRPr>
            </a:p>
          </p:txBody>
        </p:sp>
        <p:sp>
          <p:nvSpPr>
            <p:cNvPr id="131" name="CustomShape 6"/>
            <p:cNvSpPr/>
            <p:nvPr/>
          </p:nvSpPr>
          <p:spPr>
            <a:xfrm>
              <a:off x="3429000" y="3657600"/>
              <a:ext cx="3429000" cy="1202509"/>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err="1">
                  <a:latin typeface="Times New Roman"/>
                </a:rPr>
                <a:t>Producto</a:t>
              </a:r>
              <a:r>
                <a:rPr lang="en-US" sz="1800" spc="-1" dirty="0">
                  <a:latin typeface="Times New Roman"/>
                </a:rPr>
                <a:t> </a:t>
              </a:r>
              <a:r>
                <a:rPr lang="en-US" sz="1800" spc="-1" dirty="0" err="1">
                  <a:latin typeface="Times New Roman"/>
                </a:rPr>
                <a:t>Organizacional</a:t>
              </a:r>
              <a:r>
                <a:rPr lang="en-US" sz="1800" spc="-1" dirty="0">
                  <a:latin typeface="Times New Roman"/>
                </a:rPr>
                <a:t> STD’S</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ETS del </a:t>
              </a:r>
              <a:r>
                <a:rPr lang="en-US" sz="1800" spc="-1" dirty="0" err="1">
                  <a:latin typeface="Times New Roman"/>
                </a:rPr>
                <a:t>producto</a:t>
              </a:r>
              <a:endParaRPr lang="en-US" sz="1800" spc="-1" dirty="0">
                <a:latin typeface="Times New Roman"/>
              </a:endParaRPr>
            </a:p>
          </p:txBody>
        </p:sp>
        <p:sp>
          <p:nvSpPr>
            <p:cNvPr id="132" name="CustomShape 7"/>
            <p:cNvSpPr/>
            <p:nvPr/>
          </p:nvSpPr>
          <p:spPr>
            <a:xfrm>
              <a:off x="1454760" y="4872233"/>
              <a:ext cx="1676184" cy="463845"/>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Costos STD</a:t>
              </a:r>
            </a:p>
          </p:txBody>
        </p:sp>
        <p:sp>
          <p:nvSpPr>
            <p:cNvPr id="133" name="CustomShape 8"/>
            <p:cNvSpPr/>
            <p:nvPr/>
          </p:nvSpPr>
          <p:spPr>
            <a:xfrm>
              <a:off x="3352680" y="4800600"/>
              <a:ext cx="3505320" cy="1202509"/>
            </a:xfrm>
            <a:custGeom>
              <a:avLst/>
              <a:gdLst/>
              <a:ahLst/>
              <a:cxnLst/>
              <a:rect l="l" t="t" r="r" b="b"/>
              <a:pathLst>
                <a:path w="21600" h="21600">
                  <a:moveTo>
                    <a:pt x="0" y="0"/>
                  </a:moveTo>
                  <a:lnTo>
                    <a:pt x="21600" y="0"/>
                  </a:lnTo>
                  <a:lnTo>
                    <a:pt x="21600" y="21600"/>
                  </a:lnTo>
                  <a:lnTo>
                    <a:pt x="0" y="21600"/>
                  </a:lnTo>
                  <a:lnTo>
                    <a:pt x="0" y="0"/>
                  </a:lnTo>
                  <a:close/>
                </a:path>
              </a:pathLst>
            </a:custGeom>
            <a:noFill/>
            <a:ln w="9360">
              <a:solidFill>
                <a:srgbClr val="000000"/>
              </a:solidFill>
              <a:miter/>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STD </a:t>
              </a:r>
              <a:r>
                <a:rPr lang="en-US" sz="1800" spc="-1" dirty="0" err="1">
                  <a:latin typeface="Times New Roman"/>
                </a:rPr>
                <a:t>producto</a:t>
              </a:r>
              <a:r>
                <a:rPr lang="en-US" sz="1800" spc="-1" dirty="0">
                  <a:latin typeface="Times New Roman"/>
                </a:rPr>
                <a:t> del </a:t>
              </a:r>
              <a:r>
                <a:rPr lang="en-US" sz="1800" spc="-1" dirty="0" err="1">
                  <a:latin typeface="Times New Roman"/>
                </a:rPr>
                <a:t>proyecto</a:t>
              </a:r>
              <a:r>
                <a:rPr lang="en-US" sz="1800" spc="-1" dirty="0">
                  <a:latin typeface="Times New Roman"/>
                </a:rPr>
                <a:t> (SDP, IP, hojas de </a:t>
              </a:r>
              <a:r>
                <a:rPr lang="en-US" sz="1800" spc="-1" dirty="0" err="1">
                  <a:latin typeface="Times New Roman"/>
                </a:rPr>
                <a:t>métodos</a:t>
              </a:r>
              <a:r>
                <a:rPr lang="en-US" sz="1800" spc="-1" dirty="0">
                  <a:latin typeface="Times New Roman"/>
                </a:rPr>
                <a:t>)</a:t>
              </a:r>
            </a:p>
          </p:txBody>
        </p:sp>
        <p:sp>
          <p:nvSpPr>
            <p:cNvPr id="134" name="Line 9"/>
            <p:cNvSpPr/>
            <p:nvPr/>
          </p:nvSpPr>
          <p:spPr>
            <a:xfrm>
              <a:off x="5943600" y="3276720"/>
              <a:ext cx="0" cy="38088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35" name="Line 10"/>
            <p:cNvSpPr/>
            <p:nvPr/>
          </p:nvSpPr>
          <p:spPr>
            <a:xfrm>
              <a:off x="5257800" y="4495680"/>
              <a:ext cx="0" cy="30492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36" name="Line 11"/>
            <p:cNvSpPr/>
            <p:nvPr/>
          </p:nvSpPr>
          <p:spPr>
            <a:xfrm>
              <a:off x="2438280" y="5181480"/>
              <a:ext cx="914400" cy="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sp>
          <p:nvSpPr>
            <p:cNvPr id="137" name="Line 12"/>
            <p:cNvSpPr/>
            <p:nvPr/>
          </p:nvSpPr>
          <p:spPr>
            <a:xfrm>
              <a:off x="3962520" y="3276720"/>
              <a:ext cx="0" cy="380880"/>
            </a:xfrm>
            <a:prstGeom prst="line">
              <a:avLst/>
            </a:prstGeom>
            <a:ln w="9360">
              <a:solidFill>
                <a:srgbClr val="000000"/>
              </a:solidFill>
              <a:miter/>
              <a:tailEnd type="triangle" w="med" len="me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094161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Modelos</a:t>
            </a:r>
            <a:r>
              <a:rPr lang="en-US" sz="3300" b="1" spc="-1" dirty="0">
                <a:solidFill>
                  <a:srgbClr val="FF0000"/>
                </a:solidFill>
                <a:effectLst>
                  <a:outerShdw blurRad="38100" dist="38100" dir="2700000" algn="tl">
                    <a:srgbClr val="000000">
                      <a:alpha val="43137"/>
                    </a:srgbClr>
                  </a:outerShdw>
                </a:effectLst>
                <a:latin typeface="Times New Roman"/>
              </a:rPr>
              <a:t> de </a:t>
            </a:r>
            <a:r>
              <a:rPr lang="en-US" sz="3300" b="1" spc="-1" dirty="0" err="1">
                <a:solidFill>
                  <a:srgbClr val="FF0000"/>
                </a:solidFill>
                <a:effectLst>
                  <a:outerShdw blurRad="38100" dist="38100" dir="2700000" algn="tl">
                    <a:srgbClr val="000000">
                      <a:alpha val="43137"/>
                    </a:srgbClr>
                  </a:outerShdw>
                </a:effectLst>
                <a:latin typeface="Times New Roman"/>
              </a:rPr>
              <a:t>calidad</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139" name="TextShape 2"/>
          <p:cNvSpPr txBox="1"/>
          <p:nvPr/>
        </p:nvSpPr>
        <p:spPr>
          <a:xfrm>
            <a:off x="2171700" y="2914650"/>
            <a:ext cx="4800600" cy="1314360"/>
          </a:xfrm>
          <a:prstGeom prst="rect">
            <a:avLst/>
          </a:prstGeom>
          <a:noFill/>
          <a:ln w="0">
            <a:noFill/>
          </a:ln>
        </p:spPr>
        <p:txBody>
          <a:bodyPr lIns="0" tIns="0" rIns="0" bIns="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2400" spc="-1">
              <a:latin typeface="Times New Roman"/>
            </a:endParaRPr>
          </a:p>
        </p:txBody>
      </p:sp>
    </p:spTree>
    <p:extLst>
      <p:ext uri="{BB962C8B-B14F-4D97-AF65-F5344CB8AC3E}">
        <p14:creationId xmlns:p14="http://schemas.microsoft.com/office/powerpoint/2010/main" val="966596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1143000" y="0"/>
            <a:ext cx="6858000" cy="68580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Elementos</a:t>
            </a:r>
            <a:r>
              <a:rPr lang="en-US" sz="2700" b="1" spc="-1" dirty="0">
                <a:solidFill>
                  <a:srgbClr val="FF0000"/>
                </a:solidFill>
                <a:effectLst>
                  <a:outerShdw blurRad="38100" dist="38100" dir="2700000" algn="tl">
                    <a:srgbClr val="000000">
                      <a:alpha val="43137"/>
                    </a:srgbClr>
                  </a:outerShdw>
                </a:effectLst>
                <a:latin typeface="Times New Roman"/>
              </a:rPr>
              <a:t> ISO-9001</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41" name="TextShape 2"/>
          <p:cNvSpPr txBox="1"/>
          <p:nvPr/>
        </p:nvSpPr>
        <p:spPr>
          <a:xfrm>
            <a:off x="1657080" y="628560"/>
            <a:ext cx="2857410" cy="4172040"/>
          </a:xfrm>
          <a:prstGeom prst="rect">
            <a:avLst/>
          </a:prstGeom>
          <a:noFill/>
          <a:ln w="0">
            <a:noFill/>
          </a:ln>
        </p:spPr>
        <p:txBody>
          <a:bodyPr lIns="67500" tIns="35100" rIns="67500" bIns="35100">
            <a:normAutofit/>
          </a:bodyPr>
          <a:lstStyle/>
          <a:p>
            <a:pPr marL="257040" indent="-257040">
              <a:lnSpc>
                <a:spcPct val="90000"/>
              </a:lnSpc>
              <a:spcBef>
                <a:spcPts val="300"/>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u="sng" spc="-1">
                <a:latin typeface="Times New Roman"/>
              </a:rPr>
              <a:t>Requisitos del sistema de calidad</a:t>
            </a:r>
            <a:endParaRPr lang="en-US" sz="1200" spc="-1">
              <a:latin typeface="Times New Roman"/>
            </a:endParaRP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Responsabilidad de la dirección</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Sistema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Revisión de contrato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diseño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documentos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Adquisitivo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Producto suministrado por el comprador</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Identificación y trazabilidad de productos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procesos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Inspección y pruebas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Equipos de inspección, medición y prueba</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Estado de inspección y pruebas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producto no conforme</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Acción correctiva</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Manipulación, almacenamiento, conservación, embalaje y envío.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Registros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Auditorías internas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Capacitación</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Servicio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Técnicas estadísticas</a:t>
            </a:r>
          </a:p>
        </p:txBody>
      </p:sp>
      <p:sp>
        <p:nvSpPr>
          <p:cNvPr id="142" name="TextShape 3"/>
          <p:cNvSpPr txBox="1"/>
          <p:nvPr/>
        </p:nvSpPr>
        <p:spPr>
          <a:xfrm>
            <a:off x="4628970" y="628560"/>
            <a:ext cx="2857410" cy="4172040"/>
          </a:xfrm>
          <a:prstGeom prst="rect">
            <a:avLst/>
          </a:prstGeom>
          <a:noFill/>
          <a:ln w="0">
            <a:noFill/>
          </a:ln>
        </p:spPr>
        <p:txBody>
          <a:bodyPr lIns="67500" tIns="35100" rIns="67500" bIns="35100">
            <a:normAutofit lnSpcReduction="10000"/>
          </a:bodyPr>
          <a:lstStyle/>
          <a:p>
            <a:pPr marL="257040" indent="-257040">
              <a:lnSpc>
                <a:spcPct val="90000"/>
              </a:lnSpc>
              <a:spcBef>
                <a:spcPts val="300"/>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u="sng" spc="-1">
                <a:latin typeface="Times New Roman"/>
              </a:rPr>
              <a:t>Responsabilidades de calidad del software</a:t>
            </a:r>
            <a:endParaRPr lang="en-US" sz="1200" spc="-1">
              <a:latin typeface="Times New Roman"/>
            </a:endParaRP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Responsabilidad de la dirección</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Sistema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Revisión de contrato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diseño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documentos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Adquisitivo</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Identificación y trazabilidad de productos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Control de procesos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Inspección y pruebas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Estado de inspección y pruebas</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Acción correctiva</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endParaRPr lang="en-US" sz="1050" spc="-1">
              <a:latin typeface="Times New Roman"/>
            </a:endParaRP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Registros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Auditorías internas de calidad</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Capacitación</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a:t>
            </a:r>
          </a:p>
          <a:p>
            <a:pPr marL="257040" indent="-257040">
              <a:lnSpc>
                <a:spcPct val="90000"/>
              </a:lnSpc>
              <a:spcBef>
                <a:spcPts val="262"/>
              </a:spcBef>
              <a:buFont typeface="TIMES"/>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050" spc="-1">
                <a:latin typeface="Times New Roman"/>
              </a:rPr>
              <a:t>Técnicas estadísticas</a:t>
            </a:r>
          </a:p>
        </p:txBody>
      </p:sp>
    </p:spTree>
    <p:extLst>
      <p:ext uri="{BB962C8B-B14F-4D97-AF65-F5344CB8AC3E}">
        <p14:creationId xmlns:p14="http://schemas.microsoft.com/office/powerpoint/2010/main" val="908665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TextShape 1"/>
          <p:cNvSpPr txBox="1"/>
          <p:nvPr/>
        </p:nvSpPr>
        <p:spPr>
          <a:xfrm>
            <a:off x="1143000" y="0"/>
            <a:ext cx="6229440" cy="68580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Modelo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madurez</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capacidad</a:t>
            </a:r>
            <a:r>
              <a:rPr lang="en-US" sz="2700" b="1" spc="-1" dirty="0">
                <a:solidFill>
                  <a:srgbClr val="FF0000"/>
                </a:solidFill>
                <a:effectLst>
                  <a:outerShdw blurRad="38100" dist="38100" dir="2700000" algn="tl">
                    <a:srgbClr val="000000">
                      <a:alpha val="43137"/>
                    </a:srgbClr>
                  </a:outerShdw>
                </a:effectLst>
                <a:latin typeface="Times New Roman"/>
              </a:rPr>
              <a:t> KPA</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144" name="CMM"/>
          <p:cNvPicPr/>
          <p:nvPr/>
        </p:nvPicPr>
        <p:blipFill>
          <a:blip r:embed="rId2"/>
          <a:stretch/>
        </p:blipFill>
        <p:spPr>
          <a:xfrm>
            <a:off x="1428660" y="628560"/>
            <a:ext cx="6229440" cy="4078080"/>
          </a:xfrm>
          <a:prstGeom prst="rect">
            <a:avLst/>
          </a:prstGeom>
          <a:ln w="0">
            <a:noFill/>
          </a:ln>
        </p:spPr>
      </p:pic>
    </p:spTree>
    <p:extLst>
      <p:ext uri="{BB962C8B-B14F-4D97-AF65-F5344CB8AC3E}">
        <p14:creationId xmlns:p14="http://schemas.microsoft.com/office/powerpoint/2010/main" val="417015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Niveles</a:t>
            </a:r>
            <a:r>
              <a:rPr lang="en-US" sz="2700" b="1" spc="-1" dirty="0">
                <a:solidFill>
                  <a:srgbClr val="FF0000"/>
                </a:solidFill>
                <a:effectLst>
                  <a:outerShdw blurRad="38100" dist="38100" dir="2700000" algn="tl">
                    <a:srgbClr val="000000">
                      <a:alpha val="43137"/>
                    </a:srgbClr>
                  </a:outerShdw>
                </a:effectLst>
                <a:latin typeface="Times New Roman"/>
              </a:rPr>
              <a:t> 2-5 del CMM</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146" name="Level-4%20to%20Level-5%20Transition"/>
          <p:cNvPicPr/>
          <p:nvPr/>
        </p:nvPicPr>
        <p:blipFill>
          <a:blip r:embed="rId2"/>
          <a:stretch/>
        </p:blipFill>
        <p:spPr>
          <a:xfrm>
            <a:off x="1371690" y="743040"/>
            <a:ext cx="6300720" cy="4219560"/>
          </a:xfrm>
          <a:prstGeom prst="rect">
            <a:avLst/>
          </a:prstGeom>
          <a:ln w="0">
            <a:noFill/>
          </a:ln>
        </p:spPr>
      </p:pic>
    </p:spTree>
    <p:extLst>
      <p:ext uri="{BB962C8B-B14F-4D97-AF65-F5344CB8AC3E}">
        <p14:creationId xmlns:p14="http://schemas.microsoft.com/office/powerpoint/2010/main" val="157408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Shape 1"/>
          <p:cNvSpPr txBox="1"/>
          <p:nvPr/>
        </p:nvSpPr>
        <p:spPr>
          <a:xfrm>
            <a:off x="1142729" y="-270"/>
            <a:ext cx="6991177"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Arquitectura</a:t>
            </a:r>
            <a:r>
              <a:rPr lang="en-US" sz="2700" b="1" spc="-1" dirty="0">
                <a:solidFill>
                  <a:srgbClr val="FF0000"/>
                </a:solidFill>
                <a:effectLst>
                  <a:outerShdw blurRad="38100" dist="38100" dir="2700000" algn="tl">
                    <a:srgbClr val="000000">
                      <a:alpha val="43137"/>
                    </a:srgbClr>
                  </a:outerShdw>
                </a:effectLst>
                <a:latin typeface="Times New Roman"/>
              </a:rPr>
              <a:t> del </a:t>
            </a:r>
            <a:r>
              <a:rPr lang="en-US" sz="2700" b="1" spc="-1" dirty="0" err="1">
                <a:solidFill>
                  <a:srgbClr val="FF0000"/>
                </a:solidFill>
                <a:effectLst>
                  <a:outerShdw blurRad="38100" dist="38100" dir="2700000" algn="tl">
                    <a:srgbClr val="000000">
                      <a:alpha val="43137"/>
                    </a:srgbClr>
                  </a:outerShdw>
                </a:effectLst>
                <a:latin typeface="Times New Roman"/>
              </a:rPr>
              <a:t>modelo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integración</a:t>
            </a:r>
            <a:r>
              <a:rPr lang="en-US" sz="2700" b="1" spc="-1" dirty="0">
                <a:solidFill>
                  <a:srgbClr val="FF0000"/>
                </a:solidFill>
                <a:effectLst>
                  <a:outerShdw blurRad="38100" dist="38100" dir="2700000" algn="tl">
                    <a:srgbClr val="000000">
                      <a:alpha val="43137"/>
                    </a:srgbClr>
                  </a:outerShdw>
                </a:effectLst>
                <a:latin typeface="Times New Roman"/>
              </a:rPr>
              <a:t> CMM</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148" name="Prallel%20CMM%20Architecture"/>
          <p:cNvPicPr/>
          <p:nvPr/>
        </p:nvPicPr>
        <p:blipFill>
          <a:blip r:embed="rId2"/>
          <a:stretch/>
        </p:blipFill>
        <p:spPr>
          <a:xfrm>
            <a:off x="1371690" y="756000"/>
            <a:ext cx="6457860" cy="3873150"/>
          </a:xfrm>
          <a:prstGeom prst="rect">
            <a:avLst/>
          </a:prstGeom>
          <a:ln w="0">
            <a:noFill/>
          </a:ln>
        </p:spPr>
      </p:pic>
    </p:spTree>
    <p:extLst>
      <p:ext uri="{BB962C8B-B14F-4D97-AF65-F5344CB8AC3E}">
        <p14:creationId xmlns:p14="http://schemas.microsoft.com/office/powerpoint/2010/main" val="1830950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Shape 1"/>
          <p:cNvSpPr txBox="1"/>
          <p:nvPr/>
        </p:nvSpPr>
        <p:spPr>
          <a:xfrm>
            <a:off x="1142730" y="-270"/>
            <a:ext cx="674379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Asignación</a:t>
            </a:r>
            <a:r>
              <a:rPr lang="en-US" sz="2700" b="1" spc="-1" dirty="0">
                <a:solidFill>
                  <a:srgbClr val="FF0000"/>
                </a:solidFill>
                <a:effectLst>
                  <a:outerShdw blurRad="38100" dist="38100" dir="2700000" algn="tl">
                    <a:srgbClr val="000000">
                      <a:alpha val="43137"/>
                    </a:srgbClr>
                  </a:outerShdw>
                </a:effectLst>
                <a:latin typeface="Times New Roman"/>
              </a:rPr>
              <a:t> de CMM a CMMI</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150" name="CMM%20vs%20CMMI"/>
          <p:cNvPicPr/>
          <p:nvPr/>
        </p:nvPicPr>
        <p:blipFill>
          <a:blip r:embed="rId2"/>
          <a:stretch/>
        </p:blipFill>
        <p:spPr>
          <a:xfrm>
            <a:off x="1257210" y="685800"/>
            <a:ext cx="6572340" cy="4229010"/>
          </a:xfrm>
          <a:prstGeom prst="rect">
            <a:avLst/>
          </a:prstGeom>
          <a:ln w="0">
            <a:noFill/>
          </a:ln>
        </p:spPr>
      </p:pic>
    </p:spTree>
    <p:extLst>
      <p:ext uri="{BB962C8B-B14F-4D97-AF65-F5344CB8AC3E}">
        <p14:creationId xmlns:p14="http://schemas.microsoft.com/office/powerpoint/2010/main" val="2913874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Documentación</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152" name="TextShape 2"/>
          <p:cNvSpPr txBox="1"/>
          <p:nvPr/>
        </p:nvSpPr>
        <p:spPr>
          <a:xfrm>
            <a:off x="2171700" y="2914650"/>
            <a:ext cx="4800600" cy="1314360"/>
          </a:xfrm>
          <a:prstGeom prst="rect">
            <a:avLst/>
          </a:prstGeom>
          <a:noFill/>
          <a:ln w="0">
            <a:noFill/>
          </a:ln>
        </p:spPr>
        <p:txBody>
          <a:bodyPr lIns="0" tIns="0" rIns="0" bIns="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2400" spc="-1">
              <a:latin typeface="Times New Roman"/>
            </a:endParaRPr>
          </a:p>
        </p:txBody>
      </p:sp>
    </p:spTree>
    <p:extLst>
      <p:ext uri="{BB962C8B-B14F-4D97-AF65-F5344CB8AC3E}">
        <p14:creationId xmlns:p14="http://schemas.microsoft.com/office/powerpoint/2010/main" val="3244094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Jerarquía</a:t>
            </a:r>
            <a:r>
              <a:rPr lang="en-US" sz="2700" b="1" spc="-1" dirty="0">
                <a:solidFill>
                  <a:srgbClr val="FF0000"/>
                </a:solidFill>
                <a:effectLst>
                  <a:outerShdw blurRad="38100" dist="38100" dir="2700000" algn="tl">
                    <a:srgbClr val="000000">
                      <a:alpha val="43137"/>
                    </a:srgbClr>
                  </a:outerShdw>
                </a:effectLst>
                <a:latin typeface="Times New Roman"/>
              </a:rPr>
              <a:t> de la </a:t>
            </a:r>
            <a:r>
              <a:rPr lang="en-US" sz="2700" b="1" spc="-1" dirty="0" err="1">
                <a:solidFill>
                  <a:srgbClr val="FF0000"/>
                </a:solidFill>
                <a:effectLst>
                  <a:outerShdw blurRad="38100" dist="38100" dir="2700000" algn="tl">
                    <a:srgbClr val="000000">
                      <a:alpha val="43137"/>
                    </a:srgbClr>
                  </a:outerShdw>
                </a:effectLst>
                <a:latin typeface="Times New Roman"/>
              </a:rPr>
              <a:t>documentación</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54" name="CustomShape 2"/>
          <p:cNvSpPr/>
          <p:nvPr/>
        </p:nvSpPr>
        <p:spPr>
          <a:xfrm>
            <a:off x="1657350" y="1142910"/>
            <a:ext cx="1142910" cy="34290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sp>
      <p:sp>
        <p:nvSpPr>
          <p:cNvPr id="155" name="CustomShape 3"/>
          <p:cNvSpPr/>
          <p:nvPr/>
        </p:nvSpPr>
        <p:spPr>
          <a:xfrm>
            <a:off x="1314450" y="3657690"/>
            <a:ext cx="6515100" cy="145588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•Los </a:t>
            </a:r>
            <a:r>
              <a:rPr lang="en-US" sz="1800" spc="-1" dirty="0" err="1">
                <a:latin typeface="Times New Roman"/>
                <a:ea typeface="Times New Roman"/>
              </a:rPr>
              <a:t>documentos</a:t>
            </a:r>
            <a:r>
              <a:rPr lang="en-US" sz="1800" spc="-1" dirty="0">
                <a:latin typeface="Times New Roman"/>
                <a:ea typeface="Times New Roman"/>
              </a:rPr>
              <a:t> no son la </a:t>
            </a:r>
            <a:r>
              <a:rPr lang="en-US" sz="1800" spc="-1" dirty="0" err="1">
                <a:latin typeface="Times New Roman"/>
                <a:ea typeface="Times New Roman"/>
              </a:rPr>
              <a:t>única</a:t>
            </a:r>
            <a:r>
              <a:rPr lang="en-US" sz="1800" spc="-1" dirty="0">
                <a:latin typeface="Times New Roman"/>
                <a:ea typeface="Times New Roman"/>
              </a:rPr>
              <a:t> forma tangible de </a:t>
            </a:r>
            <a:r>
              <a:rPr lang="en-US" sz="1800" spc="-1" dirty="0" err="1">
                <a:latin typeface="Times New Roman"/>
                <a:ea typeface="Times New Roman"/>
              </a:rPr>
              <a:t>representar</a:t>
            </a:r>
            <a:r>
              <a:rPr lang="en-US" sz="1800" spc="-1" dirty="0">
                <a:latin typeface="Times New Roman"/>
                <a:ea typeface="Times New Roman"/>
              </a:rPr>
              <a:t> </a:t>
            </a:r>
            <a:r>
              <a:rPr lang="en-US" sz="1800" spc="-1" dirty="0" err="1">
                <a:latin typeface="Times New Roman"/>
                <a:ea typeface="Times New Roman"/>
              </a:rPr>
              <a:t>productos</a:t>
            </a:r>
            <a:r>
              <a:rPr lang="en-US" sz="1800" spc="-1" dirty="0">
                <a:latin typeface="Times New Roman"/>
                <a:ea typeface="Times New Roman"/>
              </a:rPr>
              <a:t> de </a:t>
            </a:r>
            <a:r>
              <a:rPr lang="en-US" sz="1800" spc="-1" dirty="0" err="1">
                <a:latin typeface="Times New Roman"/>
                <a:ea typeface="Times New Roman"/>
              </a:rPr>
              <a:t>software.El</a:t>
            </a:r>
            <a:r>
              <a:rPr lang="en-US" sz="1800" spc="-1" dirty="0">
                <a:latin typeface="Times New Roman"/>
                <a:ea typeface="Times New Roman"/>
              </a:rPr>
              <a:t> </a:t>
            </a:r>
            <a:r>
              <a:rPr lang="en-US" sz="1800" spc="-1" dirty="0" err="1">
                <a:latin typeface="Times New Roman"/>
                <a:ea typeface="Times New Roman"/>
              </a:rPr>
              <a:t>sistema</a:t>
            </a:r>
            <a:r>
              <a:rPr lang="en-US" sz="1800" spc="-1" dirty="0">
                <a:latin typeface="Times New Roman"/>
                <a:ea typeface="Times New Roman"/>
              </a:rPr>
              <a:t> de software </a:t>
            </a:r>
            <a:r>
              <a:rPr lang="en-US" sz="1800" spc="-1" dirty="0" err="1">
                <a:latin typeface="Times New Roman"/>
                <a:ea typeface="Times New Roman"/>
              </a:rPr>
              <a:t>en</a:t>
            </a:r>
            <a:r>
              <a:rPr lang="en-US" sz="1800" spc="-1" dirty="0">
                <a:latin typeface="Times New Roman"/>
                <a:ea typeface="Times New Roman"/>
              </a:rPr>
              <a:t> </a:t>
            </a:r>
            <a:r>
              <a:rPr lang="en-US" sz="1800" spc="-1" dirty="0" err="1">
                <a:latin typeface="Times New Roman"/>
                <a:ea typeface="Times New Roman"/>
              </a:rPr>
              <a:t>funcionamientoEs</a:t>
            </a:r>
            <a:r>
              <a:rPr lang="en-US" sz="1800" spc="-1" dirty="0">
                <a:latin typeface="Times New Roman"/>
                <a:ea typeface="Times New Roman"/>
              </a:rPr>
              <a:t> la forma </a:t>
            </a:r>
            <a:r>
              <a:rPr lang="en-US" sz="1800" spc="-1" dirty="0" err="1">
                <a:latin typeface="Times New Roman"/>
                <a:ea typeface="Times New Roman"/>
              </a:rPr>
              <a:t>más</a:t>
            </a:r>
            <a:r>
              <a:rPr lang="en-US" sz="1800" spc="-1" dirty="0">
                <a:latin typeface="Times New Roman"/>
                <a:ea typeface="Times New Roman"/>
              </a:rPr>
              <a:t> tangible de </a:t>
            </a:r>
            <a:r>
              <a:rPr lang="en-US" sz="1800" spc="-1" dirty="0" err="1">
                <a:latin typeface="Times New Roman"/>
                <a:ea typeface="Times New Roman"/>
              </a:rPr>
              <a:t>representar</a:t>
            </a:r>
            <a:r>
              <a:rPr lang="en-US" sz="1800" spc="-1" dirty="0">
                <a:latin typeface="Times New Roman"/>
                <a:ea typeface="Times New Roman"/>
              </a:rPr>
              <a:t> </a:t>
            </a:r>
            <a:r>
              <a:rPr lang="en-US" sz="1800" spc="-1" dirty="0" err="1">
                <a:latin typeface="Times New Roman"/>
                <a:ea typeface="Times New Roman"/>
              </a:rPr>
              <a:t>productos</a:t>
            </a:r>
            <a:r>
              <a:rPr lang="en-US" sz="1800" spc="-1" dirty="0">
                <a:latin typeface="Times New Roman"/>
                <a:ea typeface="Times New Roman"/>
              </a:rPr>
              <a:t> de software.</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•Los </a:t>
            </a:r>
            <a:r>
              <a:rPr lang="en-US" sz="1800" spc="-1" dirty="0" err="1">
                <a:latin typeface="Times New Roman"/>
                <a:ea typeface="Times New Roman"/>
              </a:rPr>
              <a:t>documentos</a:t>
            </a:r>
            <a:r>
              <a:rPr lang="en-US" sz="1800" spc="-1" dirty="0">
                <a:latin typeface="Times New Roman"/>
                <a:ea typeface="Times New Roman"/>
              </a:rPr>
              <a:t> son la </a:t>
            </a:r>
            <a:r>
              <a:rPr lang="en-US" sz="1800" spc="-1" dirty="0" err="1">
                <a:latin typeface="Times New Roman"/>
                <a:ea typeface="Times New Roman"/>
              </a:rPr>
              <a:t>mejor</a:t>
            </a:r>
            <a:r>
              <a:rPr lang="en-US" sz="1800" spc="-1" dirty="0">
                <a:latin typeface="Times New Roman"/>
                <a:ea typeface="Times New Roman"/>
              </a:rPr>
              <a:t> </a:t>
            </a:r>
            <a:r>
              <a:rPr lang="en-US" sz="1800" spc="-1" dirty="0" err="1">
                <a:latin typeface="Times New Roman"/>
                <a:ea typeface="Times New Roman"/>
              </a:rPr>
              <a:t>manera</a:t>
            </a:r>
            <a:r>
              <a:rPr lang="en-US" sz="1800" spc="-1" dirty="0">
                <a:latin typeface="Times New Roman"/>
                <a:ea typeface="Times New Roman"/>
              </a:rPr>
              <a:t> de </a:t>
            </a:r>
            <a:r>
              <a:rPr lang="en-US" sz="1800" spc="-1" dirty="0" err="1">
                <a:latin typeface="Times New Roman"/>
                <a:ea typeface="Times New Roman"/>
              </a:rPr>
              <a:t>garantizar</a:t>
            </a:r>
            <a:r>
              <a:rPr lang="en-US" sz="1800" spc="-1" dirty="0">
                <a:latin typeface="Times New Roman"/>
                <a:ea typeface="Times New Roman"/>
              </a:rPr>
              <a:t> la </a:t>
            </a:r>
            <a:r>
              <a:rPr lang="en-US" sz="1800" spc="-1" dirty="0" err="1">
                <a:latin typeface="Times New Roman"/>
                <a:ea typeface="Times New Roman"/>
              </a:rPr>
              <a:t>comprensibilidad</a:t>
            </a:r>
            <a:r>
              <a:rPr lang="en-US" sz="1800" spc="-1" dirty="0">
                <a:latin typeface="Times New Roman"/>
                <a:ea typeface="Times New Roman"/>
              </a:rPr>
              <a:t> de </a:t>
            </a:r>
            <a:r>
              <a:rPr lang="en-US" sz="1800" spc="-1" dirty="0" err="1">
                <a:latin typeface="Times New Roman"/>
                <a:ea typeface="Times New Roman"/>
              </a:rPr>
              <a:t>los</a:t>
            </a:r>
            <a:r>
              <a:rPr lang="en-US" sz="1800" spc="-1" dirty="0">
                <a:latin typeface="Times New Roman"/>
                <a:ea typeface="Times New Roman"/>
              </a:rPr>
              <a:t> </a:t>
            </a:r>
            <a:r>
              <a:rPr lang="en-US" sz="1800" spc="-1" dirty="0" err="1">
                <a:latin typeface="Times New Roman"/>
                <a:ea typeface="Times New Roman"/>
              </a:rPr>
              <a:t>productos</a:t>
            </a:r>
            <a:r>
              <a:rPr lang="en-US" sz="1800" spc="-1" dirty="0">
                <a:latin typeface="Times New Roman"/>
                <a:ea typeface="Times New Roman"/>
              </a:rPr>
              <a:t> de software.</a:t>
            </a:r>
            <a:r>
              <a:rPr lang="en-US" sz="1800" spc="-1" dirty="0">
                <a:latin typeface="Times New Roman"/>
              </a:rPr>
              <a:t> </a:t>
            </a:r>
          </a:p>
        </p:txBody>
      </p:sp>
      <p:pic>
        <p:nvPicPr>
          <p:cNvPr id="156" name="Document%20Hierarchy"/>
          <p:cNvPicPr/>
          <p:nvPr/>
        </p:nvPicPr>
        <p:blipFill>
          <a:blip r:embed="rId2"/>
          <a:stretch/>
        </p:blipFill>
        <p:spPr>
          <a:xfrm>
            <a:off x="1314450" y="743040"/>
            <a:ext cx="6347160" cy="2800170"/>
          </a:xfrm>
          <a:prstGeom prst="rect">
            <a:avLst/>
          </a:prstGeom>
          <a:ln w="0">
            <a:noFill/>
          </a:ln>
        </p:spPr>
      </p:pic>
    </p:spTree>
    <p:extLst>
      <p:ext uri="{BB962C8B-B14F-4D97-AF65-F5344CB8AC3E}">
        <p14:creationId xmlns:p14="http://schemas.microsoft.com/office/powerpoint/2010/main" val="3247551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1142730" y="-270"/>
            <a:ext cx="605799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Calidad de </a:t>
            </a:r>
            <a:r>
              <a:rPr lang="en-US" sz="2700" b="1" spc="-1" dirty="0" err="1">
                <a:solidFill>
                  <a:srgbClr val="FF0000"/>
                </a:solidFill>
                <a:effectLst>
                  <a:outerShdw blurRad="38100" dist="38100" dir="2700000" algn="tl">
                    <a:srgbClr val="000000">
                      <a:alpha val="43137"/>
                    </a:srgbClr>
                  </a:outerShdw>
                </a:effectLst>
                <a:latin typeface="Times New Roman"/>
              </a:rPr>
              <a:t>procesos</a:t>
            </a:r>
            <a:r>
              <a:rPr lang="en-US" sz="2700" b="1" spc="-1" dirty="0">
                <a:solidFill>
                  <a:srgbClr val="FF0000"/>
                </a:solidFill>
                <a:effectLst>
                  <a:outerShdw blurRad="38100" dist="38100" dir="2700000" algn="tl">
                    <a:srgbClr val="000000">
                      <a:alpha val="43137"/>
                    </a:srgbClr>
                  </a:outerShdw>
                </a:effectLst>
                <a:latin typeface="Times New Roman"/>
              </a:rPr>
              <a:t> y </a:t>
            </a:r>
            <a:r>
              <a:rPr lang="en-US" sz="2700" b="1" spc="-1" dirty="0" err="1">
                <a:solidFill>
                  <a:srgbClr val="FF0000"/>
                </a:solidFill>
                <a:effectLst>
                  <a:outerShdw blurRad="38100" dist="38100" dir="2700000" algn="tl">
                    <a:srgbClr val="000000">
                      <a:alpha val="43137"/>
                    </a:srgbClr>
                  </a:outerShdw>
                </a:effectLst>
                <a:latin typeface="Times New Roman"/>
              </a:rPr>
              <a:t>productos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58" name="CustomShape 2"/>
          <p:cNvSpPr/>
          <p:nvPr/>
        </p:nvSpPr>
        <p:spPr>
          <a:xfrm>
            <a:off x="1535310" y="800010"/>
            <a:ext cx="6296594" cy="624883"/>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a:latin typeface="Times New Roman"/>
              </a:rPr>
              <a:t>Calidad </a:t>
            </a:r>
            <a:r>
              <a:rPr lang="en-US" sz="1800" spc="-1" dirty="0">
                <a:latin typeface="Times New Roman"/>
              </a:rPr>
              <a:t>de Desarrollo </a:t>
            </a:r>
            <a:r>
              <a:rPr lang="en-US" sz="1800" b="1" spc="-1" dirty="0" err="1">
                <a:latin typeface="Times New Roman"/>
              </a:rPr>
              <a:t>proceso</a:t>
            </a:r>
            <a:r>
              <a:rPr lang="en-US" sz="1800" b="1" spc="-1" dirty="0">
                <a:latin typeface="Times New Roman"/>
              </a:rPr>
              <a:t> </a:t>
            </a:r>
            <a:r>
              <a:rPr lang="en-US" sz="1800" spc="-1" dirty="0" err="1">
                <a:latin typeface="Times New Roman"/>
              </a:rPr>
              <a:t>Afecta</a:t>
            </a:r>
            <a:r>
              <a:rPr lang="en-US" sz="1800" spc="-1" dirty="0">
                <a:latin typeface="Times New Roman"/>
              </a:rPr>
              <a:t> </a:t>
            </a:r>
            <a:r>
              <a:rPr lang="en-US" sz="1800" spc="-1" dirty="0" err="1">
                <a:latin typeface="Times New Roman"/>
              </a:rPr>
              <a:t>directamente</a:t>
            </a:r>
            <a:r>
              <a:rPr lang="en-US" sz="1800" spc="-1" dirty="0">
                <a:latin typeface="Times New Roman"/>
              </a:rPr>
              <a:t> la </a:t>
            </a:r>
            <a:r>
              <a:rPr lang="en-US" sz="1800" b="1" spc="-1" dirty="0">
                <a:latin typeface="Times New Roman"/>
              </a:rPr>
              <a:t>Calidad </a:t>
            </a:r>
            <a:r>
              <a:rPr lang="en-US" sz="1800" spc="-1" dirty="0">
                <a:latin typeface="Times New Roman"/>
              </a:rPr>
              <a:t>de</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 </a:t>
            </a:r>
            <a:r>
              <a:rPr lang="en-US" sz="1800" spc="-1" dirty="0" err="1">
                <a:latin typeface="Times New Roman"/>
              </a:rPr>
              <a:t>entregado</a:t>
            </a:r>
            <a:r>
              <a:rPr lang="en-US" sz="1800" b="1" spc="-1" dirty="0" err="1">
                <a:latin typeface="Times New Roman"/>
              </a:rPr>
              <a:t>productos</a:t>
            </a:r>
            <a:r>
              <a:rPr lang="en-US" sz="1800" spc="-1" dirty="0">
                <a:latin typeface="Times New Roman"/>
              </a:rPr>
              <a:t>.	</a:t>
            </a:r>
          </a:p>
        </p:txBody>
      </p:sp>
      <p:pic>
        <p:nvPicPr>
          <p:cNvPr id="159" name="Process-based%20quality"/>
          <p:cNvPicPr/>
          <p:nvPr/>
        </p:nvPicPr>
        <p:blipFill>
          <a:blip r:embed="rId2"/>
          <a:stretch/>
        </p:blipFill>
        <p:spPr>
          <a:xfrm>
            <a:off x="1543140" y="1428840"/>
            <a:ext cx="6000750" cy="2685960"/>
          </a:xfrm>
          <a:prstGeom prst="rect">
            <a:avLst/>
          </a:prstGeom>
          <a:ln w="0">
            <a:noFill/>
          </a:ln>
        </p:spPr>
      </p:pic>
      <p:sp>
        <p:nvSpPr>
          <p:cNvPr id="160" name="CustomShape 3"/>
          <p:cNvSpPr/>
          <p:nvPr/>
        </p:nvSpPr>
        <p:spPr>
          <a:xfrm>
            <a:off x="1651410" y="3543210"/>
            <a:ext cx="6065634" cy="624883"/>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Este es </a:t>
            </a:r>
            <a:r>
              <a:rPr lang="en-US" sz="1800" spc="-1" dirty="0" err="1">
                <a:latin typeface="Times New Roman"/>
              </a:rPr>
              <a:t>el</a:t>
            </a:r>
            <a:r>
              <a:rPr lang="en-US" sz="1800" spc="-1" dirty="0">
                <a:latin typeface="Times New Roman"/>
              </a:rPr>
              <a:t> </a:t>
            </a:r>
            <a:r>
              <a:rPr lang="en-US" sz="1800" spc="-1" dirty="0" err="1">
                <a:latin typeface="Times New Roman"/>
              </a:rPr>
              <a:t>enfoque</a:t>
            </a:r>
            <a:r>
              <a:rPr lang="en-US" sz="1800" spc="-1" dirty="0">
                <a:latin typeface="Times New Roman"/>
              </a:rPr>
              <a:t> de </a:t>
            </a:r>
            <a:r>
              <a:rPr lang="en-US" sz="1800" spc="-1" dirty="0" err="1">
                <a:latin typeface="Times New Roman"/>
              </a:rPr>
              <a:t>fábrica</a:t>
            </a:r>
            <a:r>
              <a:rPr lang="en-US" sz="1800" spc="-1" dirty="0">
                <a:latin typeface="Times New Roman"/>
              </a:rPr>
              <a:t>. No </a:t>
            </a:r>
            <a:r>
              <a:rPr lang="en-US" sz="1800" spc="-1" dirty="0" err="1">
                <a:latin typeface="Times New Roman"/>
              </a:rPr>
              <a:t>funciona</a:t>
            </a:r>
            <a:r>
              <a:rPr lang="en-US" sz="1800" spc="-1" dirty="0">
                <a:latin typeface="Times New Roman"/>
              </a:rPr>
              <a:t> </a:t>
            </a:r>
            <a:r>
              <a:rPr lang="en-US" sz="1800" spc="-1" dirty="0" err="1">
                <a:latin typeface="Times New Roman"/>
              </a:rPr>
              <a:t>porque</a:t>
            </a:r>
            <a:r>
              <a:rPr lang="en-US" sz="1800" spc="-1" dirty="0">
                <a:latin typeface="Times New Roman"/>
              </a:rPr>
              <a:t> </a:t>
            </a:r>
            <a:r>
              <a:rPr lang="en-US" sz="1800" spc="-1" dirty="0" err="1">
                <a:latin typeface="Times New Roman"/>
              </a:rPr>
              <a:t>el</a:t>
            </a:r>
            <a:r>
              <a:rPr lang="en-US" sz="1800" spc="-1" dirty="0">
                <a:latin typeface="Times New Roman"/>
              </a:rPr>
              <a:t> software es</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 </a:t>
            </a:r>
            <a:r>
              <a:rPr lang="en-US" sz="1800" b="1" spc="-1" dirty="0" err="1">
                <a:latin typeface="Times New Roman"/>
              </a:rPr>
              <a:t>diseñado</a:t>
            </a:r>
            <a:r>
              <a:rPr lang="en-US" sz="1800" b="1" spc="-1" dirty="0">
                <a:latin typeface="Times New Roman"/>
              </a:rPr>
              <a:t> a </a:t>
            </a:r>
            <a:r>
              <a:rPr lang="en-US" sz="1800" b="1" spc="-1" dirty="0" err="1">
                <a:latin typeface="Times New Roman"/>
              </a:rPr>
              <a:t>medida</a:t>
            </a:r>
            <a:r>
              <a:rPr lang="en-US" sz="1800" b="1" spc="-1" dirty="0">
                <a:latin typeface="Times New Roman"/>
              </a:rPr>
              <a:t> que es </a:t>
            </a:r>
            <a:r>
              <a:rPr lang="en-US" sz="1800" b="1" spc="-1" dirty="0" err="1">
                <a:latin typeface="Times New Roman"/>
              </a:rPr>
              <a:t>fabricado</a:t>
            </a:r>
            <a:r>
              <a:rPr lang="en-US" sz="1800" spc="-1" dirty="0">
                <a:latin typeface="Times New Roman"/>
              </a:rPr>
              <a:t>.</a:t>
            </a:r>
          </a:p>
        </p:txBody>
      </p:sp>
    </p:spTree>
    <p:extLst>
      <p:ext uri="{BB962C8B-B14F-4D97-AF65-F5344CB8AC3E}">
        <p14:creationId xmlns:p14="http://schemas.microsoft.com/office/powerpoint/2010/main" val="3026184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550" b="1" spc="-1" dirty="0" err="1">
                <a:solidFill>
                  <a:srgbClr val="FF0000"/>
                </a:solidFill>
                <a:effectLst>
                  <a:outerShdw blurRad="38100" dist="38100" dir="2700000" algn="tl">
                    <a:srgbClr val="000000">
                      <a:alpha val="43137"/>
                    </a:srgbClr>
                  </a:outerShdw>
                </a:effectLst>
                <a:latin typeface="Times New Roman"/>
              </a:rPr>
              <a:t>Enfoque</a:t>
            </a:r>
            <a:r>
              <a:rPr lang="en-US" sz="2550" b="1" spc="-1" dirty="0">
                <a:solidFill>
                  <a:srgbClr val="FF0000"/>
                </a:solidFill>
                <a:effectLst>
                  <a:outerShdw blurRad="38100" dist="38100" dir="2700000" algn="tl">
                    <a:srgbClr val="000000">
                      <a:alpha val="43137"/>
                    </a:srgbClr>
                  </a:outerShdw>
                </a:effectLst>
                <a:latin typeface="Times New Roman"/>
              </a:rPr>
              <a:t> </a:t>
            </a:r>
            <a:r>
              <a:rPr lang="en-US" sz="2550" b="1" spc="-1" dirty="0" err="1">
                <a:solidFill>
                  <a:srgbClr val="FF0000"/>
                </a:solidFill>
                <a:effectLst>
                  <a:outerShdw blurRad="38100" dist="38100" dir="2700000" algn="tl">
                    <a:srgbClr val="000000">
                      <a:alpha val="43137"/>
                    </a:srgbClr>
                  </a:outerShdw>
                </a:effectLst>
                <a:latin typeface="Times New Roman"/>
              </a:rPr>
              <a:t>creativo</a:t>
            </a:r>
            <a:r>
              <a:rPr lang="en-US" sz="2550" b="1" spc="-1" dirty="0">
                <a:solidFill>
                  <a:srgbClr val="FF0000"/>
                </a:solidFill>
                <a:effectLst>
                  <a:outerShdw blurRad="38100" dist="38100" dir="2700000" algn="tl">
                    <a:srgbClr val="000000">
                      <a:alpha val="43137"/>
                    </a:srgbClr>
                  </a:outerShdw>
                </a:effectLst>
                <a:latin typeface="Times New Roman"/>
              </a:rPr>
              <a:t> </a:t>
            </a:r>
            <a:r>
              <a:rPr lang="en-US" sz="2550" b="1" spc="-1" dirty="0" err="1">
                <a:solidFill>
                  <a:srgbClr val="FF0000"/>
                </a:solidFill>
                <a:effectLst>
                  <a:outerShdw blurRad="38100" dist="38100" dir="2700000" algn="tl">
                    <a:srgbClr val="000000">
                      <a:alpha val="43137"/>
                    </a:srgbClr>
                  </a:outerShdw>
                </a:effectLst>
                <a:latin typeface="Times New Roman"/>
              </a:rPr>
              <a:t>en</a:t>
            </a:r>
            <a:r>
              <a:rPr lang="en-US" sz="2550" b="1" spc="-1" dirty="0">
                <a:solidFill>
                  <a:srgbClr val="FF0000"/>
                </a:solidFill>
                <a:effectLst>
                  <a:outerShdw blurRad="38100" dist="38100" dir="2700000" algn="tl">
                    <a:srgbClr val="000000">
                      <a:alpha val="43137"/>
                    </a:srgbClr>
                  </a:outerShdw>
                </a:effectLst>
                <a:latin typeface="Times New Roman"/>
              </a:rPr>
              <a:t> la </a:t>
            </a:r>
            <a:r>
              <a:rPr lang="en-US" sz="2550" b="1" spc="-1" dirty="0" err="1">
                <a:solidFill>
                  <a:srgbClr val="FF0000"/>
                </a:solidFill>
                <a:effectLst>
                  <a:outerShdw blurRad="38100" dist="38100" dir="2700000" algn="tl">
                    <a:srgbClr val="000000">
                      <a:alpha val="43137"/>
                    </a:srgbClr>
                  </a:outerShdw>
                </a:effectLst>
                <a:latin typeface="Times New Roman"/>
              </a:rPr>
              <a:t>calidad</a:t>
            </a:r>
            <a:r>
              <a:rPr lang="en-US" sz="2550" b="1" spc="-1" dirty="0">
                <a:solidFill>
                  <a:srgbClr val="FF0000"/>
                </a:solidFill>
                <a:effectLst>
                  <a:outerShdw blurRad="38100" dist="38100" dir="2700000" algn="tl">
                    <a:srgbClr val="000000">
                      <a:alpha val="43137"/>
                    </a:srgbClr>
                  </a:outerShdw>
                </a:effectLst>
                <a:latin typeface="Times New Roman"/>
              </a:rPr>
              <a:t> de </a:t>
            </a:r>
            <a:r>
              <a:rPr lang="en-US" sz="2550" b="1" spc="-1" dirty="0" err="1">
                <a:solidFill>
                  <a:srgbClr val="FF0000"/>
                </a:solidFill>
                <a:effectLst>
                  <a:outerShdw blurRad="38100" dist="38100" dir="2700000" algn="tl">
                    <a:srgbClr val="000000">
                      <a:alpha val="43137"/>
                    </a:srgbClr>
                  </a:outerShdw>
                </a:effectLst>
                <a:latin typeface="Times New Roman"/>
              </a:rPr>
              <a:t>procesos</a:t>
            </a:r>
            <a:r>
              <a:rPr lang="en-US" sz="2550" b="1" spc="-1" dirty="0">
                <a:solidFill>
                  <a:srgbClr val="FF0000"/>
                </a:solidFill>
                <a:effectLst>
                  <a:outerShdw blurRad="38100" dist="38100" dir="2700000" algn="tl">
                    <a:srgbClr val="000000">
                      <a:alpha val="43137"/>
                    </a:srgbClr>
                  </a:outerShdw>
                </a:effectLst>
                <a:latin typeface="Times New Roman"/>
              </a:rPr>
              <a:t> y </a:t>
            </a:r>
            <a:r>
              <a:rPr lang="en-US" sz="2550" b="1" spc="-1" dirty="0" err="1">
                <a:solidFill>
                  <a:srgbClr val="FF0000"/>
                </a:solidFill>
                <a:effectLst>
                  <a:outerShdw blurRad="38100" dist="38100" dir="2700000" algn="tl">
                    <a:srgbClr val="000000">
                      <a:alpha val="43137"/>
                    </a:srgbClr>
                  </a:outerShdw>
                </a:effectLst>
                <a:latin typeface="Times New Roman"/>
              </a:rPr>
              <a:t>productos</a:t>
            </a:r>
            <a:endParaRPr lang="en-US" sz="2550" spc="-1" dirty="0">
              <a:solidFill>
                <a:srgbClr val="FF0000"/>
              </a:solidFill>
              <a:effectLst>
                <a:outerShdw blurRad="38100" dist="38100" dir="2700000" algn="tl">
                  <a:srgbClr val="000000">
                    <a:alpha val="43137"/>
                  </a:srgbClr>
                </a:outerShdw>
              </a:effectLst>
              <a:latin typeface="Times New Roman"/>
            </a:endParaRPr>
          </a:p>
        </p:txBody>
      </p:sp>
      <p:sp>
        <p:nvSpPr>
          <p:cNvPr id="162" name="CustomShape 2"/>
          <p:cNvSpPr/>
          <p:nvPr/>
        </p:nvSpPr>
        <p:spPr>
          <a:xfrm>
            <a:off x="1371690" y="716851"/>
            <a:ext cx="6515100" cy="1178881"/>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a:t>
            </a:r>
            <a:r>
              <a:rPr lang="en-US" sz="1800" b="1" spc="-1">
                <a:latin typeface="Times New Roman"/>
                <a:ea typeface="Times New Roman"/>
              </a:rPr>
              <a:t>Mejora de la calidad</a:t>
            </a:r>
            <a:r>
              <a:rPr lang="en-US" sz="1800" spc="-1">
                <a:latin typeface="Times New Roman"/>
                <a:ea typeface="Times New Roman"/>
              </a:rPr>
              <a:t>– identificar productos de buena calidad,</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 examinar los procesos utilizados para desarrollar estos productos y luego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ea typeface="Times New Roman"/>
              </a:rPr>
              <a:t> generalizar estos procesos para que puedan aplicarse en todas partes</a:t>
            </a:r>
            <a:endParaRPr lang="en-US" sz="1800" spc="-1">
              <a:latin typeface="Times New Roman"/>
            </a:endParaRPr>
          </a:p>
        </p:txBody>
      </p:sp>
      <p:pic>
        <p:nvPicPr>
          <p:cNvPr id="163" name="SQA%20process"/>
          <p:cNvPicPr/>
          <p:nvPr/>
        </p:nvPicPr>
        <p:blipFill>
          <a:blip r:embed="rId2"/>
          <a:stretch/>
        </p:blipFill>
        <p:spPr>
          <a:xfrm>
            <a:off x="1485900" y="1657260"/>
            <a:ext cx="6229440" cy="3257550"/>
          </a:xfrm>
          <a:prstGeom prst="rect">
            <a:avLst/>
          </a:prstGeom>
          <a:ln w="0">
            <a:noFill/>
          </a:ln>
        </p:spPr>
      </p:pic>
    </p:spTree>
    <p:extLst>
      <p:ext uri="{BB962C8B-B14F-4D97-AF65-F5344CB8AC3E}">
        <p14:creationId xmlns:p14="http://schemas.microsoft.com/office/powerpoint/2010/main" val="3702787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Mejora</a:t>
            </a:r>
            <a:r>
              <a:rPr lang="en-US" sz="2700" b="1" spc="-1" dirty="0">
                <a:solidFill>
                  <a:srgbClr val="FF0000"/>
                </a:solidFill>
                <a:effectLst>
                  <a:outerShdw blurRad="38100" dist="38100" dir="2700000" algn="tl">
                    <a:srgbClr val="000000">
                      <a:alpha val="43137"/>
                    </a:srgbClr>
                  </a:outerShdw>
                </a:effectLst>
                <a:latin typeface="Times New Roman"/>
              </a:rPr>
              <a:t> de la </a:t>
            </a:r>
            <a:r>
              <a:rPr lang="en-US" sz="2700" b="1" spc="-1" dirty="0" err="1">
                <a:solidFill>
                  <a:srgbClr val="FF0000"/>
                </a:solidFill>
                <a:effectLst>
                  <a:outerShdw blurRad="38100" dist="38100" dir="2700000" algn="tl">
                    <a:srgbClr val="000000">
                      <a:alpha val="43137"/>
                    </a:srgbClr>
                  </a:outerShdw>
                </a:effectLst>
                <a:latin typeface="Times New Roman"/>
              </a:rPr>
              <a:t>calidad</a:t>
            </a:r>
            <a:r>
              <a:rPr lang="en-US" sz="2700" b="1" spc="-1" dirty="0">
                <a:solidFill>
                  <a:srgbClr val="FF0000"/>
                </a:solidFill>
                <a:effectLst>
                  <a:outerShdw blurRad="38100" dist="38100" dir="2700000" algn="tl">
                    <a:srgbClr val="000000">
                      <a:alpha val="43137"/>
                    </a:srgbClr>
                  </a:outerShdw>
                </a:effectLst>
                <a:latin typeface="Times New Roman"/>
              </a:rPr>
              <a:t>: la </a:t>
            </a:r>
            <a:r>
              <a:rPr lang="en-US" sz="2700" b="1" spc="-1" dirty="0" err="1">
                <a:solidFill>
                  <a:srgbClr val="FF0000"/>
                </a:solidFill>
                <a:effectLst>
                  <a:outerShdw blurRad="38100" dist="38100" dir="2700000" algn="tl">
                    <a:srgbClr val="000000">
                      <a:alpha val="43137"/>
                    </a:srgbClr>
                  </a:outerShdw>
                </a:effectLst>
                <a:latin typeface="Times New Roman"/>
              </a:rPr>
              <a:t>rueda</a:t>
            </a:r>
            <a:r>
              <a:rPr lang="en-US" sz="2700" b="1" spc="-1" dirty="0">
                <a:solidFill>
                  <a:srgbClr val="FF0000"/>
                </a:solidFill>
                <a:effectLst>
                  <a:outerShdw blurRad="38100" dist="38100" dir="2700000" algn="tl">
                    <a:srgbClr val="000000">
                      <a:alpha val="43137"/>
                    </a:srgbClr>
                  </a:outerShdw>
                </a:effectLst>
                <a:latin typeface="Times New Roman"/>
              </a:rPr>
              <a:t> del 6</a:t>
            </a:r>
            <a:r>
              <a:rPr lang="en-US" sz="2700" b="1" spc="-1" dirty="0">
                <a:solidFill>
                  <a:srgbClr val="FF0000"/>
                </a:solidFill>
                <a:effectLst>
                  <a:outerShdw blurRad="38100" dist="38100" dir="2700000" algn="tl">
                    <a:srgbClr val="000000">
                      <a:alpha val="43137"/>
                    </a:srgbClr>
                  </a:outerShdw>
                </a:effectLst>
                <a:latin typeface="Times New Roman"/>
                <a:ea typeface="Times New Roman"/>
              </a:rPr>
              <a:t>Sigma</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165" name="Six%20Sigma"/>
          <p:cNvPicPr/>
          <p:nvPr/>
        </p:nvPicPr>
        <p:blipFill>
          <a:blip r:embed="rId2"/>
          <a:stretch/>
        </p:blipFill>
        <p:spPr>
          <a:xfrm>
            <a:off x="2057490" y="685800"/>
            <a:ext cx="4730130" cy="4198230"/>
          </a:xfrm>
          <a:prstGeom prst="rect">
            <a:avLst/>
          </a:prstGeom>
          <a:ln w="0">
            <a:noFill/>
          </a:ln>
        </p:spPr>
      </p:pic>
      <p:sp>
        <p:nvSpPr>
          <p:cNvPr id="166" name="CustomShape 2"/>
          <p:cNvSpPr/>
          <p:nvPr/>
        </p:nvSpPr>
        <p:spPr>
          <a:xfrm>
            <a:off x="3601620" y="2171610"/>
            <a:ext cx="1722009" cy="486384"/>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latin typeface="Times New Roman"/>
              </a:rPr>
              <a:t>Sigma Seis</a:t>
            </a:r>
            <a:endParaRPr lang="en-US" sz="2700" spc="-1" dirty="0">
              <a:latin typeface="Times New Roman"/>
            </a:endParaRPr>
          </a:p>
        </p:txBody>
      </p:sp>
    </p:spTree>
    <p:extLst>
      <p:ext uri="{BB962C8B-B14F-4D97-AF65-F5344CB8AC3E}">
        <p14:creationId xmlns:p14="http://schemas.microsoft.com/office/powerpoint/2010/main" val="1879121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1142730" y="-270"/>
            <a:ext cx="674379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Mejora</a:t>
            </a:r>
            <a:r>
              <a:rPr lang="en-US" sz="2700" b="1" spc="-1" dirty="0">
                <a:solidFill>
                  <a:srgbClr val="FF0000"/>
                </a:solidFill>
                <a:effectLst>
                  <a:outerShdw blurRad="38100" dist="38100" dir="2700000" algn="tl">
                    <a:srgbClr val="000000">
                      <a:alpha val="43137"/>
                    </a:srgbClr>
                  </a:outerShdw>
                </a:effectLst>
                <a:latin typeface="Times New Roman"/>
              </a:rPr>
              <a:t> de la </a:t>
            </a:r>
            <a:r>
              <a:rPr lang="en-US" sz="2700" b="1" spc="-1" dirty="0" err="1">
                <a:solidFill>
                  <a:srgbClr val="FF0000"/>
                </a:solidFill>
                <a:effectLst>
                  <a:outerShdw blurRad="38100" dist="38100" dir="2700000" algn="tl">
                    <a:srgbClr val="000000">
                      <a:alpha val="43137"/>
                    </a:srgbClr>
                  </a:outerShdw>
                </a:effectLst>
                <a:latin typeface="Times New Roman"/>
              </a:rPr>
              <a:t>calidad</a:t>
            </a:r>
            <a:r>
              <a:rPr lang="en-US" sz="2700" b="1" spc="-1" dirty="0">
                <a:solidFill>
                  <a:srgbClr val="FF0000"/>
                </a:solidFill>
                <a:effectLst>
                  <a:outerShdw blurRad="38100" dist="38100" dir="2700000" algn="tl">
                    <a:srgbClr val="000000">
                      <a:alpha val="43137"/>
                    </a:srgbClr>
                  </a:outerShdw>
                </a:effectLst>
                <a:latin typeface="Times New Roman"/>
              </a:rPr>
              <a:t>: </a:t>
            </a:r>
            <a:r>
              <a:rPr lang="en-US" sz="2700" b="1" spc="-1" dirty="0" err="1">
                <a:solidFill>
                  <a:srgbClr val="FF0000"/>
                </a:solidFill>
                <a:effectLst>
                  <a:outerShdw blurRad="38100" dist="38100" dir="2700000" algn="tl">
                    <a:srgbClr val="000000">
                      <a:alpha val="43137"/>
                    </a:srgbClr>
                  </a:outerShdw>
                </a:effectLst>
                <a:latin typeface="Times New Roman"/>
              </a:rPr>
              <a:t>proceso</a:t>
            </a:r>
            <a:r>
              <a:rPr lang="en-US" sz="2700" b="1" spc="-1" dirty="0">
                <a:solidFill>
                  <a:srgbClr val="FF0000"/>
                </a:solidFill>
                <a:effectLst>
                  <a:outerShdw blurRad="38100" dist="38100" dir="2700000" algn="tl">
                    <a:srgbClr val="000000">
                      <a:alpha val="43137"/>
                    </a:srgbClr>
                  </a:outerShdw>
                </a:effectLst>
                <a:latin typeface="Times New Roman"/>
              </a:rPr>
              <a:t> Six Sigma</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68" name="CustomShape 2"/>
          <p:cNvSpPr/>
          <p:nvPr/>
        </p:nvSpPr>
        <p:spPr>
          <a:xfrm>
            <a:off x="1485900" y="914490"/>
            <a:ext cx="6229440" cy="394887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•Visualizar</a:t>
            </a:r>
            <a:r>
              <a:rPr lang="en-US" sz="1800" spc="-1">
                <a:latin typeface="Times New Roman"/>
                <a:ea typeface="Times New Roman"/>
              </a:rPr>
              <a:t>– Entender cómo funciona ahora e imaginar cómo funcionará en el futuro</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•Comprometerse</a:t>
            </a:r>
            <a:r>
              <a:rPr lang="en-US" sz="1800" spc="-1">
                <a:latin typeface="Times New Roman"/>
                <a:ea typeface="Times New Roman"/>
              </a:rPr>
              <a:t>– Obtener el compromiso de cambio de las partes interesadas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•Priorizar</a:t>
            </a:r>
            <a:r>
              <a:rPr lang="en-US" sz="1800" spc="-1">
                <a:latin typeface="Times New Roman"/>
                <a:ea typeface="Times New Roman"/>
              </a:rPr>
              <a:t>– Definir prioridades para mejoras incrementales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•Caracterizar</a:t>
            </a:r>
            <a:r>
              <a:rPr lang="en-US" sz="1800" spc="-1">
                <a:latin typeface="Times New Roman"/>
                <a:ea typeface="Times New Roman"/>
              </a:rPr>
              <a:t>– Definir el proceso existente y definir la progresión temporal para mejoras incrementales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•Mejorar</a:t>
            </a:r>
            <a:r>
              <a:rPr lang="en-US" sz="1800" spc="-1">
                <a:latin typeface="Times New Roman"/>
                <a:ea typeface="Times New Roman"/>
              </a:rPr>
              <a:t>– Diseñar e implementar mejoras identificadas</a:t>
            </a: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ea typeface="Times New Roman"/>
              </a:rPr>
              <a:t>•Lograr</a:t>
            </a:r>
            <a:r>
              <a:rPr lang="en-US" sz="1800" spc="-1">
                <a:latin typeface="Times New Roman"/>
                <a:ea typeface="Times New Roman"/>
              </a:rPr>
              <a:t>– Conseguir los resultados del cambio</a:t>
            </a:r>
            <a:endParaRPr lang="en-US" sz="1800" spc="-1">
              <a:latin typeface="Times New Roman"/>
            </a:endParaRPr>
          </a:p>
        </p:txBody>
      </p:sp>
    </p:spTree>
    <p:extLst>
      <p:ext uri="{BB962C8B-B14F-4D97-AF65-F5344CB8AC3E}">
        <p14:creationId xmlns:p14="http://schemas.microsoft.com/office/powerpoint/2010/main" val="1146931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Continuidad</a:t>
            </a:r>
            <a:r>
              <a:rPr lang="en-US" sz="2700" b="1" spc="-1" dirty="0">
                <a:solidFill>
                  <a:srgbClr val="FF0000"/>
                </a:solidFill>
                <a:effectLst>
                  <a:outerShdw blurRad="38100" dist="38100" dir="2700000" algn="tl">
                    <a:srgbClr val="000000">
                      <a:alpha val="43137"/>
                    </a:srgbClr>
                  </a:outerShdw>
                </a:effectLst>
                <a:latin typeface="Times New Roman"/>
              </a:rPr>
              <a:t> e </a:t>
            </a:r>
            <a:r>
              <a:rPr lang="en-US" sz="2700" b="1" spc="-1" dirty="0" err="1">
                <a:solidFill>
                  <a:srgbClr val="FF0000"/>
                </a:solidFill>
                <a:effectLst>
                  <a:outerShdw blurRad="38100" dist="38100" dir="2700000" algn="tl">
                    <a:srgbClr val="000000">
                      <a:alpha val="43137"/>
                    </a:srgbClr>
                  </a:outerShdw>
                </a:effectLst>
                <a:latin typeface="Times New Roman"/>
              </a:rPr>
              <a:t>independencia</a:t>
            </a:r>
            <a:r>
              <a:rPr lang="en-US" sz="2700" b="1" spc="-1" dirty="0">
                <a:solidFill>
                  <a:srgbClr val="FF0000"/>
                </a:solidFill>
                <a:effectLst>
                  <a:outerShdw blurRad="38100" dist="38100" dir="2700000" algn="tl">
                    <a:srgbClr val="000000">
                      <a:alpha val="43137"/>
                    </a:srgbClr>
                  </a:outerShdw>
                </a:effectLst>
                <a:latin typeface="Times New Roman"/>
              </a:rPr>
              <a:t> de SQA</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70" name="CustomShape 2"/>
          <p:cNvSpPr/>
          <p:nvPr/>
        </p:nvSpPr>
        <p:spPr>
          <a:xfrm>
            <a:off x="1409491" y="1116720"/>
            <a:ext cx="8818952" cy="3117874"/>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•El </a:t>
            </a:r>
            <a:r>
              <a:rPr lang="en-US" sz="1800" spc="-1" dirty="0" err="1">
                <a:latin typeface="Times New Roman"/>
                <a:ea typeface="Times New Roman"/>
              </a:rPr>
              <a:t>equipo</a:t>
            </a:r>
            <a:r>
              <a:rPr lang="en-US" sz="1800" spc="-1" dirty="0">
                <a:latin typeface="Times New Roman"/>
                <a:ea typeface="Times New Roman"/>
              </a:rPr>
              <a:t> de </a:t>
            </a:r>
            <a:r>
              <a:rPr lang="en-US" sz="1800" spc="-1" dirty="0" err="1">
                <a:latin typeface="Times New Roman"/>
                <a:ea typeface="Times New Roman"/>
              </a:rPr>
              <a:t>garantía</a:t>
            </a:r>
            <a:r>
              <a:rPr lang="en-US" sz="1800" spc="-1" dirty="0">
                <a:latin typeface="Times New Roman"/>
                <a:ea typeface="Times New Roman"/>
              </a:rPr>
              <a:t> de </a:t>
            </a:r>
            <a:r>
              <a:rPr lang="en-US" sz="1800" spc="-1" dirty="0" err="1">
                <a:latin typeface="Times New Roman"/>
                <a:ea typeface="Times New Roman"/>
              </a:rPr>
              <a:t>calidad</a:t>
            </a:r>
            <a:r>
              <a:rPr lang="en-US" sz="1800" spc="-1" dirty="0">
                <a:latin typeface="Times New Roman"/>
                <a:ea typeface="Times New Roman"/>
              </a:rPr>
              <a:t> del software </a:t>
            </a:r>
            <a:r>
              <a:rPr lang="en-US" sz="1800" spc="-1" dirty="0" err="1">
                <a:latin typeface="Times New Roman"/>
                <a:ea typeface="Times New Roman"/>
              </a:rPr>
              <a:t>debe</a:t>
            </a:r>
            <a:r>
              <a:rPr lang="en-US" sz="1800" spc="-1" dirty="0">
                <a:latin typeface="Times New Roman"/>
                <a:ea typeface="Times New Roman"/>
              </a:rPr>
              <a:t> ser </a:t>
            </a:r>
            <a:r>
              <a:rPr lang="en-US" sz="1800" spc="-1" dirty="0" err="1">
                <a:latin typeface="Times New Roman"/>
                <a:ea typeface="Times New Roman"/>
              </a:rPr>
              <a:t>independiente</a:t>
            </a:r>
            <a:r>
              <a:rPr lang="en-US" sz="1800" spc="-1" dirty="0">
                <a:latin typeface="Times New Roman"/>
                <a:ea typeface="Times New Roman"/>
              </a:rPr>
              <a:t> para</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 </a:t>
            </a:r>
            <a:r>
              <a:rPr lang="en-US" sz="1800" spc="-1" dirty="0" err="1">
                <a:latin typeface="Times New Roman"/>
                <a:ea typeface="Times New Roman"/>
              </a:rPr>
              <a:t>Adoptar</a:t>
            </a:r>
            <a:r>
              <a:rPr lang="en-US" sz="1800" spc="-1" dirty="0">
                <a:latin typeface="Times New Roman"/>
                <a:ea typeface="Times New Roman"/>
              </a:rPr>
              <a:t> </a:t>
            </a:r>
            <a:r>
              <a:rPr lang="en-US" sz="1800" spc="-1" dirty="0" err="1">
                <a:latin typeface="Times New Roman"/>
                <a:ea typeface="Times New Roman"/>
              </a:rPr>
              <a:t>una</a:t>
            </a:r>
            <a:r>
              <a:rPr lang="en-US" sz="1800" spc="-1" dirty="0">
                <a:latin typeface="Times New Roman"/>
                <a:ea typeface="Times New Roman"/>
              </a:rPr>
              <a:t> </a:t>
            </a:r>
            <a:r>
              <a:rPr lang="en-US" sz="1800" spc="-1" dirty="0" err="1">
                <a:latin typeface="Times New Roman"/>
                <a:ea typeface="Times New Roman"/>
              </a:rPr>
              <a:t>visión</a:t>
            </a:r>
            <a:r>
              <a:rPr lang="en-US" sz="1800" spc="-1" dirty="0">
                <a:latin typeface="Times New Roman"/>
                <a:ea typeface="Times New Roman"/>
              </a:rPr>
              <a:t> </a:t>
            </a:r>
            <a:r>
              <a:rPr lang="en-US" sz="1800" spc="-1" dirty="0" err="1">
                <a:latin typeface="Times New Roman"/>
                <a:ea typeface="Times New Roman"/>
              </a:rPr>
              <a:t>objetiva</a:t>
            </a:r>
            <a:r>
              <a:rPr lang="en-US" sz="1800" spc="-1" dirty="0">
                <a:latin typeface="Times New Roman"/>
                <a:ea typeface="Times New Roman"/>
              </a:rPr>
              <a:t> del </a:t>
            </a:r>
            <a:r>
              <a:rPr lang="en-US" sz="1800" spc="-1" dirty="0" err="1">
                <a:latin typeface="Times New Roman"/>
                <a:ea typeface="Times New Roman"/>
              </a:rPr>
              <a:t>proceso</a:t>
            </a:r>
            <a:r>
              <a:rPr lang="en-US" sz="1800" spc="-1" dirty="0">
                <a:latin typeface="Times New Roman"/>
                <a:ea typeface="Times New Roman"/>
              </a:rPr>
              <a:t> e </a:t>
            </a:r>
            <a:r>
              <a:rPr lang="en-US" sz="1800" spc="-1" dirty="0" err="1">
                <a:latin typeface="Times New Roman"/>
                <a:ea typeface="Times New Roman"/>
              </a:rPr>
              <a:t>informar</a:t>
            </a:r>
            <a:r>
              <a:rPr lang="en-US" sz="1800" spc="-1" dirty="0">
                <a:latin typeface="Times New Roman"/>
                <a:ea typeface="Times New Roman"/>
              </a:rPr>
              <a:t> </a:t>
            </a:r>
            <a:r>
              <a:rPr lang="en-US" sz="1800" spc="-1" dirty="0" err="1">
                <a:latin typeface="Times New Roman"/>
                <a:ea typeface="Times New Roman"/>
              </a:rPr>
              <a:t>los</a:t>
            </a:r>
            <a:r>
              <a:rPr lang="en-US" sz="1800" spc="-1" dirty="0">
                <a:latin typeface="Times New Roman"/>
                <a:ea typeface="Times New Roman"/>
              </a:rPr>
              <a:t> </a:t>
            </a:r>
            <a:r>
              <a:rPr lang="en-US" sz="1800" spc="-1" dirty="0" err="1">
                <a:latin typeface="Times New Roman"/>
                <a:ea typeface="Times New Roman"/>
              </a:rPr>
              <a:t>problemas</a:t>
            </a:r>
            <a:r>
              <a:rPr lang="en-US" sz="1800" spc="-1" dirty="0">
                <a:latin typeface="Times New Roman"/>
                <a:ea typeface="Times New Roman"/>
              </a:rPr>
              <a:t> a </a:t>
            </a:r>
            <a:r>
              <a:rPr lang="en-US" sz="1800" spc="-1" dirty="0" err="1">
                <a:latin typeface="Times New Roman"/>
                <a:ea typeface="Times New Roman"/>
              </a:rPr>
              <a:t>los</a:t>
            </a:r>
            <a:r>
              <a:rPr lang="en-US" sz="1800" spc="-1" dirty="0">
                <a:latin typeface="Times New Roman"/>
                <a:ea typeface="Times New Roman"/>
              </a:rPr>
              <a:t> </a:t>
            </a:r>
            <a:r>
              <a:rPr lang="en-US" sz="1800" spc="-1" dirty="0" err="1">
                <a:latin typeface="Times New Roman"/>
                <a:ea typeface="Times New Roman"/>
              </a:rPr>
              <a:t>superiores</a:t>
            </a:r>
            <a:r>
              <a:rPr lang="en-US" sz="1800" spc="-1" dirty="0">
                <a:latin typeface="Times New Roman"/>
                <a:ea typeface="Times New Roman"/>
              </a:rPr>
              <a:t>.</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err="1">
                <a:latin typeface="Times New Roman"/>
                <a:ea typeface="Times New Roman"/>
              </a:rPr>
              <a:t>gestión</a:t>
            </a:r>
            <a:r>
              <a:rPr lang="en-US" sz="1800" spc="-1" dirty="0">
                <a:latin typeface="Times New Roman"/>
                <a:ea typeface="Times New Roman"/>
              </a:rPr>
              <a:t> </a:t>
            </a:r>
            <a:r>
              <a:rPr lang="en-US" sz="1800" spc="-1" dirty="0" err="1">
                <a:latin typeface="Times New Roman"/>
                <a:ea typeface="Times New Roman"/>
              </a:rPr>
              <a:t>directa</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•Si </a:t>
            </a:r>
            <a:r>
              <a:rPr lang="en-US" sz="1800" spc="-1" dirty="0" err="1">
                <a:latin typeface="Times New Roman"/>
                <a:ea typeface="Times New Roman"/>
              </a:rPr>
              <a:t>el</a:t>
            </a:r>
            <a:r>
              <a:rPr lang="en-US" sz="1800" spc="-1" dirty="0">
                <a:latin typeface="Times New Roman"/>
                <a:ea typeface="Times New Roman"/>
              </a:rPr>
              <a:t> </a:t>
            </a:r>
            <a:r>
              <a:rPr lang="en-US" sz="1800" spc="-1" dirty="0" err="1">
                <a:latin typeface="Times New Roman"/>
                <a:ea typeface="Times New Roman"/>
              </a:rPr>
              <a:t>proceso</a:t>
            </a:r>
            <a:r>
              <a:rPr lang="en-US" sz="1800" spc="-1" dirty="0">
                <a:latin typeface="Times New Roman"/>
                <a:ea typeface="Times New Roman"/>
              </a:rPr>
              <a:t> </a:t>
            </a:r>
            <a:r>
              <a:rPr lang="en-US" sz="1800" spc="-1" dirty="0" err="1">
                <a:latin typeface="Times New Roman"/>
                <a:ea typeface="Times New Roman"/>
              </a:rPr>
              <a:t>prescrito</a:t>
            </a:r>
            <a:r>
              <a:rPr lang="en-US" sz="1800" spc="-1" dirty="0">
                <a:latin typeface="Times New Roman"/>
                <a:ea typeface="Times New Roman"/>
              </a:rPr>
              <a:t> no es </a:t>
            </a:r>
            <a:r>
              <a:rPr lang="en-US" sz="1800" spc="-1" dirty="0" err="1">
                <a:latin typeface="Times New Roman"/>
                <a:ea typeface="Times New Roman"/>
              </a:rPr>
              <a:t>apropiado</a:t>
            </a:r>
            <a:r>
              <a:rPr lang="en-US" sz="1800" spc="-1" dirty="0">
                <a:latin typeface="Times New Roman"/>
                <a:ea typeface="Times New Roman"/>
              </a:rPr>
              <a:t> para </a:t>
            </a:r>
            <a:r>
              <a:rPr lang="en-US" sz="1800" spc="-1" dirty="0" err="1">
                <a:latin typeface="Times New Roman"/>
                <a:ea typeface="Times New Roman"/>
              </a:rPr>
              <a:t>el</a:t>
            </a:r>
            <a:r>
              <a:rPr lang="en-US" sz="1800" spc="-1" dirty="0">
                <a:latin typeface="Times New Roman"/>
                <a:ea typeface="Times New Roman"/>
              </a:rPr>
              <a:t> </a:t>
            </a:r>
            <a:r>
              <a:rPr lang="en-US" sz="1800" spc="-1" dirty="0" err="1">
                <a:latin typeface="Times New Roman"/>
                <a:ea typeface="Times New Roman"/>
              </a:rPr>
              <a:t>tipo</a:t>
            </a:r>
            <a:r>
              <a:rPr lang="en-US" sz="1800" spc="-1" dirty="0">
                <a:latin typeface="Times New Roman"/>
                <a:ea typeface="Times New Roman"/>
              </a:rPr>
              <a:t> de software</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 </a:t>
            </a:r>
            <a:r>
              <a:rPr lang="en-US" sz="1800" spc="-1" dirty="0" err="1">
                <a:latin typeface="Times New Roman"/>
                <a:ea typeface="Times New Roman"/>
              </a:rPr>
              <a:t>producto</a:t>
            </a:r>
            <a:r>
              <a:rPr lang="en-US" sz="1800" spc="-1" dirty="0">
                <a:latin typeface="Times New Roman"/>
                <a:ea typeface="Times New Roman"/>
              </a:rPr>
              <a:t> que se </a:t>
            </a:r>
            <a:r>
              <a:rPr lang="en-US" sz="1800" spc="-1" dirty="0" err="1">
                <a:latin typeface="Times New Roman"/>
                <a:ea typeface="Times New Roman"/>
              </a:rPr>
              <a:t>está</a:t>
            </a:r>
            <a:r>
              <a:rPr lang="en-US" sz="1800" spc="-1" dirty="0">
                <a:latin typeface="Times New Roman"/>
                <a:ea typeface="Times New Roman"/>
              </a:rPr>
              <a:t> </a:t>
            </a:r>
            <a:r>
              <a:rPr lang="en-US" sz="1800" spc="-1" dirty="0" err="1">
                <a:latin typeface="Times New Roman"/>
                <a:ea typeface="Times New Roman"/>
              </a:rPr>
              <a:t>desarrollando</a:t>
            </a:r>
            <a:r>
              <a:rPr lang="en-US" sz="1800" spc="-1" dirty="0">
                <a:latin typeface="Times New Roman"/>
                <a:ea typeface="Times New Roman"/>
              </a:rPr>
              <a:t>, </a:t>
            </a:r>
            <a:r>
              <a:rPr lang="en-US" sz="1800" spc="-1" dirty="0" err="1">
                <a:latin typeface="Times New Roman"/>
                <a:ea typeface="Times New Roman"/>
              </a:rPr>
              <a:t>entonces</a:t>
            </a:r>
            <a:r>
              <a:rPr lang="en-US" sz="1800" spc="-1" dirty="0">
                <a:latin typeface="Times New Roman"/>
                <a:ea typeface="Times New Roman"/>
              </a:rPr>
              <a:t> </a:t>
            </a:r>
            <a:r>
              <a:rPr lang="en-US" sz="1800" spc="-1" dirty="0" err="1">
                <a:latin typeface="Times New Roman"/>
                <a:ea typeface="Times New Roman"/>
              </a:rPr>
              <a:t>debe</a:t>
            </a:r>
            <a:r>
              <a:rPr lang="en-US" sz="1800" spc="-1" dirty="0">
                <a:latin typeface="Times New Roman"/>
                <a:ea typeface="Times New Roman"/>
              </a:rPr>
              <a:t> ser </a:t>
            </a:r>
            <a:r>
              <a:rPr lang="en-US" sz="1800" spc="-1" dirty="0" err="1">
                <a:latin typeface="Times New Roman"/>
                <a:ea typeface="Times New Roman"/>
              </a:rPr>
              <a:t>adaptado</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•Los </a:t>
            </a:r>
            <a:r>
              <a:rPr lang="en-US" sz="1800" spc="-1" dirty="0" err="1">
                <a:latin typeface="Times New Roman"/>
                <a:ea typeface="Times New Roman"/>
              </a:rPr>
              <a:t>estándares</a:t>
            </a:r>
            <a:r>
              <a:rPr lang="en-US" sz="1800" spc="-1" dirty="0">
                <a:latin typeface="Times New Roman"/>
                <a:ea typeface="Times New Roman"/>
              </a:rPr>
              <a:t> </a:t>
            </a:r>
            <a:r>
              <a:rPr lang="en-US" sz="1800" spc="-1" dirty="0" err="1">
                <a:latin typeface="Times New Roman"/>
                <a:ea typeface="Times New Roman"/>
              </a:rPr>
              <a:t>deben</a:t>
            </a:r>
            <a:r>
              <a:rPr lang="en-US" sz="1800" spc="-1" dirty="0">
                <a:latin typeface="Times New Roman"/>
                <a:ea typeface="Times New Roman"/>
              </a:rPr>
              <a:t> </a:t>
            </a:r>
            <a:r>
              <a:rPr lang="en-US" sz="1800" spc="-1" dirty="0" err="1">
                <a:latin typeface="Times New Roman"/>
                <a:ea typeface="Times New Roman"/>
              </a:rPr>
              <a:t>mantenerse</a:t>
            </a:r>
            <a:r>
              <a:rPr lang="en-US" sz="1800" spc="-1" dirty="0">
                <a:latin typeface="Times New Roman"/>
                <a:ea typeface="Times New Roman"/>
              </a:rPr>
              <a:t> sin </a:t>
            </a:r>
            <a:r>
              <a:rPr lang="en-US" sz="1800" spc="-1" dirty="0" err="1">
                <a:latin typeface="Times New Roman"/>
                <a:ea typeface="Times New Roman"/>
              </a:rPr>
              <a:t>importar</a:t>
            </a:r>
            <a:r>
              <a:rPr lang="en-US" sz="1800" spc="-1" dirty="0">
                <a:latin typeface="Times New Roman"/>
                <a:ea typeface="Times New Roman"/>
              </a:rPr>
              <a:t> </a:t>
            </a:r>
            <a:r>
              <a:rPr lang="en-US" sz="1800" spc="-1" dirty="0" err="1">
                <a:latin typeface="Times New Roman"/>
                <a:ea typeface="Times New Roman"/>
              </a:rPr>
              <a:t>cuán</a:t>
            </a:r>
            <a:r>
              <a:rPr lang="en-US" sz="1800" spc="-1" dirty="0">
                <a:latin typeface="Times New Roman"/>
                <a:ea typeface="Times New Roman"/>
              </a:rPr>
              <a:t> </a:t>
            </a:r>
            <a:r>
              <a:rPr lang="en-US" sz="1800" spc="-1" dirty="0" err="1">
                <a:latin typeface="Times New Roman"/>
                <a:ea typeface="Times New Roman"/>
              </a:rPr>
              <a:t>pequeña</a:t>
            </a:r>
            <a:r>
              <a:rPr lang="en-US" sz="1800" spc="-1" dirty="0">
                <a:latin typeface="Times New Roman"/>
                <a:ea typeface="Times New Roman"/>
              </a:rPr>
              <a:t> sea la </a:t>
            </a:r>
            <a:r>
              <a:rPr lang="en-US" sz="1800" spc="-1" dirty="0" err="1">
                <a:latin typeface="Times New Roman"/>
                <a:ea typeface="Times New Roman"/>
              </a:rPr>
              <a:t>tarea</a:t>
            </a:r>
            <a:r>
              <a:rPr lang="en-US" sz="1800" spc="-1" dirty="0">
                <a:latin typeface="Times New Roman"/>
                <a:ea typeface="Times New Roman"/>
              </a:rPr>
              <a:t>.</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La </a:t>
            </a:r>
            <a:r>
              <a:rPr lang="en-US" sz="1800" spc="-1" dirty="0" err="1">
                <a:latin typeface="Times New Roman"/>
                <a:ea typeface="Times New Roman"/>
              </a:rPr>
              <a:t>creación</a:t>
            </a:r>
            <a:r>
              <a:rPr lang="en-US" sz="1800" spc="-1" dirty="0">
                <a:latin typeface="Times New Roman"/>
                <a:ea typeface="Times New Roman"/>
              </a:rPr>
              <a:t> de </a:t>
            </a:r>
            <a:r>
              <a:rPr lang="en-US" sz="1800" spc="-1" dirty="0" err="1">
                <a:latin typeface="Times New Roman"/>
                <a:ea typeface="Times New Roman"/>
              </a:rPr>
              <a:t>prototipos</a:t>
            </a:r>
            <a:r>
              <a:rPr lang="en-US" sz="1800" spc="-1" dirty="0">
                <a:latin typeface="Times New Roman"/>
                <a:ea typeface="Times New Roman"/>
              </a:rPr>
              <a:t> no </a:t>
            </a:r>
            <a:r>
              <a:rPr lang="en-US" sz="1800" spc="-1" dirty="0" err="1">
                <a:latin typeface="Times New Roman"/>
                <a:ea typeface="Times New Roman"/>
              </a:rPr>
              <a:t>significa</a:t>
            </a:r>
            <a:r>
              <a:rPr lang="en-US" sz="1800" spc="-1" dirty="0">
                <a:latin typeface="Times New Roman"/>
                <a:ea typeface="Times New Roman"/>
              </a:rPr>
              <a:t> que no </a:t>
            </a:r>
            <a:r>
              <a:rPr lang="en-US" sz="1800" spc="-1" dirty="0" err="1">
                <a:latin typeface="Times New Roman"/>
                <a:ea typeface="Times New Roman"/>
              </a:rPr>
              <a:t>haya</a:t>
            </a:r>
            <a:r>
              <a:rPr lang="en-US" sz="1800" spc="-1" dirty="0">
                <a:latin typeface="Times New Roman"/>
                <a:ea typeface="Times New Roman"/>
              </a:rPr>
              <a:t> </a:t>
            </a:r>
            <a:r>
              <a:rPr lang="en-US" sz="1800" spc="-1" dirty="0" err="1">
                <a:latin typeface="Times New Roman"/>
                <a:ea typeface="Times New Roman"/>
              </a:rPr>
              <a:t>estándares</a:t>
            </a:r>
            <a:r>
              <a:rPr lang="en-US" sz="1800" spc="-1" dirty="0">
                <a:latin typeface="Times New Roman"/>
                <a:ea typeface="Times New Roman"/>
              </a:rPr>
              <a:t>, </a:t>
            </a:r>
            <a:r>
              <a:rPr lang="en-US" sz="1800" spc="-1" dirty="0" err="1">
                <a:latin typeface="Times New Roman"/>
                <a:ea typeface="Times New Roman"/>
              </a:rPr>
              <a:t>sino</a:t>
            </a:r>
            <a:r>
              <a:rPr lang="en-US" sz="1800" spc="-1" dirty="0">
                <a:latin typeface="Times New Roman"/>
                <a:ea typeface="Times New Roman"/>
              </a:rPr>
              <a:t> </a:t>
            </a:r>
            <a:r>
              <a:rPr lang="en-US" sz="1800" spc="-1" dirty="0" err="1">
                <a:latin typeface="Times New Roman"/>
                <a:ea typeface="Times New Roman"/>
              </a:rPr>
              <a:t>estándares</a:t>
            </a:r>
            <a:r>
              <a:rPr lang="en-US" sz="1800" spc="-1" dirty="0">
                <a:latin typeface="Times New Roman"/>
                <a:ea typeface="Times New Roman"/>
              </a:rPr>
              <a:t> </a:t>
            </a:r>
            <a:r>
              <a:rPr lang="en-US" sz="1800" spc="-1" dirty="0" err="1">
                <a:latin typeface="Times New Roman"/>
                <a:ea typeface="Times New Roman"/>
              </a:rPr>
              <a:t>personalizados</a:t>
            </a:r>
            <a:r>
              <a:rPr lang="en-US" sz="1800" spc="-1" dirty="0">
                <a:latin typeface="Times New Roman"/>
                <a:ea typeface="Times New Roman"/>
              </a:rPr>
              <a:t>.</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•La </a:t>
            </a:r>
            <a:r>
              <a:rPr lang="en-US" sz="1800" spc="-1" dirty="0" err="1">
                <a:latin typeface="Times New Roman"/>
                <a:ea typeface="Times New Roman"/>
              </a:rPr>
              <a:t>calidad</a:t>
            </a:r>
            <a:r>
              <a:rPr lang="en-US" sz="1800" spc="-1" dirty="0">
                <a:latin typeface="Times New Roman"/>
                <a:ea typeface="Times New Roman"/>
              </a:rPr>
              <a:t> es </a:t>
            </a:r>
            <a:r>
              <a:rPr lang="en-US" sz="1800" b="1" u="sng" spc="-1" dirty="0">
                <a:latin typeface="Times New Roman"/>
                <a:ea typeface="Times New Roman"/>
              </a:rPr>
              <a:t>GRATIS</a:t>
            </a:r>
            <a:r>
              <a:rPr lang="en-US" sz="1800" spc="-1" dirty="0">
                <a:latin typeface="Times New Roman"/>
                <a:ea typeface="Times New Roman"/>
              </a:rPr>
              <a:t>, </a:t>
            </a:r>
            <a:r>
              <a:rPr lang="en-US" sz="1800" spc="-1" dirty="0" err="1">
                <a:latin typeface="Times New Roman"/>
                <a:ea typeface="Times New Roman"/>
              </a:rPr>
              <a:t>si</a:t>
            </a:r>
            <a:r>
              <a:rPr lang="en-US" sz="1800" spc="-1" dirty="0">
                <a:latin typeface="Times New Roman"/>
                <a:ea typeface="Times New Roman"/>
              </a:rPr>
              <a:t> es </a:t>
            </a:r>
            <a:r>
              <a:rPr lang="en-US" sz="1800" b="1" spc="-1" dirty="0" err="1">
                <a:latin typeface="Times New Roman"/>
                <a:ea typeface="Times New Roman"/>
              </a:rPr>
              <a:t>Responsabilidad</a:t>
            </a:r>
            <a:r>
              <a:rPr lang="en-US" sz="1800" b="1" spc="-1" dirty="0">
                <a:latin typeface="Times New Roman"/>
                <a:ea typeface="Times New Roman"/>
              </a:rPr>
              <a:t> de </a:t>
            </a:r>
            <a:r>
              <a:rPr lang="en-US" sz="1800" b="1" spc="-1" dirty="0" err="1">
                <a:latin typeface="Times New Roman"/>
                <a:ea typeface="Times New Roman"/>
              </a:rPr>
              <a:t>todos</a:t>
            </a:r>
            <a:r>
              <a:rPr lang="en-US" sz="1800" spc="-1" dirty="0">
                <a:latin typeface="Times New Roman"/>
                <a:ea typeface="Times New Roman"/>
              </a:rPr>
              <a:t>!</a:t>
            </a:r>
            <a:endParaRPr lang="en-US" sz="1800" spc="-1" dirty="0">
              <a:latin typeface="Times New Roman"/>
            </a:endParaRPr>
          </a:p>
        </p:txBody>
      </p:sp>
    </p:spTree>
    <p:extLst>
      <p:ext uri="{BB962C8B-B14F-4D97-AF65-F5344CB8AC3E}">
        <p14:creationId xmlns:p14="http://schemas.microsoft.com/office/powerpoint/2010/main" val="1306880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Planificación</a:t>
            </a:r>
            <a:r>
              <a:rPr lang="en-US" sz="3300" b="1" spc="-1" dirty="0">
                <a:solidFill>
                  <a:srgbClr val="FF0000"/>
                </a:solidFill>
                <a:effectLst>
                  <a:outerShdw blurRad="38100" dist="38100" dir="2700000" algn="tl">
                    <a:srgbClr val="000000">
                      <a:alpha val="43137"/>
                    </a:srgbClr>
                  </a:outerShdw>
                </a:effectLst>
                <a:latin typeface="Times New Roman"/>
              </a:rPr>
              <a:t> de la </a:t>
            </a:r>
            <a:r>
              <a:rPr lang="en-US" sz="3300" b="1" spc="-1" dirty="0" err="1">
                <a:solidFill>
                  <a:srgbClr val="FF0000"/>
                </a:solidFill>
                <a:effectLst>
                  <a:outerShdw blurRad="38100" dist="38100" dir="2700000" algn="tl">
                    <a:srgbClr val="000000">
                      <a:alpha val="43137"/>
                    </a:srgbClr>
                  </a:outerShdw>
                </a:effectLst>
                <a:latin typeface="Times New Roman"/>
              </a:rPr>
              <a:t>calidad</a:t>
            </a:r>
            <a:r>
              <a:rPr lang="en-US" sz="3300" b="1" spc="-1" dirty="0">
                <a:solidFill>
                  <a:srgbClr val="FF0000"/>
                </a:solidFill>
                <a:effectLst>
                  <a:outerShdw blurRad="38100" dist="38100" dir="2700000" algn="tl">
                    <a:srgbClr val="000000">
                      <a:alpha val="43137"/>
                    </a:srgbClr>
                  </a:outerShdw>
                </a:effectLst>
                <a:latin typeface="Times New Roman"/>
              </a:rPr>
              <a:t> del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172" name="TextShape 2"/>
          <p:cNvSpPr txBox="1"/>
          <p:nvPr/>
        </p:nvSpPr>
        <p:spPr>
          <a:xfrm>
            <a:off x="2171700" y="2914650"/>
            <a:ext cx="4800600" cy="1314360"/>
          </a:xfrm>
          <a:prstGeom prst="rect">
            <a:avLst/>
          </a:prstGeom>
          <a:noFill/>
          <a:ln w="0">
            <a:noFill/>
          </a:ln>
        </p:spPr>
        <p:txBody>
          <a:bodyPr lIns="67500" tIns="35100" rIns="67500" bIns="3510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400" spc="-1">
                <a:latin typeface="Times New Roman"/>
              </a:rPr>
              <a:t>Elemento II</a:t>
            </a:r>
          </a:p>
        </p:txBody>
      </p:sp>
    </p:spTree>
    <p:extLst>
      <p:ext uri="{BB962C8B-B14F-4D97-AF65-F5344CB8AC3E}">
        <p14:creationId xmlns:p14="http://schemas.microsoft.com/office/powerpoint/2010/main" val="3299445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Shape 1"/>
          <p:cNvSpPr txBox="1"/>
          <p:nvPr/>
        </p:nvSpPr>
        <p:spPr>
          <a:xfrm>
            <a:off x="1143000" y="0"/>
            <a:ext cx="6858000" cy="68580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Plan de </a:t>
            </a:r>
            <a:r>
              <a:rPr lang="en-US" sz="2700" b="1" spc="-1" dirty="0" err="1">
                <a:solidFill>
                  <a:srgbClr val="FF0000"/>
                </a:solidFill>
                <a:effectLst>
                  <a:outerShdw blurRad="38100" dist="38100" dir="2700000" algn="tl">
                    <a:srgbClr val="000000">
                      <a:alpha val="43137"/>
                    </a:srgbClr>
                  </a:outerShdw>
                </a:effectLst>
                <a:latin typeface="Times New Roman"/>
              </a:rPr>
              <a:t>calidad</a:t>
            </a:r>
            <a:r>
              <a:rPr lang="en-US" sz="2700" b="1" spc="-1" dirty="0">
                <a:solidFill>
                  <a:srgbClr val="FF0000"/>
                </a:solidFill>
                <a:effectLst>
                  <a:outerShdw blurRad="38100" dist="38100" dir="2700000" algn="tl">
                    <a:srgbClr val="000000">
                      <a:alpha val="43137"/>
                    </a:srgbClr>
                  </a:outerShdw>
                </a:effectLst>
                <a:latin typeface="Times New Roman"/>
              </a:rPr>
              <a:t> del software</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74" name="TextShape 2"/>
          <p:cNvSpPr txBox="1"/>
          <p:nvPr/>
        </p:nvSpPr>
        <p:spPr>
          <a:xfrm>
            <a:off x="1257210" y="571590"/>
            <a:ext cx="6572340" cy="4457700"/>
          </a:xfrm>
          <a:prstGeom prst="rect">
            <a:avLst/>
          </a:prstGeom>
          <a:noFill/>
          <a:ln w="0">
            <a:noFill/>
          </a:ln>
        </p:spPr>
        <p:txBody>
          <a:bodyPr lIns="67500" tIns="35100" rIns="67500" bIns="35100">
            <a:normAutofit lnSpcReduction="10000"/>
          </a:bodyPr>
          <a:lstStyle/>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err="1">
                <a:latin typeface="Times New Roman"/>
              </a:rPr>
              <a:t>Adecuación</a:t>
            </a:r>
            <a:r>
              <a:rPr lang="en-US" sz="1800" spc="-1" dirty="0">
                <a:latin typeface="Times New Roman"/>
              </a:rPr>
              <a:t>- SQP </a:t>
            </a:r>
            <a:r>
              <a:rPr lang="en-US" sz="1800" spc="-1" dirty="0" err="1">
                <a:latin typeface="Times New Roman"/>
              </a:rPr>
              <a:t>debe</a:t>
            </a:r>
            <a:r>
              <a:rPr lang="en-US" sz="1800" spc="-1" dirty="0">
                <a:latin typeface="Times New Roman"/>
              </a:rPr>
              <a:t> </a:t>
            </a:r>
            <a:r>
              <a:rPr lang="en-US" sz="1800" spc="-1" dirty="0" err="1">
                <a:latin typeface="Times New Roman"/>
              </a:rPr>
              <a:t>seleccionar</a:t>
            </a:r>
            <a:r>
              <a:rPr lang="en-US" sz="1800" spc="-1" dirty="0">
                <a:latin typeface="Times New Roman"/>
              </a:rPr>
              <a:t> </a:t>
            </a:r>
            <a:r>
              <a:rPr lang="en-US" sz="1800" spc="-1" dirty="0" err="1">
                <a:latin typeface="Times New Roman"/>
              </a:rPr>
              <a:t>aquellos</a:t>
            </a:r>
            <a:r>
              <a:rPr lang="en-US" sz="1800" spc="-1" dirty="0">
                <a:latin typeface="Times New Roman"/>
              </a:rPr>
              <a:t> </a:t>
            </a:r>
            <a:r>
              <a:rPr lang="en-US" sz="1800" spc="-1" dirty="0" err="1">
                <a:latin typeface="Times New Roman"/>
              </a:rPr>
              <a:t>estándares</a:t>
            </a:r>
            <a:r>
              <a:rPr lang="en-US" sz="1800" spc="-1" dirty="0">
                <a:latin typeface="Times New Roman"/>
              </a:rPr>
              <a:t> </a:t>
            </a:r>
            <a:r>
              <a:rPr lang="en-US" sz="1800" spc="-1" dirty="0" err="1">
                <a:latin typeface="Times New Roman"/>
              </a:rPr>
              <a:t>organizacionales</a:t>
            </a:r>
            <a:r>
              <a:rPr lang="en-US" sz="1800" spc="-1" dirty="0">
                <a:latin typeface="Times New Roman"/>
              </a:rPr>
              <a:t> que </a:t>
            </a:r>
            <a:r>
              <a:rPr lang="en-US" sz="1800" spc="-1" dirty="0" err="1">
                <a:latin typeface="Times New Roman"/>
              </a:rPr>
              <a:t>sean</a:t>
            </a:r>
            <a:r>
              <a:rPr lang="en-US" sz="1800" spc="-1" dirty="0">
                <a:latin typeface="Times New Roman"/>
              </a:rPr>
              <a:t> </a:t>
            </a:r>
            <a:r>
              <a:rPr lang="en-US" sz="1800" spc="-1" dirty="0" err="1">
                <a:latin typeface="Times New Roman"/>
              </a:rPr>
              <a:t>apropiados</a:t>
            </a:r>
            <a:r>
              <a:rPr lang="en-US" sz="1800" spc="-1" dirty="0">
                <a:latin typeface="Times New Roman"/>
              </a:rPr>
              <a:t> para un </a:t>
            </a:r>
            <a:r>
              <a:rPr lang="en-US" sz="1800" spc="-1" dirty="0" err="1">
                <a:latin typeface="Times New Roman"/>
              </a:rPr>
              <a:t>producto</a:t>
            </a:r>
            <a:r>
              <a:rPr lang="en-US" sz="1800" spc="-1" dirty="0">
                <a:latin typeface="Times New Roman"/>
              </a:rPr>
              <a:t> </a:t>
            </a:r>
            <a:r>
              <a:rPr lang="en-US" sz="1800" spc="-1" dirty="0" err="1">
                <a:latin typeface="Times New Roman"/>
              </a:rPr>
              <a:t>en</a:t>
            </a:r>
            <a:r>
              <a:rPr lang="en-US" sz="1800" spc="-1" dirty="0">
                <a:latin typeface="Times New Roman"/>
              </a:rPr>
              <a:t> particular</a:t>
            </a: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err="1">
                <a:latin typeface="Times New Roman"/>
              </a:rPr>
              <a:t>Normalización</a:t>
            </a:r>
            <a:r>
              <a:rPr lang="en-US" sz="1800" spc="-1" dirty="0">
                <a:latin typeface="Times New Roman"/>
              </a:rPr>
              <a:t>- SQP </a:t>
            </a:r>
            <a:r>
              <a:rPr lang="en-US" sz="1800" spc="-1" dirty="0" err="1">
                <a:latin typeface="Times New Roman"/>
              </a:rPr>
              <a:t>debe</a:t>
            </a:r>
            <a:r>
              <a:rPr lang="en-US" sz="1800" spc="-1" dirty="0">
                <a:latin typeface="Times New Roman"/>
              </a:rPr>
              <a:t> </a:t>
            </a:r>
            <a:r>
              <a:rPr lang="en-US" sz="1800" spc="-1" dirty="0" err="1">
                <a:latin typeface="Times New Roman"/>
              </a:rPr>
              <a:t>utilizar</a:t>
            </a:r>
            <a:r>
              <a:rPr lang="en-US" sz="1800" spc="-1" dirty="0">
                <a:latin typeface="Times New Roman"/>
              </a:rPr>
              <a:t> (</a:t>
            </a:r>
            <a:r>
              <a:rPr lang="en-US" sz="1800" spc="-1" dirty="0" err="1">
                <a:latin typeface="Times New Roman"/>
              </a:rPr>
              <a:t>enumerar</a:t>
            </a:r>
            <a:r>
              <a:rPr lang="en-US" sz="1800" spc="-1" dirty="0">
                <a:latin typeface="Times New Roman"/>
              </a:rPr>
              <a:t>) </a:t>
            </a:r>
            <a:r>
              <a:rPr lang="en-US" sz="1800" spc="-1" dirty="0" err="1">
                <a:latin typeface="Times New Roman"/>
              </a:rPr>
              <a:t>únicamente</a:t>
            </a:r>
            <a:r>
              <a:rPr lang="en-US" sz="1800" spc="-1" dirty="0">
                <a:latin typeface="Times New Roman"/>
              </a:rPr>
              <a:t> </a:t>
            </a:r>
            <a:r>
              <a:rPr lang="en-US" sz="1800" spc="-1" dirty="0" err="1">
                <a:latin typeface="Times New Roman"/>
              </a:rPr>
              <a:t>procesos</a:t>
            </a:r>
            <a:r>
              <a:rPr lang="en-US" sz="1800" spc="-1" dirty="0">
                <a:latin typeface="Times New Roman"/>
              </a:rPr>
              <a:t> </a:t>
            </a:r>
            <a:r>
              <a:rPr lang="en-US" sz="1800" spc="-1" dirty="0" err="1">
                <a:latin typeface="Times New Roman"/>
              </a:rPr>
              <a:t>organizacionales</a:t>
            </a:r>
            <a:r>
              <a:rPr lang="en-US" sz="1800" spc="-1" dirty="0">
                <a:latin typeface="Times New Roman"/>
              </a:rPr>
              <a:t> y </a:t>
            </a:r>
            <a:r>
              <a:rPr lang="en-US" sz="1800" spc="-1" dirty="0" err="1">
                <a:latin typeface="Times New Roman"/>
              </a:rPr>
              <a:t>estándares</a:t>
            </a:r>
            <a:r>
              <a:rPr lang="en-US" sz="1800" spc="-1" dirty="0">
                <a:latin typeface="Times New Roman"/>
              </a:rPr>
              <a:t> de </a:t>
            </a:r>
            <a:r>
              <a:rPr lang="en-US" sz="1800" spc="-1" dirty="0" err="1">
                <a:latin typeface="Times New Roman"/>
              </a:rPr>
              <a:t>productos</a:t>
            </a:r>
            <a:r>
              <a:rPr lang="en-US" sz="1800" spc="-1" dirty="0">
                <a:latin typeface="Times New Roman"/>
              </a:rPr>
              <a:t> </a:t>
            </a:r>
            <a:r>
              <a:rPr lang="en-US" sz="1800" spc="-1" dirty="0" err="1">
                <a:latin typeface="Times New Roman"/>
              </a:rPr>
              <a:t>aprobados</a:t>
            </a:r>
            <a:endParaRPr lang="en-US" sz="1800" spc="-1" dirty="0">
              <a:latin typeface="Times New Roman"/>
            </a:endParaRP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Si se </a:t>
            </a:r>
            <a:r>
              <a:rPr lang="en-US" sz="1800" spc="-1" dirty="0" err="1">
                <a:latin typeface="Times New Roman"/>
              </a:rPr>
              <a:t>requieren</a:t>
            </a:r>
            <a:r>
              <a:rPr lang="en-US" sz="1800" spc="-1" dirty="0">
                <a:latin typeface="Times New Roman"/>
              </a:rPr>
              <a:t> </a:t>
            </a:r>
            <a:r>
              <a:rPr lang="en-US" sz="1800" spc="-1" dirty="0" err="1">
                <a:latin typeface="Times New Roman"/>
              </a:rPr>
              <a:t>nuevos</a:t>
            </a:r>
            <a:r>
              <a:rPr lang="en-US" sz="1800" spc="-1" dirty="0">
                <a:latin typeface="Times New Roman"/>
              </a:rPr>
              <a:t> </a:t>
            </a:r>
            <a:r>
              <a:rPr lang="en-US" sz="1800" spc="-1" dirty="0" err="1">
                <a:latin typeface="Times New Roman"/>
              </a:rPr>
              <a:t>estándares</a:t>
            </a:r>
            <a:r>
              <a:rPr lang="en-US" sz="1800" spc="-1" dirty="0">
                <a:latin typeface="Times New Roman"/>
              </a:rPr>
              <a:t> se </a:t>
            </a:r>
            <a:r>
              <a:rPr lang="en-US" sz="1800" spc="-1" dirty="0" err="1">
                <a:latin typeface="Times New Roman"/>
              </a:rPr>
              <a:t>debe</a:t>
            </a:r>
            <a:r>
              <a:rPr lang="en-US" sz="1800" spc="-1" dirty="0">
                <a:latin typeface="Times New Roman"/>
              </a:rPr>
              <a:t> </a:t>
            </a:r>
            <a:r>
              <a:rPr lang="en-US" sz="1800" spc="-1" dirty="0" err="1">
                <a:latin typeface="Times New Roman"/>
              </a:rPr>
              <a:t>iniciar</a:t>
            </a:r>
            <a:r>
              <a:rPr lang="en-US" sz="1800" spc="-1" dirty="0">
                <a:latin typeface="Times New Roman"/>
              </a:rPr>
              <a:t> </a:t>
            </a:r>
            <a:r>
              <a:rPr lang="en-US" sz="1800" spc="-1" dirty="0" err="1">
                <a:latin typeface="Times New Roman"/>
              </a:rPr>
              <a:t>una</a:t>
            </a:r>
            <a:r>
              <a:rPr lang="en-US" sz="1800" spc="-1" dirty="0">
                <a:latin typeface="Times New Roman"/>
              </a:rPr>
              <a:t> </a:t>
            </a:r>
            <a:r>
              <a:rPr lang="en-US" sz="1800" spc="-1" dirty="0" err="1">
                <a:latin typeface="Times New Roman"/>
              </a:rPr>
              <a:t>mejora</a:t>
            </a:r>
            <a:r>
              <a:rPr lang="en-US" sz="1800" spc="-1" dirty="0">
                <a:latin typeface="Times New Roman"/>
              </a:rPr>
              <a:t> de la </a:t>
            </a:r>
            <a:r>
              <a:rPr lang="en-US" sz="1800" spc="-1" dirty="0" err="1">
                <a:latin typeface="Times New Roman"/>
              </a:rPr>
              <a:t>calidad</a:t>
            </a:r>
            <a:endParaRPr lang="en-US" sz="1800" spc="-1" dirty="0">
              <a:latin typeface="Times New Roman"/>
            </a:endParaRP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err="1">
                <a:latin typeface="Times New Roman"/>
              </a:rPr>
              <a:t>Elementos</a:t>
            </a:r>
            <a:r>
              <a:rPr lang="en-US" sz="1800" spc="-1" dirty="0">
                <a:latin typeface="Times New Roman"/>
              </a:rPr>
              <a:t>- Los </a:t>
            </a:r>
            <a:r>
              <a:rPr lang="en-US" sz="1800" spc="-1" dirty="0" err="1">
                <a:latin typeface="Times New Roman"/>
              </a:rPr>
              <a:t>elementos</a:t>
            </a:r>
            <a:r>
              <a:rPr lang="en-US" sz="1800" spc="-1" dirty="0">
                <a:latin typeface="Times New Roman"/>
              </a:rPr>
              <a:t> SQP </a:t>
            </a:r>
            <a:r>
              <a:rPr lang="en-US" sz="1800" spc="-1" dirty="0" err="1">
                <a:latin typeface="Times New Roman"/>
              </a:rPr>
              <a:t>generalmente</a:t>
            </a:r>
            <a:r>
              <a:rPr lang="en-US" sz="1800" spc="-1" dirty="0">
                <a:latin typeface="Times New Roman"/>
              </a:rPr>
              <a:t> se </a:t>
            </a:r>
            <a:r>
              <a:rPr lang="en-US" sz="1800" spc="-1" dirty="0" err="1">
                <a:latin typeface="Times New Roman"/>
              </a:rPr>
              <a:t>basan</a:t>
            </a:r>
            <a:r>
              <a:rPr lang="en-US" sz="1800" spc="-1" dirty="0">
                <a:latin typeface="Times New Roman"/>
              </a:rPr>
              <a:t> </a:t>
            </a:r>
            <a:r>
              <a:rPr lang="en-US" sz="1800" spc="-1" dirty="0" err="1">
                <a:latin typeface="Times New Roman"/>
              </a:rPr>
              <a:t>en</a:t>
            </a:r>
            <a:r>
              <a:rPr lang="en-US" sz="1800" spc="-1" dirty="0">
                <a:latin typeface="Times New Roman"/>
              </a:rPr>
              <a:t> </a:t>
            </a:r>
            <a:r>
              <a:rPr lang="en-US" sz="1800" spc="-1" dirty="0" err="1">
                <a:latin typeface="Times New Roman"/>
              </a:rPr>
              <a:t>los</a:t>
            </a:r>
            <a:r>
              <a:rPr lang="en-US" sz="1800" spc="-1" dirty="0">
                <a:latin typeface="Times New Roman"/>
              </a:rPr>
              <a:t> </a:t>
            </a:r>
            <a:r>
              <a:rPr lang="en-US" sz="1800" spc="-1" dirty="0" err="1">
                <a:latin typeface="Times New Roman"/>
              </a:rPr>
              <a:t>elementos</a:t>
            </a:r>
            <a:r>
              <a:rPr lang="en-US" sz="1800" spc="-1" dirty="0">
                <a:latin typeface="Times New Roman"/>
              </a:rPr>
              <a:t> del </a:t>
            </a:r>
            <a:r>
              <a:rPr lang="en-US" sz="1800" spc="-1" dirty="0" err="1">
                <a:latin typeface="Times New Roman"/>
              </a:rPr>
              <a:t>modelo</a:t>
            </a:r>
            <a:r>
              <a:rPr lang="en-US" sz="1800" spc="-1" dirty="0">
                <a:latin typeface="Times New Roman"/>
              </a:rPr>
              <a:t> ISO-9001</a:t>
            </a: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El SQP no </a:t>
            </a:r>
            <a:r>
              <a:rPr lang="en-US" sz="1800" spc="-1" dirty="0" err="1">
                <a:latin typeface="Times New Roman"/>
              </a:rPr>
              <a:t>está</a:t>
            </a:r>
            <a:r>
              <a:rPr lang="en-US" sz="1800" spc="-1" dirty="0">
                <a:latin typeface="Times New Roman"/>
              </a:rPr>
              <a:t> </a:t>
            </a:r>
            <a:r>
              <a:rPr lang="en-US" sz="1800" spc="-1" dirty="0" err="1">
                <a:latin typeface="Times New Roman"/>
              </a:rPr>
              <a:t>escrito</a:t>
            </a:r>
            <a:r>
              <a:rPr lang="en-US" sz="1800" spc="-1" dirty="0">
                <a:latin typeface="Times New Roman"/>
              </a:rPr>
              <a:t> para </a:t>
            </a:r>
            <a:r>
              <a:rPr lang="en-US" sz="1800" spc="-1" dirty="0" err="1">
                <a:latin typeface="Times New Roman"/>
              </a:rPr>
              <a:t>desarrolladores</a:t>
            </a:r>
            <a:r>
              <a:rPr lang="en-US" sz="1800" spc="-1" dirty="0">
                <a:latin typeface="Times New Roman"/>
              </a:rPr>
              <a:t> de software, </a:t>
            </a:r>
            <a:r>
              <a:rPr lang="en-US" sz="1800" spc="-1" dirty="0" err="1">
                <a:latin typeface="Times New Roman"/>
              </a:rPr>
              <a:t>sino</a:t>
            </a:r>
            <a:r>
              <a:rPr lang="en-US" sz="1800" spc="-1" dirty="0">
                <a:latin typeface="Times New Roman"/>
              </a:rPr>
              <a:t> para SQE </a:t>
            </a:r>
            <a:r>
              <a:rPr lang="en-US" sz="1800" spc="-1" dirty="0" err="1">
                <a:latin typeface="Times New Roman"/>
              </a:rPr>
              <a:t>como</a:t>
            </a:r>
            <a:r>
              <a:rPr lang="en-US" sz="1800" spc="-1" dirty="0">
                <a:latin typeface="Times New Roman"/>
              </a:rPr>
              <a:t> </a:t>
            </a:r>
            <a:r>
              <a:rPr lang="en-US" sz="1800" spc="-1" dirty="0" err="1">
                <a:latin typeface="Times New Roman"/>
              </a:rPr>
              <a:t>guía</a:t>
            </a:r>
            <a:r>
              <a:rPr lang="en-US" sz="1800" spc="-1" dirty="0">
                <a:latin typeface="Times New Roman"/>
              </a:rPr>
              <a:t> para SQC y para que </a:t>
            </a:r>
            <a:r>
              <a:rPr lang="en-US" sz="1800" spc="-1" dirty="0" err="1">
                <a:latin typeface="Times New Roman"/>
              </a:rPr>
              <a:t>el</a:t>
            </a:r>
            <a:r>
              <a:rPr lang="en-US" sz="1800" spc="-1" dirty="0">
                <a:latin typeface="Times New Roman"/>
              </a:rPr>
              <a:t> </a:t>
            </a:r>
            <a:r>
              <a:rPr lang="en-US" sz="1800" spc="-1" dirty="0" err="1">
                <a:latin typeface="Times New Roman"/>
              </a:rPr>
              <a:t>cliente</a:t>
            </a:r>
            <a:r>
              <a:rPr lang="en-US" sz="1800" spc="-1" dirty="0">
                <a:latin typeface="Times New Roman"/>
              </a:rPr>
              <a:t> </a:t>
            </a:r>
            <a:r>
              <a:rPr lang="en-US" sz="1800" spc="-1" dirty="0" err="1">
                <a:latin typeface="Times New Roman"/>
              </a:rPr>
              <a:t>controle</a:t>
            </a:r>
            <a:r>
              <a:rPr lang="en-US" sz="1800" spc="-1" dirty="0">
                <a:latin typeface="Times New Roman"/>
              </a:rPr>
              <a:t> las </a:t>
            </a:r>
            <a:r>
              <a:rPr lang="en-US" sz="1800" spc="-1" dirty="0" err="1">
                <a:latin typeface="Times New Roman"/>
              </a:rPr>
              <a:t>actividades</a:t>
            </a:r>
            <a:r>
              <a:rPr lang="en-US" sz="1800" spc="-1" dirty="0">
                <a:latin typeface="Times New Roman"/>
              </a:rPr>
              <a:t> de </a:t>
            </a:r>
            <a:r>
              <a:rPr lang="en-US" sz="1800" spc="-1" dirty="0" err="1">
                <a:latin typeface="Times New Roman"/>
              </a:rPr>
              <a:t>desarrollo</a:t>
            </a:r>
            <a:r>
              <a:rPr lang="en-US" sz="1800" spc="-1" dirty="0">
                <a:latin typeface="Times New Roman"/>
              </a:rPr>
              <a:t>.</a:t>
            </a: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err="1">
                <a:latin typeface="Times New Roman"/>
              </a:rPr>
              <a:t>Aspectos</a:t>
            </a:r>
            <a:r>
              <a:rPr lang="en-US" sz="1800" spc="-1" dirty="0">
                <a:latin typeface="Times New Roman"/>
              </a:rPr>
              <a:t> </a:t>
            </a:r>
            <a:r>
              <a:rPr lang="en-US" sz="1800" spc="-1" dirty="0" err="1">
                <a:latin typeface="Times New Roman"/>
              </a:rPr>
              <a:t>como</a:t>
            </a:r>
            <a:r>
              <a:rPr lang="en-US" sz="1800" spc="-1" dirty="0">
                <a:latin typeface="Times New Roman"/>
              </a:rPr>
              <a:t> la </a:t>
            </a:r>
            <a:r>
              <a:rPr lang="en-US" sz="1800" spc="-1" dirty="0" err="1">
                <a:latin typeface="Times New Roman"/>
              </a:rPr>
              <a:t>producción</a:t>
            </a:r>
            <a:r>
              <a:rPr lang="en-US" sz="1800" spc="-1" dirty="0">
                <a:latin typeface="Times New Roman"/>
              </a:rPr>
              <a:t> de software, </a:t>
            </a:r>
            <a:r>
              <a:rPr lang="en-US" sz="1800" spc="-1" dirty="0" err="1">
                <a:latin typeface="Times New Roman"/>
              </a:rPr>
              <a:t>los</a:t>
            </a:r>
            <a:r>
              <a:rPr lang="en-US" sz="1800" spc="-1" dirty="0">
                <a:latin typeface="Times New Roman"/>
              </a:rPr>
              <a:t> planes de </a:t>
            </a:r>
            <a:r>
              <a:rPr lang="en-US" sz="1800" spc="-1" dirty="0" err="1">
                <a:latin typeface="Times New Roman"/>
              </a:rPr>
              <a:t>productos</a:t>
            </a:r>
            <a:r>
              <a:rPr lang="en-US" sz="1800" spc="-1" dirty="0">
                <a:latin typeface="Times New Roman"/>
              </a:rPr>
              <a:t> de software y la </a:t>
            </a:r>
            <a:r>
              <a:rPr lang="en-US" sz="1800" spc="-1" dirty="0" err="1">
                <a:latin typeface="Times New Roman"/>
              </a:rPr>
              <a:t>gestión</a:t>
            </a:r>
            <a:r>
              <a:rPr lang="en-US" sz="1800" spc="-1" dirty="0">
                <a:latin typeface="Times New Roman"/>
              </a:rPr>
              <a:t> de </a:t>
            </a:r>
            <a:r>
              <a:rPr lang="en-US" sz="1800" spc="-1" dirty="0" err="1">
                <a:latin typeface="Times New Roman"/>
              </a:rPr>
              <a:t>riesgos</a:t>
            </a:r>
            <a:r>
              <a:rPr lang="en-US" sz="1800" spc="-1" dirty="0">
                <a:latin typeface="Times New Roman"/>
              </a:rPr>
              <a:t> </a:t>
            </a:r>
            <a:r>
              <a:rPr lang="en-US" sz="1800" spc="-1" dirty="0" err="1">
                <a:latin typeface="Times New Roman"/>
              </a:rPr>
              <a:t>deben</a:t>
            </a:r>
            <a:r>
              <a:rPr lang="en-US" sz="1800" spc="-1" dirty="0">
                <a:latin typeface="Times New Roman"/>
              </a:rPr>
              <a:t> </a:t>
            </a:r>
            <a:r>
              <a:rPr lang="en-US" sz="1800" spc="-1" dirty="0" err="1">
                <a:latin typeface="Times New Roman"/>
              </a:rPr>
              <a:t>definirse</a:t>
            </a:r>
            <a:r>
              <a:rPr lang="en-US" sz="1800" spc="-1" dirty="0">
                <a:latin typeface="Times New Roman"/>
              </a:rPr>
              <a:t> </a:t>
            </a:r>
            <a:r>
              <a:rPr lang="en-US" sz="1800" spc="-1" dirty="0" err="1">
                <a:latin typeface="Times New Roman"/>
              </a:rPr>
              <a:t>en</a:t>
            </a:r>
            <a:r>
              <a:rPr lang="en-US" sz="1800" spc="-1" dirty="0">
                <a:latin typeface="Times New Roman"/>
              </a:rPr>
              <a:t> SDP, IP</a:t>
            </a:r>
          </a:p>
          <a:p>
            <a:pPr marL="257040" indent="-257040">
              <a:lnSpc>
                <a:spcPct val="90000"/>
              </a:lnSpc>
              <a:spcBef>
                <a:spcPts val="449"/>
              </a:spcBef>
              <a:buFont typeface="Times New Roman"/>
              <a:buChar char="•"/>
              <a:tabLst>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No se </a:t>
            </a:r>
            <a:r>
              <a:rPr lang="en-US" sz="1800" spc="-1" dirty="0" err="1">
                <a:latin typeface="Times New Roman"/>
              </a:rPr>
              <a:t>deben</a:t>
            </a:r>
            <a:r>
              <a:rPr lang="en-US" sz="1800" spc="-1" dirty="0">
                <a:latin typeface="Times New Roman"/>
              </a:rPr>
              <a:t> </a:t>
            </a:r>
            <a:r>
              <a:rPr lang="en-US" sz="1800" spc="-1" dirty="0" err="1">
                <a:latin typeface="Times New Roman"/>
              </a:rPr>
              <a:t>sacrificar</a:t>
            </a:r>
            <a:r>
              <a:rPr lang="en-US" sz="1800" spc="-1" dirty="0">
                <a:latin typeface="Times New Roman"/>
              </a:rPr>
              <a:t> </a:t>
            </a:r>
            <a:r>
              <a:rPr lang="en-US" sz="1800" spc="-1" dirty="0" err="1">
                <a:latin typeface="Times New Roman"/>
              </a:rPr>
              <a:t>los</a:t>
            </a:r>
            <a:r>
              <a:rPr lang="en-US" sz="1800" spc="-1" dirty="0">
                <a:latin typeface="Times New Roman"/>
              </a:rPr>
              <a:t> </a:t>
            </a:r>
            <a:r>
              <a:rPr lang="en-US" sz="1800" spc="-1" dirty="0" err="1">
                <a:latin typeface="Times New Roman"/>
              </a:rPr>
              <a:t>factores</a:t>
            </a:r>
            <a:r>
              <a:rPr lang="en-US" sz="1800" spc="-1" dirty="0">
                <a:latin typeface="Times New Roman"/>
              </a:rPr>
              <a:t> de </a:t>
            </a:r>
            <a:r>
              <a:rPr lang="en-US" sz="1800" spc="-1" dirty="0" err="1">
                <a:latin typeface="Times New Roman"/>
              </a:rPr>
              <a:t>calidad</a:t>
            </a:r>
            <a:r>
              <a:rPr lang="en-US" sz="1800" spc="-1" dirty="0">
                <a:latin typeface="Times New Roman"/>
              </a:rPr>
              <a:t> para </a:t>
            </a:r>
            <a:r>
              <a:rPr lang="en-US" sz="1800" spc="-1" dirty="0" err="1">
                <a:latin typeface="Times New Roman"/>
              </a:rPr>
              <a:t>lograr</a:t>
            </a:r>
            <a:r>
              <a:rPr lang="en-US" sz="1800" spc="-1" dirty="0">
                <a:latin typeface="Times New Roman"/>
              </a:rPr>
              <a:t> la </a:t>
            </a:r>
            <a:r>
              <a:rPr lang="en-US" sz="1800" spc="-1" dirty="0" err="1">
                <a:latin typeface="Times New Roman"/>
              </a:rPr>
              <a:t>eficiencia</a:t>
            </a:r>
            <a:r>
              <a:rPr lang="en-US" sz="1800" spc="-1" dirty="0">
                <a:latin typeface="Times New Roman"/>
              </a:rPr>
              <a:t>. No </a:t>
            </a:r>
            <a:r>
              <a:rPr lang="en-US" sz="1800" spc="-1" dirty="0" err="1">
                <a:latin typeface="Times New Roman"/>
              </a:rPr>
              <a:t>acepte</a:t>
            </a:r>
            <a:r>
              <a:rPr lang="en-US" sz="1800" spc="-1" dirty="0">
                <a:latin typeface="Times New Roman"/>
              </a:rPr>
              <a:t> </a:t>
            </a:r>
            <a:r>
              <a:rPr lang="en-US" sz="1800" spc="-1" dirty="0" err="1">
                <a:latin typeface="Times New Roman"/>
              </a:rPr>
              <a:t>el</a:t>
            </a:r>
            <a:r>
              <a:rPr lang="en-US" sz="1800" spc="-1" dirty="0">
                <a:latin typeface="Times New Roman"/>
              </a:rPr>
              <a:t> </a:t>
            </a:r>
            <a:r>
              <a:rPr lang="en-US" sz="1800" spc="-1" dirty="0" err="1">
                <a:latin typeface="Times New Roman"/>
              </a:rPr>
              <a:t>trabajo</a:t>
            </a:r>
            <a:r>
              <a:rPr lang="en-US" sz="1800" spc="-1" dirty="0">
                <a:latin typeface="Times New Roman"/>
              </a:rPr>
              <a:t> </a:t>
            </a:r>
            <a:r>
              <a:rPr lang="en-US" sz="1800" spc="-1" dirty="0" err="1">
                <a:latin typeface="Times New Roman"/>
              </a:rPr>
              <a:t>si</a:t>
            </a:r>
            <a:r>
              <a:rPr lang="en-US" sz="1800" spc="-1" dirty="0">
                <a:latin typeface="Times New Roman"/>
              </a:rPr>
              <a:t> no </a:t>
            </a:r>
            <a:r>
              <a:rPr lang="en-US" sz="1800" spc="-1" dirty="0" err="1">
                <a:latin typeface="Times New Roman"/>
              </a:rPr>
              <a:t>puede</a:t>
            </a:r>
            <a:r>
              <a:rPr lang="en-US" sz="1800" spc="-1" dirty="0">
                <a:latin typeface="Times New Roman"/>
              </a:rPr>
              <a:t> </a:t>
            </a:r>
            <a:r>
              <a:rPr lang="en-US" sz="1800" spc="-1" dirty="0" err="1">
                <a:latin typeface="Times New Roman"/>
              </a:rPr>
              <a:t>mantener</a:t>
            </a:r>
            <a:r>
              <a:rPr lang="en-US" sz="1800" spc="-1" dirty="0">
                <a:latin typeface="Times New Roman"/>
              </a:rPr>
              <a:t> </a:t>
            </a:r>
            <a:r>
              <a:rPr lang="en-US" sz="1800" spc="-1" dirty="0" err="1">
                <a:latin typeface="Times New Roman"/>
              </a:rPr>
              <a:t>el</a:t>
            </a:r>
            <a:r>
              <a:rPr lang="en-US" sz="1800" spc="-1" dirty="0">
                <a:latin typeface="Times New Roman"/>
              </a:rPr>
              <a:t> </a:t>
            </a:r>
            <a:r>
              <a:rPr lang="en-US" sz="1800" spc="-1" dirty="0" err="1">
                <a:latin typeface="Times New Roman"/>
              </a:rPr>
              <a:t>proceso</a:t>
            </a:r>
            <a:r>
              <a:rPr lang="en-US" sz="1800" spc="-1" dirty="0">
                <a:latin typeface="Times New Roman"/>
              </a:rPr>
              <a:t> de </a:t>
            </a:r>
            <a:r>
              <a:rPr lang="en-US" sz="1800" spc="-1" dirty="0" err="1">
                <a:latin typeface="Times New Roman"/>
              </a:rPr>
              <a:t>calidad</a:t>
            </a:r>
            <a:r>
              <a:rPr lang="en-US" sz="1800" spc="-1" dirty="0">
                <a:latin typeface="Times New Roman"/>
              </a:rPr>
              <a:t>.</a:t>
            </a:r>
          </a:p>
        </p:txBody>
      </p:sp>
    </p:spTree>
    <p:extLst>
      <p:ext uri="{BB962C8B-B14F-4D97-AF65-F5344CB8AC3E}">
        <p14:creationId xmlns:p14="http://schemas.microsoft.com/office/powerpoint/2010/main" val="335862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a:solidFill>
                  <a:srgbClr val="FF0000"/>
                </a:solidFill>
                <a:effectLst>
                  <a:outerShdw blurRad="38100" dist="38100" dir="2700000" algn="tl">
                    <a:srgbClr val="000000">
                      <a:alpha val="43137"/>
                    </a:srgbClr>
                  </a:outerShdw>
                </a:effectLst>
                <a:latin typeface="Times New Roman"/>
              </a:rPr>
              <a:t>Control de </a:t>
            </a:r>
            <a:r>
              <a:rPr lang="en-US" sz="3300" b="1" spc="-1" dirty="0" err="1">
                <a:solidFill>
                  <a:srgbClr val="FF0000"/>
                </a:solidFill>
                <a:effectLst>
                  <a:outerShdw blurRad="38100" dist="38100" dir="2700000" algn="tl">
                    <a:srgbClr val="000000">
                      <a:alpha val="43137"/>
                    </a:srgbClr>
                  </a:outerShdw>
                </a:effectLst>
                <a:latin typeface="Times New Roman"/>
              </a:rPr>
              <a:t>calidad</a:t>
            </a:r>
            <a:r>
              <a:rPr lang="en-US" sz="3300" b="1" spc="-1" dirty="0">
                <a:solidFill>
                  <a:srgbClr val="FF0000"/>
                </a:solidFill>
                <a:effectLst>
                  <a:outerShdw blurRad="38100" dist="38100" dir="2700000" algn="tl">
                    <a:srgbClr val="000000">
                      <a:alpha val="43137"/>
                    </a:srgbClr>
                  </a:outerShdw>
                </a:effectLst>
                <a:latin typeface="Times New Roman"/>
              </a:rPr>
              <a:t> del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176" name="TextShape 2"/>
          <p:cNvSpPr txBox="1"/>
          <p:nvPr/>
        </p:nvSpPr>
        <p:spPr>
          <a:xfrm>
            <a:off x="2171700" y="2914650"/>
            <a:ext cx="4800600" cy="1314360"/>
          </a:xfrm>
          <a:prstGeom prst="rect">
            <a:avLst/>
          </a:prstGeom>
          <a:noFill/>
          <a:ln w="0">
            <a:noFill/>
          </a:ln>
        </p:spPr>
        <p:txBody>
          <a:bodyPr lIns="67500" tIns="35100" rIns="67500" bIns="3510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400" spc="-1">
                <a:latin typeface="Times New Roman"/>
              </a:rPr>
              <a:t>Elemento III</a:t>
            </a:r>
          </a:p>
        </p:txBody>
      </p:sp>
    </p:spTree>
    <p:extLst>
      <p:ext uri="{BB962C8B-B14F-4D97-AF65-F5344CB8AC3E}">
        <p14:creationId xmlns:p14="http://schemas.microsoft.com/office/powerpoint/2010/main" val="1970090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latin typeface="Times New Roman"/>
              </a:rPr>
              <a:t>Métodos</a:t>
            </a:r>
            <a:r>
              <a:rPr lang="en-US" sz="2700" b="1" spc="-1" dirty="0">
                <a:solidFill>
                  <a:srgbClr val="FF0000"/>
                </a:solidFill>
                <a:latin typeface="Times New Roman"/>
              </a:rPr>
              <a:t> de control de </a:t>
            </a:r>
            <a:r>
              <a:rPr lang="en-US" sz="2700" b="1" spc="-1" dirty="0" err="1">
                <a:solidFill>
                  <a:srgbClr val="FF0000"/>
                </a:solidFill>
                <a:latin typeface="Times New Roman"/>
              </a:rPr>
              <a:t>calidad</a:t>
            </a:r>
            <a:r>
              <a:rPr lang="en-US" sz="2700" b="1" spc="-1" dirty="0">
                <a:solidFill>
                  <a:srgbClr val="FF0000"/>
                </a:solidFill>
                <a:latin typeface="Times New Roman"/>
              </a:rPr>
              <a:t> del software</a:t>
            </a:r>
            <a:endParaRPr lang="en-US" sz="2700" spc="-1" dirty="0">
              <a:solidFill>
                <a:srgbClr val="FF0000"/>
              </a:solidFill>
              <a:latin typeface="Times New Roman"/>
            </a:endParaRPr>
          </a:p>
        </p:txBody>
      </p:sp>
      <p:sp>
        <p:nvSpPr>
          <p:cNvPr id="178" name="CustomShape 2"/>
          <p:cNvSpPr/>
          <p:nvPr/>
        </p:nvSpPr>
        <p:spPr>
          <a:xfrm>
            <a:off x="1143000" y="685800"/>
            <a:ext cx="6858000" cy="4456702"/>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b="1" spc="-1" dirty="0">
                <a:latin typeface="Times New Roman"/>
              </a:rPr>
              <a:t>SQC </a:t>
            </a:r>
            <a:r>
              <a:rPr lang="en-US" sz="1500" spc="-1" dirty="0" err="1">
                <a:latin typeface="Times New Roman"/>
              </a:rPr>
              <a:t>Implica</a:t>
            </a:r>
            <a:r>
              <a:rPr lang="en-US" sz="1500" spc="-1" dirty="0">
                <a:latin typeface="Times New Roman"/>
              </a:rPr>
              <a:t> </a:t>
            </a:r>
            <a:r>
              <a:rPr lang="en-US" sz="1500" spc="-1" dirty="0" err="1">
                <a:latin typeface="Times New Roman"/>
              </a:rPr>
              <a:t>supervisar</a:t>
            </a:r>
            <a:r>
              <a:rPr lang="en-US" sz="1500" spc="-1" dirty="0">
                <a:latin typeface="Times New Roman"/>
              </a:rPr>
              <a:t> </a:t>
            </a:r>
            <a:r>
              <a:rPr lang="en-US" sz="1500" spc="-1" dirty="0" err="1">
                <a:latin typeface="Times New Roman"/>
              </a:rPr>
              <a:t>el</a:t>
            </a:r>
            <a:r>
              <a:rPr lang="en-US" sz="1500" spc="-1" dirty="0">
                <a:latin typeface="Times New Roman"/>
              </a:rPr>
              <a:t> </a:t>
            </a:r>
            <a:r>
              <a:rPr lang="en-US" sz="1500" spc="-1" dirty="0" err="1">
                <a:latin typeface="Times New Roman"/>
              </a:rPr>
              <a:t>proceso</a:t>
            </a:r>
            <a:r>
              <a:rPr lang="en-US" sz="1500" spc="-1" dirty="0">
                <a:latin typeface="Times New Roman"/>
              </a:rPr>
              <a:t> de </a:t>
            </a:r>
            <a:r>
              <a:rPr lang="en-US" sz="1500" spc="-1" dirty="0" err="1">
                <a:latin typeface="Times New Roman"/>
              </a:rPr>
              <a:t>desarrollo</a:t>
            </a:r>
            <a:r>
              <a:rPr lang="en-US" sz="1500" spc="-1" dirty="0">
                <a:latin typeface="Times New Roman"/>
              </a:rPr>
              <a:t> de software para </a:t>
            </a:r>
            <a:r>
              <a:rPr lang="en-US" sz="1500" spc="-1" dirty="0" err="1">
                <a:latin typeface="Times New Roman"/>
              </a:rPr>
              <a:t>garantizar</a:t>
            </a:r>
            <a:r>
              <a:rPr lang="en-US" sz="1500" spc="-1" dirty="0">
                <a:latin typeface="Times New Roman"/>
              </a:rPr>
              <a:t> que</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Se </a:t>
            </a:r>
            <a:r>
              <a:rPr lang="en-US" sz="1500" spc="-1" dirty="0" err="1">
                <a:latin typeface="Times New Roman"/>
              </a:rPr>
              <a:t>están</a:t>
            </a:r>
            <a:r>
              <a:rPr lang="en-US" sz="1500" spc="-1" dirty="0">
                <a:latin typeface="Times New Roman"/>
              </a:rPr>
              <a:t> </a:t>
            </a:r>
            <a:r>
              <a:rPr lang="en-US" sz="1500" spc="-1" dirty="0" err="1">
                <a:latin typeface="Times New Roman"/>
              </a:rPr>
              <a:t>siguiendo</a:t>
            </a:r>
            <a:r>
              <a:rPr lang="en-US" sz="1500" spc="-1" dirty="0">
                <a:latin typeface="Times New Roman"/>
              </a:rPr>
              <a:t> </a:t>
            </a:r>
            <a:r>
              <a:rPr lang="en-US" sz="1500" spc="-1" dirty="0" err="1">
                <a:latin typeface="Times New Roman"/>
              </a:rPr>
              <a:t>los</a:t>
            </a:r>
            <a:r>
              <a:rPr lang="en-US" sz="1500" spc="-1" dirty="0">
                <a:latin typeface="Times New Roman"/>
              </a:rPr>
              <a:t> </a:t>
            </a:r>
            <a:r>
              <a:rPr lang="en-US" sz="1500" spc="-1" dirty="0" err="1">
                <a:latin typeface="Times New Roman"/>
              </a:rPr>
              <a:t>procedimientos</a:t>
            </a:r>
            <a:r>
              <a:rPr lang="en-US" sz="1500" spc="-1" dirty="0">
                <a:latin typeface="Times New Roman"/>
              </a:rPr>
              <a:t> y las ETS</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Las </a:t>
            </a:r>
            <a:r>
              <a:rPr lang="en-US" sz="1500" spc="-1" dirty="0" err="1">
                <a:latin typeface="Times New Roman"/>
              </a:rPr>
              <a:t>siguientes</a:t>
            </a:r>
            <a:r>
              <a:rPr lang="en-US" sz="1500" spc="-1" dirty="0">
                <a:latin typeface="Times New Roman"/>
              </a:rPr>
              <a:t> </a:t>
            </a:r>
            <a:r>
              <a:rPr lang="en-US" sz="1500" spc="-1" dirty="0" err="1">
                <a:latin typeface="Times New Roman"/>
              </a:rPr>
              <a:t>actividades</a:t>
            </a:r>
            <a:r>
              <a:rPr lang="en-US" sz="1500" spc="-1" dirty="0">
                <a:latin typeface="Times New Roman"/>
              </a:rPr>
              <a:t> </a:t>
            </a:r>
            <a:r>
              <a:rPr lang="en-US" sz="1500" spc="-1" dirty="0" err="1">
                <a:latin typeface="Times New Roman"/>
              </a:rPr>
              <a:t>constituyen</a:t>
            </a:r>
            <a:r>
              <a:rPr lang="en-US" sz="1500" spc="-1" dirty="0">
                <a:latin typeface="Times New Roman"/>
              </a:rPr>
              <a:t> SQC:</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a:t>
            </a:r>
            <a:r>
              <a:rPr lang="en-US" sz="1500" b="1" spc="-1" dirty="0" err="1">
                <a:latin typeface="Times New Roman"/>
              </a:rPr>
              <a:t>Revisión</a:t>
            </a:r>
            <a:r>
              <a:rPr lang="en-US" sz="1500" b="1" spc="-1" dirty="0">
                <a:latin typeface="Times New Roman"/>
              </a:rPr>
              <a:t> de </a:t>
            </a:r>
            <a:r>
              <a:rPr lang="en-US" sz="1500" b="1" spc="-1" dirty="0" err="1">
                <a:latin typeface="Times New Roman"/>
              </a:rPr>
              <a:t>calidad</a:t>
            </a:r>
            <a:r>
              <a:rPr lang="en-US" sz="1500" spc="-1" dirty="0">
                <a:latin typeface="Times New Roman"/>
              </a:rPr>
              <a:t>- </a:t>
            </a:r>
            <a:r>
              <a:rPr lang="en-US" sz="1500" spc="-1" dirty="0" err="1">
                <a:latin typeface="Times New Roman"/>
              </a:rPr>
              <a:t>revisiones</a:t>
            </a:r>
            <a:r>
              <a:rPr lang="en-US" sz="1500" spc="-1" dirty="0">
                <a:latin typeface="Times New Roman"/>
              </a:rPr>
              <a:t> </a:t>
            </a:r>
            <a:r>
              <a:rPr lang="en-US" sz="1500" spc="-1" dirty="0" err="1">
                <a:latin typeface="Times New Roman"/>
              </a:rPr>
              <a:t>en</a:t>
            </a:r>
            <a:r>
              <a:rPr lang="en-US" sz="1500" spc="-1" dirty="0">
                <a:latin typeface="Times New Roman"/>
              </a:rPr>
              <a:t> </a:t>
            </a:r>
            <a:r>
              <a:rPr lang="en-US" sz="1500" spc="-1" dirty="0" err="1">
                <a:latin typeface="Times New Roman"/>
              </a:rPr>
              <a:t>proceso</a:t>
            </a:r>
            <a:r>
              <a:rPr lang="en-US" sz="1500" spc="-1" dirty="0">
                <a:latin typeface="Times New Roman"/>
              </a:rPr>
              <a:t> de </a:t>
            </a:r>
            <a:r>
              <a:rPr lang="en-US" sz="1500" spc="-1" dirty="0" err="1">
                <a:latin typeface="Times New Roman"/>
              </a:rPr>
              <a:t>procesos</a:t>
            </a:r>
            <a:r>
              <a:rPr lang="en-US" sz="1500" spc="-1" dirty="0">
                <a:latin typeface="Times New Roman"/>
              </a:rPr>
              <a:t> y </a:t>
            </a:r>
            <a:r>
              <a:rPr lang="en-US" sz="1500" spc="-1" dirty="0" err="1">
                <a:latin typeface="Times New Roman"/>
              </a:rPr>
              <a:t>productos</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b="1" spc="-1" dirty="0" err="1">
                <a:latin typeface="Times New Roman"/>
              </a:rPr>
              <a:t>Revisión</a:t>
            </a:r>
            <a:r>
              <a:rPr lang="en-US" sz="1500" b="1" spc="-1" dirty="0">
                <a:latin typeface="Times New Roman"/>
              </a:rPr>
              <a:t> </a:t>
            </a:r>
            <a:r>
              <a:rPr lang="en-US" sz="1500" spc="-1" dirty="0">
                <a:latin typeface="Times New Roman"/>
              </a:rPr>
              <a:t>son </a:t>
            </a:r>
            <a:r>
              <a:rPr lang="en-US" sz="1500" spc="-1" dirty="0" err="1">
                <a:latin typeface="Times New Roman"/>
              </a:rPr>
              <a:t>los</a:t>
            </a:r>
            <a:r>
              <a:rPr lang="en-US" sz="1500" spc="-1" dirty="0">
                <a:latin typeface="Times New Roman"/>
              </a:rPr>
              <a:t> </a:t>
            </a:r>
            <a:r>
              <a:rPr lang="en-US" sz="1500" b="1" spc="-1" dirty="0" err="1">
                <a:latin typeface="Times New Roman"/>
              </a:rPr>
              <a:t>métodos</a:t>
            </a:r>
            <a:r>
              <a:rPr lang="en-US" sz="1500" b="1" spc="-1" dirty="0">
                <a:latin typeface="Times New Roman"/>
              </a:rPr>
              <a:t> </a:t>
            </a:r>
            <a:r>
              <a:rPr lang="en-US" sz="1500" b="1" spc="-1" dirty="0" err="1">
                <a:latin typeface="Times New Roman"/>
              </a:rPr>
              <a:t>más</a:t>
            </a:r>
            <a:r>
              <a:rPr lang="en-US" sz="1500" b="1" spc="-1" dirty="0">
                <a:latin typeface="Times New Roman"/>
              </a:rPr>
              <a:t> </a:t>
            </a:r>
            <a:r>
              <a:rPr lang="en-US" sz="1500" b="1" spc="-1" dirty="0" err="1">
                <a:latin typeface="Times New Roman"/>
              </a:rPr>
              <a:t>utilizados</a:t>
            </a:r>
            <a:r>
              <a:rPr lang="en-US" sz="1500" b="1" spc="-1" dirty="0">
                <a:latin typeface="Times New Roman"/>
              </a:rPr>
              <a:t> </a:t>
            </a:r>
            <a:r>
              <a:rPr lang="en-US" sz="1500" spc="-1" dirty="0">
                <a:latin typeface="Times New Roman"/>
              </a:rPr>
              <a:t>de </a:t>
            </a:r>
            <a:r>
              <a:rPr lang="en-US" sz="1500" b="1" spc="-1" dirty="0" err="1">
                <a:latin typeface="Times New Roman"/>
              </a:rPr>
              <a:t>validación</a:t>
            </a:r>
            <a:r>
              <a:rPr lang="en-US" sz="1500" b="1" spc="-1" dirty="0">
                <a:latin typeface="Times New Roman"/>
              </a:rPr>
              <a:t>. </a:t>
            </a:r>
            <a:r>
              <a:rPr lang="en-US" sz="1500" spc="-1" dirty="0">
                <a:latin typeface="Times New Roman"/>
              </a:rPr>
              <a:t>La </a:t>
            </a:r>
            <a:r>
              <a:rPr lang="en-US" sz="1500" spc="-1" dirty="0" err="1">
                <a:latin typeface="Times New Roman"/>
              </a:rPr>
              <a:t>calidad</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procesos</a:t>
            </a:r>
            <a:r>
              <a:rPr lang="en-US" sz="1500" spc="-1" dirty="0">
                <a:latin typeface="Times New Roman"/>
              </a:rPr>
              <a:t> y </a:t>
            </a:r>
            <a:r>
              <a:rPr lang="en-US" sz="1500" spc="-1" dirty="0" err="1">
                <a:latin typeface="Times New Roman"/>
              </a:rPr>
              <a:t>productos</a:t>
            </a:r>
            <a:r>
              <a:rPr lang="en-US" sz="1500" spc="-1" dirty="0">
                <a:latin typeface="Times New Roman"/>
              </a:rPr>
              <a:t>. Las revision </a:t>
            </a:r>
            <a:r>
              <a:rPr lang="en-US" sz="1500" spc="-1" dirty="0" err="1">
                <a:latin typeface="Times New Roman"/>
              </a:rPr>
              <a:t>hace</a:t>
            </a:r>
            <a:r>
              <a:rPr lang="en-US" sz="1500" spc="-1" dirty="0">
                <a:latin typeface="Times New Roman"/>
              </a:rPr>
              <a:t> que </a:t>
            </a:r>
            <a:r>
              <a:rPr lang="en-US" sz="1500" spc="-1" dirty="0" err="1">
                <a:latin typeface="Times New Roman"/>
              </a:rPr>
              <a:t>c</a:t>
            </a:r>
            <a:r>
              <a:rPr lang="en-US" sz="1500" b="1" spc="-1" dirty="0" err="1">
                <a:latin typeface="Times New Roman"/>
              </a:rPr>
              <a:t>alidad</a:t>
            </a:r>
            <a:r>
              <a:rPr lang="en-US" sz="1500" spc="-1" dirty="0">
                <a:latin typeface="Times New Roman"/>
              </a:rPr>
              <a:t> es </a:t>
            </a:r>
            <a:r>
              <a:rPr lang="en-US" sz="1500" b="1" spc="-1" dirty="0" err="1">
                <a:latin typeface="Times New Roman"/>
              </a:rPr>
              <a:t>responsabilidad</a:t>
            </a:r>
            <a:r>
              <a:rPr lang="en-US" sz="1500" b="1" spc="-1" dirty="0">
                <a:latin typeface="Times New Roman"/>
              </a:rPr>
              <a:t> de </a:t>
            </a:r>
            <a:r>
              <a:rPr lang="en-US" sz="1500" b="1" spc="-1" dirty="0" err="1">
                <a:latin typeface="Times New Roman"/>
              </a:rPr>
              <a:t>todos</a:t>
            </a:r>
            <a:r>
              <a:rPr lang="en-US" sz="1500" spc="-1" dirty="0" err="1">
                <a:latin typeface="Times New Roman"/>
              </a:rPr>
              <a:t>.</a:t>
            </a:r>
            <a:r>
              <a:rPr lang="en-US" sz="1500" b="1" spc="-1" dirty="0" err="1">
                <a:latin typeface="Times New Roman"/>
              </a:rPr>
              <a:t>Calidad</a:t>
            </a:r>
            <a:r>
              <a:rPr lang="en-US" sz="1500" b="1" spc="-1" dirty="0">
                <a:latin typeface="Times New Roman"/>
              </a:rPr>
              <a:t> </a:t>
            </a:r>
            <a:r>
              <a:rPr lang="en-US" sz="1500" spc="-1" dirty="0" err="1">
                <a:latin typeface="Times New Roman"/>
              </a:rPr>
              <a:t>debe</a:t>
            </a:r>
            <a:r>
              <a:rPr lang="en-US" sz="1500" spc="-1" dirty="0">
                <a:latin typeface="Times New Roman"/>
              </a:rPr>
              <a:t> ser </a:t>
            </a:r>
            <a:r>
              <a:rPr lang="en-US" sz="1500" b="1" spc="-1" dirty="0" err="1">
                <a:latin typeface="Times New Roman"/>
              </a:rPr>
              <a:t>incorporado.</a:t>
            </a:r>
            <a:r>
              <a:rPr lang="en-US" sz="1500" spc="-1" dirty="0" err="1">
                <a:latin typeface="Times New Roman"/>
              </a:rPr>
              <a:t>SQE</a:t>
            </a:r>
            <a:r>
              <a:rPr lang="en-US" sz="1500" spc="-1" dirty="0">
                <a:latin typeface="Times New Roman"/>
              </a:rPr>
              <a:t> es </a:t>
            </a:r>
            <a:r>
              <a:rPr lang="en-US" sz="1500" spc="-1" dirty="0" err="1">
                <a:latin typeface="Times New Roman"/>
              </a:rPr>
              <a:t>responsable</a:t>
            </a:r>
            <a:r>
              <a:rPr lang="en-US" sz="1500" spc="-1" dirty="0">
                <a:latin typeface="Times New Roman"/>
              </a:rPr>
              <a:t> de </a:t>
            </a:r>
            <a:r>
              <a:rPr lang="en-US" sz="1500" spc="-1" dirty="0" err="1">
                <a:latin typeface="Times New Roman"/>
              </a:rPr>
              <a:t>redactar</a:t>
            </a:r>
            <a:r>
              <a:rPr lang="en-US" sz="1500" spc="-1" dirty="0">
                <a:latin typeface="Times New Roman"/>
              </a:rPr>
              <a:t> </a:t>
            </a:r>
            <a:r>
              <a:rPr lang="en-US" sz="1500" spc="-1" dirty="0" err="1">
                <a:latin typeface="Times New Roman"/>
              </a:rPr>
              <a:t>registros</a:t>
            </a:r>
            <a:r>
              <a:rPr lang="en-US" sz="1500" spc="-1" dirty="0">
                <a:latin typeface="Times New Roman"/>
              </a:rPr>
              <a:t> de </a:t>
            </a:r>
            <a:r>
              <a:rPr lang="en-US" sz="1500" spc="-1" dirty="0" err="1">
                <a:latin typeface="Times New Roman"/>
              </a:rPr>
              <a:t>ingeniería</a:t>
            </a:r>
            <a:r>
              <a:rPr lang="en-US" sz="1500" spc="-1" dirty="0">
                <a:latin typeface="Times New Roman"/>
              </a:rPr>
              <a:t> de </a:t>
            </a:r>
            <a:r>
              <a:rPr lang="en-US" sz="1500" spc="-1" dirty="0" err="1">
                <a:latin typeface="Times New Roman"/>
              </a:rPr>
              <a:t>calidad</a:t>
            </a:r>
            <a:r>
              <a:rPr lang="en-US" sz="1500" spc="-1" dirty="0">
                <a:latin typeface="Times New Roman"/>
              </a:rPr>
              <a:t> (QER) que </a:t>
            </a:r>
            <a:r>
              <a:rPr lang="en-US" sz="1500" spc="-1" dirty="0" err="1">
                <a:latin typeface="Times New Roman"/>
              </a:rPr>
              <a:t>documenten</a:t>
            </a:r>
            <a:r>
              <a:rPr lang="en-US" sz="1500" spc="-1" dirty="0">
                <a:latin typeface="Times New Roman"/>
              </a:rPr>
              <a:t> </a:t>
            </a:r>
            <a:r>
              <a:rPr lang="en-US" sz="1500" spc="-1" dirty="0" err="1">
                <a:latin typeface="Times New Roman"/>
              </a:rPr>
              <a:t>su</a:t>
            </a:r>
            <a:r>
              <a:rPr lang="en-US" sz="1500" spc="-1" dirty="0">
                <a:latin typeface="Times New Roman"/>
              </a:rPr>
              <a:t> </a:t>
            </a:r>
            <a:r>
              <a:rPr lang="en-US" sz="1500" spc="-1" dirty="0" err="1">
                <a:latin typeface="Times New Roman"/>
              </a:rPr>
              <a:t>participación</a:t>
            </a:r>
            <a:r>
              <a:rPr lang="en-US" sz="1500" spc="-1" dirty="0">
                <a:latin typeface="Times New Roman"/>
              </a:rPr>
              <a:t> </a:t>
            </a:r>
            <a:r>
              <a:rPr lang="en-US" sz="1500" spc="-1" dirty="0" err="1">
                <a:latin typeface="Times New Roman"/>
              </a:rPr>
              <a:t>en</a:t>
            </a:r>
            <a:r>
              <a:rPr lang="en-US" sz="1500" spc="-1" dirty="0">
                <a:latin typeface="Times New Roman"/>
              </a:rPr>
              <a:t> </a:t>
            </a:r>
            <a:r>
              <a:rPr lang="en-US" sz="1500" spc="-1" dirty="0" err="1">
                <a:latin typeface="Times New Roman"/>
              </a:rPr>
              <a:t>estas</a:t>
            </a:r>
            <a:r>
              <a:rPr lang="en-US" sz="1500" spc="-1" dirty="0">
                <a:latin typeface="Times New Roman"/>
              </a:rPr>
              <a:t> </a:t>
            </a:r>
            <a:r>
              <a:rPr lang="en-US" sz="1500" spc="-1" dirty="0" err="1">
                <a:latin typeface="Times New Roman"/>
              </a:rPr>
              <a:t>revisiones</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a:t>
            </a:r>
            <a:r>
              <a:rPr lang="en-US" sz="1500" b="1" spc="-1" dirty="0" err="1">
                <a:latin typeface="Times New Roman"/>
              </a:rPr>
              <a:t>Pruebas</a:t>
            </a:r>
            <a:r>
              <a:rPr lang="en-US" sz="1500" spc="-1" dirty="0">
                <a:latin typeface="Times New Roman"/>
              </a:rPr>
              <a:t>- </a:t>
            </a:r>
            <a:r>
              <a:rPr lang="en-US" sz="1500" spc="-1" dirty="0" err="1">
                <a:latin typeface="Times New Roman"/>
              </a:rPr>
              <a:t>Verificaciones</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resultados</a:t>
            </a:r>
            <a:r>
              <a:rPr lang="en-US" sz="1500" spc="-1" dirty="0">
                <a:latin typeface="Times New Roman"/>
              </a:rPr>
              <a:t> finales de </a:t>
            </a:r>
            <a:r>
              <a:rPr lang="en-US" sz="1500" spc="-1" dirty="0" err="1">
                <a:latin typeface="Times New Roman"/>
              </a:rPr>
              <a:t>los</a:t>
            </a:r>
            <a:r>
              <a:rPr lang="en-US" sz="1500" spc="-1" dirty="0">
                <a:latin typeface="Times New Roman"/>
              </a:rPr>
              <a:t> </a:t>
            </a:r>
            <a:r>
              <a:rPr lang="en-US" sz="1500" spc="-1" dirty="0" err="1">
                <a:latin typeface="Times New Roman"/>
              </a:rPr>
              <a:t>productos</a:t>
            </a:r>
            <a:r>
              <a:rPr lang="en-US" sz="1500" spc="-1" dirty="0">
                <a:latin typeface="Times New Roman"/>
              </a:rPr>
              <a:t>. </a:t>
            </a:r>
            <a:r>
              <a:rPr lang="en-US" sz="1500" spc="-1" dirty="0" err="1">
                <a:latin typeface="Times New Roman"/>
              </a:rPr>
              <a:t>Estas</a:t>
            </a:r>
            <a:r>
              <a:rPr lang="en-US" sz="1500" spc="-1" dirty="0">
                <a:latin typeface="Times New Roman"/>
              </a:rPr>
              <a:t> </a:t>
            </a:r>
            <a:r>
              <a:rPr lang="en-US" sz="1500" spc="-1" dirty="0" err="1">
                <a:latin typeface="Times New Roman"/>
              </a:rPr>
              <a:t>verificaciones</a:t>
            </a:r>
            <a:r>
              <a:rPr lang="en-US" sz="1500" spc="-1" dirty="0">
                <a:latin typeface="Times New Roman"/>
              </a:rPr>
              <a:t> se </a:t>
            </a:r>
            <a:r>
              <a:rPr lang="en-US" sz="1500" spc="-1" dirty="0" err="1">
                <a:latin typeface="Times New Roman"/>
              </a:rPr>
              <a:t>llevan</a:t>
            </a:r>
            <a:r>
              <a:rPr lang="en-US" sz="1500" spc="-1" dirty="0">
                <a:latin typeface="Times New Roman"/>
              </a:rPr>
              <a:t> a </a:t>
            </a:r>
            <a:r>
              <a:rPr lang="en-US" sz="1500" spc="-1" dirty="0" err="1">
                <a:latin typeface="Times New Roman"/>
              </a:rPr>
              <a:t>cabo</a:t>
            </a:r>
            <a:r>
              <a:rPr lang="en-US" sz="1500" spc="-1" dirty="0">
                <a:latin typeface="Times New Roman"/>
              </a:rPr>
              <a:t> </a:t>
            </a:r>
            <a:r>
              <a:rPr lang="en-US" sz="1500" spc="-1" dirty="0" err="1">
                <a:latin typeface="Times New Roman"/>
              </a:rPr>
              <a:t>después</a:t>
            </a:r>
            <a:r>
              <a:rPr lang="en-US" sz="1500" spc="-1" dirty="0">
                <a:latin typeface="Times New Roman"/>
              </a:rPr>
              <a:t> de que se </a:t>
            </a:r>
            <a:r>
              <a:rPr lang="en-US" sz="1500" spc="-1" dirty="0" err="1">
                <a:latin typeface="Times New Roman"/>
              </a:rPr>
              <a:t>haya</a:t>
            </a:r>
            <a:r>
              <a:rPr lang="en-US" sz="1500" spc="-1" dirty="0">
                <a:latin typeface="Times New Roman"/>
              </a:rPr>
              <a:t> </a:t>
            </a:r>
            <a:r>
              <a:rPr lang="en-US" sz="1500" spc="-1" dirty="0" err="1">
                <a:latin typeface="Times New Roman"/>
              </a:rPr>
              <a:t>desarrollado</a:t>
            </a:r>
            <a:r>
              <a:rPr lang="en-US" sz="1500" spc="-1" dirty="0">
                <a:latin typeface="Times New Roman"/>
              </a:rPr>
              <a:t> </a:t>
            </a:r>
            <a:r>
              <a:rPr lang="en-US" sz="1500" spc="-1" dirty="0" err="1">
                <a:latin typeface="Times New Roman"/>
              </a:rPr>
              <a:t>el</a:t>
            </a:r>
            <a:r>
              <a:rPr lang="en-US" sz="1500" spc="-1" dirty="0">
                <a:latin typeface="Times New Roman"/>
              </a:rPr>
              <a:t> software. Durante la </a:t>
            </a:r>
            <a:r>
              <a:rPr lang="en-US" sz="1500" spc="-1" dirty="0" err="1">
                <a:latin typeface="Times New Roman"/>
              </a:rPr>
              <a:t>realización</a:t>
            </a:r>
            <a:r>
              <a:rPr lang="en-US" sz="1500" spc="-1" dirty="0">
                <a:latin typeface="Times New Roman"/>
              </a:rPr>
              <a:t> de </a:t>
            </a:r>
            <a:r>
              <a:rPr lang="en-US" sz="1500" spc="-1" dirty="0" err="1">
                <a:latin typeface="Times New Roman"/>
              </a:rPr>
              <a:t>estas</a:t>
            </a:r>
            <a:r>
              <a:rPr lang="en-US" sz="1500" spc="-1" dirty="0">
                <a:latin typeface="Times New Roman"/>
              </a:rPr>
              <a:t> </a:t>
            </a:r>
            <a:r>
              <a:rPr lang="en-US" sz="1500" spc="-1" dirty="0" err="1">
                <a:latin typeface="Times New Roman"/>
              </a:rPr>
              <a:t>actividades</a:t>
            </a:r>
            <a:r>
              <a:rPr lang="en-US" sz="1500" spc="-1" dirty="0">
                <a:latin typeface="Times New Roman"/>
              </a:rPr>
              <a:t> se </a:t>
            </a:r>
            <a:r>
              <a:rPr lang="en-US" sz="1500" spc="-1" dirty="0" err="1">
                <a:latin typeface="Times New Roman"/>
              </a:rPr>
              <a:t>siguen</a:t>
            </a:r>
            <a:r>
              <a:rPr lang="en-US" sz="1500" spc="-1" dirty="0">
                <a:latin typeface="Times New Roman"/>
              </a:rPr>
              <a:t> </a:t>
            </a:r>
            <a:r>
              <a:rPr lang="en-US" sz="1500" spc="-1" dirty="0" err="1">
                <a:latin typeface="Times New Roman"/>
              </a:rPr>
              <a:t>los</a:t>
            </a:r>
            <a:r>
              <a:rPr lang="en-US" sz="1500" spc="-1" dirty="0">
                <a:latin typeface="Times New Roman"/>
              </a:rPr>
              <a:t> </a:t>
            </a:r>
            <a:r>
              <a:rPr lang="en-US" sz="1500" spc="-1" dirty="0" err="1">
                <a:latin typeface="Times New Roman"/>
              </a:rPr>
              <a:t>procedimientos</a:t>
            </a:r>
            <a:r>
              <a:rPr lang="en-US" sz="1500" spc="-1" dirty="0">
                <a:latin typeface="Times New Roman"/>
              </a:rPr>
              <a:t> de </a:t>
            </a:r>
            <a:r>
              <a:rPr lang="en-US" sz="1500" spc="-1" dirty="0" err="1">
                <a:latin typeface="Times New Roman"/>
              </a:rPr>
              <a:t>prueba</a:t>
            </a:r>
            <a:r>
              <a:rPr lang="en-US" sz="1500" spc="-1" dirty="0">
                <a:latin typeface="Times New Roman"/>
              </a:rPr>
              <a:t>. SQE es </a:t>
            </a:r>
            <a:r>
              <a:rPr lang="en-US" sz="1500" spc="-1" dirty="0" err="1">
                <a:latin typeface="Times New Roman"/>
              </a:rPr>
              <a:t>responsable</a:t>
            </a:r>
            <a:r>
              <a:rPr lang="en-US" sz="1500" spc="-1" dirty="0">
                <a:latin typeface="Times New Roman"/>
              </a:rPr>
              <a:t> de </a:t>
            </a:r>
            <a:r>
              <a:rPr lang="en-US" sz="1500" spc="-1" dirty="0" err="1">
                <a:latin typeface="Times New Roman"/>
              </a:rPr>
              <a:t>mantener</a:t>
            </a:r>
            <a:r>
              <a:rPr lang="en-US" sz="1500" spc="-1" dirty="0">
                <a:latin typeface="Times New Roman"/>
              </a:rPr>
              <a:t> </a:t>
            </a:r>
            <a:r>
              <a:rPr lang="en-US" sz="1500" spc="-1" dirty="0" err="1">
                <a:latin typeface="Times New Roman"/>
              </a:rPr>
              <a:t>los</a:t>
            </a:r>
            <a:r>
              <a:rPr lang="en-US" sz="1500" spc="-1" dirty="0">
                <a:latin typeface="Times New Roman"/>
              </a:rPr>
              <a:t> </a:t>
            </a:r>
            <a:r>
              <a:rPr lang="en-US" sz="1500" spc="-1" dirty="0" err="1">
                <a:latin typeface="Times New Roman"/>
              </a:rPr>
              <a:t>registros</a:t>
            </a:r>
            <a:r>
              <a:rPr lang="en-US" sz="1500" spc="-1" dirty="0">
                <a:latin typeface="Times New Roman"/>
              </a:rPr>
              <a:t> y, </a:t>
            </a:r>
            <a:r>
              <a:rPr lang="en-US" sz="1500" spc="-1" dirty="0" err="1">
                <a:latin typeface="Times New Roman"/>
              </a:rPr>
              <a:t>en</a:t>
            </a:r>
            <a:r>
              <a:rPr lang="en-US" sz="1500" spc="-1" dirty="0">
                <a:latin typeface="Times New Roman"/>
              </a:rPr>
              <a:t> </a:t>
            </a:r>
            <a:r>
              <a:rPr lang="en-US" sz="1500" spc="-1" dirty="0" err="1">
                <a:latin typeface="Times New Roman"/>
              </a:rPr>
              <a:t>ocasiones</a:t>
            </a:r>
            <a:r>
              <a:rPr lang="en-US" sz="1500" spc="-1" dirty="0">
                <a:latin typeface="Times New Roman"/>
              </a:rPr>
              <a:t>, de </a:t>
            </a:r>
            <a:r>
              <a:rPr lang="en-US" sz="1500" spc="-1" dirty="0" err="1">
                <a:latin typeface="Times New Roman"/>
              </a:rPr>
              <a:t>redactar</a:t>
            </a:r>
            <a:r>
              <a:rPr lang="en-US" sz="1500" spc="-1" dirty="0">
                <a:latin typeface="Times New Roman"/>
              </a:rPr>
              <a:t> </a:t>
            </a:r>
            <a:r>
              <a:rPr lang="en-US" sz="1500" spc="-1" dirty="0" err="1">
                <a:latin typeface="Times New Roman"/>
              </a:rPr>
              <a:t>el</a:t>
            </a:r>
            <a:r>
              <a:rPr lang="en-US" sz="1500" spc="-1" dirty="0">
                <a:latin typeface="Times New Roman"/>
              </a:rPr>
              <a:t> </a:t>
            </a:r>
            <a:r>
              <a:rPr lang="en-US" sz="1500" spc="-1" dirty="0" err="1">
                <a:latin typeface="Times New Roman"/>
              </a:rPr>
              <a:t>informe</a:t>
            </a:r>
            <a:r>
              <a:rPr lang="en-US" sz="1500" spc="-1" dirty="0">
                <a:latin typeface="Times New Roman"/>
              </a:rPr>
              <a:t> de </a:t>
            </a:r>
            <a:r>
              <a:rPr lang="en-US" sz="1500" spc="-1" dirty="0" err="1">
                <a:latin typeface="Times New Roman"/>
              </a:rPr>
              <a:t>prueba</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a:t>
            </a:r>
            <a:r>
              <a:rPr lang="en-US" sz="1500" b="1" spc="-1" dirty="0" err="1">
                <a:latin typeface="Times New Roman"/>
              </a:rPr>
              <a:t>Auditorias</a:t>
            </a:r>
            <a:r>
              <a:rPr lang="en-US" sz="1500" b="1" spc="-1" dirty="0">
                <a:latin typeface="Times New Roman"/>
              </a:rPr>
              <a:t> de </a:t>
            </a:r>
            <a:r>
              <a:rPr lang="en-US" sz="1500" b="1" spc="-1" dirty="0" err="1">
                <a:latin typeface="Times New Roman"/>
              </a:rPr>
              <a:t>calidad</a:t>
            </a:r>
            <a:r>
              <a:rPr lang="en-US" sz="1500" spc="-1" dirty="0">
                <a:latin typeface="Times New Roman"/>
              </a:rPr>
              <a:t>- </a:t>
            </a:r>
            <a:r>
              <a:rPr lang="en-US" sz="1500" spc="-1" dirty="0" err="1">
                <a:latin typeface="Times New Roman"/>
              </a:rPr>
              <a:t>Verificaciones</a:t>
            </a:r>
            <a:r>
              <a:rPr lang="en-US" sz="1500" spc="-1" dirty="0">
                <a:latin typeface="Times New Roman"/>
              </a:rPr>
              <a:t> de </a:t>
            </a:r>
            <a:r>
              <a:rPr lang="en-US" sz="1500" spc="-1" dirty="0" err="1">
                <a:latin typeface="Times New Roman"/>
              </a:rPr>
              <a:t>procesos</a:t>
            </a:r>
            <a:r>
              <a:rPr lang="en-US" sz="1500" spc="-1" dirty="0">
                <a:latin typeface="Times New Roman"/>
              </a:rPr>
              <a:t> </a:t>
            </a:r>
            <a:r>
              <a:rPr lang="en-US" sz="1500" spc="-1" dirty="0" err="1">
                <a:latin typeface="Times New Roman"/>
              </a:rPr>
              <a:t>en</a:t>
            </a:r>
            <a:r>
              <a:rPr lang="en-US" sz="1500" spc="-1" dirty="0">
                <a:latin typeface="Times New Roman"/>
              </a:rPr>
              <a:t> </a:t>
            </a:r>
            <a:r>
              <a:rPr lang="en-US" sz="1500" spc="-1" dirty="0" err="1">
                <a:latin typeface="Times New Roman"/>
              </a:rPr>
              <a:t>proceso</a:t>
            </a:r>
            <a:r>
              <a:rPr lang="en-US" sz="1500" spc="-1" dirty="0">
                <a:latin typeface="Times New Roman"/>
              </a:rPr>
              <a:t>. </a:t>
            </a:r>
            <a:r>
              <a:rPr lang="en-US" sz="1500" spc="-1" dirty="0" err="1">
                <a:latin typeface="Times New Roman"/>
              </a:rPr>
              <a:t>Estas</a:t>
            </a:r>
            <a:r>
              <a:rPr lang="en-US" sz="1500" spc="-1" dirty="0">
                <a:latin typeface="Times New Roman"/>
              </a:rPr>
              <a:t> </a:t>
            </a:r>
            <a:r>
              <a:rPr lang="en-US" sz="1500" spc="-1" dirty="0" err="1">
                <a:latin typeface="Times New Roman"/>
              </a:rPr>
              <a:t>auditorías</a:t>
            </a:r>
            <a:r>
              <a:rPr lang="en-US" sz="1500" spc="-1" dirty="0">
                <a:latin typeface="Times New Roman"/>
              </a:rPr>
              <a:t> se </a:t>
            </a:r>
            <a:r>
              <a:rPr lang="en-US" sz="1500" spc="-1" dirty="0" err="1">
                <a:latin typeface="Times New Roman"/>
              </a:rPr>
              <a:t>realizan</a:t>
            </a:r>
            <a:r>
              <a:rPr lang="en-US" sz="1500" spc="-1" dirty="0">
                <a:latin typeface="Times New Roman"/>
              </a:rPr>
              <a:t> </a:t>
            </a:r>
            <a:r>
              <a:rPr lang="en-US" sz="1500" spc="-1" dirty="0" err="1">
                <a:latin typeface="Times New Roman"/>
              </a:rPr>
              <a:t>periódicamente</a:t>
            </a:r>
            <a:r>
              <a:rPr lang="en-US" sz="1500" spc="-1" dirty="0">
                <a:latin typeface="Times New Roman"/>
              </a:rPr>
              <a:t> (dos </a:t>
            </a:r>
            <a:r>
              <a:rPr lang="en-US" sz="1500" spc="-1" dirty="0" err="1">
                <a:latin typeface="Times New Roman"/>
              </a:rPr>
              <a:t>veces</a:t>
            </a:r>
            <a:r>
              <a:rPr lang="en-US" sz="1500" spc="-1" dirty="0">
                <a:latin typeface="Times New Roman"/>
              </a:rPr>
              <a:t> al </a:t>
            </a:r>
            <a:r>
              <a:rPr lang="en-US" sz="1500" spc="-1" dirty="0" err="1">
                <a:latin typeface="Times New Roman"/>
              </a:rPr>
              <a:t>mes</a:t>
            </a:r>
            <a:r>
              <a:rPr lang="en-US" sz="1500" spc="-1" dirty="0">
                <a:latin typeface="Times New Roman"/>
              </a:rPr>
              <a:t>) para </a:t>
            </a:r>
            <a:r>
              <a:rPr lang="en-US" sz="1500" spc="-1" dirty="0" err="1">
                <a:latin typeface="Times New Roman"/>
              </a:rPr>
              <a:t>evaluar</a:t>
            </a:r>
            <a:r>
              <a:rPr lang="en-US" sz="1500" spc="-1" dirty="0">
                <a:latin typeface="Times New Roman"/>
              </a:rPr>
              <a:t> </a:t>
            </a:r>
            <a:r>
              <a:rPr lang="en-US" sz="1500" spc="-1" dirty="0" err="1">
                <a:latin typeface="Times New Roman"/>
              </a:rPr>
              <a:t>el</a:t>
            </a:r>
            <a:r>
              <a:rPr lang="en-US" sz="1500" spc="-1" dirty="0">
                <a:latin typeface="Times New Roman"/>
              </a:rPr>
              <a:t> </a:t>
            </a:r>
            <a:r>
              <a:rPr lang="en-US" sz="1500" spc="-1" dirty="0" err="1">
                <a:latin typeface="Times New Roman"/>
              </a:rPr>
              <a:t>cumplimiento</a:t>
            </a:r>
            <a:r>
              <a:rPr lang="en-US" sz="1500" spc="-1" dirty="0">
                <a:latin typeface="Times New Roman"/>
              </a:rPr>
              <a:t> de las </a:t>
            </a:r>
            <a:r>
              <a:rPr lang="en-US" sz="1500" spc="-1" dirty="0" err="1">
                <a:latin typeface="Times New Roman"/>
              </a:rPr>
              <a:t>especificaciones</a:t>
            </a:r>
            <a:r>
              <a:rPr lang="en-US" sz="1500" spc="-1" dirty="0">
                <a:latin typeface="Times New Roman"/>
              </a:rPr>
              <a:t> </a:t>
            </a:r>
            <a:r>
              <a:rPr lang="en-US" sz="1500" spc="-1" dirty="0" err="1">
                <a:latin typeface="Times New Roman"/>
              </a:rPr>
              <a:t>estándar</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procesos</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 </a:t>
            </a:r>
          </a:p>
        </p:txBody>
      </p:sp>
    </p:spTree>
    <p:extLst>
      <p:ext uri="{BB962C8B-B14F-4D97-AF65-F5344CB8AC3E}">
        <p14:creationId xmlns:p14="http://schemas.microsoft.com/office/powerpoint/2010/main" val="3239487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Reseñas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calidad</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80" name="CustomShape 2"/>
          <p:cNvSpPr/>
          <p:nvPr/>
        </p:nvSpPr>
        <p:spPr>
          <a:xfrm>
            <a:off x="1371690" y="800010"/>
            <a:ext cx="6400620" cy="4225869"/>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a:t>
            </a:r>
            <a:r>
              <a:rPr lang="en-US" sz="1500" b="1" spc="-1">
                <a:latin typeface="Times New Roman"/>
              </a:rPr>
              <a:t>Revisiones por pares</a:t>
            </a:r>
            <a:r>
              <a:rPr lang="en-US" sz="1500" spc="-1">
                <a:latin typeface="Times New Roman"/>
              </a:rPr>
              <a:t>- Revisiones de procesos y productos por parte de grupos de personas. Estas revisiones requieren una preparación previa por parte de todos los participantes. Si un participante no está preparado, la revisión no es efectiva. Este tipo de revisión requiere la participación del SQE, el moderador, el registrador, el autor o autores y uno o más revisores críticos. Todos los problemas detectados durante estas revisiones se documentan en formularios AR.</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a:t>
            </a:r>
            <a:r>
              <a:rPr lang="en-US" sz="1500" b="1" spc="-1">
                <a:latin typeface="Times New Roman"/>
              </a:rPr>
              <a:t>Tutoriales</a:t>
            </a:r>
            <a:r>
              <a:rPr lang="en-US" sz="1500" spc="-1">
                <a:latin typeface="Times New Roman"/>
              </a:rPr>
              <a:t>- revisiones de productos por parte de grupos de personas, en su mayoría sin preparación. Por ejemplo, una revisión de trazabilidad de requisitos es un recorrido que implica rastrear un requisito desde los requisitos del cliente hasta los procedimientos de prueba. Todos los problemas detectados durante estas revisiones se documentan en formularios CAR.</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a:t>
            </a:r>
            <a:r>
              <a:rPr lang="en-US" sz="1500" b="1" spc="-1">
                <a:latin typeface="Times New Roman"/>
              </a:rPr>
              <a:t>Inspecciones de escritorio</a:t>
            </a:r>
            <a:r>
              <a:rPr lang="en-US" sz="1500" spc="-1">
                <a:latin typeface="Times New Roman"/>
              </a:rPr>
              <a:t>- Reseñas de productos realizadas por personas individuales. En estas reseñas, las personas reseñan los productos por sí mismas (no en grupo) y luego envían sus comentarios a los autores. Los problemas que se detectan durante estas reseñas se tratan de manera informal.</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a:latin typeface="Times New Roman"/>
            </a:endParaRPr>
          </a:p>
        </p:txBody>
      </p:sp>
    </p:spTree>
    <p:extLst>
      <p:ext uri="{BB962C8B-B14F-4D97-AF65-F5344CB8AC3E}">
        <p14:creationId xmlns:p14="http://schemas.microsoft.com/office/powerpoint/2010/main" val="2342049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Pruebas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82" name="CustomShape 2"/>
          <p:cNvSpPr/>
          <p:nvPr/>
        </p:nvSpPr>
        <p:spPr>
          <a:xfrm>
            <a:off x="1314450" y="857251"/>
            <a:ext cx="6515100" cy="4237411"/>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425" spc="-1">
                <a:latin typeface="Times New Roman"/>
              </a:rPr>
              <a:t>•</a:t>
            </a:r>
            <a:r>
              <a:rPr lang="en-US" sz="1425" b="1" spc="-1">
                <a:latin typeface="Times New Roman"/>
              </a:rPr>
              <a:t>Ingeniería en seco</a:t>
            </a:r>
            <a:r>
              <a:rPr lang="en-US" sz="1425" spc="-1">
                <a:latin typeface="Times New Roman"/>
              </a:rPr>
              <a:t>- pruebas realizadas por ingeniería sin SQE. Estas pruebas incluyen pruebas unitarias y simulacros de ingeniería de las pruebas formales. Estos simulacros de ingeniería se utilizan para verificar la corrección y la integridad de los procedimientos de prueba. Además, se trata de la verificación de ingeniería final del producto final antes de la venta a SQE. Todos los problemas detectados durante estas pruebas se documentan en formularios STR.</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425"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425" spc="-1">
                <a:latin typeface="Times New Roman"/>
              </a:rPr>
              <a:t>•</a:t>
            </a:r>
            <a:r>
              <a:rPr lang="en-US" sz="1425" b="1" spc="-1">
                <a:latin typeface="Times New Roman"/>
              </a:rPr>
              <a:t>Prueba en seco de SQE</a:t>
            </a:r>
            <a:r>
              <a:rPr lang="en-US" sz="1425" spc="-1">
                <a:latin typeface="Times New Roman"/>
              </a:rPr>
              <a:t>- Pruebas realizadas por SQE. Estas pruebas incluyen simulacros PQT, FAT y SAT. Estas pruebas se utilizan para verificar el producto final antes de la prueba formal con el cliente. En ocasiones, un SQE es responsable de redactar el informe de pruebas. Sin embargo, si se dispone de un grupo de pruebas independiente, SQE queda exento de esta obligación. Todos los problemas detectados durante estas pruebas se documentan en formularios STR.</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425"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425"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425" spc="-1">
                <a:latin typeface="Times New Roman"/>
              </a:rPr>
              <a:t>•</a:t>
            </a:r>
            <a:r>
              <a:rPr lang="en-US" sz="1425" b="1" spc="-1">
                <a:latin typeface="Times New Roman"/>
              </a:rPr>
              <a:t>TFR</a:t>
            </a:r>
            <a:r>
              <a:rPr lang="en-US" sz="1425" spc="-1">
                <a:latin typeface="Times New Roman"/>
              </a:rPr>
              <a:t>- Pruebas realizadas como "RFR - run-for-record" con el SQE y el cliente. Estas pruebas incluyen FAT y SAT. Estas pruebas se realizan para vender el producto final al cliente. El SQE está presente en todas estas pruebas. Todos los problemas encontrados durante estas pruebas se documentan en formularios STR.</a:t>
            </a:r>
          </a:p>
        </p:txBody>
      </p:sp>
    </p:spTree>
    <p:extLst>
      <p:ext uri="{BB962C8B-B14F-4D97-AF65-F5344CB8AC3E}">
        <p14:creationId xmlns:p14="http://schemas.microsoft.com/office/powerpoint/2010/main" val="98541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Auditorias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calidad</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84" name="CustomShape 2"/>
          <p:cNvSpPr/>
          <p:nvPr/>
        </p:nvSpPr>
        <p:spPr>
          <a:xfrm>
            <a:off x="1485900" y="857250"/>
            <a:ext cx="6075810" cy="3140957"/>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425" spc="-1">
                <a:latin typeface="Times New Roman"/>
              </a:rPr>
              <a:t>•</a:t>
            </a:r>
            <a:r>
              <a:rPr lang="en-US" sz="1425" b="1" spc="-1">
                <a:latin typeface="Times New Roman"/>
              </a:rPr>
              <a:t>Auditorías SQE</a:t>
            </a:r>
            <a:r>
              <a:rPr lang="en-US" sz="1425" spc="-1">
                <a:latin typeface="Times New Roman"/>
              </a:rPr>
              <a:t>- auditorías realizadas por SQE para verificar que se están siguiendo las normas estándar de los procesos. Algunos ejemplos de estas auditorías son el cumplimiento de IPDS, el control de configuración y la gestión de ingeniería de software. Todos los hallazgos de estas auditorías se documentan en formularios QER. Los resultados de las auditorías se distribuyen al siguiente nivel de gestión (por encima del nivel del proyecto). Si los problemas no se solucionan, los hallazgos se elevan a la alta dirección.</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425"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425" spc="-1">
                <a:latin typeface="Times New Roman"/>
              </a:rPr>
              <a:t>•</a:t>
            </a:r>
            <a:r>
              <a:rPr lang="en-US" sz="1425" b="1" spc="-1">
                <a:latin typeface="Times New Roman"/>
              </a:rPr>
              <a:t>Auditorías independientes</a:t>
            </a:r>
            <a:r>
              <a:rPr lang="en-US" sz="1425" spc="-1">
                <a:latin typeface="Times New Roman"/>
              </a:rPr>
              <a:t>- auditorías realizadas por generalistas de ISO u otras entidades independientes para verificar que se están siguiendo las especificaciones estándar de los procesos. Estas auditorías se realizan normalmente a nivel de división/instalación. Los resultados de estas auditorías se distribuyen a la alta dirección.</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425" spc="-1">
              <a:latin typeface="Times New Roman"/>
            </a:endParaRPr>
          </a:p>
        </p:txBody>
      </p:sp>
    </p:spTree>
    <p:extLst>
      <p:ext uri="{BB962C8B-B14F-4D97-AF65-F5344CB8AC3E}">
        <p14:creationId xmlns:p14="http://schemas.microsoft.com/office/powerpoint/2010/main" val="1692631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Detección</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defectos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186" name="CustomShape 2"/>
          <p:cNvSpPr/>
          <p:nvPr/>
        </p:nvSpPr>
        <p:spPr>
          <a:xfrm>
            <a:off x="1257210" y="800010"/>
            <a:ext cx="6572340" cy="624883"/>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Las actividades formales de detección de errores incluyen revisiones y pruebas de calidad.</a:t>
            </a:r>
          </a:p>
        </p:txBody>
      </p:sp>
      <p:graphicFrame>
        <p:nvGraphicFramePr>
          <p:cNvPr id="187" name="Object 3"/>
          <p:cNvGraphicFramePr/>
          <p:nvPr/>
        </p:nvGraphicFramePr>
        <p:xfrm>
          <a:off x="1428660" y="1447308"/>
          <a:ext cx="6286680" cy="3200310"/>
        </p:xfrm>
        <a:graphic>
          <a:graphicData uri="http://schemas.openxmlformats.org/presentationml/2006/ole">
            <mc:AlternateContent xmlns:mc="http://schemas.openxmlformats.org/markup-compatibility/2006">
              <mc:Choice xmlns:v="urn:schemas-microsoft-com:vml" Requires="v">
                <p:oleObj spid="_x0000_s1033" r:id="rId3" imgW="0" imgH="0" progId="Excel.Sheet.12">
                  <p:embed/>
                </p:oleObj>
              </mc:Choice>
              <mc:Fallback>
                <p:oleObj r:id="rId3" imgW="0" imgH="0" progId="Excel.Sheet.12">
                  <p:embed/>
                  <p:pic>
                    <p:nvPicPr>
                      <p:cNvPr id="187" name="Object 3"/>
                      <p:cNvPicPr/>
                      <p:nvPr/>
                    </p:nvPicPr>
                    <p:blipFill>
                      <a:blip r:embed="rId4"/>
                      <a:stretch/>
                    </p:blipFill>
                    <p:spPr>
                      <a:xfrm>
                        <a:off x="1428660" y="1447308"/>
                        <a:ext cx="6286680" cy="3200310"/>
                      </a:xfrm>
                      <a:prstGeom prst="rect">
                        <a:avLst/>
                      </a:prstGeom>
                      <a:ln w="0">
                        <a:noFill/>
                      </a:ln>
                    </p:spPr>
                  </p:pic>
                </p:oleObj>
              </mc:Fallback>
            </mc:AlternateContent>
          </a:graphicData>
        </a:graphic>
      </p:graphicFrame>
    </p:spTree>
    <p:extLst>
      <p:ext uri="{BB962C8B-B14F-4D97-AF65-F5344CB8AC3E}">
        <p14:creationId xmlns:p14="http://schemas.microsoft.com/office/powerpoint/2010/main" val="1782632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La </a:t>
            </a:r>
            <a:r>
              <a:rPr lang="en-US" sz="2700" b="1" spc="-1" dirty="0" err="1">
                <a:solidFill>
                  <a:srgbClr val="FF0000"/>
                </a:solidFill>
                <a:effectLst>
                  <a:outerShdw blurRad="38100" dist="38100" dir="2700000" algn="tl">
                    <a:srgbClr val="000000">
                      <a:alpha val="43137"/>
                    </a:srgbClr>
                  </a:outerShdw>
                </a:effectLst>
                <a:latin typeface="Times New Roman"/>
              </a:rPr>
              <a:t>vida</a:t>
            </a:r>
            <a:r>
              <a:rPr lang="en-US" sz="2700" b="1" spc="-1" dirty="0">
                <a:solidFill>
                  <a:srgbClr val="FF0000"/>
                </a:solidFill>
                <a:effectLst>
                  <a:outerShdw blurRad="38100" dist="38100" dir="2700000" algn="tl">
                    <a:srgbClr val="000000">
                      <a:alpha val="43137"/>
                    </a:srgbClr>
                  </a:outerShdw>
                </a:effectLst>
                <a:latin typeface="Times New Roman"/>
              </a:rPr>
              <a:t> de error</a:t>
            </a:r>
            <a:endParaRPr lang="en-US" sz="2700" spc="-1" dirty="0">
              <a:solidFill>
                <a:srgbClr val="FF0000"/>
              </a:solidFill>
              <a:effectLst>
                <a:outerShdw blurRad="38100" dist="38100" dir="2700000" algn="tl">
                  <a:srgbClr val="000000">
                    <a:alpha val="43137"/>
                  </a:srgbClr>
                </a:outerShdw>
              </a:effectLst>
              <a:latin typeface="Times New Roman"/>
            </a:endParaRPr>
          </a:p>
        </p:txBody>
      </p:sp>
      <p:grpSp>
        <p:nvGrpSpPr>
          <p:cNvPr id="190" name="Group 2"/>
          <p:cNvGrpSpPr/>
          <p:nvPr/>
        </p:nvGrpSpPr>
        <p:grpSpPr>
          <a:xfrm>
            <a:off x="1714590" y="1142910"/>
            <a:ext cx="5457548" cy="2194020"/>
            <a:chOff x="762120" y="1523880"/>
            <a:chExt cx="7276731" cy="2925360"/>
          </a:xfrm>
        </p:grpSpPr>
        <p:sp>
          <p:nvSpPr>
            <p:cNvPr id="191" name="CustomShape 3"/>
            <p:cNvSpPr/>
            <p:nvPr/>
          </p:nvSpPr>
          <p:spPr>
            <a:xfrm>
              <a:off x="7561080" y="2540160"/>
              <a:ext cx="352800" cy="36540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192" name="CustomShape 4"/>
            <p:cNvSpPr/>
            <p:nvPr/>
          </p:nvSpPr>
          <p:spPr>
            <a:xfrm>
              <a:off x="7673400" y="2615760"/>
              <a:ext cx="136619"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a:latin typeface="Arial"/>
                </a:rPr>
                <a:t>V</a:t>
              </a:r>
              <a:endParaRPr lang="en-US" sz="1200" spc="-1">
                <a:latin typeface="Times New Roman"/>
              </a:endParaRPr>
            </a:p>
          </p:txBody>
        </p:sp>
        <p:sp>
          <p:nvSpPr>
            <p:cNvPr id="193" name="CustomShape 5"/>
            <p:cNvSpPr/>
            <p:nvPr/>
          </p:nvSpPr>
          <p:spPr>
            <a:xfrm>
              <a:off x="7527600" y="2346120"/>
              <a:ext cx="511251"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Verificado</a:t>
              </a:r>
              <a:endParaRPr lang="en-US" sz="675" spc="-1">
                <a:latin typeface="Times New Roman"/>
              </a:endParaRPr>
            </a:p>
          </p:txBody>
        </p:sp>
        <p:grpSp>
          <p:nvGrpSpPr>
            <p:cNvPr id="194" name="Group 6"/>
            <p:cNvGrpSpPr/>
            <p:nvPr/>
          </p:nvGrpSpPr>
          <p:grpSpPr>
            <a:xfrm>
              <a:off x="762120" y="1523880"/>
              <a:ext cx="6995141" cy="2400120"/>
              <a:chOff x="762120" y="1523880"/>
              <a:chExt cx="6995141" cy="2400120"/>
            </a:xfrm>
          </p:grpSpPr>
          <p:sp>
            <p:nvSpPr>
              <p:cNvPr id="195" name="CustomShape 7"/>
              <p:cNvSpPr/>
              <p:nvPr/>
            </p:nvSpPr>
            <p:spPr>
              <a:xfrm>
                <a:off x="1517344" y="2895480"/>
                <a:ext cx="319745"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dirty="0">
                    <a:latin typeface="Arial"/>
                  </a:rPr>
                  <a:t>SCCB)</a:t>
                </a:r>
                <a:endParaRPr lang="en-US" sz="600" spc="-1" dirty="0">
                  <a:latin typeface="Times New Roman"/>
                </a:endParaRPr>
              </a:p>
            </p:txBody>
          </p:sp>
          <p:sp>
            <p:nvSpPr>
              <p:cNvPr id="196" name="CustomShape 8"/>
              <p:cNvSpPr/>
              <p:nvPr/>
            </p:nvSpPr>
            <p:spPr>
              <a:xfrm>
                <a:off x="2588400" y="2803320"/>
                <a:ext cx="430203"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Ingeniero</a:t>
                </a:r>
                <a:endParaRPr lang="en-US" sz="600" spc="-1">
                  <a:latin typeface="Times New Roman"/>
                </a:endParaRPr>
              </a:p>
            </p:txBody>
          </p:sp>
          <p:sp>
            <p:nvSpPr>
              <p:cNvPr id="197" name="CustomShape 9"/>
              <p:cNvSpPr/>
              <p:nvPr/>
            </p:nvSpPr>
            <p:spPr>
              <a:xfrm>
                <a:off x="6496200" y="2562120"/>
                <a:ext cx="35172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198" name="CustomShape 10"/>
              <p:cNvSpPr/>
              <p:nvPr/>
            </p:nvSpPr>
            <p:spPr>
              <a:xfrm>
                <a:off x="3693240" y="2889000"/>
                <a:ext cx="430203"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Ingeniero</a:t>
                </a:r>
                <a:endParaRPr lang="en-US" sz="600" spc="-1">
                  <a:latin typeface="Times New Roman"/>
                </a:endParaRPr>
              </a:p>
            </p:txBody>
          </p:sp>
          <p:sp>
            <p:nvSpPr>
              <p:cNvPr id="199" name="CustomShape 11"/>
              <p:cNvSpPr/>
              <p:nvPr/>
            </p:nvSpPr>
            <p:spPr>
              <a:xfrm>
                <a:off x="3690360" y="3003480"/>
                <a:ext cx="662661"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Resuelve STR</a:t>
                </a:r>
                <a:endParaRPr lang="en-US" sz="600" spc="-1">
                  <a:latin typeface="Times New Roman"/>
                </a:endParaRPr>
              </a:p>
            </p:txBody>
          </p:sp>
          <p:sp>
            <p:nvSpPr>
              <p:cNvPr id="200" name="CustomShape 12"/>
              <p:cNvSpPr/>
              <p:nvPr/>
            </p:nvSpPr>
            <p:spPr>
              <a:xfrm>
                <a:off x="1113840" y="2580840"/>
                <a:ext cx="35172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01" name="CustomShape 13"/>
              <p:cNvSpPr/>
              <p:nvPr/>
            </p:nvSpPr>
            <p:spPr>
              <a:xfrm>
                <a:off x="1225080" y="2657160"/>
                <a:ext cx="147305"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dirty="0">
                    <a:latin typeface="Arial"/>
                  </a:rPr>
                  <a:t>N</a:t>
                </a:r>
                <a:endParaRPr lang="en-US" sz="1200" spc="-1" dirty="0">
                  <a:latin typeface="Times New Roman"/>
                </a:endParaRPr>
              </a:p>
            </p:txBody>
          </p:sp>
          <p:sp>
            <p:nvSpPr>
              <p:cNvPr id="202" name="CustomShape 14"/>
              <p:cNvSpPr/>
              <p:nvPr/>
            </p:nvSpPr>
            <p:spPr>
              <a:xfrm>
                <a:off x="2187000" y="2562120"/>
                <a:ext cx="35172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03" name="CustomShape 15"/>
              <p:cNvSpPr/>
              <p:nvPr/>
            </p:nvSpPr>
            <p:spPr>
              <a:xfrm>
                <a:off x="2298600" y="2638080"/>
                <a:ext cx="147305"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a:latin typeface="Arial"/>
                  </a:rPr>
                  <a:t>A</a:t>
                </a:r>
                <a:endParaRPr lang="en-US" sz="1200" spc="-1">
                  <a:latin typeface="Times New Roman"/>
                </a:endParaRPr>
              </a:p>
            </p:txBody>
          </p:sp>
          <p:sp>
            <p:nvSpPr>
              <p:cNvPr id="204" name="CustomShape 16"/>
              <p:cNvSpPr/>
              <p:nvPr/>
            </p:nvSpPr>
            <p:spPr>
              <a:xfrm>
                <a:off x="3260520" y="2580840"/>
                <a:ext cx="35172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05" name="CustomShape 17"/>
              <p:cNvSpPr/>
              <p:nvPr/>
            </p:nvSpPr>
            <p:spPr>
              <a:xfrm>
                <a:off x="3355920" y="2657160"/>
                <a:ext cx="160129"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dirty="0">
                    <a:latin typeface="Arial"/>
                  </a:rPr>
                  <a:t>O</a:t>
                </a:r>
                <a:endParaRPr lang="en-US" sz="1200" spc="-1" dirty="0">
                  <a:latin typeface="Times New Roman"/>
                </a:endParaRPr>
              </a:p>
            </p:txBody>
          </p:sp>
          <p:sp>
            <p:nvSpPr>
              <p:cNvPr id="206" name="CustomShape 18"/>
              <p:cNvSpPr/>
              <p:nvPr/>
            </p:nvSpPr>
            <p:spPr>
              <a:xfrm>
                <a:off x="1113840" y="3501720"/>
                <a:ext cx="368280" cy="42228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07" name="CustomShape 19"/>
              <p:cNvSpPr/>
              <p:nvPr/>
            </p:nvSpPr>
            <p:spPr>
              <a:xfrm>
                <a:off x="1240920" y="3579840"/>
                <a:ext cx="147305"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a:latin typeface="Arial"/>
                  </a:rPr>
                  <a:t>D</a:t>
                </a:r>
                <a:endParaRPr lang="en-US" sz="1200" spc="-1">
                  <a:latin typeface="Times New Roman"/>
                </a:endParaRPr>
              </a:p>
            </p:txBody>
          </p:sp>
          <p:sp>
            <p:nvSpPr>
              <p:cNvPr id="208" name="CustomShape 20"/>
              <p:cNvSpPr/>
              <p:nvPr/>
            </p:nvSpPr>
            <p:spPr>
              <a:xfrm>
                <a:off x="1113840" y="1582920"/>
                <a:ext cx="36828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09" name="CustomShape 21"/>
              <p:cNvSpPr/>
              <p:nvPr/>
            </p:nvSpPr>
            <p:spPr>
              <a:xfrm>
                <a:off x="1240560" y="1677960"/>
                <a:ext cx="136619"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dirty="0">
                    <a:latin typeface="Arial"/>
                  </a:rPr>
                  <a:t>P</a:t>
                </a:r>
                <a:endParaRPr lang="en-US" sz="1200" spc="-1" dirty="0">
                  <a:latin typeface="Times New Roman"/>
                </a:endParaRPr>
              </a:p>
            </p:txBody>
          </p:sp>
          <p:grpSp>
            <p:nvGrpSpPr>
              <p:cNvPr id="210" name="Group 22"/>
              <p:cNvGrpSpPr/>
              <p:nvPr/>
            </p:nvGrpSpPr>
            <p:grpSpPr>
              <a:xfrm>
                <a:off x="1465560" y="2714400"/>
                <a:ext cx="720720" cy="135000"/>
                <a:chOff x="1465560" y="2714400"/>
                <a:chExt cx="720720" cy="135000"/>
              </a:xfrm>
            </p:grpSpPr>
            <p:sp>
              <p:nvSpPr>
                <p:cNvPr id="211" name="Line 23"/>
                <p:cNvSpPr/>
                <p:nvPr/>
              </p:nvSpPr>
              <p:spPr>
                <a:xfrm>
                  <a:off x="1465560" y="2773080"/>
                  <a:ext cx="64152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12" name="CustomShape 24"/>
                <p:cNvSpPr/>
                <p:nvPr/>
              </p:nvSpPr>
              <p:spPr>
                <a:xfrm>
                  <a:off x="2073600" y="2714400"/>
                  <a:ext cx="112680" cy="135000"/>
                </a:xfrm>
                <a:custGeom>
                  <a:avLst/>
                  <a:gdLst/>
                  <a:ahLst/>
                  <a:cxnLst/>
                  <a:rect l="l" t="t" r="r" b="b"/>
                  <a:pathLst>
                    <a:path w="85" h="85">
                      <a:moveTo>
                        <a:pt x="0" y="85"/>
                      </a:moveTo>
                      <a:lnTo>
                        <a:pt x="85"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13" name="Group 25"/>
              <p:cNvGrpSpPr/>
              <p:nvPr/>
            </p:nvGrpSpPr>
            <p:grpSpPr>
              <a:xfrm>
                <a:off x="2538720" y="2714400"/>
                <a:ext cx="721440" cy="135000"/>
                <a:chOff x="2538720" y="2714400"/>
                <a:chExt cx="721440" cy="135000"/>
              </a:xfrm>
            </p:grpSpPr>
            <p:sp>
              <p:nvSpPr>
                <p:cNvPr id="214" name="Line 26"/>
                <p:cNvSpPr/>
                <p:nvPr/>
              </p:nvSpPr>
              <p:spPr>
                <a:xfrm>
                  <a:off x="2538720" y="2773080"/>
                  <a:ext cx="64188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15" name="CustomShape 27"/>
                <p:cNvSpPr/>
                <p:nvPr/>
              </p:nvSpPr>
              <p:spPr>
                <a:xfrm>
                  <a:off x="3147480" y="2714400"/>
                  <a:ext cx="112680" cy="135000"/>
                </a:xfrm>
                <a:custGeom>
                  <a:avLst/>
                  <a:gdLst/>
                  <a:ahLst/>
                  <a:cxnLst/>
                  <a:rect l="l" t="t" r="r" b="b"/>
                  <a:pathLst>
                    <a:path w="85" h="85">
                      <a:moveTo>
                        <a:pt x="0" y="85"/>
                      </a:moveTo>
                      <a:lnTo>
                        <a:pt x="85"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16" name="Group 28"/>
              <p:cNvGrpSpPr/>
              <p:nvPr/>
            </p:nvGrpSpPr>
            <p:grpSpPr>
              <a:xfrm>
                <a:off x="3612240" y="2714400"/>
                <a:ext cx="720720" cy="135000"/>
                <a:chOff x="3612240" y="2714400"/>
                <a:chExt cx="720720" cy="135000"/>
              </a:xfrm>
            </p:grpSpPr>
            <p:sp>
              <p:nvSpPr>
                <p:cNvPr id="217" name="Line 29"/>
                <p:cNvSpPr/>
                <p:nvPr/>
              </p:nvSpPr>
              <p:spPr>
                <a:xfrm>
                  <a:off x="3612240" y="2773080"/>
                  <a:ext cx="64152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18" name="CustomShape 30"/>
                <p:cNvSpPr/>
                <p:nvPr/>
              </p:nvSpPr>
              <p:spPr>
                <a:xfrm>
                  <a:off x="4220640" y="2714400"/>
                  <a:ext cx="112320" cy="135000"/>
                </a:xfrm>
                <a:custGeom>
                  <a:avLst/>
                  <a:gdLst/>
                  <a:ahLst/>
                  <a:cxnLst/>
                  <a:rect l="l" t="t" r="r" b="b"/>
                  <a:pathLst>
                    <a:path w="85" h="85">
                      <a:moveTo>
                        <a:pt x="0" y="85"/>
                      </a:moveTo>
                      <a:lnTo>
                        <a:pt x="85"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19" name="Group 31"/>
              <p:cNvGrpSpPr/>
              <p:nvPr/>
            </p:nvGrpSpPr>
            <p:grpSpPr>
              <a:xfrm>
                <a:off x="6865200" y="2712600"/>
                <a:ext cx="663840" cy="125640"/>
                <a:chOff x="6865200" y="2712600"/>
                <a:chExt cx="663840" cy="125640"/>
              </a:xfrm>
            </p:grpSpPr>
            <p:sp>
              <p:nvSpPr>
                <p:cNvPr id="220" name="Line 32"/>
                <p:cNvSpPr/>
                <p:nvPr/>
              </p:nvSpPr>
              <p:spPr>
                <a:xfrm>
                  <a:off x="6865200" y="2766960"/>
                  <a:ext cx="605880" cy="108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21" name="CustomShape 33"/>
                <p:cNvSpPr/>
                <p:nvPr/>
              </p:nvSpPr>
              <p:spPr>
                <a:xfrm>
                  <a:off x="7448040" y="2712600"/>
                  <a:ext cx="81000" cy="125640"/>
                </a:xfrm>
                <a:custGeom>
                  <a:avLst/>
                  <a:gdLst/>
                  <a:ahLst/>
                  <a:cxnLst/>
                  <a:rect l="l" t="t" r="r" b="b"/>
                  <a:pathLst>
                    <a:path w="84" h="85">
                      <a:moveTo>
                        <a:pt x="0" y="85"/>
                      </a:moveTo>
                      <a:lnTo>
                        <a:pt x="84"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22" name="Group 34"/>
              <p:cNvGrpSpPr/>
              <p:nvPr/>
            </p:nvGrpSpPr>
            <p:grpSpPr>
              <a:xfrm>
                <a:off x="1241280" y="3003480"/>
                <a:ext cx="113040" cy="478800"/>
                <a:chOff x="1241280" y="3003480"/>
                <a:chExt cx="113040" cy="478800"/>
              </a:xfrm>
            </p:grpSpPr>
            <p:sp>
              <p:nvSpPr>
                <p:cNvPr id="223" name="Line 35"/>
                <p:cNvSpPr/>
                <p:nvPr/>
              </p:nvSpPr>
              <p:spPr>
                <a:xfrm>
                  <a:off x="1306440" y="3003480"/>
                  <a:ext cx="1080" cy="38376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24" name="CustomShape 36"/>
                <p:cNvSpPr/>
                <p:nvPr/>
              </p:nvSpPr>
              <p:spPr>
                <a:xfrm>
                  <a:off x="1241280" y="3349440"/>
                  <a:ext cx="113040" cy="132840"/>
                </a:xfrm>
                <a:custGeom>
                  <a:avLst/>
                  <a:gdLst/>
                  <a:ahLst/>
                  <a:cxnLst/>
                  <a:rect l="l" t="t" r="r" b="b"/>
                  <a:pathLst>
                    <a:path w="85" h="84">
                      <a:moveTo>
                        <a:pt x="0" y="0"/>
                      </a:moveTo>
                      <a:lnTo>
                        <a:pt x="49" y="84"/>
                      </a:lnTo>
                      <a:lnTo>
                        <a:pt x="85" y="0"/>
                      </a:lnTo>
                      <a:lnTo>
                        <a:pt x="0" y="0"/>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25" name="Group 37"/>
              <p:cNvGrpSpPr/>
              <p:nvPr/>
            </p:nvGrpSpPr>
            <p:grpSpPr>
              <a:xfrm>
                <a:off x="1257480" y="2024280"/>
                <a:ext cx="113040" cy="555840"/>
                <a:chOff x="1257480" y="2024280"/>
                <a:chExt cx="113040" cy="555840"/>
              </a:xfrm>
            </p:grpSpPr>
            <p:sp>
              <p:nvSpPr>
                <p:cNvPr id="226" name="Line 38"/>
                <p:cNvSpPr/>
                <p:nvPr/>
              </p:nvSpPr>
              <p:spPr>
                <a:xfrm flipV="1">
                  <a:off x="1306800" y="2120400"/>
                  <a:ext cx="1080" cy="45972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27" name="CustomShape 39"/>
                <p:cNvSpPr/>
                <p:nvPr/>
              </p:nvSpPr>
              <p:spPr>
                <a:xfrm>
                  <a:off x="1257480" y="2024280"/>
                  <a:ext cx="113040" cy="134640"/>
                </a:xfrm>
                <a:custGeom>
                  <a:avLst/>
                  <a:gdLst/>
                  <a:ahLst/>
                  <a:cxnLst/>
                  <a:rect l="l" t="t" r="r" b="b"/>
                  <a:pathLst>
                    <a:path w="85" h="85">
                      <a:moveTo>
                        <a:pt x="85" y="85"/>
                      </a:moveTo>
                      <a:lnTo>
                        <a:pt x="37" y="0"/>
                      </a:lnTo>
                      <a:lnTo>
                        <a:pt x="0" y="85"/>
                      </a:lnTo>
                      <a:lnTo>
                        <a:pt x="85" y="85"/>
                      </a:lnTo>
                      <a:close/>
                    </a:path>
                  </a:pathLst>
                </a:custGeom>
                <a:solidFill>
                  <a:srgbClr val="000000"/>
                </a:solidFill>
                <a:ln w="0">
                  <a:noFill/>
                </a:ln>
              </p:spPr>
              <p:style>
                <a:lnRef idx="0">
                  <a:scrgbClr r="0" g="0" b="0"/>
                </a:lnRef>
                <a:fillRef idx="0">
                  <a:scrgbClr r="0" g="0" b="0"/>
                </a:fillRef>
                <a:effectRef idx="0">
                  <a:scrgbClr r="0" g="0" b="0"/>
                </a:effectRef>
                <a:fontRef idx="minor"/>
              </p:style>
            </p:sp>
          </p:grpSp>
          <p:sp>
            <p:nvSpPr>
              <p:cNvPr id="228" name="CustomShape 40"/>
              <p:cNvSpPr/>
              <p:nvPr/>
            </p:nvSpPr>
            <p:spPr>
              <a:xfrm>
                <a:off x="952200" y="2368440"/>
                <a:ext cx="332569"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Nuevo</a:t>
                </a:r>
                <a:endParaRPr lang="en-US" sz="675" spc="-1">
                  <a:latin typeface="Times New Roman"/>
                </a:endParaRPr>
              </a:p>
            </p:txBody>
          </p:sp>
          <p:sp>
            <p:nvSpPr>
              <p:cNvPr id="229" name="CustomShape 41"/>
              <p:cNvSpPr/>
              <p:nvPr/>
            </p:nvSpPr>
            <p:spPr>
              <a:xfrm>
                <a:off x="2216880" y="2368440"/>
                <a:ext cx="479533"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Asignado</a:t>
                </a:r>
                <a:endParaRPr lang="en-US" sz="675" spc="-1">
                  <a:latin typeface="Times New Roman"/>
                </a:endParaRPr>
              </a:p>
            </p:txBody>
          </p:sp>
          <p:sp>
            <p:nvSpPr>
              <p:cNvPr id="230" name="CustomShape 42"/>
              <p:cNvSpPr/>
              <p:nvPr/>
            </p:nvSpPr>
            <p:spPr>
              <a:xfrm>
                <a:off x="1528200" y="1523880"/>
                <a:ext cx="479533"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Aplazado</a:t>
                </a:r>
                <a:endParaRPr lang="en-US" sz="675" spc="-1">
                  <a:latin typeface="Times New Roman"/>
                </a:endParaRPr>
              </a:p>
            </p:txBody>
          </p:sp>
          <p:sp>
            <p:nvSpPr>
              <p:cNvPr id="231" name="CustomShape 43"/>
              <p:cNvSpPr/>
              <p:nvPr/>
            </p:nvSpPr>
            <p:spPr>
              <a:xfrm>
                <a:off x="3291480" y="2368440"/>
                <a:ext cx="364288"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Abierto</a:t>
                </a:r>
                <a:endParaRPr lang="en-US" sz="675" spc="-1">
                  <a:latin typeface="Times New Roman"/>
                </a:endParaRPr>
              </a:p>
            </p:txBody>
          </p:sp>
          <p:sp>
            <p:nvSpPr>
              <p:cNvPr id="232" name="CustomShape 44"/>
              <p:cNvSpPr/>
              <p:nvPr/>
            </p:nvSpPr>
            <p:spPr>
              <a:xfrm>
                <a:off x="1530360" y="3425400"/>
                <a:ext cx="562719" cy="153888"/>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750" spc="-1">
                    <a:latin typeface="Arial"/>
                  </a:rPr>
                  <a:t>Duplicado</a:t>
                </a:r>
                <a:endParaRPr lang="en-US" sz="750" spc="-1">
                  <a:latin typeface="Times New Roman"/>
                </a:endParaRPr>
              </a:p>
            </p:txBody>
          </p:sp>
          <p:sp>
            <p:nvSpPr>
              <p:cNvPr id="233" name="CustomShape 45"/>
              <p:cNvSpPr/>
              <p:nvPr/>
            </p:nvSpPr>
            <p:spPr>
              <a:xfrm>
                <a:off x="6526080" y="2368440"/>
                <a:ext cx="434820"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Probado</a:t>
                </a:r>
                <a:endParaRPr lang="en-US" sz="675" spc="-1">
                  <a:latin typeface="Times New Roman"/>
                </a:endParaRPr>
              </a:p>
            </p:txBody>
          </p:sp>
          <p:sp>
            <p:nvSpPr>
              <p:cNvPr id="234" name="CustomShape 46"/>
              <p:cNvSpPr/>
              <p:nvPr/>
            </p:nvSpPr>
            <p:spPr>
              <a:xfrm>
                <a:off x="1465560" y="2811600"/>
                <a:ext cx="721080" cy="345960"/>
              </a:xfrm>
              <a:prstGeom prst="rect">
                <a:avLst/>
              </a:prstGeom>
              <a:noFill/>
              <a:ln w="0">
                <a:noFill/>
              </a:ln>
            </p:spPr>
            <p:style>
              <a:lnRef idx="0">
                <a:scrgbClr r="0" g="0" b="0"/>
              </a:lnRef>
              <a:fillRef idx="0">
                <a:scrgbClr r="0" g="0" b="0"/>
              </a:fillRef>
              <a:effectRef idx="0">
                <a:scrgbClr r="0" g="0" b="0"/>
              </a:effectRef>
              <a:fontRef idx="minor"/>
            </p:style>
          </p:sp>
          <p:sp>
            <p:nvSpPr>
              <p:cNvPr id="235" name="CustomShape 47"/>
              <p:cNvSpPr/>
              <p:nvPr/>
            </p:nvSpPr>
            <p:spPr>
              <a:xfrm>
                <a:off x="1545480" y="3003480"/>
                <a:ext cx="622221"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dirty="0" err="1">
                    <a:latin typeface="Arial"/>
                  </a:rPr>
                  <a:t>Aprueba</a:t>
                </a:r>
                <a:r>
                  <a:rPr lang="en-US" sz="600" spc="-1" dirty="0">
                    <a:latin typeface="Arial"/>
                  </a:rPr>
                  <a:t> STR</a:t>
                </a:r>
                <a:endParaRPr lang="en-US" sz="600" spc="-1" dirty="0">
                  <a:latin typeface="Times New Roman"/>
                </a:endParaRPr>
              </a:p>
            </p:txBody>
          </p:sp>
          <p:sp>
            <p:nvSpPr>
              <p:cNvPr id="236" name="CustomShape 48"/>
              <p:cNvSpPr/>
              <p:nvPr/>
            </p:nvSpPr>
            <p:spPr>
              <a:xfrm>
                <a:off x="2507040" y="2811600"/>
                <a:ext cx="655920" cy="345960"/>
              </a:xfrm>
              <a:prstGeom prst="rect">
                <a:avLst/>
              </a:prstGeom>
              <a:noFill/>
              <a:ln w="0">
                <a:noFill/>
              </a:ln>
            </p:spPr>
            <p:style>
              <a:lnRef idx="0">
                <a:scrgbClr r="0" g="0" b="0"/>
              </a:lnRef>
              <a:fillRef idx="0">
                <a:scrgbClr r="0" g="0" b="0"/>
              </a:fillRef>
              <a:effectRef idx="0">
                <a:scrgbClr r="0" g="0" b="0"/>
              </a:effectRef>
              <a:fontRef idx="minor"/>
            </p:style>
          </p:sp>
          <p:sp>
            <p:nvSpPr>
              <p:cNvPr id="237" name="CustomShape 49"/>
              <p:cNvSpPr/>
              <p:nvPr/>
            </p:nvSpPr>
            <p:spPr>
              <a:xfrm>
                <a:off x="2585520" y="3003480"/>
                <a:ext cx="551861"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Acepta STR</a:t>
                </a:r>
                <a:endParaRPr lang="en-US" sz="600" spc="-1">
                  <a:latin typeface="Times New Roman"/>
                </a:endParaRPr>
              </a:p>
            </p:txBody>
          </p:sp>
          <p:sp>
            <p:nvSpPr>
              <p:cNvPr id="238" name="CustomShape 50"/>
              <p:cNvSpPr/>
              <p:nvPr/>
            </p:nvSpPr>
            <p:spPr>
              <a:xfrm>
                <a:off x="4788000" y="2895480"/>
                <a:ext cx="792183"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Líder de software</a:t>
                </a:r>
                <a:endParaRPr lang="en-US" sz="600" spc="-1">
                  <a:latin typeface="Times New Roman"/>
                </a:endParaRPr>
              </a:p>
            </p:txBody>
          </p:sp>
          <p:sp>
            <p:nvSpPr>
              <p:cNvPr id="239" name="CustomShape 51"/>
              <p:cNvSpPr/>
              <p:nvPr/>
            </p:nvSpPr>
            <p:spPr>
              <a:xfrm>
                <a:off x="4786200" y="3078360"/>
                <a:ext cx="1052083"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Los planes se fusionan</a:t>
                </a:r>
                <a:endParaRPr lang="en-US" sz="600" spc="-1">
                  <a:latin typeface="Times New Roman"/>
                </a:endParaRPr>
              </a:p>
            </p:txBody>
          </p:sp>
          <p:sp>
            <p:nvSpPr>
              <p:cNvPr id="240" name="CustomShape 52"/>
              <p:cNvSpPr/>
              <p:nvPr/>
            </p:nvSpPr>
            <p:spPr>
              <a:xfrm>
                <a:off x="4787280" y="3352680"/>
                <a:ext cx="468504"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Integrador</a:t>
                </a:r>
                <a:endParaRPr lang="en-US" sz="600" spc="-1">
                  <a:latin typeface="Times New Roman"/>
                </a:endParaRPr>
              </a:p>
            </p:txBody>
          </p:sp>
          <p:sp>
            <p:nvSpPr>
              <p:cNvPr id="241" name="CustomShape 53"/>
              <p:cNvSpPr/>
              <p:nvPr/>
            </p:nvSpPr>
            <p:spPr>
              <a:xfrm>
                <a:off x="4785840" y="3535560"/>
                <a:ext cx="681383"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Realizar fusión</a:t>
                </a:r>
                <a:endParaRPr lang="en-US" sz="600" spc="-1">
                  <a:latin typeface="Times New Roman"/>
                </a:endParaRPr>
              </a:p>
            </p:txBody>
          </p:sp>
          <p:sp>
            <p:nvSpPr>
              <p:cNvPr id="242" name="CustomShape 54"/>
              <p:cNvSpPr/>
              <p:nvPr/>
            </p:nvSpPr>
            <p:spPr>
              <a:xfrm>
                <a:off x="4333680" y="2562120"/>
                <a:ext cx="36756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43" name="CustomShape 55"/>
              <p:cNvSpPr/>
              <p:nvPr/>
            </p:nvSpPr>
            <p:spPr>
              <a:xfrm>
                <a:off x="4444560" y="2638080"/>
                <a:ext cx="147305"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a:latin typeface="Arial"/>
                  </a:rPr>
                  <a:t>R</a:t>
                </a:r>
                <a:endParaRPr lang="en-US" sz="1200" spc="-1">
                  <a:latin typeface="Times New Roman"/>
                </a:endParaRPr>
              </a:p>
            </p:txBody>
          </p:sp>
          <p:sp>
            <p:nvSpPr>
              <p:cNvPr id="244" name="CustomShape 56"/>
              <p:cNvSpPr/>
              <p:nvPr/>
            </p:nvSpPr>
            <p:spPr>
              <a:xfrm>
                <a:off x="5423040" y="2562120"/>
                <a:ext cx="36756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45" name="CustomShape 57"/>
              <p:cNvSpPr/>
              <p:nvPr/>
            </p:nvSpPr>
            <p:spPr>
              <a:xfrm>
                <a:off x="5518080" y="2638080"/>
                <a:ext cx="170816"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dirty="0">
                    <a:latin typeface="Arial"/>
                  </a:rPr>
                  <a:t>M</a:t>
                </a:r>
                <a:endParaRPr lang="en-US" sz="1200" spc="-1" dirty="0">
                  <a:latin typeface="Times New Roman"/>
                </a:endParaRPr>
              </a:p>
            </p:txBody>
          </p:sp>
          <p:grpSp>
            <p:nvGrpSpPr>
              <p:cNvPr id="246" name="Group 58"/>
              <p:cNvGrpSpPr/>
              <p:nvPr/>
            </p:nvGrpSpPr>
            <p:grpSpPr>
              <a:xfrm>
                <a:off x="4701600" y="2714400"/>
                <a:ext cx="704880" cy="135000"/>
                <a:chOff x="4701600" y="2714400"/>
                <a:chExt cx="704880" cy="135000"/>
              </a:xfrm>
            </p:grpSpPr>
            <p:sp>
              <p:nvSpPr>
                <p:cNvPr id="247" name="Line 59"/>
                <p:cNvSpPr/>
                <p:nvPr/>
              </p:nvSpPr>
              <p:spPr>
                <a:xfrm>
                  <a:off x="4701600" y="2773080"/>
                  <a:ext cx="62568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48" name="CustomShape 60"/>
                <p:cNvSpPr/>
                <p:nvPr/>
              </p:nvSpPr>
              <p:spPr>
                <a:xfrm>
                  <a:off x="5294160" y="2714400"/>
                  <a:ext cx="112320" cy="135000"/>
                </a:xfrm>
                <a:custGeom>
                  <a:avLst/>
                  <a:gdLst/>
                  <a:ahLst/>
                  <a:cxnLst/>
                  <a:rect l="l" t="t" r="r" b="b"/>
                  <a:pathLst>
                    <a:path w="85" h="85">
                      <a:moveTo>
                        <a:pt x="0" y="85"/>
                      </a:moveTo>
                      <a:lnTo>
                        <a:pt x="85"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grpSp>
            <p:nvGrpSpPr>
              <p:cNvPr id="249" name="Group 61"/>
              <p:cNvGrpSpPr/>
              <p:nvPr/>
            </p:nvGrpSpPr>
            <p:grpSpPr>
              <a:xfrm>
                <a:off x="5790600" y="2714400"/>
                <a:ext cx="704880" cy="135000"/>
                <a:chOff x="5790600" y="2714400"/>
                <a:chExt cx="704880" cy="135000"/>
              </a:xfrm>
            </p:grpSpPr>
            <p:sp>
              <p:nvSpPr>
                <p:cNvPr id="250" name="Line 62"/>
                <p:cNvSpPr/>
                <p:nvPr/>
              </p:nvSpPr>
              <p:spPr>
                <a:xfrm>
                  <a:off x="5790600" y="2773080"/>
                  <a:ext cx="62568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51" name="CustomShape 63"/>
                <p:cNvSpPr/>
                <p:nvPr/>
              </p:nvSpPr>
              <p:spPr>
                <a:xfrm>
                  <a:off x="6383160" y="2714400"/>
                  <a:ext cx="112320" cy="135000"/>
                </a:xfrm>
                <a:custGeom>
                  <a:avLst/>
                  <a:gdLst/>
                  <a:ahLst/>
                  <a:cxnLst/>
                  <a:rect l="l" t="t" r="r" b="b"/>
                  <a:pathLst>
                    <a:path w="85" h="85">
                      <a:moveTo>
                        <a:pt x="0" y="85"/>
                      </a:moveTo>
                      <a:lnTo>
                        <a:pt x="85"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sp>
            <p:nvSpPr>
              <p:cNvPr id="252" name="CustomShape 64"/>
              <p:cNvSpPr/>
              <p:nvPr/>
            </p:nvSpPr>
            <p:spPr>
              <a:xfrm>
                <a:off x="4347000" y="2368440"/>
                <a:ext cx="453885"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Resuelto</a:t>
                </a:r>
                <a:endParaRPr lang="en-US" sz="675" spc="-1">
                  <a:latin typeface="Times New Roman"/>
                </a:endParaRPr>
              </a:p>
            </p:txBody>
          </p:sp>
          <p:sp>
            <p:nvSpPr>
              <p:cNvPr id="253" name="CustomShape 65"/>
              <p:cNvSpPr/>
              <p:nvPr/>
            </p:nvSpPr>
            <p:spPr>
              <a:xfrm>
                <a:off x="5437800" y="2368440"/>
                <a:ext cx="537071"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Fusionado</a:t>
                </a:r>
                <a:endParaRPr lang="en-US" sz="675" spc="-1">
                  <a:latin typeface="Times New Roman"/>
                </a:endParaRPr>
              </a:p>
            </p:txBody>
          </p:sp>
          <p:sp>
            <p:nvSpPr>
              <p:cNvPr id="254" name="CustomShape 66"/>
              <p:cNvSpPr/>
              <p:nvPr/>
            </p:nvSpPr>
            <p:spPr>
              <a:xfrm>
                <a:off x="6607440" y="2638080"/>
                <a:ext cx="125932"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200" b="1" spc="-1" dirty="0">
                    <a:latin typeface="Arial"/>
                  </a:rPr>
                  <a:t>T</a:t>
                </a:r>
                <a:endParaRPr lang="en-US" sz="1200" spc="-1" dirty="0">
                  <a:latin typeface="Times New Roman"/>
                </a:endParaRPr>
              </a:p>
            </p:txBody>
          </p:sp>
          <p:sp>
            <p:nvSpPr>
              <p:cNvPr id="255" name="CustomShape 67"/>
              <p:cNvSpPr/>
              <p:nvPr/>
            </p:nvSpPr>
            <p:spPr>
              <a:xfrm>
                <a:off x="5853960" y="2895480"/>
                <a:ext cx="492187"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Ensayador</a:t>
                </a:r>
                <a:endParaRPr lang="en-US" sz="600" spc="-1">
                  <a:latin typeface="Times New Roman"/>
                </a:endParaRPr>
              </a:p>
            </p:txBody>
          </p:sp>
          <p:sp>
            <p:nvSpPr>
              <p:cNvPr id="256" name="CustomShape 68"/>
              <p:cNvSpPr/>
              <p:nvPr/>
            </p:nvSpPr>
            <p:spPr>
              <a:xfrm>
                <a:off x="5852160" y="3022200"/>
                <a:ext cx="953765"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Verifica la corrección</a:t>
                </a:r>
                <a:endParaRPr lang="en-US" sz="600" spc="-1">
                  <a:latin typeface="Times New Roman"/>
                </a:endParaRPr>
              </a:p>
            </p:txBody>
          </p:sp>
          <p:sp>
            <p:nvSpPr>
              <p:cNvPr id="257" name="CustomShape 69"/>
              <p:cNvSpPr/>
              <p:nvPr/>
            </p:nvSpPr>
            <p:spPr>
              <a:xfrm>
                <a:off x="6879960" y="2811600"/>
                <a:ext cx="737280" cy="345960"/>
              </a:xfrm>
              <a:prstGeom prst="rect">
                <a:avLst/>
              </a:prstGeom>
              <a:noFill/>
              <a:ln w="0">
                <a:noFill/>
              </a:ln>
            </p:spPr>
            <p:style>
              <a:lnRef idx="0">
                <a:scrgbClr r="0" g="0" b="0"/>
              </a:lnRef>
              <a:fillRef idx="0">
                <a:scrgbClr r="0" g="0" b="0"/>
              </a:fillRef>
              <a:effectRef idx="0">
                <a:scrgbClr r="0" g="0" b="0"/>
              </a:effectRef>
              <a:fontRef idx="minor"/>
            </p:style>
          </p:sp>
          <p:sp>
            <p:nvSpPr>
              <p:cNvPr id="258" name="CustomShape 70"/>
              <p:cNvSpPr/>
              <p:nvPr/>
            </p:nvSpPr>
            <p:spPr>
              <a:xfrm>
                <a:off x="6960240" y="2889000"/>
                <a:ext cx="319745"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dirty="0">
                    <a:latin typeface="Arial"/>
                  </a:rPr>
                  <a:t>SCCB)</a:t>
                </a:r>
                <a:endParaRPr lang="en-US" sz="600" spc="-1" dirty="0">
                  <a:latin typeface="Times New Roman"/>
                </a:endParaRPr>
              </a:p>
            </p:txBody>
          </p:sp>
          <p:sp>
            <p:nvSpPr>
              <p:cNvPr id="259" name="CustomShape 71"/>
              <p:cNvSpPr/>
              <p:nvPr/>
            </p:nvSpPr>
            <p:spPr>
              <a:xfrm>
                <a:off x="6980040" y="3078360"/>
                <a:ext cx="777221" cy="12311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00" spc="-1">
                    <a:latin typeface="Arial"/>
                  </a:rPr>
                  <a:t>Acuerda el cierre</a:t>
                </a:r>
                <a:endParaRPr lang="en-US" sz="600" spc="-1">
                  <a:latin typeface="Times New Roman"/>
                </a:endParaRPr>
              </a:p>
            </p:txBody>
          </p:sp>
          <p:grpSp>
            <p:nvGrpSpPr>
              <p:cNvPr id="260" name="Group 72"/>
              <p:cNvGrpSpPr/>
              <p:nvPr/>
            </p:nvGrpSpPr>
            <p:grpSpPr>
              <a:xfrm>
                <a:off x="762120" y="2714400"/>
                <a:ext cx="367200" cy="135000"/>
                <a:chOff x="762120" y="2714400"/>
                <a:chExt cx="367200" cy="135000"/>
              </a:xfrm>
            </p:grpSpPr>
            <p:sp>
              <p:nvSpPr>
                <p:cNvPr id="261" name="Line 73"/>
                <p:cNvSpPr/>
                <p:nvPr/>
              </p:nvSpPr>
              <p:spPr>
                <a:xfrm>
                  <a:off x="809640" y="2773080"/>
                  <a:ext cx="240480" cy="144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62" name="CustomShape 74"/>
                <p:cNvSpPr/>
                <p:nvPr/>
              </p:nvSpPr>
              <p:spPr>
                <a:xfrm>
                  <a:off x="762120" y="2714400"/>
                  <a:ext cx="95400" cy="115920"/>
                </a:xfrm>
                <a:prstGeom prst="ellipse">
                  <a:avLst/>
                </a:prstGeom>
                <a:solidFill>
                  <a:srgbClr val="000000"/>
                </a:solidFill>
                <a:ln w="0">
                  <a:noFill/>
                </a:ln>
              </p:spPr>
              <p:style>
                <a:lnRef idx="0">
                  <a:scrgbClr r="0" g="0" b="0"/>
                </a:lnRef>
                <a:fillRef idx="0">
                  <a:scrgbClr r="0" g="0" b="0"/>
                </a:fillRef>
                <a:effectRef idx="0">
                  <a:scrgbClr r="0" g="0" b="0"/>
                </a:effectRef>
                <a:fontRef idx="minor"/>
              </p:style>
            </p:sp>
            <p:sp>
              <p:nvSpPr>
                <p:cNvPr id="263" name="CustomShape 75"/>
                <p:cNvSpPr/>
                <p:nvPr/>
              </p:nvSpPr>
              <p:spPr>
                <a:xfrm>
                  <a:off x="1018080" y="2714400"/>
                  <a:ext cx="111240" cy="135000"/>
                </a:xfrm>
                <a:custGeom>
                  <a:avLst/>
                  <a:gdLst/>
                  <a:ahLst/>
                  <a:cxnLst/>
                  <a:rect l="l" t="t" r="r" b="b"/>
                  <a:pathLst>
                    <a:path w="84" h="85">
                      <a:moveTo>
                        <a:pt x="0" y="85"/>
                      </a:moveTo>
                      <a:lnTo>
                        <a:pt x="84" y="37"/>
                      </a:lnTo>
                      <a:lnTo>
                        <a:pt x="0" y="0"/>
                      </a:lnTo>
                      <a:lnTo>
                        <a:pt x="0" y="85"/>
                      </a:lnTo>
                      <a:close/>
                    </a:path>
                  </a:pathLst>
                </a:custGeom>
                <a:solidFill>
                  <a:srgbClr val="000000"/>
                </a:solidFill>
                <a:ln w="0">
                  <a:noFill/>
                </a:ln>
              </p:spPr>
              <p:style>
                <a:lnRef idx="0">
                  <a:scrgbClr r="0" g="0" b="0"/>
                </a:lnRef>
                <a:fillRef idx="0">
                  <a:scrgbClr r="0" g="0" b="0"/>
                </a:fillRef>
                <a:effectRef idx="0">
                  <a:scrgbClr r="0" g="0" b="0"/>
                </a:effectRef>
                <a:fontRef idx="minor"/>
              </p:style>
            </p:sp>
          </p:grpSp>
          <p:sp>
            <p:nvSpPr>
              <p:cNvPr id="264" name="CustomShape 76"/>
              <p:cNvSpPr/>
              <p:nvPr/>
            </p:nvSpPr>
            <p:spPr>
              <a:xfrm>
                <a:off x="2283120" y="1582920"/>
                <a:ext cx="352800" cy="365760"/>
              </a:xfrm>
              <a:prstGeom prst="ellipse">
                <a:avLst/>
              </a:prstGeom>
              <a:solidFill>
                <a:srgbClr val="FFFFFF"/>
              </a:solidFill>
              <a:ln w="19080">
                <a:solidFill>
                  <a:srgbClr val="000000"/>
                </a:solidFill>
                <a:miter/>
              </a:ln>
            </p:spPr>
            <p:style>
              <a:lnRef idx="0">
                <a:scrgbClr r="0" g="0" b="0"/>
              </a:lnRef>
              <a:fillRef idx="0">
                <a:scrgbClr r="0" g="0" b="0"/>
              </a:fillRef>
              <a:effectRef idx="0">
                <a:scrgbClr r="0" g="0" b="0"/>
              </a:effectRef>
              <a:fontRef idx="minor"/>
            </p:style>
          </p:sp>
          <p:sp>
            <p:nvSpPr>
              <p:cNvPr id="265" name="CustomShape 77"/>
              <p:cNvSpPr/>
              <p:nvPr/>
            </p:nvSpPr>
            <p:spPr>
              <a:xfrm>
                <a:off x="2394720" y="1677960"/>
                <a:ext cx="87" cy="24622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200" spc="-1" dirty="0">
                  <a:latin typeface="Times New Roman"/>
                </a:endParaRPr>
              </a:p>
            </p:txBody>
          </p:sp>
          <p:sp>
            <p:nvSpPr>
              <p:cNvPr id="266" name="CustomShape 78"/>
              <p:cNvSpPr/>
              <p:nvPr/>
            </p:nvSpPr>
            <p:spPr>
              <a:xfrm>
                <a:off x="2745720" y="1523880"/>
                <a:ext cx="581955" cy="1385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675" spc="-1">
                    <a:latin typeface="Arial"/>
                  </a:rPr>
                  <a:t>Rechazado</a:t>
                </a:r>
                <a:endParaRPr lang="en-US" sz="675" spc="-1">
                  <a:latin typeface="Times New Roman"/>
                </a:endParaRPr>
              </a:p>
            </p:txBody>
          </p:sp>
          <p:grpSp>
            <p:nvGrpSpPr>
              <p:cNvPr id="267" name="Group 79"/>
              <p:cNvGrpSpPr/>
              <p:nvPr/>
            </p:nvGrpSpPr>
            <p:grpSpPr>
              <a:xfrm>
                <a:off x="2427840" y="2005200"/>
                <a:ext cx="110880" cy="307440"/>
                <a:chOff x="2427840" y="2005200"/>
                <a:chExt cx="110880" cy="307440"/>
              </a:xfrm>
            </p:grpSpPr>
            <p:sp>
              <p:nvSpPr>
                <p:cNvPr id="268" name="Line 80"/>
                <p:cNvSpPr/>
                <p:nvPr/>
              </p:nvSpPr>
              <p:spPr>
                <a:xfrm flipV="1">
                  <a:off x="2475360" y="2099880"/>
                  <a:ext cx="1440" cy="21276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69" name="CustomShape 81"/>
                <p:cNvSpPr/>
                <p:nvPr/>
              </p:nvSpPr>
              <p:spPr>
                <a:xfrm>
                  <a:off x="2427840" y="2005200"/>
                  <a:ext cx="110880" cy="134640"/>
                </a:xfrm>
                <a:custGeom>
                  <a:avLst/>
                  <a:gdLst/>
                  <a:ahLst/>
                  <a:cxnLst/>
                  <a:rect l="l" t="t" r="r" b="b"/>
                  <a:pathLst>
                    <a:path w="84" h="85">
                      <a:moveTo>
                        <a:pt x="84" y="85"/>
                      </a:moveTo>
                      <a:lnTo>
                        <a:pt x="36" y="0"/>
                      </a:lnTo>
                      <a:lnTo>
                        <a:pt x="0" y="85"/>
                      </a:lnTo>
                      <a:lnTo>
                        <a:pt x="84" y="85"/>
                      </a:lnTo>
                      <a:close/>
                    </a:path>
                  </a:pathLst>
                </a:custGeom>
                <a:solidFill>
                  <a:srgbClr val="000000"/>
                </a:solidFill>
                <a:ln w="0">
                  <a:noFill/>
                </a:ln>
              </p:spPr>
              <p:style>
                <a:lnRef idx="0">
                  <a:scrgbClr r="0" g="0" b="0"/>
                </a:lnRef>
                <a:fillRef idx="0">
                  <a:scrgbClr r="0" g="0" b="0"/>
                </a:fillRef>
                <a:effectRef idx="0">
                  <a:scrgbClr r="0" g="0" b="0"/>
                </a:effectRef>
                <a:fontRef idx="minor"/>
              </p:style>
            </p:sp>
          </p:grpSp>
          <p:sp>
            <p:nvSpPr>
              <p:cNvPr id="270" name="Line 82"/>
              <p:cNvSpPr/>
              <p:nvPr/>
            </p:nvSpPr>
            <p:spPr>
              <a:xfrm flipV="1">
                <a:off x="1658880" y="2304720"/>
                <a:ext cx="806760" cy="7920"/>
              </a:xfrm>
              <a:prstGeom prst="line">
                <a:avLst/>
              </a:prstGeom>
              <a:ln w="19080">
                <a:solidFill>
                  <a:srgbClr val="000000"/>
                </a:solidFill>
                <a:miter/>
              </a:ln>
            </p:spPr>
            <p:style>
              <a:lnRef idx="0">
                <a:scrgbClr r="0" g="0" b="0"/>
              </a:lnRef>
              <a:fillRef idx="0">
                <a:scrgbClr r="0" g="0" b="0"/>
              </a:fillRef>
              <a:effectRef idx="0">
                <a:scrgbClr r="0" g="0" b="0"/>
              </a:effectRef>
              <a:fontRef idx="minor"/>
            </p:style>
          </p:sp>
          <p:sp>
            <p:nvSpPr>
              <p:cNvPr id="271" name="Line 83"/>
              <p:cNvSpPr/>
              <p:nvPr/>
            </p:nvSpPr>
            <p:spPr>
              <a:xfrm flipV="1">
                <a:off x="1418040" y="2313000"/>
                <a:ext cx="256320" cy="306000"/>
              </a:xfrm>
              <a:prstGeom prst="line">
                <a:avLst/>
              </a:prstGeom>
              <a:ln w="19080">
                <a:solidFill>
                  <a:srgbClr val="000000"/>
                </a:solidFill>
                <a:miter/>
              </a:ln>
            </p:spPr>
            <p:style>
              <a:lnRef idx="0">
                <a:scrgbClr r="0" g="0" b="0"/>
              </a:lnRef>
              <a:fillRef idx="0">
                <a:scrgbClr r="0" g="0" b="0"/>
              </a:fillRef>
              <a:effectRef idx="0">
                <a:scrgbClr r="0" g="0" b="0"/>
              </a:effectRef>
              <a:fontRef idx="minor"/>
            </p:style>
          </p:sp>
        </p:grpSp>
        <p:sp>
          <p:nvSpPr>
            <p:cNvPr id="272" name="CustomShape 84"/>
            <p:cNvSpPr/>
            <p:nvPr/>
          </p:nvSpPr>
          <p:spPr>
            <a:xfrm>
              <a:off x="1127880" y="4083840"/>
              <a:ext cx="6035760" cy="365400"/>
            </a:xfrm>
            <a:custGeom>
              <a:avLst/>
              <a:gdLst/>
              <a:ahLst/>
              <a:cxnLst/>
              <a:rect l="l" t="t" r="r" b="b"/>
              <a:pathLst>
                <a:path w="21600" h="21600">
                  <a:moveTo>
                    <a:pt x="0" y="0"/>
                  </a:moveTo>
                  <a:lnTo>
                    <a:pt x="21600" y="0"/>
                  </a:lnTo>
                  <a:lnTo>
                    <a:pt x="21600" y="21600"/>
                  </a:lnTo>
                  <a:lnTo>
                    <a:pt x="0" y="21600"/>
                  </a:lnTo>
                  <a:lnTo>
                    <a:pt x="0" y="0"/>
                  </a:lnTo>
                  <a:close/>
                </a:path>
              </a:pathLst>
            </a:custGeom>
            <a:solidFill>
              <a:srgbClr val="FFFFFF"/>
            </a:solidFill>
            <a:ln w="9360">
              <a:solidFill>
                <a:srgbClr val="FFFFFF"/>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273987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Gestión</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configuración</a:t>
            </a:r>
            <a:r>
              <a:rPr lang="en-US" sz="2700" b="1" spc="-1" dirty="0">
                <a:solidFill>
                  <a:srgbClr val="FF0000"/>
                </a:solidFill>
                <a:effectLst>
                  <a:outerShdw blurRad="38100" dist="38100" dir="2700000" algn="tl">
                    <a:srgbClr val="000000">
                      <a:alpha val="43137"/>
                    </a:srgbClr>
                  </a:outerShdw>
                </a:effectLst>
                <a:latin typeface="Times New Roman"/>
              </a:rPr>
              <a:t> de software</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274" name="CustomShape 2"/>
          <p:cNvSpPr/>
          <p:nvPr/>
        </p:nvSpPr>
        <p:spPr>
          <a:xfrm>
            <a:off x="648929" y="800010"/>
            <a:ext cx="7680960" cy="3948870"/>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squar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a:latin typeface="Times New Roman"/>
              </a:rPr>
              <a:t>SCM</a:t>
            </a:r>
            <a:r>
              <a:rPr lang="en-US" sz="1800" spc="-1" dirty="0">
                <a:latin typeface="Times New Roman"/>
              </a:rPr>
              <a:t>– </a:t>
            </a:r>
            <a:r>
              <a:rPr lang="en-US" sz="1800" spc="-1" dirty="0" err="1">
                <a:latin typeface="Times New Roman"/>
              </a:rPr>
              <a:t>actividades</a:t>
            </a:r>
            <a:r>
              <a:rPr lang="en-US" sz="1800" spc="-1" dirty="0">
                <a:latin typeface="Times New Roman"/>
              </a:rPr>
              <a:t> que </a:t>
            </a:r>
            <a:r>
              <a:rPr lang="en-US" sz="1800" spc="-1" dirty="0" err="1">
                <a:latin typeface="Times New Roman"/>
              </a:rPr>
              <a:t>aseguren</a:t>
            </a:r>
            <a:r>
              <a:rPr lang="en-US" sz="1800" spc="-1" dirty="0">
                <a:latin typeface="Times New Roman"/>
              </a:rPr>
              <a:t> que los </a:t>
            </a:r>
            <a:r>
              <a:rPr lang="en-US" sz="1800" spc="-1" dirty="0" err="1">
                <a:latin typeface="Times New Roman"/>
              </a:rPr>
              <a:t>productos</a:t>
            </a:r>
            <a:r>
              <a:rPr lang="en-US" sz="1800" spc="-1" dirty="0">
                <a:latin typeface="Times New Roman"/>
              </a:rPr>
              <a:t> de software se </a:t>
            </a:r>
            <a:r>
              <a:rPr lang="en-US" sz="1800" spc="-1" dirty="0" err="1">
                <a:latin typeface="Times New Roman"/>
              </a:rPr>
              <a:t>identifiquen</a:t>
            </a:r>
            <a:r>
              <a:rPr lang="en-US" sz="1800" spc="-1" dirty="0">
                <a:latin typeface="Times New Roman"/>
              </a:rPr>
              <a:t> </a:t>
            </a:r>
            <a:r>
              <a:rPr lang="en-US" sz="1800" spc="-1" dirty="0" err="1">
                <a:latin typeface="Times New Roman"/>
              </a:rPr>
              <a:t>correctamente</a:t>
            </a:r>
            <a:r>
              <a:rPr lang="en-US" sz="1800" spc="-1" dirty="0">
                <a:latin typeface="Times New Roman"/>
              </a:rPr>
              <a:t> y que se </a:t>
            </a:r>
            <a:r>
              <a:rPr lang="en-US" sz="1800" spc="-1" dirty="0" err="1">
                <a:latin typeface="Times New Roman"/>
              </a:rPr>
              <a:t>haga</a:t>
            </a:r>
            <a:r>
              <a:rPr lang="en-US" sz="1800" spc="-1" dirty="0">
                <a:latin typeface="Times New Roman"/>
              </a:rPr>
              <a:t> un </a:t>
            </a:r>
            <a:r>
              <a:rPr lang="en-US" sz="1800" spc="-1" dirty="0" err="1">
                <a:latin typeface="Times New Roman"/>
              </a:rPr>
              <a:t>seguimiento</a:t>
            </a:r>
            <a:r>
              <a:rPr lang="en-US" sz="1800" spc="-1" dirty="0">
                <a:latin typeface="Times New Roman"/>
              </a:rPr>
              <a:t> de </a:t>
            </a:r>
            <a:r>
              <a:rPr lang="en-US" sz="1800" spc="-1" dirty="0" err="1">
                <a:latin typeface="Times New Roman"/>
              </a:rPr>
              <a:t>su</a:t>
            </a:r>
            <a:r>
              <a:rPr lang="en-US" sz="1800" spc="-1" dirty="0">
                <a:latin typeface="Times New Roman"/>
              </a:rPr>
              <a:t> </a:t>
            </a:r>
            <a:r>
              <a:rPr lang="en-US" sz="1800" spc="-1" dirty="0" err="1">
                <a:latin typeface="Times New Roman"/>
              </a:rPr>
              <a:t>transición</a:t>
            </a:r>
            <a:r>
              <a:rPr lang="en-US" sz="1800" spc="-1" dirty="0">
                <a:latin typeface="Times New Roman"/>
              </a:rPr>
              <a:t>. </a:t>
            </a:r>
            <a:r>
              <a:rPr lang="en-US" sz="1800" spc="-1" dirty="0" err="1">
                <a:latin typeface="Times New Roman"/>
              </a:rPr>
              <a:t>En</a:t>
            </a:r>
            <a:r>
              <a:rPr lang="en-US" sz="1800" spc="-1" dirty="0">
                <a:latin typeface="Times New Roman"/>
              </a:rPr>
              <a:t> </a:t>
            </a:r>
            <a:r>
              <a:rPr lang="en-US" sz="1800" spc="-1" dirty="0" err="1">
                <a:latin typeface="Times New Roman"/>
              </a:rPr>
              <a:t>muchas</a:t>
            </a:r>
            <a:r>
              <a:rPr lang="en-US" sz="1800" spc="-1" dirty="0">
                <a:latin typeface="Times New Roman"/>
              </a:rPr>
              <a:t> </a:t>
            </a:r>
            <a:r>
              <a:rPr lang="en-US" sz="1800" spc="-1" dirty="0" err="1">
                <a:latin typeface="Times New Roman"/>
              </a:rPr>
              <a:t>organizaciones</a:t>
            </a:r>
            <a:r>
              <a:rPr lang="en-US" sz="1800" spc="-1" dirty="0">
                <a:latin typeface="Times New Roman"/>
              </a:rPr>
              <a:t> </a:t>
            </a:r>
            <a:r>
              <a:rPr lang="en-US" sz="1800" spc="-1" dirty="0" err="1">
                <a:latin typeface="Times New Roman"/>
              </a:rPr>
              <a:t>maduras</a:t>
            </a:r>
            <a:r>
              <a:rPr lang="en-US" sz="1800" spc="-1" dirty="0">
                <a:latin typeface="Times New Roman"/>
              </a:rPr>
              <a:t>, la </a:t>
            </a:r>
            <a:r>
              <a:rPr lang="en-US" sz="1800" spc="-1" dirty="0" err="1">
                <a:latin typeface="Times New Roman"/>
              </a:rPr>
              <a:t>gestión</a:t>
            </a:r>
            <a:r>
              <a:rPr lang="en-US" sz="1800" spc="-1" dirty="0">
                <a:latin typeface="Times New Roman"/>
              </a:rPr>
              <a:t> de la </a:t>
            </a:r>
            <a:r>
              <a:rPr lang="en-US" sz="1800" spc="-1" dirty="0" err="1">
                <a:latin typeface="Times New Roman"/>
              </a:rPr>
              <a:t>cadena</a:t>
            </a:r>
            <a:r>
              <a:rPr lang="en-US" sz="1800" spc="-1" dirty="0">
                <a:latin typeface="Times New Roman"/>
              </a:rPr>
              <a:t> de </a:t>
            </a:r>
            <a:r>
              <a:rPr lang="en-US" sz="1800" spc="-1" dirty="0" err="1">
                <a:latin typeface="Times New Roman"/>
              </a:rPr>
              <a:t>suministro</a:t>
            </a:r>
            <a:r>
              <a:rPr lang="en-US" sz="1800" spc="-1" dirty="0">
                <a:latin typeface="Times New Roman"/>
              </a:rPr>
              <a:t> no forma </a:t>
            </a:r>
            <a:r>
              <a:rPr lang="en-US" sz="1800" spc="-1" dirty="0" err="1">
                <a:latin typeface="Times New Roman"/>
              </a:rPr>
              <a:t>parte</a:t>
            </a:r>
            <a:r>
              <a:rPr lang="en-US" sz="1800" spc="-1" dirty="0">
                <a:latin typeface="Times New Roman"/>
              </a:rPr>
              <a:t> de las </a:t>
            </a:r>
            <a:r>
              <a:rPr lang="en-US" sz="1800" spc="-1" dirty="0" err="1">
                <a:latin typeface="Times New Roman"/>
              </a:rPr>
              <a:t>responsabilidades</a:t>
            </a:r>
            <a:r>
              <a:rPr lang="en-US" sz="1800" spc="-1" dirty="0">
                <a:latin typeface="Times New Roman"/>
              </a:rPr>
              <a:t> de control de </a:t>
            </a:r>
            <a:r>
              <a:rPr lang="en-US" sz="1800" spc="-1" dirty="0" err="1">
                <a:latin typeface="Times New Roman"/>
              </a:rPr>
              <a:t>calidad</a:t>
            </a:r>
            <a:r>
              <a:rPr lang="en-US" sz="18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a:t>
            </a:r>
            <a:r>
              <a:rPr lang="en-US" sz="1800" b="1" spc="-1" dirty="0" err="1">
                <a:latin typeface="Times New Roman"/>
                <a:ea typeface="Times New Roman"/>
              </a:rPr>
              <a:t>Identificación</a:t>
            </a:r>
            <a:r>
              <a:rPr lang="en-US" sz="1800" b="1" spc="-1" dirty="0">
                <a:latin typeface="Times New Roman"/>
                <a:ea typeface="Times New Roman"/>
              </a:rPr>
              <a:t> de </a:t>
            </a:r>
            <a:r>
              <a:rPr lang="en-US" sz="1800" b="1" spc="-1" dirty="0" err="1">
                <a:latin typeface="Times New Roman"/>
                <a:ea typeface="Times New Roman"/>
              </a:rPr>
              <a:t>línea</a:t>
            </a:r>
            <a:r>
              <a:rPr lang="en-US" sz="1800" b="1" spc="-1" dirty="0">
                <a:latin typeface="Times New Roman"/>
                <a:ea typeface="Times New Roman"/>
              </a:rPr>
              <a:t> base</a:t>
            </a:r>
            <a:r>
              <a:rPr lang="en-US" sz="1800" spc="-1" dirty="0">
                <a:latin typeface="Times New Roman"/>
                <a:ea typeface="Times New Roman"/>
              </a:rPr>
              <a:t>– </a:t>
            </a:r>
            <a:r>
              <a:rPr lang="en-US" sz="1800" spc="-1" dirty="0" err="1">
                <a:latin typeface="Times New Roman"/>
                <a:ea typeface="Times New Roman"/>
              </a:rPr>
              <a:t>identificación</a:t>
            </a:r>
            <a:r>
              <a:rPr lang="en-US" sz="1800" spc="-1" dirty="0">
                <a:latin typeface="Times New Roman"/>
                <a:ea typeface="Times New Roman"/>
              </a:rPr>
              <a:t> del </a:t>
            </a:r>
            <a:r>
              <a:rPr lang="en-US" sz="1800" spc="-1" dirty="0" err="1">
                <a:latin typeface="Times New Roman"/>
                <a:ea typeface="Times New Roman"/>
              </a:rPr>
              <a:t>estado</a:t>
            </a:r>
            <a:r>
              <a:rPr lang="en-US" sz="1800" spc="-1" dirty="0">
                <a:latin typeface="Times New Roman"/>
                <a:ea typeface="Times New Roman"/>
              </a:rPr>
              <a:t> </a:t>
            </a:r>
            <a:r>
              <a:rPr lang="en-US" sz="1800" spc="-1" dirty="0" err="1">
                <a:latin typeface="Times New Roman"/>
                <a:ea typeface="Times New Roman"/>
              </a:rPr>
              <a:t>inicial</a:t>
            </a:r>
            <a:r>
              <a:rPr lang="en-US" sz="1800" spc="-1" dirty="0">
                <a:latin typeface="Times New Roman"/>
                <a:ea typeface="Times New Roman"/>
              </a:rPr>
              <a:t> del </a:t>
            </a:r>
            <a:r>
              <a:rPr lang="en-US" sz="1800" spc="-1" dirty="0" err="1">
                <a:latin typeface="Times New Roman"/>
                <a:ea typeface="Times New Roman"/>
              </a:rPr>
              <a:t>producto</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a:t>
            </a:r>
            <a:r>
              <a:rPr lang="en-US" sz="1800" b="1" spc="-1" dirty="0" err="1">
                <a:latin typeface="Times New Roman"/>
                <a:ea typeface="Times New Roman"/>
              </a:rPr>
              <a:t>Cambiar</a:t>
            </a:r>
            <a:r>
              <a:rPr lang="en-US" sz="1800" b="1" spc="-1" dirty="0">
                <a:latin typeface="Times New Roman"/>
                <a:ea typeface="Times New Roman"/>
              </a:rPr>
              <a:t> </a:t>
            </a:r>
            <a:r>
              <a:rPr lang="en-US" sz="1800" b="1" spc="-1" dirty="0" err="1">
                <a:latin typeface="Times New Roman"/>
                <a:ea typeface="Times New Roman"/>
              </a:rPr>
              <a:t>identificación</a:t>
            </a:r>
            <a:r>
              <a:rPr lang="en-US" sz="1800" spc="-1" dirty="0">
                <a:latin typeface="Times New Roman"/>
                <a:ea typeface="Times New Roman"/>
              </a:rPr>
              <a:t>– </a:t>
            </a:r>
            <a:r>
              <a:rPr lang="en-US" sz="1800" spc="-1" dirty="0" err="1">
                <a:latin typeface="Times New Roman"/>
                <a:ea typeface="Times New Roman"/>
              </a:rPr>
              <a:t>identificación</a:t>
            </a:r>
            <a:r>
              <a:rPr lang="en-US" sz="1800" spc="-1" dirty="0">
                <a:latin typeface="Times New Roman"/>
                <a:ea typeface="Times New Roman"/>
              </a:rPr>
              <a:t> de los </a:t>
            </a:r>
            <a:r>
              <a:rPr lang="en-US" sz="1800" spc="-1" dirty="0" err="1">
                <a:latin typeface="Times New Roman"/>
                <a:ea typeface="Times New Roman"/>
              </a:rPr>
              <a:t>cambios</a:t>
            </a:r>
            <a:r>
              <a:rPr lang="en-US" sz="1800" spc="-1" dirty="0">
                <a:latin typeface="Times New Roman"/>
                <a:ea typeface="Times New Roman"/>
              </a:rPr>
              <a:t> </a:t>
            </a:r>
            <a:r>
              <a:rPr lang="en-US" sz="1800" spc="-1" dirty="0" err="1">
                <a:latin typeface="Times New Roman"/>
                <a:ea typeface="Times New Roman"/>
              </a:rPr>
              <a:t>realizados</a:t>
            </a:r>
            <a:r>
              <a:rPr lang="en-US" sz="1800" spc="-1" dirty="0">
                <a:latin typeface="Times New Roman"/>
                <a:ea typeface="Times New Roman"/>
              </a:rPr>
              <a:t> </a:t>
            </a:r>
            <a:r>
              <a:rPr lang="en-US" sz="1800" spc="-1" dirty="0" err="1">
                <a:latin typeface="Times New Roman"/>
                <a:ea typeface="Times New Roman"/>
              </a:rPr>
              <a:t>en</a:t>
            </a:r>
            <a:r>
              <a:rPr lang="en-US" sz="1800" spc="-1" dirty="0">
                <a:latin typeface="Times New Roman"/>
                <a:ea typeface="Times New Roman"/>
              </a:rPr>
              <a:t> la </a:t>
            </a:r>
            <a:r>
              <a:rPr lang="en-US" sz="1800" spc="-1" dirty="0" err="1">
                <a:latin typeface="Times New Roman"/>
                <a:ea typeface="Times New Roman"/>
              </a:rPr>
              <a:t>línea</a:t>
            </a:r>
            <a:r>
              <a:rPr lang="en-US" sz="1800" spc="-1" dirty="0">
                <a:latin typeface="Times New Roman"/>
                <a:ea typeface="Times New Roman"/>
              </a:rPr>
              <a:t> base</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a:t>
            </a:r>
            <a:r>
              <a:rPr lang="en-US" sz="1800" b="1" spc="-1" dirty="0">
                <a:latin typeface="Times New Roman"/>
                <a:ea typeface="Times New Roman"/>
              </a:rPr>
              <a:t>Control de </a:t>
            </a:r>
            <a:r>
              <a:rPr lang="en-US" sz="1800" b="1" spc="-1" dirty="0" err="1">
                <a:latin typeface="Times New Roman"/>
                <a:ea typeface="Times New Roman"/>
              </a:rPr>
              <a:t>cambios</a:t>
            </a:r>
            <a:r>
              <a:rPr lang="en-US" sz="1800" spc="-1" dirty="0">
                <a:latin typeface="Times New Roman"/>
                <a:ea typeface="Times New Roman"/>
              </a:rPr>
              <a:t>– </a:t>
            </a:r>
            <a:r>
              <a:rPr lang="en-US" sz="1800" spc="-1" dirty="0" err="1">
                <a:latin typeface="Times New Roman"/>
                <a:ea typeface="Times New Roman"/>
              </a:rPr>
              <a:t>documentación</a:t>
            </a:r>
            <a:r>
              <a:rPr lang="en-US" sz="1800" spc="-1" dirty="0">
                <a:latin typeface="Times New Roman"/>
                <a:ea typeface="Times New Roman"/>
              </a:rPr>
              <a:t> de </a:t>
            </a:r>
            <a:r>
              <a:rPr lang="en-US" sz="1800" spc="-1" dirty="0" err="1">
                <a:latin typeface="Times New Roman"/>
                <a:ea typeface="Times New Roman"/>
              </a:rPr>
              <a:t>cambios</a:t>
            </a:r>
            <a:r>
              <a:rPr lang="en-US" sz="1800" spc="-1" dirty="0">
                <a:latin typeface="Times New Roman"/>
                <a:ea typeface="Times New Roman"/>
              </a:rPr>
              <a:t> a </a:t>
            </a:r>
            <a:r>
              <a:rPr lang="en-US" sz="1800" spc="-1" dirty="0" err="1">
                <a:latin typeface="Times New Roman"/>
                <a:ea typeface="Times New Roman"/>
              </a:rPr>
              <a:t>través</a:t>
            </a:r>
            <a:r>
              <a:rPr lang="en-US" sz="1800" spc="-1" dirty="0">
                <a:latin typeface="Times New Roman"/>
                <a:ea typeface="Times New Roman"/>
              </a:rPr>
              <a:t> del </a:t>
            </a:r>
            <a:r>
              <a:rPr lang="en-US" sz="1800" spc="-1" dirty="0" err="1">
                <a:latin typeface="Times New Roman"/>
                <a:ea typeface="Times New Roman"/>
              </a:rPr>
              <a:t>historial</a:t>
            </a:r>
            <a:r>
              <a:rPr lang="en-US" sz="1800" spc="-1" dirty="0">
                <a:latin typeface="Times New Roman"/>
                <a:ea typeface="Times New Roman"/>
              </a:rPr>
              <a:t> de </a:t>
            </a:r>
            <a:r>
              <a:rPr lang="en-US" sz="1800" spc="-1" dirty="0" err="1">
                <a:latin typeface="Times New Roman"/>
                <a:ea typeface="Times New Roman"/>
              </a:rPr>
              <a:t>revisiones</a:t>
            </a:r>
            <a:r>
              <a:rPr lang="en-US" sz="1800" spc="-1" dirty="0">
                <a:latin typeface="Times New Roman"/>
                <a:ea typeface="Times New Roman"/>
              </a:rPr>
              <a:t>, </a:t>
            </a:r>
            <a:r>
              <a:rPr lang="en-US" sz="1800" spc="-1" dirty="0" err="1">
                <a:latin typeface="Times New Roman"/>
                <a:ea typeface="Times New Roman"/>
              </a:rPr>
              <a:t>resumen</a:t>
            </a:r>
            <a:r>
              <a:rPr lang="en-US" sz="1800" spc="-1" dirty="0">
                <a:latin typeface="Times New Roman"/>
                <a:ea typeface="Times New Roman"/>
              </a:rPr>
              <a:t> de </a:t>
            </a:r>
            <a:r>
              <a:rPr lang="en-US" sz="1800" spc="-1" dirty="0" err="1">
                <a:latin typeface="Times New Roman"/>
                <a:ea typeface="Times New Roman"/>
              </a:rPr>
              <a:t>cambios</a:t>
            </a:r>
            <a:r>
              <a:rPr lang="en-US" sz="1800" spc="-1" dirty="0">
                <a:latin typeface="Times New Roman"/>
                <a:ea typeface="Times New Roman"/>
              </a:rPr>
              <a:t> o </a:t>
            </a:r>
            <a:r>
              <a:rPr lang="en-US" sz="1800" spc="-1" dirty="0" err="1">
                <a:latin typeface="Times New Roman"/>
                <a:ea typeface="Times New Roman"/>
              </a:rPr>
              <a:t>utilizando</a:t>
            </a:r>
            <a:r>
              <a:rPr lang="en-US" sz="1800" spc="-1" dirty="0">
                <a:latin typeface="Times New Roman"/>
                <a:ea typeface="Times New Roman"/>
              </a:rPr>
              <a:t> </a:t>
            </a:r>
            <a:r>
              <a:rPr lang="en-US" sz="1800" spc="-1" dirty="0" err="1">
                <a:latin typeface="Times New Roman"/>
                <a:ea typeface="Times New Roman"/>
              </a:rPr>
              <a:t>herramientas</a:t>
            </a:r>
            <a:r>
              <a:rPr lang="en-US" sz="1800" spc="-1" dirty="0">
                <a:latin typeface="Times New Roman"/>
                <a:ea typeface="Times New Roman"/>
              </a:rPr>
              <a:t> de </a:t>
            </a:r>
            <a:r>
              <a:rPr lang="en-US" sz="1800" spc="-1" dirty="0" err="1">
                <a:latin typeface="Times New Roman"/>
                <a:ea typeface="Times New Roman"/>
              </a:rPr>
              <a:t>desarrollo</a:t>
            </a:r>
            <a:r>
              <a:rPr lang="en-US" sz="1800" spc="-1" dirty="0">
                <a:latin typeface="Times New Roman"/>
                <a:ea typeface="Times New Roman"/>
              </a:rPr>
              <a:t> </a:t>
            </a:r>
            <a:r>
              <a:rPr lang="en-US" sz="1800" spc="-1" dirty="0" err="1">
                <a:latin typeface="Times New Roman"/>
                <a:ea typeface="Times New Roman"/>
              </a:rPr>
              <a:t>automatizadas</a:t>
            </a:r>
            <a:r>
              <a:rPr lang="en-US" sz="1800" spc="-1" dirty="0">
                <a:latin typeface="Times New Roman"/>
                <a:ea typeface="Times New Roman"/>
              </a:rPr>
              <a:t> (ClearCase o Apex)</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a:t>
            </a:r>
            <a:r>
              <a:rPr lang="en-US" sz="1800" b="1" spc="-1" dirty="0" err="1">
                <a:latin typeface="Times New Roman"/>
                <a:ea typeface="Times New Roman"/>
              </a:rPr>
              <a:t>Contabilidad</a:t>
            </a:r>
            <a:r>
              <a:rPr lang="en-US" sz="1800" b="1" spc="-1" dirty="0">
                <a:latin typeface="Times New Roman"/>
                <a:ea typeface="Times New Roman"/>
              </a:rPr>
              <a:t> de </a:t>
            </a:r>
            <a:r>
              <a:rPr lang="en-US" sz="1800" b="1" spc="-1" dirty="0" err="1">
                <a:latin typeface="Times New Roman"/>
                <a:ea typeface="Times New Roman"/>
              </a:rPr>
              <a:t>estado</a:t>
            </a:r>
            <a:r>
              <a:rPr lang="en-US" sz="1800" spc="-1" dirty="0">
                <a:latin typeface="Times New Roman"/>
                <a:ea typeface="Times New Roman"/>
              </a:rPr>
              <a:t>– </a:t>
            </a:r>
            <a:r>
              <a:rPr lang="en-US" sz="1800" spc="-1" dirty="0" err="1">
                <a:latin typeface="Times New Roman"/>
                <a:ea typeface="Times New Roman"/>
              </a:rPr>
              <a:t>informar</a:t>
            </a:r>
            <a:r>
              <a:rPr lang="en-US" sz="1800" spc="-1" dirty="0">
                <a:latin typeface="Times New Roman"/>
                <a:ea typeface="Times New Roman"/>
              </a:rPr>
              <a:t> </a:t>
            </a:r>
            <a:r>
              <a:rPr lang="en-US" sz="1800" spc="-1" dirty="0" err="1">
                <a:latin typeface="Times New Roman"/>
                <a:ea typeface="Times New Roman"/>
              </a:rPr>
              <a:t>cambios</a:t>
            </a:r>
            <a:r>
              <a:rPr lang="en-US" sz="1800" spc="-1" dirty="0">
                <a:latin typeface="Times New Roman"/>
                <a:ea typeface="Times New Roman"/>
              </a:rPr>
              <a:t> a </a:t>
            </a:r>
            <a:r>
              <a:rPr lang="en-US" sz="1800" spc="-1" dirty="0" err="1">
                <a:latin typeface="Times New Roman"/>
                <a:ea typeface="Times New Roman"/>
              </a:rPr>
              <a:t>otros</a:t>
            </a:r>
            <a:r>
              <a:rPr lang="en-US" sz="1800" spc="-1" dirty="0">
                <a:latin typeface="Times New Roman"/>
                <a:ea typeface="Times New Roman"/>
              </a:rPr>
              <a:t> y </a:t>
            </a:r>
            <a:r>
              <a:rPr lang="en-US" sz="1800" spc="-1" dirty="0" err="1">
                <a:latin typeface="Times New Roman"/>
                <a:ea typeface="Times New Roman"/>
              </a:rPr>
              <a:t>supervisar</a:t>
            </a:r>
            <a:r>
              <a:rPr lang="en-US" sz="1800" spc="-1" dirty="0">
                <a:latin typeface="Times New Roman"/>
                <a:ea typeface="Times New Roman"/>
              </a:rPr>
              <a:t> la </a:t>
            </a:r>
            <a:r>
              <a:rPr lang="en-US" sz="1800" spc="-1" dirty="0" err="1">
                <a:latin typeface="Times New Roman"/>
                <a:ea typeface="Times New Roman"/>
              </a:rPr>
              <a:t>integridad</a:t>
            </a:r>
            <a:r>
              <a:rPr lang="en-US" sz="1800" spc="-1" dirty="0">
                <a:latin typeface="Times New Roman"/>
                <a:ea typeface="Times New Roman"/>
              </a:rPr>
              <a:t> de los </a:t>
            </a:r>
            <a:r>
              <a:rPr lang="en-US" sz="1800" spc="-1" dirty="0" err="1">
                <a:latin typeface="Times New Roman"/>
                <a:ea typeface="Times New Roman"/>
              </a:rPr>
              <a:t>archivos</a:t>
            </a:r>
            <a:r>
              <a:rPr lang="en-US" sz="1800" spc="-1" dirty="0">
                <a:latin typeface="Times New Roman"/>
                <a:ea typeface="Times New Roman"/>
              </a:rPr>
              <a:t> del </a:t>
            </a:r>
            <a:r>
              <a:rPr lang="en-US" sz="1800" spc="-1" dirty="0" err="1">
                <a:latin typeface="Times New Roman"/>
                <a:ea typeface="Times New Roman"/>
              </a:rPr>
              <a:t>proyecto</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ea typeface="Times New Roman"/>
              </a:rPr>
              <a:t>•</a:t>
            </a:r>
            <a:r>
              <a:rPr lang="en-US" sz="1800" b="1" spc="-1" dirty="0" err="1">
                <a:latin typeface="Times New Roman"/>
                <a:ea typeface="Times New Roman"/>
              </a:rPr>
              <a:t>Preservación</a:t>
            </a:r>
            <a:r>
              <a:rPr lang="en-US" sz="1800" spc="-1" dirty="0">
                <a:latin typeface="Times New Roman"/>
                <a:ea typeface="Times New Roman"/>
              </a:rPr>
              <a:t>– </a:t>
            </a:r>
            <a:r>
              <a:rPr lang="en-US" sz="1800" spc="-1" dirty="0" err="1">
                <a:latin typeface="Times New Roman"/>
                <a:ea typeface="Times New Roman"/>
              </a:rPr>
              <a:t>guardián</a:t>
            </a:r>
            <a:r>
              <a:rPr lang="en-US" sz="1800" spc="-1" dirty="0">
                <a:latin typeface="Times New Roman"/>
                <a:ea typeface="Times New Roman"/>
              </a:rPr>
              <a:t> de los </a:t>
            </a:r>
            <a:r>
              <a:rPr lang="en-US" sz="1800" spc="-1" dirty="0" err="1">
                <a:latin typeface="Times New Roman"/>
                <a:ea typeface="Times New Roman"/>
              </a:rPr>
              <a:t>productos</a:t>
            </a:r>
            <a:r>
              <a:rPr lang="en-US" sz="1800" spc="-1" dirty="0">
                <a:latin typeface="Times New Roman"/>
                <a:ea typeface="Times New Roman"/>
              </a:rPr>
              <a:t> de software</a:t>
            </a:r>
            <a:endParaRPr lang="en-US" sz="1800" spc="-1" dirty="0">
              <a:latin typeface="Times New Roman"/>
            </a:endParaRPr>
          </a:p>
        </p:txBody>
      </p:sp>
    </p:spTree>
    <p:extLst>
      <p:ext uri="{BB962C8B-B14F-4D97-AF65-F5344CB8AC3E}">
        <p14:creationId xmlns:p14="http://schemas.microsoft.com/office/powerpoint/2010/main" val="1372188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extShape 1"/>
          <p:cNvSpPr txBox="1"/>
          <p:nvPr/>
        </p:nvSpPr>
        <p:spPr>
          <a:xfrm>
            <a:off x="1657350" y="171423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3300" b="1" spc="-1" dirty="0" err="1">
                <a:solidFill>
                  <a:srgbClr val="FF0000"/>
                </a:solidFill>
                <a:effectLst>
                  <a:outerShdw blurRad="38100" dist="38100" dir="2700000" algn="tl">
                    <a:srgbClr val="000000">
                      <a:alpha val="43137"/>
                    </a:srgbClr>
                  </a:outerShdw>
                </a:effectLst>
                <a:latin typeface="Times New Roman"/>
              </a:rPr>
              <a:t>Métricas</a:t>
            </a:r>
            <a:r>
              <a:rPr lang="en-US" sz="3300" b="1" spc="-1" dirty="0">
                <a:solidFill>
                  <a:srgbClr val="FF0000"/>
                </a:solidFill>
                <a:effectLst>
                  <a:outerShdw blurRad="38100" dist="38100" dir="2700000" algn="tl">
                    <a:srgbClr val="000000">
                      <a:alpha val="43137"/>
                    </a:srgbClr>
                  </a:outerShdw>
                </a:effectLst>
                <a:latin typeface="Times New Roman"/>
              </a:rPr>
              <a:t> de </a:t>
            </a:r>
            <a:r>
              <a:rPr lang="en-US" sz="3300" b="1" spc="-1" dirty="0" err="1">
                <a:solidFill>
                  <a:srgbClr val="FF0000"/>
                </a:solidFill>
                <a:effectLst>
                  <a:outerShdw blurRad="38100" dist="38100" dir="2700000" algn="tl">
                    <a:srgbClr val="000000">
                      <a:alpha val="43137"/>
                    </a:srgbClr>
                  </a:outerShdw>
                </a:effectLst>
                <a:latin typeface="Times New Roman"/>
              </a:rPr>
              <a:t>calidad</a:t>
            </a:r>
            <a:r>
              <a:rPr lang="en-US" sz="3300" b="1" spc="-1" dirty="0">
                <a:solidFill>
                  <a:srgbClr val="FF0000"/>
                </a:solidFill>
                <a:effectLst>
                  <a:outerShdw blurRad="38100" dist="38100" dir="2700000" algn="tl">
                    <a:srgbClr val="000000">
                      <a:alpha val="43137"/>
                    </a:srgbClr>
                  </a:outerShdw>
                </a:effectLst>
                <a:latin typeface="Times New Roman"/>
              </a:rPr>
              <a:t> del software</a:t>
            </a:r>
            <a:endParaRPr lang="en-US" sz="3300" spc="-1" dirty="0">
              <a:solidFill>
                <a:srgbClr val="FF0000"/>
              </a:solidFill>
              <a:effectLst>
                <a:outerShdw blurRad="38100" dist="38100" dir="2700000" algn="tl">
                  <a:srgbClr val="000000">
                    <a:alpha val="43137"/>
                  </a:srgbClr>
                </a:outerShdw>
              </a:effectLst>
              <a:latin typeface="Times New Roman"/>
            </a:endParaRPr>
          </a:p>
        </p:txBody>
      </p:sp>
      <p:sp>
        <p:nvSpPr>
          <p:cNvPr id="276" name="TextShape 2"/>
          <p:cNvSpPr txBox="1"/>
          <p:nvPr/>
        </p:nvSpPr>
        <p:spPr>
          <a:xfrm>
            <a:off x="2171700" y="2914650"/>
            <a:ext cx="4800600" cy="1314360"/>
          </a:xfrm>
          <a:prstGeom prst="rect">
            <a:avLst/>
          </a:prstGeom>
          <a:noFill/>
          <a:ln w="0">
            <a:noFill/>
          </a:ln>
        </p:spPr>
        <p:txBody>
          <a:bodyPr lIns="67500" tIns="35100" rIns="67500" bIns="35100">
            <a:noAutofit/>
          </a:bodyPr>
          <a:lstStyle/>
          <a:p>
            <a: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400" spc="-1">
                <a:latin typeface="Times New Roman"/>
              </a:rPr>
              <a:t>Elemento IV</a:t>
            </a:r>
          </a:p>
        </p:txBody>
      </p:sp>
    </p:spTree>
    <p:extLst>
      <p:ext uri="{BB962C8B-B14F-4D97-AF65-F5344CB8AC3E}">
        <p14:creationId xmlns:p14="http://schemas.microsoft.com/office/powerpoint/2010/main" val="2078682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Recopilación</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métricas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278" name="CustomShape 2"/>
          <p:cNvSpPr/>
          <p:nvPr/>
        </p:nvSpPr>
        <p:spPr>
          <a:xfrm>
            <a:off x="1257210" y="888300"/>
            <a:ext cx="6611760" cy="3995037"/>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a:t>
            </a:r>
            <a:r>
              <a:rPr lang="en-US" sz="1500" b="1" spc="-1" dirty="0" err="1">
                <a:latin typeface="Times New Roman"/>
              </a:rPr>
              <a:t>Medición</a:t>
            </a:r>
            <a:r>
              <a:rPr lang="en-US" sz="1500" b="1" spc="-1" dirty="0">
                <a:latin typeface="Times New Roman"/>
              </a:rPr>
              <a:t> de software</a:t>
            </a:r>
            <a:r>
              <a:rPr lang="en-US" sz="1500" spc="-1" dirty="0">
                <a:latin typeface="Times New Roman"/>
              </a:rPr>
              <a:t>- </a:t>
            </a:r>
            <a:r>
              <a:rPr lang="en-US" sz="1500" spc="-1" dirty="0" err="1">
                <a:latin typeface="Times New Roman"/>
              </a:rPr>
              <a:t>el</a:t>
            </a:r>
            <a:r>
              <a:rPr lang="en-US" sz="1500" spc="-1" dirty="0">
                <a:latin typeface="Times New Roman"/>
              </a:rPr>
              <a:t> </a:t>
            </a:r>
            <a:r>
              <a:rPr lang="en-US" sz="1500" spc="-1" dirty="0" err="1">
                <a:latin typeface="Times New Roman"/>
              </a:rPr>
              <a:t>proceso</a:t>
            </a:r>
            <a:r>
              <a:rPr lang="en-US" sz="1500" spc="-1" dirty="0">
                <a:latin typeface="Times New Roman"/>
              </a:rPr>
              <a:t> de </a:t>
            </a:r>
            <a:r>
              <a:rPr lang="en-US" sz="1500" spc="-1" dirty="0" err="1">
                <a:latin typeface="Times New Roman"/>
              </a:rPr>
              <a:t>derivar</a:t>
            </a:r>
            <a:r>
              <a:rPr lang="en-US" sz="1500" spc="-1" dirty="0">
                <a:latin typeface="Times New Roman"/>
              </a:rPr>
              <a:t> un valor </a:t>
            </a:r>
            <a:r>
              <a:rPr lang="en-US" sz="1500" spc="-1" dirty="0" err="1">
                <a:latin typeface="Times New Roman"/>
              </a:rPr>
              <a:t>numérico</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 para </a:t>
            </a:r>
            <a:r>
              <a:rPr lang="en-US" sz="1500" spc="-1" dirty="0" err="1">
                <a:latin typeface="Times New Roman"/>
              </a:rPr>
              <a:t>algún</a:t>
            </a:r>
            <a:r>
              <a:rPr lang="en-US" sz="1500" spc="-1" dirty="0">
                <a:latin typeface="Times New Roman"/>
              </a:rPr>
              <a:t> </a:t>
            </a:r>
            <a:r>
              <a:rPr lang="en-US" sz="1500" spc="-1" dirty="0" err="1">
                <a:latin typeface="Times New Roman"/>
              </a:rPr>
              <a:t>atributo</a:t>
            </a:r>
            <a:r>
              <a:rPr lang="en-US" sz="1500" spc="-1" dirty="0">
                <a:latin typeface="Times New Roman"/>
              </a:rPr>
              <a:t> de un </a:t>
            </a:r>
            <a:r>
              <a:rPr lang="en-US" sz="1500" spc="-1" dirty="0" err="1">
                <a:latin typeface="Times New Roman"/>
              </a:rPr>
              <a:t>producto</a:t>
            </a:r>
            <a:r>
              <a:rPr lang="en-US" sz="1500" spc="-1" dirty="0">
                <a:latin typeface="Times New Roman"/>
              </a:rPr>
              <a:t> de software o de un </a:t>
            </a:r>
            <a:r>
              <a:rPr lang="en-US" sz="1500" spc="-1" dirty="0" err="1">
                <a:latin typeface="Times New Roman"/>
              </a:rPr>
              <a:t>proceso</a:t>
            </a:r>
            <a:r>
              <a:rPr lang="en-US" sz="1500" spc="-1" dirty="0">
                <a:latin typeface="Times New Roman"/>
              </a:rPr>
              <a:t> de software. La </a:t>
            </a:r>
            <a:r>
              <a:rPr lang="en-US" sz="1500" spc="-1" dirty="0" err="1">
                <a:latin typeface="Times New Roman"/>
              </a:rPr>
              <a:t>comparación</a:t>
            </a:r>
            <a:r>
              <a:rPr lang="en-US" sz="1500" spc="-1" dirty="0">
                <a:latin typeface="Times New Roman"/>
              </a:rPr>
              <a:t> de </a:t>
            </a:r>
            <a:r>
              <a:rPr lang="en-US" sz="1500" spc="-1" dirty="0" err="1">
                <a:latin typeface="Times New Roman"/>
              </a:rPr>
              <a:t>estos</a:t>
            </a:r>
            <a:r>
              <a:rPr lang="en-US" sz="1500" spc="-1" dirty="0">
                <a:latin typeface="Times New Roman"/>
              </a:rPr>
              <a:t> </a:t>
            </a:r>
            <a:r>
              <a:rPr lang="en-US" sz="1500" spc="-1" dirty="0" err="1">
                <a:latin typeface="Times New Roman"/>
              </a:rPr>
              <a:t>valores</a:t>
            </a:r>
            <a:r>
              <a:rPr lang="en-US" sz="1500" spc="-1" dirty="0">
                <a:latin typeface="Times New Roman"/>
              </a:rPr>
              <a:t> entre </a:t>
            </a:r>
            <a:r>
              <a:rPr lang="en-US" sz="1500" spc="-1" dirty="0" err="1">
                <a:latin typeface="Times New Roman"/>
              </a:rPr>
              <a:t>sí</a:t>
            </a:r>
            <a:r>
              <a:rPr lang="en-US" sz="1500" spc="-1" dirty="0">
                <a:latin typeface="Times New Roman"/>
              </a:rPr>
              <a:t> y con </a:t>
            </a:r>
            <a:r>
              <a:rPr lang="en-US" sz="1500" spc="-1" dirty="0" err="1">
                <a:latin typeface="Times New Roman"/>
              </a:rPr>
              <a:t>los</a:t>
            </a:r>
            <a:r>
              <a:rPr lang="en-US" sz="1500" spc="-1" dirty="0">
                <a:latin typeface="Times New Roman"/>
              </a:rPr>
              <a:t> STD </a:t>
            </a:r>
            <a:r>
              <a:rPr lang="en-US" sz="1500" spc="-1" dirty="0" err="1">
                <a:latin typeface="Times New Roman"/>
              </a:rPr>
              <a:t>permite</a:t>
            </a:r>
            <a:r>
              <a:rPr lang="en-US" sz="1500" spc="-1" dirty="0">
                <a:latin typeface="Times New Roman"/>
              </a:rPr>
              <a:t> </a:t>
            </a:r>
            <a:r>
              <a:rPr lang="en-US" sz="1500" spc="-1" dirty="0" err="1">
                <a:latin typeface="Times New Roman"/>
              </a:rPr>
              <a:t>sacar</a:t>
            </a:r>
            <a:r>
              <a:rPr lang="en-US" sz="1500" spc="-1" dirty="0">
                <a:latin typeface="Times New Roman"/>
              </a:rPr>
              <a:t> </a:t>
            </a:r>
            <a:r>
              <a:rPr lang="en-US" sz="1500" spc="-1" dirty="0" err="1">
                <a:latin typeface="Times New Roman"/>
              </a:rPr>
              <a:t>conclusiones</a:t>
            </a:r>
            <a:r>
              <a:rPr lang="en-US" sz="1500" spc="-1" dirty="0">
                <a:latin typeface="Times New Roman"/>
              </a:rPr>
              <a:t> </a:t>
            </a:r>
            <a:r>
              <a:rPr lang="en-US" sz="1500" spc="-1" dirty="0" err="1">
                <a:latin typeface="Times New Roman"/>
              </a:rPr>
              <a:t>sobre</a:t>
            </a:r>
            <a:r>
              <a:rPr lang="en-US" sz="1500" spc="-1" dirty="0">
                <a:latin typeface="Times New Roman"/>
              </a:rPr>
              <a:t> la </a:t>
            </a:r>
            <a:r>
              <a:rPr lang="en-US" sz="1500" spc="-1" dirty="0" err="1">
                <a:latin typeface="Times New Roman"/>
              </a:rPr>
              <a:t>calidad</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productos</a:t>
            </a:r>
            <a:r>
              <a:rPr lang="en-US" sz="1500" spc="-1" dirty="0">
                <a:latin typeface="Times New Roman"/>
              </a:rPr>
              <a:t> de software o del </a:t>
            </a:r>
            <a:r>
              <a:rPr lang="en-US" sz="1500" spc="-1" dirty="0" err="1">
                <a:latin typeface="Times New Roman"/>
              </a:rPr>
              <a:t>proceso</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•El </a:t>
            </a:r>
            <a:r>
              <a:rPr lang="en-US" sz="1500" spc="-1" dirty="0" err="1">
                <a:latin typeface="Times New Roman"/>
              </a:rPr>
              <a:t>enfoque</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programas</a:t>
            </a:r>
            <a:r>
              <a:rPr lang="en-US" sz="1500" spc="-1" dirty="0">
                <a:latin typeface="Times New Roman"/>
              </a:rPr>
              <a:t> de </a:t>
            </a:r>
            <a:r>
              <a:rPr lang="en-US" sz="1500" spc="-1" dirty="0" err="1">
                <a:latin typeface="Times New Roman"/>
              </a:rPr>
              <a:t>recopilación</a:t>
            </a:r>
            <a:r>
              <a:rPr lang="en-US" sz="1500" spc="-1" dirty="0">
                <a:latin typeface="Times New Roman"/>
              </a:rPr>
              <a:t> de </a:t>
            </a:r>
            <a:r>
              <a:rPr lang="en-US" sz="1500" spc="-1" dirty="0" err="1">
                <a:latin typeface="Times New Roman"/>
              </a:rPr>
              <a:t>métricas</a:t>
            </a:r>
            <a:r>
              <a:rPr lang="en-US" sz="1500" spc="-1" dirty="0">
                <a:latin typeface="Times New Roman"/>
              </a:rPr>
              <a:t> </a:t>
            </a:r>
            <a:r>
              <a:rPr lang="en-US" sz="1500" spc="-1" dirty="0" err="1">
                <a:latin typeface="Times New Roman"/>
              </a:rPr>
              <a:t>generalmente</a:t>
            </a:r>
            <a:r>
              <a:rPr lang="en-US" sz="1500" spc="-1" dirty="0">
                <a:latin typeface="Times New Roman"/>
              </a:rPr>
              <a:t> se centra </a:t>
            </a:r>
            <a:r>
              <a:rPr lang="en-US" sz="1500" spc="-1" dirty="0" err="1">
                <a:latin typeface="Times New Roman"/>
              </a:rPr>
              <a:t>en</a:t>
            </a:r>
            <a:r>
              <a:rPr lang="en-US" sz="1500" spc="-1" dirty="0">
                <a:latin typeface="Times New Roman"/>
              </a:rPr>
              <a:t> la </a:t>
            </a:r>
            <a:r>
              <a:rPr lang="en-US" sz="1500" spc="-1" dirty="0" err="1">
                <a:latin typeface="Times New Roman"/>
              </a:rPr>
              <a:t>recopilación</a:t>
            </a:r>
            <a:r>
              <a:rPr lang="en-US" sz="1500" spc="-1" dirty="0">
                <a:latin typeface="Times New Roman"/>
              </a:rPr>
              <a:t> de </a:t>
            </a:r>
            <a:r>
              <a:rPr lang="en-US" sz="1500" spc="-1" dirty="0" err="1">
                <a:latin typeface="Times New Roman"/>
              </a:rPr>
              <a:t>métricas</a:t>
            </a:r>
            <a:r>
              <a:rPr lang="en-US" sz="1500" spc="-1" dirty="0">
                <a:latin typeface="Times New Roman"/>
              </a:rPr>
              <a:t> </a:t>
            </a:r>
            <a:r>
              <a:rPr lang="en-US" sz="1500" spc="-1" dirty="0" err="1">
                <a:latin typeface="Times New Roman"/>
              </a:rPr>
              <a:t>sobre</a:t>
            </a:r>
            <a:r>
              <a:rPr lang="en-US" sz="1500" spc="-1" dirty="0">
                <a:latin typeface="Times New Roman"/>
              </a:rPr>
              <a:t> </a:t>
            </a:r>
            <a:r>
              <a:rPr lang="en-US" sz="1500" spc="-1" dirty="0" err="1">
                <a:latin typeface="Times New Roman"/>
              </a:rPr>
              <a:t>los</a:t>
            </a:r>
            <a:r>
              <a:rPr lang="en-US" sz="1500" spc="-1" dirty="0">
                <a:latin typeface="Times New Roman"/>
              </a:rPr>
              <a:t> </a:t>
            </a:r>
            <a:r>
              <a:rPr lang="en-US" sz="1500" spc="-1" dirty="0" err="1">
                <a:latin typeface="Times New Roman"/>
              </a:rPr>
              <a:t>defectos</a:t>
            </a:r>
            <a:r>
              <a:rPr lang="en-US" sz="1500" spc="-1" dirty="0">
                <a:latin typeface="Times New Roman"/>
              </a:rPr>
              <a:t> del </a:t>
            </a:r>
            <a:r>
              <a:rPr lang="en-US" sz="1500" spc="-1" dirty="0" err="1">
                <a:latin typeface="Times New Roman"/>
              </a:rPr>
              <a:t>programa</a:t>
            </a:r>
            <a:r>
              <a:rPr lang="en-US" sz="1500" spc="-1" dirty="0">
                <a:latin typeface="Times New Roman"/>
              </a:rPr>
              <a:t> y </a:t>
            </a:r>
            <a:r>
              <a:rPr lang="en-US" sz="1500" spc="-1" dirty="0" err="1">
                <a:latin typeface="Times New Roman"/>
              </a:rPr>
              <a:t>el</a:t>
            </a:r>
            <a:r>
              <a:rPr lang="en-US" sz="1500" spc="-1" dirty="0">
                <a:latin typeface="Times New Roman"/>
              </a:rPr>
              <a:t> </a:t>
            </a:r>
            <a:r>
              <a:rPr lang="en-US" sz="1500" spc="-1" dirty="0" err="1">
                <a:latin typeface="Times New Roman"/>
              </a:rPr>
              <a:t>proceso</a:t>
            </a:r>
            <a:r>
              <a:rPr lang="en-US" sz="1500" spc="-1" dirty="0">
                <a:latin typeface="Times New Roman"/>
              </a:rPr>
              <a:t> de V&amp;V.</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•Las </a:t>
            </a:r>
            <a:r>
              <a:rPr lang="en-US" sz="1500" spc="-1" dirty="0" err="1">
                <a:latin typeface="Times New Roman"/>
              </a:rPr>
              <a:t>métricas</a:t>
            </a:r>
            <a:r>
              <a:rPr lang="en-US" sz="1500" spc="-1" dirty="0">
                <a:latin typeface="Times New Roman"/>
              </a:rPr>
              <a:t> </a:t>
            </a:r>
            <a:r>
              <a:rPr lang="en-US" sz="1500" spc="-1" dirty="0" err="1">
                <a:latin typeface="Times New Roman"/>
              </a:rPr>
              <a:t>pueden</a:t>
            </a:r>
            <a:r>
              <a:rPr lang="en-US" sz="1500" spc="-1" dirty="0">
                <a:latin typeface="Times New Roman"/>
              </a:rPr>
              <a:t> </a:t>
            </a:r>
            <a:r>
              <a:rPr lang="en-US" sz="1500" spc="-1" dirty="0" err="1">
                <a:latin typeface="Times New Roman"/>
              </a:rPr>
              <a:t>ser:</a:t>
            </a:r>
            <a:r>
              <a:rPr lang="en-US" sz="1500" b="1" spc="-1" dirty="0" err="1">
                <a:latin typeface="Times New Roman"/>
              </a:rPr>
              <a:t>Métricas</a:t>
            </a:r>
            <a:r>
              <a:rPr lang="en-US" sz="1500" b="1" spc="-1" dirty="0">
                <a:latin typeface="Times New Roman"/>
              </a:rPr>
              <a:t> de control </a:t>
            </a:r>
            <a:r>
              <a:rPr lang="en-US" sz="1500" spc="-1" dirty="0">
                <a:latin typeface="Times New Roman"/>
              </a:rPr>
              <a:t>o </a:t>
            </a:r>
            <a:r>
              <a:rPr lang="en-US" sz="1500" spc="-1" dirty="0" err="1">
                <a:latin typeface="Times New Roman"/>
              </a:rPr>
              <a:t>m</a:t>
            </a:r>
            <a:r>
              <a:rPr lang="en-US" sz="1500" b="1" spc="-1" dirty="0" err="1">
                <a:latin typeface="Times New Roman"/>
              </a:rPr>
              <a:t>étricas</a:t>
            </a:r>
            <a:r>
              <a:rPr lang="en-US" sz="1500" b="1" spc="-1" dirty="0">
                <a:latin typeface="Times New Roman"/>
              </a:rPr>
              <a:t> </a:t>
            </a:r>
            <a:r>
              <a:rPr lang="en-US" sz="1500" b="1" spc="-1" dirty="0" err="1">
                <a:latin typeface="Times New Roman"/>
              </a:rPr>
              <a:t>predictoras</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•La </a:t>
            </a:r>
            <a:r>
              <a:rPr lang="en-US" sz="1500" spc="-1" dirty="0" err="1">
                <a:latin typeface="Times New Roman"/>
              </a:rPr>
              <a:t>mayoría</a:t>
            </a:r>
            <a:r>
              <a:rPr lang="en-US" sz="1500" spc="-1" dirty="0">
                <a:latin typeface="Times New Roman"/>
              </a:rPr>
              <a:t> de las “</a:t>
            </a:r>
            <a:r>
              <a:rPr lang="en-US" sz="1500" spc="-1" dirty="0" err="1">
                <a:latin typeface="Times New Roman"/>
              </a:rPr>
              <a:t>capacidades</a:t>
            </a:r>
            <a:r>
              <a:rPr lang="en-US" sz="1500" spc="-1" dirty="0">
                <a:latin typeface="Times New Roman"/>
              </a:rPr>
              <a:t>” no se </a:t>
            </a:r>
            <a:r>
              <a:rPr lang="en-US" sz="1500" spc="-1" dirty="0" err="1">
                <a:latin typeface="Times New Roman"/>
              </a:rPr>
              <a:t>pueden</a:t>
            </a:r>
            <a:r>
              <a:rPr lang="en-US" sz="1500" spc="-1" dirty="0">
                <a:latin typeface="Times New Roman"/>
              </a:rPr>
              <a:t> </a:t>
            </a:r>
            <a:r>
              <a:rPr lang="en-US" sz="1500" spc="-1" dirty="0" err="1">
                <a:latin typeface="Times New Roman"/>
              </a:rPr>
              <a:t>medir</a:t>
            </a:r>
            <a:r>
              <a:rPr lang="en-US" sz="1500" spc="-1" dirty="0">
                <a:latin typeface="Times New Roman"/>
              </a:rPr>
              <a:t> </a:t>
            </a:r>
            <a:r>
              <a:rPr lang="en-US" sz="1500" spc="-1" dirty="0" err="1">
                <a:latin typeface="Times New Roman"/>
              </a:rPr>
              <a:t>directamente</a:t>
            </a:r>
            <a:r>
              <a:rPr lang="en-US" sz="1500" spc="-1" dirty="0">
                <a:latin typeface="Times New Roman"/>
              </a:rPr>
              <a:t> a </a:t>
            </a:r>
            <a:r>
              <a:rPr lang="en-US" sz="1500" spc="-1" dirty="0" err="1">
                <a:latin typeface="Times New Roman"/>
              </a:rPr>
              <a:t>menos</a:t>
            </a:r>
            <a:r>
              <a:rPr lang="en-US" sz="1500" spc="-1" dirty="0">
                <a:latin typeface="Times New Roman"/>
              </a:rPr>
              <a:t> que </a:t>
            </a:r>
            <a:r>
              <a:rPr lang="en-US" sz="1500" spc="-1" dirty="0" err="1">
                <a:latin typeface="Times New Roman"/>
              </a:rPr>
              <a:t>existan</a:t>
            </a:r>
            <a:r>
              <a:rPr lang="en-US" sz="1500" spc="-1" dirty="0">
                <a:latin typeface="Times New Roman"/>
              </a:rPr>
              <a:t> </a:t>
            </a:r>
            <a:r>
              <a:rPr lang="en-US" sz="1500" spc="-1" dirty="0" err="1">
                <a:latin typeface="Times New Roman"/>
              </a:rPr>
              <a:t>datos</a:t>
            </a:r>
            <a:r>
              <a:rPr lang="en-US" sz="1500" spc="-1" dirty="0">
                <a:latin typeface="Times New Roman"/>
              </a:rPr>
              <a:t> </a:t>
            </a:r>
            <a:r>
              <a:rPr lang="en-US" sz="1500" spc="-1" dirty="0" err="1">
                <a:latin typeface="Times New Roman"/>
              </a:rPr>
              <a:t>históricos</a:t>
            </a:r>
            <a:r>
              <a:rPr lang="en-US" sz="1500" spc="-1" dirty="0">
                <a:latin typeface="Times New Roman"/>
              </a:rPr>
              <a:t>. En </a:t>
            </a:r>
            <a:r>
              <a:rPr lang="en-US" sz="1500" spc="-1" dirty="0" err="1">
                <a:latin typeface="Times New Roman"/>
              </a:rPr>
              <a:t>lugar</a:t>
            </a:r>
            <a:r>
              <a:rPr lang="en-US" sz="1500" spc="-1" dirty="0">
                <a:latin typeface="Times New Roman"/>
              </a:rPr>
              <a:t> de </a:t>
            </a:r>
            <a:r>
              <a:rPr lang="en-US" sz="1500" spc="-1" dirty="0" err="1">
                <a:latin typeface="Times New Roman"/>
              </a:rPr>
              <a:t>ello</a:t>
            </a:r>
            <a:r>
              <a:rPr lang="en-US" sz="1500" spc="-1" dirty="0">
                <a:latin typeface="Times New Roman"/>
              </a:rPr>
              <a:t>, se </a:t>
            </a:r>
            <a:r>
              <a:rPr lang="en-US" sz="1500" spc="-1" dirty="0" err="1">
                <a:latin typeface="Times New Roman"/>
              </a:rPr>
              <a:t>miden</a:t>
            </a:r>
            <a:r>
              <a:rPr lang="en-US" sz="1500" spc="-1" dirty="0">
                <a:latin typeface="Times New Roman"/>
              </a:rPr>
              <a:t> </a:t>
            </a:r>
            <a:r>
              <a:rPr lang="en-US" sz="1500" spc="-1" dirty="0" err="1">
                <a:latin typeface="Times New Roman"/>
              </a:rPr>
              <a:t>los</a:t>
            </a:r>
            <a:r>
              <a:rPr lang="en-US" sz="1500" spc="-1" dirty="0">
                <a:latin typeface="Times New Roman"/>
              </a:rPr>
              <a:t> </a:t>
            </a:r>
            <a:r>
              <a:rPr lang="en-US" sz="1500" spc="-1" dirty="0" err="1">
                <a:latin typeface="Times New Roman"/>
              </a:rPr>
              <a:t>atributos</a:t>
            </a:r>
            <a:r>
              <a:rPr lang="en-US" sz="1500" spc="-1" dirty="0">
                <a:latin typeface="Times New Roman"/>
              </a:rPr>
              <a:t> tangibles del </a:t>
            </a:r>
            <a:r>
              <a:rPr lang="en-US" sz="1500" spc="-1" dirty="0" err="1">
                <a:latin typeface="Times New Roman"/>
              </a:rPr>
              <a:t>producto</a:t>
            </a:r>
            <a:r>
              <a:rPr lang="en-US" sz="1500" spc="-1" dirty="0">
                <a:latin typeface="Times New Roman"/>
              </a:rPr>
              <a:t> de software y </a:t>
            </a:r>
            <a:r>
              <a:rPr lang="en-US" sz="1500" spc="-1" dirty="0" err="1">
                <a:latin typeface="Times New Roman"/>
              </a:rPr>
              <a:t>los</a:t>
            </a:r>
            <a:r>
              <a:rPr lang="en-US" sz="1500" spc="-1" dirty="0">
                <a:latin typeface="Times New Roman"/>
              </a:rPr>
              <a:t> </a:t>
            </a:r>
            <a:r>
              <a:rPr lang="en-US" sz="1500" spc="-1" dirty="0" err="1">
                <a:latin typeface="Times New Roman"/>
              </a:rPr>
              <a:t>factores</a:t>
            </a:r>
            <a:r>
              <a:rPr lang="en-US" sz="1500" spc="-1" dirty="0">
                <a:latin typeface="Times New Roman"/>
              </a:rPr>
              <a:t> de “</a:t>
            </a:r>
            <a:r>
              <a:rPr lang="en-US" sz="1500" spc="-1" dirty="0" err="1">
                <a:latin typeface="Times New Roman"/>
              </a:rPr>
              <a:t>capacidad</a:t>
            </a:r>
            <a:r>
              <a:rPr lang="en-US" sz="1500" spc="-1" dirty="0">
                <a:latin typeface="Times New Roman"/>
              </a:rPr>
              <a:t>” se </a:t>
            </a:r>
            <a:r>
              <a:rPr lang="en-US" sz="1500" spc="-1" dirty="0" err="1">
                <a:latin typeface="Times New Roman"/>
              </a:rPr>
              <a:t>derivan</a:t>
            </a:r>
            <a:r>
              <a:rPr lang="en-US" sz="1500" spc="-1" dirty="0">
                <a:latin typeface="Times New Roman"/>
              </a:rPr>
              <a:t> </a:t>
            </a:r>
            <a:r>
              <a:rPr lang="en-US" sz="1500" spc="-1" dirty="0" err="1">
                <a:latin typeface="Times New Roman"/>
              </a:rPr>
              <a:t>utilizando</a:t>
            </a:r>
            <a:r>
              <a:rPr lang="en-US" sz="1500" spc="-1" dirty="0">
                <a:latin typeface="Times New Roman"/>
              </a:rPr>
              <a:t> </a:t>
            </a:r>
            <a:r>
              <a:rPr lang="en-US" sz="1500" spc="-1" dirty="0" err="1">
                <a:latin typeface="Times New Roman"/>
              </a:rPr>
              <a:t>relaciones</a:t>
            </a:r>
            <a:r>
              <a:rPr lang="en-US" sz="1500" spc="-1" dirty="0">
                <a:latin typeface="Times New Roman"/>
              </a:rPr>
              <a:t> </a:t>
            </a:r>
            <a:r>
              <a:rPr lang="en-US" sz="1500" spc="-1" dirty="0" err="1">
                <a:latin typeface="Times New Roman"/>
              </a:rPr>
              <a:t>predefinidas</a:t>
            </a:r>
            <a:r>
              <a:rPr lang="en-US" sz="1500" spc="-1" dirty="0">
                <a:latin typeface="Times New Roman"/>
              </a:rPr>
              <a:t> entre </a:t>
            </a:r>
            <a:r>
              <a:rPr lang="en-US" sz="1500" spc="-1" dirty="0" err="1">
                <a:latin typeface="Times New Roman"/>
              </a:rPr>
              <a:t>atributos</a:t>
            </a:r>
            <a:r>
              <a:rPr lang="en-US" sz="1500" spc="-1" dirty="0">
                <a:latin typeface="Times New Roman"/>
              </a:rPr>
              <a:t> </a:t>
            </a:r>
            <a:r>
              <a:rPr lang="en-US" sz="1500" spc="-1" dirty="0" err="1">
                <a:latin typeface="Times New Roman"/>
              </a:rPr>
              <a:t>medibles</a:t>
            </a:r>
            <a:r>
              <a:rPr lang="en-US" sz="1500" spc="-1" dirty="0">
                <a:latin typeface="Times New Roman"/>
              </a:rPr>
              <a:t> y </a:t>
            </a:r>
            <a:r>
              <a:rPr lang="en-US" sz="1500" spc="-1" dirty="0" err="1">
                <a:latin typeface="Times New Roman"/>
              </a:rPr>
              <a:t>sintéticos</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•Las </a:t>
            </a:r>
            <a:r>
              <a:rPr lang="en-US" sz="1500" spc="-1" dirty="0" err="1">
                <a:latin typeface="Times New Roman"/>
              </a:rPr>
              <a:t>condiciones</a:t>
            </a:r>
            <a:r>
              <a:rPr lang="en-US" sz="1500" spc="-1" dirty="0">
                <a:latin typeface="Times New Roman"/>
              </a:rPr>
              <a:t> </a:t>
            </a:r>
            <a:r>
              <a:rPr lang="en-US" sz="1500" spc="-1" dirty="0" err="1">
                <a:latin typeface="Times New Roman"/>
              </a:rPr>
              <a:t>límite</a:t>
            </a:r>
            <a:r>
              <a:rPr lang="en-US" sz="1500" spc="-1" dirty="0">
                <a:latin typeface="Times New Roman"/>
              </a:rPr>
              <a:t> para </a:t>
            </a:r>
            <a:r>
              <a:rPr lang="en-US" sz="1500" spc="-1" dirty="0" err="1">
                <a:latin typeface="Times New Roman"/>
              </a:rPr>
              <a:t>todas</a:t>
            </a:r>
            <a:r>
              <a:rPr lang="en-US" sz="1500" spc="-1" dirty="0">
                <a:latin typeface="Times New Roman"/>
              </a:rPr>
              <a:t> las </a:t>
            </a:r>
            <a:r>
              <a:rPr lang="en-US" sz="1500" spc="-1" dirty="0" err="1">
                <a:latin typeface="Times New Roman"/>
              </a:rPr>
              <a:t>mediciones</a:t>
            </a:r>
            <a:r>
              <a:rPr lang="en-US" sz="1500" spc="-1" dirty="0">
                <a:latin typeface="Times New Roman"/>
              </a:rPr>
              <a:t> </a:t>
            </a:r>
            <a:r>
              <a:rPr lang="en-US" sz="1500" spc="-1" dirty="0" err="1">
                <a:latin typeface="Times New Roman"/>
              </a:rPr>
              <a:t>deben</a:t>
            </a:r>
            <a:r>
              <a:rPr lang="en-US" sz="1500" spc="-1" dirty="0">
                <a:latin typeface="Times New Roman"/>
              </a:rPr>
              <a:t> </a:t>
            </a:r>
            <a:r>
              <a:rPr lang="en-US" sz="1500" spc="-1" dirty="0" err="1">
                <a:latin typeface="Times New Roman"/>
              </a:rPr>
              <a:t>establecerse</a:t>
            </a:r>
            <a:r>
              <a:rPr lang="en-US" sz="1500" spc="-1" dirty="0">
                <a:latin typeface="Times New Roman"/>
              </a:rPr>
              <a:t> de </a:t>
            </a:r>
            <a:r>
              <a:rPr lang="en-US" sz="1500" spc="-1" dirty="0" err="1">
                <a:latin typeface="Times New Roman"/>
              </a:rPr>
              <a:t>antemano</a:t>
            </a:r>
            <a:r>
              <a:rPr lang="en-US" sz="1500" spc="-1" dirty="0">
                <a:latin typeface="Times New Roman"/>
              </a:rPr>
              <a:t> y luego </a:t>
            </a:r>
            <a:r>
              <a:rPr lang="en-US" sz="1500" spc="-1" dirty="0" err="1">
                <a:latin typeface="Times New Roman"/>
              </a:rPr>
              <a:t>revisarse</a:t>
            </a:r>
            <a:r>
              <a:rPr lang="en-US" sz="1500" spc="-1" dirty="0">
                <a:latin typeface="Times New Roman"/>
              </a:rPr>
              <a:t> </a:t>
            </a:r>
            <a:r>
              <a:rPr lang="en-US" sz="1500" spc="-1" dirty="0" err="1">
                <a:latin typeface="Times New Roman"/>
              </a:rPr>
              <a:t>una</a:t>
            </a:r>
            <a:r>
              <a:rPr lang="en-US" sz="1500" spc="-1" dirty="0">
                <a:latin typeface="Times New Roman"/>
              </a:rPr>
              <a:t> </a:t>
            </a:r>
            <a:r>
              <a:rPr lang="en-US" sz="1500" spc="-1" dirty="0" err="1">
                <a:latin typeface="Times New Roman"/>
              </a:rPr>
              <a:t>vez</a:t>
            </a:r>
            <a:r>
              <a:rPr lang="en-US" sz="1500" spc="-1" dirty="0">
                <a:latin typeface="Times New Roman"/>
              </a:rPr>
              <a:t> que se </a:t>
            </a:r>
            <a:r>
              <a:rPr lang="en-US" sz="1500" spc="-1" dirty="0" err="1">
                <a:latin typeface="Times New Roman"/>
              </a:rPr>
              <a:t>haya</a:t>
            </a:r>
            <a:r>
              <a:rPr lang="en-US" sz="1500" spc="-1" dirty="0">
                <a:latin typeface="Times New Roman"/>
              </a:rPr>
              <a:t> </a:t>
            </a:r>
            <a:r>
              <a:rPr lang="en-US" sz="1500" spc="-1" dirty="0" err="1">
                <a:latin typeface="Times New Roman"/>
              </a:rPr>
              <a:t>establecido</a:t>
            </a:r>
            <a:r>
              <a:rPr lang="en-US" sz="1500" spc="-1" dirty="0">
                <a:latin typeface="Times New Roman"/>
              </a:rPr>
              <a:t> un gran banco de </a:t>
            </a:r>
            <a:r>
              <a:rPr lang="en-US" sz="1500" spc="-1" dirty="0" err="1">
                <a:latin typeface="Times New Roman"/>
              </a:rPr>
              <a:t>datos</a:t>
            </a:r>
            <a:r>
              <a:rPr lang="en-US" sz="1500" spc="-1" dirty="0">
                <a:latin typeface="Times New Roman"/>
              </a:rPr>
              <a:t> </a:t>
            </a:r>
            <a:r>
              <a:rPr lang="en-US" sz="1500" spc="-1" dirty="0" err="1">
                <a:latin typeface="Times New Roman"/>
              </a:rPr>
              <a:t>históricos</a:t>
            </a:r>
            <a:r>
              <a:rPr lang="en-US" sz="1500" spc="-1" dirty="0">
                <a:latin typeface="Times New Roman"/>
              </a:rPr>
              <a:t>.</a:t>
            </a:r>
          </a:p>
        </p:txBody>
      </p:sp>
    </p:spTree>
    <p:extLst>
      <p:ext uri="{BB962C8B-B14F-4D97-AF65-F5344CB8AC3E}">
        <p14:creationId xmlns:p14="http://schemas.microsoft.com/office/powerpoint/2010/main" val="4134150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a:solidFill>
                  <a:srgbClr val="FF0000"/>
                </a:solidFill>
                <a:effectLst>
                  <a:outerShdw blurRad="38100" dist="38100" dir="2700000" algn="tl">
                    <a:srgbClr val="000000">
                      <a:alpha val="43137"/>
                    </a:srgbClr>
                  </a:outerShdw>
                </a:effectLst>
                <a:latin typeface="Times New Roman"/>
              </a:rPr>
              <a:t>El </a:t>
            </a:r>
            <a:r>
              <a:rPr lang="en-US" sz="2700" b="1" spc="-1" dirty="0" err="1">
                <a:solidFill>
                  <a:srgbClr val="FF0000"/>
                </a:solidFill>
                <a:effectLst>
                  <a:outerShdw blurRad="38100" dist="38100" dir="2700000" algn="tl">
                    <a:srgbClr val="000000">
                      <a:alpha val="43137"/>
                    </a:srgbClr>
                  </a:outerShdw>
                </a:effectLst>
                <a:latin typeface="Times New Roman"/>
              </a:rPr>
              <a:t>proceso</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medición</a:t>
            </a:r>
            <a:r>
              <a:rPr lang="en-US" sz="2700" b="1" spc="-1" dirty="0">
                <a:solidFill>
                  <a:srgbClr val="FF0000"/>
                </a:solidFill>
                <a:effectLst>
                  <a:outerShdw blurRad="38100" dist="38100" dir="2700000" algn="tl">
                    <a:srgbClr val="000000">
                      <a:alpha val="43137"/>
                    </a:srgbClr>
                  </a:outerShdw>
                </a:effectLst>
                <a:latin typeface="Times New Roman"/>
              </a:rPr>
              <a:t> del </a:t>
            </a:r>
            <a:r>
              <a:rPr lang="en-US" sz="2700" b="1" spc="-1" dirty="0" err="1">
                <a:solidFill>
                  <a:srgbClr val="FF0000"/>
                </a:solidFill>
                <a:effectLst>
                  <a:outerShdw blurRad="38100" dist="38100" dir="2700000" algn="tl">
                    <a:srgbClr val="000000">
                      <a:alpha val="43137"/>
                    </a:srgbClr>
                  </a:outerShdw>
                </a:effectLst>
                <a:latin typeface="Times New Roman"/>
              </a:rPr>
              <a:t>producto</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280" name="Process%20for%20product%20measurement"/>
          <p:cNvPicPr/>
          <p:nvPr/>
        </p:nvPicPr>
        <p:blipFill>
          <a:blip r:embed="rId2"/>
          <a:stretch/>
        </p:blipFill>
        <p:spPr>
          <a:xfrm>
            <a:off x="1485900" y="743040"/>
            <a:ext cx="6172200" cy="2343060"/>
          </a:xfrm>
          <a:prstGeom prst="rect">
            <a:avLst/>
          </a:prstGeom>
          <a:ln w="0">
            <a:noFill/>
          </a:ln>
        </p:spPr>
      </p:pic>
      <p:sp>
        <p:nvSpPr>
          <p:cNvPr id="281" name="CustomShape 2"/>
          <p:cNvSpPr/>
          <p:nvPr/>
        </p:nvSpPr>
        <p:spPr>
          <a:xfrm>
            <a:off x="1314450" y="3200310"/>
            <a:ext cx="6457860" cy="1917545"/>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1. </a:t>
            </a:r>
            <a:r>
              <a:rPr lang="en-US" sz="1500" spc="-1" dirty="0" err="1">
                <a:latin typeface="Times New Roman"/>
              </a:rPr>
              <a:t>Decidir</a:t>
            </a:r>
            <a:r>
              <a:rPr lang="en-US" sz="1500" spc="-1" dirty="0">
                <a:latin typeface="Times New Roman"/>
              </a:rPr>
              <a:t> </a:t>
            </a:r>
            <a:r>
              <a:rPr lang="en-US" sz="1500" spc="-1" dirty="0" err="1">
                <a:latin typeface="Times New Roman"/>
              </a:rPr>
              <a:t>qué</a:t>
            </a:r>
            <a:r>
              <a:rPr lang="en-US" sz="1500" spc="-1" dirty="0">
                <a:latin typeface="Times New Roman"/>
              </a:rPr>
              <a:t> </a:t>
            </a:r>
            <a:r>
              <a:rPr lang="en-US" sz="1500" spc="-1" dirty="0" err="1">
                <a:latin typeface="Times New Roman"/>
              </a:rPr>
              <a:t>datos</a:t>
            </a:r>
            <a:r>
              <a:rPr lang="en-US" sz="1500" spc="-1" dirty="0">
                <a:latin typeface="Times New Roman"/>
              </a:rPr>
              <a:t> se van a </a:t>
            </a:r>
            <a:r>
              <a:rPr lang="en-US" sz="1500" spc="-1" dirty="0" err="1">
                <a:latin typeface="Times New Roman"/>
              </a:rPr>
              <a:t>recopilar</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2. </a:t>
            </a:r>
            <a:r>
              <a:rPr lang="en-US" sz="1500" spc="-1" dirty="0" err="1">
                <a:latin typeface="Times New Roman"/>
              </a:rPr>
              <a:t>Evalúe</a:t>
            </a:r>
            <a:r>
              <a:rPr lang="en-US" sz="1500" spc="-1" dirty="0">
                <a:latin typeface="Times New Roman"/>
              </a:rPr>
              <a:t> primero </a:t>
            </a:r>
            <a:r>
              <a:rPr lang="en-US" sz="1500" spc="-1" dirty="0" err="1">
                <a:latin typeface="Times New Roman"/>
              </a:rPr>
              <a:t>los</a:t>
            </a:r>
            <a:r>
              <a:rPr lang="en-US" sz="1500" spc="-1" dirty="0">
                <a:latin typeface="Times New Roman"/>
              </a:rPr>
              <a:t> </a:t>
            </a:r>
            <a:r>
              <a:rPr lang="en-US" sz="1500" spc="-1" dirty="0" err="1">
                <a:latin typeface="Times New Roman"/>
              </a:rPr>
              <a:t>componentes</a:t>
            </a:r>
            <a:r>
              <a:rPr lang="en-US" sz="1500" spc="-1" dirty="0">
                <a:latin typeface="Times New Roman"/>
              </a:rPr>
              <a:t> </a:t>
            </a:r>
            <a:r>
              <a:rPr lang="en-US" sz="1500" spc="-1" dirty="0" err="1">
                <a:latin typeface="Times New Roman"/>
              </a:rPr>
              <a:t>críticos</a:t>
            </a:r>
            <a:r>
              <a:rPr lang="en-US" sz="1500" spc="-1" dirty="0">
                <a:latin typeface="Times New Roman"/>
              </a:rPr>
              <a:t> (</a:t>
            </a:r>
            <a:r>
              <a:rPr lang="en-US" sz="1500" spc="-1" dirty="0" err="1">
                <a:latin typeface="Times New Roman"/>
              </a:rPr>
              <a:t>básicos</a:t>
            </a:r>
            <a:r>
              <a:rPr lang="en-US" sz="1500" spc="-1" dirty="0">
                <a:latin typeface="Times New Roman"/>
              </a:rPr>
              <a:t>)</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3. La </a:t>
            </a:r>
            <a:r>
              <a:rPr lang="en-US" sz="1500" spc="-1" dirty="0" err="1">
                <a:latin typeface="Times New Roman"/>
              </a:rPr>
              <a:t>medición</a:t>
            </a:r>
            <a:r>
              <a:rPr lang="en-US" sz="1500" spc="-1" dirty="0">
                <a:latin typeface="Times New Roman"/>
              </a:rPr>
              <a:t> de las </a:t>
            </a:r>
            <a:r>
              <a:rPr lang="en-US" sz="1500" spc="-1" dirty="0" err="1">
                <a:latin typeface="Times New Roman"/>
              </a:rPr>
              <a:t>características</a:t>
            </a:r>
            <a:r>
              <a:rPr lang="en-US" sz="1500" spc="-1" dirty="0">
                <a:latin typeface="Times New Roman"/>
              </a:rPr>
              <a:t> de </a:t>
            </a:r>
            <a:r>
              <a:rPr lang="en-US" sz="1500" spc="-1" dirty="0" err="1">
                <a:latin typeface="Times New Roman"/>
              </a:rPr>
              <a:t>los</a:t>
            </a:r>
            <a:r>
              <a:rPr lang="en-US" sz="1500" spc="-1" dirty="0">
                <a:latin typeface="Times New Roman"/>
              </a:rPr>
              <a:t> </a:t>
            </a:r>
            <a:r>
              <a:rPr lang="en-US" sz="1500" spc="-1" dirty="0" err="1">
                <a:latin typeface="Times New Roman"/>
              </a:rPr>
              <a:t>componentes</a:t>
            </a:r>
            <a:r>
              <a:rPr lang="en-US" sz="1500" spc="-1" dirty="0">
                <a:latin typeface="Times New Roman"/>
              </a:rPr>
              <a:t> </a:t>
            </a:r>
            <a:r>
              <a:rPr lang="en-US" sz="1500" spc="-1" dirty="0" err="1">
                <a:latin typeface="Times New Roman"/>
              </a:rPr>
              <a:t>puede</a:t>
            </a:r>
            <a:r>
              <a:rPr lang="en-US" sz="1500" spc="-1" dirty="0">
                <a:latin typeface="Times New Roman"/>
              </a:rPr>
              <a:t> </a:t>
            </a:r>
            <a:r>
              <a:rPr lang="en-US" sz="1500" spc="-1" dirty="0" err="1">
                <a:latin typeface="Times New Roman"/>
              </a:rPr>
              <a:t>requerir</a:t>
            </a:r>
            <a:r>
              <a:rPr lang="en-US" sz="1500" spc="-1" dirty="0">
                <a:latin typeface="Times New Roman"/>
              </a:rPr>
              <a:t> </a:t>
            </a:r>
            <a:r>
              <a:rPr lang="en-US" sz="1500" spc="-1" dirty="0" err="1">
                <a:latin typeface="Times New Roman"/>
              </a:rPr>
              <a:t>herramientas</a:t>
            </a:r>
            <a:r>
              <a:rPr lang="en-US" sz="1500" spc="-1" dirty="0">
                <a:latin typeface="Times New Roman"/>
              </a:rPr>
              <a:t> </a:t>
            </a:r>
            <a:r>
              <a:rPr lang="en-US" sz="1500" spc="-1" dirty="0" err="1">
                <a:latin typeface="Times New Roman"/>
              </a:rPr>
              <a:t>automatizadas</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4. </a:t>
            </a:r>
            <a:r>
              <a:rPr lang="en-US" sz="1500" spc="-1" dirty="0" err="1">
                <a:latin typeface="Times New Roman"/>
              </a:rPr>
              <a:t>Busque</a:t>
            </a:r>
            <a:r>
              <a:rPr lang="en-US" sz="1500" spc="-1" dirty="0">
                <a:latin typeface="Times New Roman"/>
              </a:rPr>
              <a:t> para </a:t>
            </a:r>
            <a:r>
              <a:rPr lang="en-US" sz="1500" spc="-1" dirty="0" err="1">
                <a:latin typeface="Times New Roman"/>
              </a:rPr>
              <a:t>consistencia</a:t>
            </a:r>
            <a:r>
              <a:rPr lang="en-US" sz="1500" spc="-1" dirty="0">
                <a:latin typeface="Times New Roman"/>
              </a:rPr>
              <a:t>(</a:t>
            </a:r>
            <a:r>
              <a:rPr lang="en-US" sz="1500" b="1" spc="-1" dirty="0" err="1">
                <a:latin typeface="Times New Roman"/>
              </a:rPr>
              <a:t>extraordinariamente</a:t>
            </a:r>
            <a:r>
              <a:rPr lang="en-US" sz="1500" b="1" spc="-1" dirty="0">
                <a:latin typeface="Times New Roman"/>
              </a:rPr>
              <a:t> </a:t>
            </a:r>
            <a:r>
              <a:rPr lang="en-US" sz="1500" spc="-1" dirty="0" err="1">
                <a:latin typeface="Times New Roman"/>
              </a:rPr>
              <a:t>Sólo</a:t>
            </a:r>
            <a:r>
              <a:rPr lang="en-US" sz="1500" spc="-1" dirty="0">
                <a:latin typeface="Times New Roman"/>
              </a:rPr>
              <a:t> </a:t>
            </a:r>
            <a:r>
              <a:rPr lang="en-US" sz="1500" spc="-1" dirty="0" err="1">
                <a:latin typeface="Times New Roman"/>
              </a:rPr>
              <a:t>funciona</a:t>
            </a:r>
            <a:r>
              <a:rPr lang="en-US" sz="1500" spc="-1" dirty="0">
                <a:latin typeface="Times New Roman"/>
              </a:rPr>
              <a:t> </a:t>
            </a:r>
            <a:r>
              <a:rPr lang="en-US" sz="1500" spc="-1" dirty="0" err="1">
                <a:latin typeface="Times New Roman"/>
              </a:rPr>
              <a:t>en</a:t>
            </a:r>
            <a:r>
              <a:rPr lang="en-US" sz="1500" spc="-1" dirty="0">
                <a:latin typeface="Times New Roman"/>
              </a:rPr>
              <a:t> </a:t>
            </a:r>
            <a:r>
              <a:rPr lang="en-US" sz="1500" spc="-1" dirty="0" err="1">
                <a:latin typeface="Times New Roman"/>
              </a:rPr>
              <a:t>fábrica</a:t>
            </a:r>
            <a:r>
              <a:rPr lang="en-US" sz="1500" spc="-1" dirty="0">
                <a:latin typeface="Times New Roman"/>
              </a:rPr>
              <a:t>) </a:t>
            </a:r>
            <a:r>
              <a:rPr lang="en-US" sz="1500" spc="-1" dirty="0" err="1">
                <a:latin typeface="Times New Roman"/>
              </a:rPr>
              <a:t>valores</a:t>
            </a:r>
            <a:r>
              <a:rPr lang="en-US" sz="1500" spc="-1" dirty="0">
                <a:latin typeface="Times New Roman"/>
              </a:rPr>
              <a:t> altos o </a:t>
            </a:r>
            <a:r>
              <a:rPr lang="en-US" sz="1500" spc="-1" dirty="0" err="1">
                <a:latin typeface="Times New Roman"/>
              </a:rPr>
              <a:t>bajos</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rPr>
              <a:t>5. El </a:t>
            </a:r>
            <a:r>
              <a:rPr lang="en-US" sz="1500" spc="-1" dirty="0" err="1">
                <a:latin typeface="Times New Roman"/>
              </a:rPr>
              <a:t>análisis</a:t>
            </a:r>
            <a:r>
              <a:rPr lang="en-US" sz="1500" spc="-1" dirty="0">
                <a:latin typeface="Times New Roman"/>
              </a:rPr>
              <a:t> de </a:t>
            </a:r>
            <a:r>
              <a:rPr lang="en-US" sz="1500" spc="-1" dirty="0" err="1">
                <a:latin typeface="Times New Roman"/>
              </a:rPr>
              <a:t>componentes</a:t>
            </a:r>
            <a:r>
              <a:rPr lang="en-US" sz="1500" spc="-1" dirty="0">
                <a:latin typeface="Times New Roman"/>
              </a:rPr>
              <a:t> </a:t>
            </a:r>
            <a:r>
              <a:rPr lang="en-US" sz="1500" spc="-1" dirty="0" err="1">
                <a:latin typeface="Times New Roman"/>
              </a:rPr>
              <a:t>anómalos</a:t>
            </a:r>
            <a:r>
              <a:rPr lang="en-US" sz="1500" spc="-1" dirty="0">
                <a:latin typeface="Times New Roman"/>
              </a:rPr>
              <a:t> </a:t>
            </a:r>
            <a:r>
              <a:rPr lang="en-US" sz="1500" spc="-1" dirty="0" err="1">
                <a:latin typeface="Times New Roman"/>
              </a:rPr>
              <a:t>debería</a:t>
            </a:r>
            <a:r>
              <a:rPr lang="en-US" sz="1500" spc="-1" dirty="0">
                <a:latin typeface="Times New Roman"/>
              </a:rPr>
              <a:t> </a:t>
            </a:r>
            <a:r>
              <a:rPr lang="en-US" sz="1500" spc="-1" dirty="0" err="1">
                <a:latin typeface="Times New Roman"/>
              </a:rPr>
              <a:t>revelar</a:t>
            </a:r>
            <a:r>
              <a:rPr lang="en-US" sz="1500" spc="-1" dirty="0">
                <a:latin typeface="Times New Roman"/>
              </a:rPr>
              <a:t> </a:t>
            </a:r>
            <a:r>
              <a:rPr lang="en-US" sz="1500" spc="-1" dirty="0" err="1">
                <a:latin typeface="Times New Roman"/>
              </a:rPr>
              <a:t>si</a:t>
            </a:r>
            <a:r>
              <a:rPr lang="en-US" sz="1500" spc="-1" dirty="0">
                <a:latin typeface="Times New Roman"/>
              </a:rPr>
              <a:t> la </a:t>
            </a:r>
            <a:r>
              <a:rPr lang="en-US" sz="1500" spc="-1" dirty="0" err="1">
                <a:latin typeface="Times New Roman"/>
              </a:rPr>
              <a:t>calidad</a:t>
            </a:r>
            <a:r>
              <a:rPr lang="en-US" sz="1500" spc="-1" dirty="0">
                <a:latin typeface="Times New Roman"/>
              </a:rPr>
              <a:t> del </a:t>
            </a:r>
            <a:r>
              <a:rPr lang="en-US" sz="1500" spc="-1" dirty="0" err="1">
                <a:latin typeface="Times New Roman"/>
              </a:rPr>
              <a:t>producto</a:t>
            </a:r>
            <a:r>
              <a:rPr lang="en-US" sz="1500" spc="-1" dirty="0">
                <a:latin typeface="Times New Roman"/>
              </a:rPr>
              <a:t> </a:t>
            </a:r>
            <a:r>
              <a:rPr lang="en-US" sz="1500" spc="-1" dirty="0" err="1">
                <a:latin typeface="Times New Roman"/>
              </a:rPr>
              <a:t>está</a:t>
            </a:r>
            <a:r>
              <a:rPr lang="en-US" sz="1500" spc="-1" dirty="0">
                <a:latin typeface="Times New Roman"/>
              </a:rPr>
              <a:t> </a:t>
            </a:r>
            <a:r>
              <a:rPr lang="en-US" sz="1500" spc="-1" dirty="0" err="1">
                <a:latin typeface="Times New Roman"/>
              </a:rPr>
              <a:t>comprometida</a:t>
            </a:r>
            <a:r>
              <a:rPr lang="en-US" sz="1500" spc="-1" dirty="0">
                <a:latin typeface="Times New Roman"/>
              </a:rPr>
              <a:t>.</a:t>
            </a:r>
          </a:p>
        </p:txBody>
      </p:sp>
    </p:spTree>
    <p:extLst>
      <p:ext uri="{BB962C8B-B14F-4D97-AF65-F5344CB8AC3E}">
        <p14:creationId xmlns:p14="http://schemas.microsoft.com/office/powerpoint/2010/main" val="3147779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Métricas</a:t>
            </a:r>
            <a:r>
              <a:rPr lang="en-US" sz="2700" b="1" spc="-1" dirty="0">
                <a:solidFill>
                  <a:srgbClr val="FF0000"/>
                </a:solidFill>
                <a:effectLst>
                  <a:outerShdw blurRad="38100" dist="38100" dir="2700000" algn="tl">
                    <a:srgbClr val="000000">
                      <a:alpha val="43137"/>
                    </a:srgbClr>
                  </a:outerShdw>
                </a:effectLst>
                <a:latin typeface="Times New Roman"/>
              </a:rPr>
              <a:t> </a:t>
            </a:r>
            <a:r>
              <a:rPr lang="en-US" sz="2700" b="1" spc="-1" dirty="0" err="1">
                <a:solidFill>
                  <a:srgbClr val="FF0000"/>
                </a:solidFill>
                <a:effectLst>
                  <a:outerShdw blurRad="38100" dist="38100" dir="2700000" algn="tl">
                    <a:srgbClr val="000000">
                      <a:alpha val="43137"/>
                    </a:srgbClr>
                  </a:outerShdw>
                </a:effectLst>
                <a:latin typeface="Times New Roman"/>
              </a:rPr>
              <a:t>predictivas</a:t>
            </a:r>
            <a:r>
              <a:rPr lang="en-US" sz="2700" b="1" spc="-1" dirty="0">
                <a:solidFill>
                  <a:srgbClr val="FF0000"/>
                </a:solidFill>
                <a:effectLst>
                  <a:outerShdw blurRad="38100" dist="38100" dir="2700000" algn="tl">
                    <a:srgbClr val="000000">
                      <a:alpha val="43137"/>
                    </a:srgbClr>
                  </a:outerShdw>
                </a:effectLst>
                <a:latin typeface="Times New Roman"/>
              </a:rPr>
              <a:t> y de control</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283" name="Predictor%20and%20Control%20Matrix"/>
          <p:cNvPicPr/>
          <p:nvPr/>
        </p:nvPicPr>
        <p:blipFill>
          <a:blip r:embed="rId2"/>
          <a:stretch/>
        </p:blipFill>
        <p:spPr>
          <a:xfrm>
            <a:off x="1714590" y="800010"/>
            <a:ext cx="5314950" cy="2114640"/>
          </a:xfrm>
          <a:prstGeom prst="rect">
            <a:avLst/>
          </a:prstGeom>
          <a:ln w="0">
            <a:noFill/>
          </a:ln>
        </p:spPr>
      </p:pic>
      <p:sp>
        <p:nvSpPr>
          <p:cNvPr id="284" name="CustomShape 2"/>
          <p:cNvSpPr/>
          <p:nvPr/>
        </p:nvSpPr>
        <p:spPr>
          <a:xfrm>
            <a:off x="1143000" y="3028860"/>
            <a:ext cx="6686550" cy="994215"/>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u="sng" spc="-1">
                <a:latin typeface="Times New Roman"/>
              </a:rPr>
              <a:t>Ejemplos de análisis de predictores:</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•Reutilización de código: SLOC = ELOC = Código portado</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•Profundidad de anidamiento: ND &gt; 5 = Baja legibilidad</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ea typeface="Times New Roman"/>
              </a:rPr>
              <a:t>•Análisis de riesgo: # STR P1 &gt; 0 en SAT = Baja confiabilidad del producto</a:t>
            </a:r>
            <a:endParaRPr lang="en-US" sz="1500" spc="-1">
              <a:latin typeface="Times New Roman"/>
            </a:endParaRPr>
          </a:p>
        </p:txBody>
      </p:sp>
      <p:sp>
        <p:nvSpPr>
          <p:cNvPr id="285" name="CustomShape 3"/>
          <p:cNvSpPr/>
          <p:nvPr/>
        </p:nvSpPr>
        <p:spPr>
          <a:xfrm>
            <a:off x="1143000" y="4114801"/>
            <a:ext cx="6858000" cy="763383"/>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u="sng" spc="-1">
                <a:latin typeface="Times New Roman"/>
              </a:rPr>
              <a:t>Ejemplos de análisis de control:</a:t>
            </a:r>
            <a:endParaRPr lang="en-US" sz="1500" spc="-1">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•Envejecimiento de STR: STR antiguos = baja productividad</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•Requisitos Volatilidad: Alta volatilidad = Aumento del alcance</a:t>
            </a:r>
          </a:p>
        </p:txBody>
      </p:sp>
    </p:spTree>
    <p:extLst>
      <p:ext uri="{BB962C8B-B14F-4D97-AF65-F5344CB8AC3E}">
        <p14:creationId xmlns:p14="http://schemas.microsoft.com/office/powerpoint/2010/main" val="38116339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Métricas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productos</a:t>
            </a:r>
            <a:r>
              <a:rPr lang="en-US" sz="2700" b="1" spc="-1" dirty="0">
                <a:solidFill>
                  <a:srgbClr val="FF0000"/>
                </a:solidFill>
                <a:effectLst>
                  <a:outerShdw blurRad="38100" dist="38100" dir="2700000" algn="tl">
                    <a:srgbClr val="000000">
                      <a:alpha val="43137"/>
                    </a:srgbClr>
                  </a:outerShdw>
                </a:effectLst>
                <a:latin typeface="Times New Roman"/>
              </a:rPr>
              <a:t> de software</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287" name="CustomShape 2"/>
          <p:cNvSpPr/>
          <p:nvPr/>
        </p:nvSpPr>
        <p:spPr>
          <a:xfrm>
            <a:off x="1257210" y="971460"/>
            <a:ext cx="6743790" cy="4225869"/>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Hay dos categorías de métricas de productos de software:</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rPr>
              <a:t>1. Métricas dinámicas</a:t>
            </a:r>
            <a:r>
              <a:rPr lang="en-US" sz="1800" spc="-1">
                <a:latin typeface="Times New Roman"/>
              </a:rPr>
              <a:t>– esta métrica se recopila midiendo elementos</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u="sng" spc="-1">
                <a:latin typeface="Times New Roman"/>
              </a:rPr>
              <a:t>Durante la ejecución del programa</a:t>
            </a:r>
            <a:r>
              <a:rPr lang="en-US" sz="1800" spc="-1">
                <a:latin typeface="Times New Roman"/>
              </a:rPr>
              <a:t>Estas métricas ayudan a evaluar</a:t>
            </a:r>
            <a:r>
              <a:rPr lang="en-US" sz="1800" u="sng" spc="-1">
                <a:latin typeface="Times New Roman"/>
              </a:rPr>
              <a:t>eficiencia</a:t>
            </a:r>
            <a:r>
              <a:rPr lang="en-US" sz="1800" spc="-1">
                <a:latin typeface="Times New Roman"/>
              </a:rPr>
              <a:t>y</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u="sng" spc="-1">
                <a:latin typeface="Times New Roman"/>
              </a:rPr>
              <a:t>fiabilidad</a:t>
            </a:r>
            <a:r>
              <a:rPr lang="en-US" sz="1800" spc="-1">
                <a:latin typeface="Times New Roman"/>
              </a:rPr>
              <a:t>de un producto de software. Los parámetros recopilados pueden ser</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fácilmente medible (es decir, tiempo de ejecución, tiempo medio entre fallos)</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a:latin typeface="Times New Roman"/>
              </a:rPr>
              <a:t>2. Métricas estáticas</a:t>
            </a:r>
            <a:r>
              <a:rPr lang="en-US" sz="1800" spc="-1">
                <a:latin typeface="Times New Roman"/>
              </a:rPr>
              <a:t>– esta métrica se recopila midiendo parámetros de</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el</a:t>
            </a:r>
            <a:r>
              <a:rPr lang="en-US" sz="1800" u="sng" spc="-1">
                <a:latin typeface="Times New Roman"/>
              </a:rPr>
              <a:t>productos finales</a:t>
            </a:r>
            <a:r>
              <a:rPr lang="en-US" sz="1800" spc="-1">
                <a:latin typeface="Times New Roman"/>
              </a:rPr>
              <a:t>del desarrollo del software. Estas métricas ayudan a</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evalúa el</a:t>
            </a:r>
            <a:r>
              <a:rPr lang="en-US" sz="1800" u="sng" spc="-1">
                <a:latin typeface="Times New Roman"/>
              </a:rPr>
              <a:t>complejidad, comprensibilidad y mantenibilidad</a:t>
            </a:r>
            <a:r>
              <a:rPr lang="en-US" sz="1800" spc="-1">
                <a:latin typeface="Times New Roman"/>
              </a:rPr>
              <a:t>de un</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Producto de software. El tamaño SLOC y ND son los más confiables.</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a:latin typeface="Times New Roman"/>
              </a:rPr>
              <a:t>predictores de comprensibilidad, complejidad y mantenibilidad.</a:t>
            </a:r>
          </a:p>
          <a:p>
            <a:pPr marL="342900" indent="-342900">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a:latin typeface="Times New Roman"/>
            </a:endParaRPr>
          </a:p>
        </p:txBody>
      </p:sp>
    </p:spTree>
    <p:extLst>
      <p:ext uri="{BB962C8B-B14F-4D97-AF65-F5344CB8AC3E}">
        <p14:creationId xmlns:p14="http://schemas.microsoft.com/office/powerpoint/2010/main" val="2146667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extShape 1"/>
          <p:cNvSpPr txBox="1"/>
          <p:nvPr/>
        </p:nvSpPr>
        <p:spPr>
          <a:xfrm>
            <a:off x="1143000" y="-270"/>
            <a:ext cx="58293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Características</a:t>
            </a:r>
            <a:endParaRPr lang="en-US" sz="2700" spc="-1" dirty="0">
              <a:solidFill>
                <a:srgbClr val="FF0000"/>
              </a:solidFill>
              <a:effectLst>
                <a:outerShdw blurRad="38100" dist="38100" dir="2700000" algn="tl">
                  <a:srgbClr val="000000">
                    <a:alpha val="43137"/>
                  </a:srgbClr>
                </a:outerShdw>
              </a:effectLst>
              <a:latin typeface="Times New Roman"/>
            </a:endParaRPr>
          </a:p>
        </p:txBody>
      </p:sp>
      <p:grpSp>
        <p:nvGrpSpPr>
          <p:cNvPr id="289" name="Group 2"/>
          <p:cNvGrpSpPr/>
          <p:nvPr/>
        </p:nvGrpSpPr>
        <p:grpSpPr>
          <a:xfrm>
            <a:off x="1257210" y="800010"/>
            <a:ext cx="6499710" cy="4018410"/>
            <a:chOff x="152280" y="1066680"/>
            <a:chExt cx="8666280" cy="5357880"/>
          </a:xfrm>
        </p:grpSpPr>
        <p:pic>
          <p:nvPicPr>
            <p:cNvPr id="290" name="Maintainability"/>
            <p:cNvPicPr/>
            <p:nvPr/>
          </p:nvPicPr>
          <p:blipFill>
            <a:blip r:embed="rId2"/>
            <a:stretch/>
          </p:blipFill>
          <p:spPr>
            <a:xfrm>
              <a:off x="152280" y="1066680"/>
              <a:ext cx="4170600" cy="2766960"/>
            </a:xfrm>
            <a:prstGeom prst="rect">
              <a:avLst/>
            </a:prstGeom>
            <a:ln w="0">
              <a:noFill/>
            </a:ln>
          </p:spPr>
        </p:pic>
        <p:pic>
          <p:nvPicPr>
            <p:cNvPr id="291" name="Reliability"/>
            <p:cNvPicPr/>
            <p:nvPr/>
          </p:nvPicPr>
          <p:blipFill>
            <a:blip r:embed="rId3"/>
            <a:stretch/>
          </p:blipFill>
          <p:spPr>
            <a:xfrm>
              <a:off x="152280" y="3657600"/>
              <a:ext cx="4170600" cy="2766960"/>
            </a:xfrm>
            <a:prstGeom prst="rect">
              <a:avLst/>
            </a:prstGeom>
            <a:ln w="0">
              <a:noFill/>
            </a:ln>
          </p:spPr>
        </p:pic>
        <p:pic>
          <p:nvPicPr>
            <p:cNvPr id="292" name="Portability"/>
            <p:cNvPicPr/>
            <p:nvPr/>
          </p:nvPicPr>
          <p:blipFill>
            <a:blip r:embed="rId4"/>
            <a:stretch/>
          </p:blipFill>
          <p:spPr>
            <a:xfrm>
              <a:off x="4648320" y="1066680"/>
              <a:ext cx="4170240" cy="2766960"/>
            </a:xfrm>
            <a:prstGeom prst="rect">
              <a:avLst/>
            </a:prstGeom>
            <a:ln w="0">
              <a:noFill/>
            </a:ln>
          </p:spPr>
        </p:pic>
        <p:pic>
          <p:nvPicPr>
            <p:cNvPr id="293" name="Usability"/>
            <p:cNvPicPr/>
            <p:nvPr/>
          </p:nvPicPr>
          <p:blipFill>
            <a:blip r:embed="rId5"/>
            <a:stretch/>
          </p:blipFill>
          <p:spPr>
            <a:xfrm>
              <a:off x="4572000" y="3657600"/>
              <a:ext cx="4170240" cy="2766960"/>
            </a:xfrm>
            <a:prstGeom prst="rect">
              <a:avLst/>
            </a:prstGeom>
            <a:ln w="0">
              <a:noFill/>
            </a:ln>
          </p:spPr>
        </p:pic>
      </p:grpSp>
      <p:sp>
        <p:nvSpPr>
          <p:cNvPr id="294" name="CustomShape 3"/>
          <p:cNvSpPr/>
          <p:nvPr/>
        </p:nvSpPr>
        <p:spPr>
          <a:xfrm>
            <a:off x="4400550" y="2343060"/>
            <a:ext cx="3429000" cy="1225048"/>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Las métricas específicas que son relevantes dependen del proyecto, los objetivos del SQA y el tipo de SW que se está utilizando.</a:t>
            </a: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a:latin typeface="Times New Roman"/>
              </a:rPr>
              <a:t>desarrollado.</a:t>
            </a:r>
          </a:p>
        </p:txBody>
      </p:sp>
    </p:spTree>
    <p:extLst>
      <p:ext uri="{BB962C8B-B14F-4D97-AF65-F5344CB8AC3E}">
        <p14:creationId xmlns:p14="http://schemas.microsoft.com/office/powerpoint/2010/main" val="21923242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Ejemplos</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métricas</a:t>
            </a:r>
            <a:r>
              <a:rPr lang="en-US" sz="2700" b="1" spc="-1" dirty="0">
                <a:solidFill>
                  <a:srgbClr val="FF0000"/>
                </a:solidFill>
                <a:effectLst>
                  <a:outerShdw blurRad="38100" dist="38100" dir="2700000" algn="tl">
                    <a:srgbClr val="000000">
                      <a:alpha val="43137"/>
                    </a:srgbClr>
                  </a:outerShdw>
                </a:effectLst>
                <a:latin typeface="Times New Roman"/>
              </a:rPr>
              <a:t> de software </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296" name="SW%20Metric"/>
          <p:cNvPicPr/>
          <p:nvPr/>
        </p:nvPicPr>
        <p:blipFill>
          <a:blip r:embed="rId2"/>
          <a:stretch/>
        </p:blipFill>
        <p:spPr>
          <a:xfrm>
            <a:off x="1485900" y="800010"/>
            <a:ext cx="6172200" cy="3943350"/>
          </a:xfrm>
          <a:prstGeom prst="rect">
            <a:avLst/>
          </a:prstGeom>
          <a:ln w="0">
            <a:noFill/>
          </a:ln>
        </p:spPr>
      </p:pic>
    </p:spTree>
    <p:extLst>
      <p:ext uri="{BB962C8B-B14F-4D97-AF65-F5344CB8AC3E}">
        <p14:creationId xmlns:p14="http://schemas.microsoft.com/office/powerpoint/2010/main" val="46336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625" b="1" spc="-1" dirty="0" err="1">
                <a:solidFill>
                  <a:srgbClr val="FF0000"/>
                </a:solidFill>
                <a:effectLst>
                  <a:outerShdw blurRad="38100" dist="38100" dir="2700000" algn="tl">
                    <a:srgbClr val="000000">
                      <a:alpha val="43137"/>
                    </a:srgbClr>
                  </a:outerShdw>
                </a:effectLst>
                <a:latin typeface="Times New Roman"/>
              </a:rPr>
              <a:t>Ejemplos</a:t>
            </a:r>
            <a:r>
              <a:rPr lang="en-US" sz="2625" b="1" spc="-1" dirty="0">
                <a:solidFill>
                  <a:srgbClr val="FF0000"/>
                </a:solidFill>
                <a:effectLst>
                  <a:outerShdw blurRad="38100" dist="38100" dir="2700000" algn="tl">
                    <a:srgbClr val="000000">
                      <a:alpha val="43137"/>
                    </a:srgbClr>
                  </a:outerShdw>
                </a:effectLst>
                <a:latin typeface="Times New Roman"/>
              </a:rPr>
              <a:t> de </a:t>
            </a:r>
            <a:r>
              <a:rPr lang="en-US" sz="2625" b="1" spc="-1" dirty="0" err="1">
                <a:solidFill>
                  <a:srgbClr val="FF0000"/>
                </a:solidFill>
                <a:effectLst>
                  <a:outerShdw blurRad="38100" dist="38100" dir="2700000" algn="tl">
                    <a:srgbClr val="000000">
                      <a:alpha val="43137"/>
                    </a:srgbClr>
                  </a:outerShdw>
                </a:effectLst>
                <a:latin typeface="Times New Roman"/>
              </a:rPr>
              <a:t>métricas</a:t>
            </a:r>
            <a:r>
              <a:rPr lang="en-US" sz="2625" b="1" spc="-1" dirty="0">
                <a:solidFill>
                  <a:srgbClr val="FF0000"/>
                </a:solidFill>
                <a:effectLst>
                  <a:outerShdw blurRad="38100" dist="38100" dir="2700000" algn="tl">
                    <a:srgbClr val="000000">
                      <a:alpha val="43137"/>
                    </a:srgbClr>
                  </a:outerShdw>
                </a:effectLst>
                <a:latin typeface="Times New Roman"/>
              </a:rPr>
              <a:t> de software OO</a:t>
            </a:r>
            <a:endParaRPr lang="en-US" sz="2700" spc="-1" dirty="0">
              <a:solidFill>
                <a:srgbClr val="FF0000"/>
              </a:solidFill>
              <a:effectLst>
                <a:outerShdw blurRad="38100" dist="38100" dir="2700000" algn="tl">
                  <a:srgbClr val="000000">
                    <a:alpha val="43137"/>
                  </a:srgbClr>
                </a:outerShdw>
              </a:effectLst>
              <a:latin typeface="Times New Roman"/>
            </a:endParaRPr>
          </a:p>
        </p:txBody>
      </p:sp>
      <p:pic>
        <p:nvPicPr>
          <p:cNvPr id="298" name="OO%20Metric"/>
          <p:cNvPicPr/>
          <p:nvPr/>
        </p:nvPicPr>
        <p:blipFill>
          <a:blip r:embed="rId2"/>
          <a:stretch/>
        </p:blipFill>
        <p:spPr>
          <a:xfrm>
            <a:off x="1371690" y="743040"/>
            <a:ext cx="6343650" cy="4057560"/>
          </a:xfrm>
          <a:prstGeom prst="rect">
            <a:avLst/>
          </a:prstGeom>
          <a:ln w="0">
            <a:noFill/>
          </a:ln>
        </p:spPr>
      </p:pic>
    </p:spTree>
    <p:extLst>
      <p:ext uri="{BB962C8B-B14F-4D97-AF65-F5344CB8AC3E}">
        <p14:creationId xmlns:p14="http://schemas.microsoft.com/office/powerpoint/2010/main" val="3943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TextShape 1"/>
          <p:cNvSpPr txBox="1"/>
          <p:nvPr/>
        </p:nvSpPr>
        <p:spPr>
          <a:xfrm>
            <a:off x="1143000" y="-270"/>
            <a:ext cx="6858000" cy="857250"/>
          </a:xfrm>
          <a:prstGeom prst="rect">
            <a:avLst/>
          </a:prstGeom>
          <a:noFill/>
          <a:ln w="0">
            <a:noFill/>
          </a:ln>
        </p:spPr>
        <p:txBody>
          <a:bodyPr lIns="67500" tIns="35100" rIns="67500" bIns="35100" anchor="ctr">
            <a:noAutofit/>
          </a:bodyPr>
          <a:lstStyle/>
          <a:p>
            <a: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2700" b="1" spc="-1" dirty="0" err="1">
                <a:solidFill>
                  <a:srgbClr val="FF0000"/>
                </a:solidFill>
                <a:effectLst>
                  <a:outerShdw blurRad="38100" dist="38100" dir="2700000" algn="tl">
                    <a:srgbClr val="000000">
                      <a:alpha val="43137"/>
                    </a:srgbClr>
                  </a:outerShdw>
                </a:effectLst>
                <a:latin typeface="Times New Roman"/>
              </a:rPr>
              <a:t>Prevención</a:t>
            </a:r>
            <a:r>
              <a:rPr lang="en-US" sz="2700" b="1" spc="-1" dirty="0">
                <a:solidFill>
                  <a:srgbClr val="FF0000"/>
                </a:solidFill>
                <a:effectLst>
                  <a:outerShdw blurRad="38100" dist="38100" dir="2700000" algn="tl">
                    <a:srgbClr val="000000">
                      <a:alpha val="43137"/>
                    </a:srgbClr>
                  </a:outerShdw>
                </a:effectLst>
                <a:latin typeface="Times New Roman"/>
              </a:rPr>
              <a:t> de </a:t>
            </a:r>
            <a:r>
              <a:rPr lang="en-US" sz="2700" b="1" spc="-1" dirty="0" err="1">
                <a:solidFill>
                  <a:srgbClr val="FF0000"/>
                </a:solidFill>
                <a:effectLst>
                  <a:outerShdw blurRad="38100" dist="38100" dir="2700000" algn="tl">
                    <a:srgbClr val="000000">
                      <a:alpha val="43137"/>
                    </a:srgbClr>
                  </a:outerShdw>
                </a:effectLst>
                <a:latin typeface="Times New Roman"/>
              </a:rPr>
              <a:t>defectos</a:t>
            </a:r>
            <a:endParaRPr lang="en-US" sz="2700" spc="-1" dirty="0">
              <a:solidFill>
                <a:srgbClr val="FF0000"/>
              </a:solidFill>
              <a:effectLst>
                <a:outerShdw blurRad="38100" dist="38100" dir="2700000" algn="tl">
                  <a:srgbClr val="000000">
                    <a:alpha val="43137"/>
                  </a:srgbClr>
                </a:outerShdw>
              </a:effectLst>
              <a:latin typeface="Times New Roman"/>
            </a:endParaRPr>
          </a:p>
        </p:txBody>
      </p:sp>
      <p:sp>
        <p:nvSpPr>
          <p:cNvPr id="300" name="CustomShape 2"/>
          <p:cNvSpPr/>
          <p:nvPr/>
        </p:nvSpPr>
        <p:spPr>
          <a:xfrm>
            <a:off x="648929" y="800011"/>
            <a:ext cx="7722256" cy="3718038"/>
          </a:xfrm>
          <a:custGeom>
            <a:avLst/>
            <a:gdLst/>
            <a:ahLst/>
            <a:cxnLst/>
            <a:rect l="l" t="t" r="r" b="b"/>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square" lIns="67500" tIns="35100" rIns="67500" bIns="35100">
            <a:spAutoFit/>
          </a:bodyPr>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b="1" spc="-1" dirty="0" err="1">
                <a:latin typeface="Times New Roman"/>
              </a:rPr>
              <a:t>Prevención</a:t>
            </a:r>
            <a:r>
              <a:rPr lang="en-US" sz="1800" b="1" spc="-1" dirty="0">
                <a:latin typeface="Times New Roman"/>
              </a:rPr>
              <a:t> de </a:t>
            </a:r>
            <a:r>
              <a:rPr lang="en-US" sz="1800" b="1" spc="-1" dirty="0" err="1">
                <a:latin typeface="Times New Roman"/>
              </a:rPr>
              <a:t>defectos</a:t>
            </a:r>
            <a:r>
              <a:rPr lang="en-US" sz="1800" spc="-1" dirty="0">
                <a:latin typeface="Times New Roman"/>
              </a:rPr>
              <a:t>– </a:t>
            </a:r>
            <a:r>
              <a:rPr lang="en-US" sz="1800" spc="-1" dirty="0" err="1">
                <a:latin typeface="Times New Roman"/>
              </a:rPr>
              <a:t>establecimiento</a:t>
            </a:r>
            <a:r>
              <a:rPr lang="en-US" sz="1800" spc="-1" dirty="0">
                <a:latin typeface="Times New Roman"/>
              </a:rPr>
              <a:t> de </a:t>
            </a:r>
            <a:r>
              <a:rPr lang="en-US" sz="1800" spc="-1" dirty="0" err="1">
                <a:latin typeface="Times New Roman"/>
              </a:rPr>
              <a:t>prácticas</a:t>
            </a:r>
            <a:r>
              <a:rPr lang="en-US" sz="1800" spc="-1" dirty="0">
                <a:latin typeface="Times New Roman"/>
              </a:rPr>
              <a:t> que </a:t>
            </a:r>
            <a:r>
              <a:rPr lang="en-US" sz="1800" spc="-1" dirty="0" err="1">
                <a:latin typeface="Times New Roman"/>
              </a:rPr>
              <a:t>reduzcan</a:t>
            </a:r>
            <a:r>
              <a:rPr lang="en-US" sz="1800" spc="-1" dirty="0">
                <a:latin typeface="Times New Roman"/>
              </a:rPr>
              <a:t> la </a:t>
            </a:r>
            <a:r>
              <a:rPr lang="en-US" sz="1800" spc="-1" dirty="0" err="1">
                <a:latin typeface="Times New Roman"/>
              </a:rPr>
              <a:t>dependencia</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800" spc="-1" dirty="0">
                <a:latin typeface="Times New Roman"/>
              </a:rPr>
              <a:t> </a:t>
            </a:r>
            <a:r>
              <a:rPr lang="en-US" sz="1800" spc="-1" dirty="0" err="1">
                <a:latin typeface="Times New Roman"/>
              </a:rPr>
              <a:t>sobre</a:t>
            </a:r>
            <a:r>
              <a:rPr lang="en-US" sz="1800" spc="-1" dirty="0">
                <a:latin typeface="Times New Roman"/>
              </a:rPr>
              <a:t> </a:t>
            </a:r>
            <a:r>
              <a:rPr lang="en-US" sz="1800" spc="-1" dirty="0" err="1">
                <a:latin typeface="Times New Roman"/>
              </a:rPr>
              <a:t>técnicas</a:t>
            </a:r>
            <a:r>
              <a:rPr lang="en-US" sz="1800" spc="-1" dirty="0">
                <a:latin typeface="Times New Roman"/>
              </a:rPr>
              <a:t> de </a:t>
            </a:r>
            <a:r>
              <a:rPr lang="en-US" sz="1800" spc="-1" dirty="0" err="1">
                <a:latin typeface="Times New Roman"/>
              </a:rPr>
              <a:t>detección</a:t>
            </a:r>
            <a:r>
              <a:rPr lang="en-US" sz="1800" spc="-1" dirty="0">
                <a:latin typeface="Times New Roman"/>
              </a:rPr>
              <a:t> de </a:t>
            </a:r>
            <a:r>
              <a:rPr lang="en-US" sz="1800" spc="-1" dirty="0" err="1">
                <a:latin typeface="Times New Roman"/>
              </a:rPr>
              <a:t>defectos</a:t>
            </a:r>
            <a:r>
              <a:rPr lang="en-US" sz="1800" spc="-1" dirty="0">
                <a:latin typeface="Times New Roman"/>
              </a:rPr>
              <a:t> para </a:t>
            </a:r>
            <a:r>
              <a:rPr lang="en-US" sz="1800" spc="-1" dirty="0" err="1">
                <a:latin typeface="Times New Roman"/>
              </a:rPr>
              <a:t>encontrar</a:t>
            </a:r>
            <a:r>
              <a:rPr lang="en-US" sz="1800" spc="-1" dirty="0">
                <a:latin typeface="Times New Roman"/>
              </a:rPr>
              <a:t> la </a:t>
            </a:r>
            <a:r>
              <a:rPr lang="en-US" sz="1800" spc="-1" dirty="0" err="1">
                <a:latin typeface="Times New Roman"/>
              </a:rPr>
              <a:t>mayoría</a:t>
            </a:r>
            <a:r>
              <a:rPr lang="en-US" sz="1800" spc="-1" dirty="0">
                <a:latin typeface="Times New Roman"/>
              </a:rPr>
              <a:t> de los </a:t>
            </a:r>
            <a:r>
              <a:rPr lang="en-US" sz="1800" spc="-1" dirty="0" err="1">
                <a:latin typeface="Times New Roman"/>
              </a:rPr>
              <a:t>errores</a:t>
            </a: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endParaRPr lang="en-US" sz="18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ea typeface="Times New Roman"/>
              </a:rPr>
              <a:t>•</a:t>
            </a:r>
            <a:r>
              <a:rPr lang="en-US" sz="1500" b="1" spc="-1" dirty="0" err="1">
                <a:latin typeface="Times New Roman"/>
                <a:ea typeface="Times New Roman"/>
              </a:rPr>
              <a:t>Lecciones</a:t>
            </a:r>
            <a:r>
              <a:rPr lang="en-US" sz="1500" b="1" spc="-1" dirty="0">
                <a:latin typeface="Times New Roman"/>
                <a:ea typeface="Times New Roman"/>
              </a:rPr>
              <a:t> </a:t>
            </a:r>
            <a:r>
              <a:rPr lang="en-US" sz="1500" b="1" spc="-1" dirty="0" err="1">
                <a:latin typeface="Times New Roman"/>
                <a:ea typeface="Times New Roman"/>
              </a:rPr>
              <a:t>aprendidas</a:t>
            </a:r>
            <a:r>
              <a:rPr lang="en-US" sz="1500" spc="-1" dirty="0">
                <a:latin typeface="Times New Roman"/>
                <a:ea typeface="Times New Roman"/>
              </a:rPr>
              <a:t>– </a:t>
            </a:r>
            <a:r>
              <a:rPr lang="en-US" sz="1500" spc="-1" dirty="0" err="1">
                <a:latin typeface="Times New Roman"/>
                <a:ea typeface="Times New Roman"/>
              </a:rPr>
              <a:t>aprender</a:t>
            </a:r>
            <a:r>
              <a:rPr lang="en-US" sz="1500" spc="-1" dirty="0">
                <a:latin typeface="Times New Roman"/>
                <a:ea typeface="Times New Roman"/>
              </a:rPr>
              <a:t> de las </a:t>
            </a:r>
            <a:r>
              <a:rPr lang="en-US" sz="1500" spc="-1" dirty="0" err="1">
                <a:latin typeface="Times New Roman"/>
                <a:ea typeface="Times New Roman"/>
              </a:rPr>
              <a:t>experiencias</a:t>
            </a:r>
            <a:r>
              <a:rPr lang="en-US" sz="1500" spc="-1" dirty="0">
                <a:latin typeface="Times New Roman"/>
                <a:ea typeface="Times New Roman"/>
              </a:rPr>
              <a:t> de </a:t>
            </a:r>
            <a:r>
              <a:rPr lang="en-US" sz="1500" spc="-1" dirty="0" err="1">
                <a:latin typeface="Times New Roman"/>
                <a:ea typeface="Times New Roman"/>
              </a:rPr>
              <a:t>otras</a:t>
            </a:r>
            <a:r>
              <a:rPr lang="en-US" sz="1500" spc="-1" dirty="0">
                <a:latin typeface="Times New Roman"/>
                <a:ea typeface="Times New Roman"/>
              </a:rPr>
              <a:t> personas y </a:t>
            </a:r>
            <a:r>
              <a:rPr lang="en-US" sz="1500" spc="-1" dirty="0" err="1">
                <a:latin typeface="Times New Roman"/>
                <a:ea typeface="Times New Roman"/>
              </a:rPr>
              <a:t>compartir</a:t>
            </a:r>
            <a:r>
              <a:rPr lang="en-US" sz="1500" spc="-1" dirty="0">
                <a:latin typeface="Times New Roman"/>
                <a:ea typeface="Times New Roman"/>
              </a:rPr>
              <a:t> las </a:t>
            </a:r>
            <a:r>
              <a:rPr lang="en-US" sz="1500" spc="-1" dirty="0" err="1">
                <a:latin typeface="Times New Roman"/>
                <a:ea typeface="Times New Roman"/>
              </a:rPr>
              <a:t>propias</a:t>
            </a:r>
            <a:r>
              <a:rPr lang="en-US" sz="1500" spc="-1" dirty="0">
                <a:latin typeface="Times New Roman"/>
                <a:ea typeface="Times New Roman"/>
              </a:rPr>
              <a:t> con </a:t>
            </a:r>
            <a:r>
              <a:rPr lang="en-US" sz="1500" spc="-1" dirty="0" err="1">
                <a:latin typeface="Times New Roman"/>
                <a:ea typeface="Times New Roman"/>
              </a:rPr>
              <a:t>otros</a:t>
            </a:r>
            <a:r>
              <a:rPr lang="en-US" sz="1500" spc="-1" dirty="0">
                <a:latin typeface="Times New Roman"/>
                <a:ea typeface="Times New Roman"/>
              </a:rPr>
              <a:t> </a:t>
            </a:r>
            <a:r>
              <a:rPr lang="en-US" sz="1500" spc="-1" dirty="0" err="1">
                <a:latin typeface="Times New Roman"/>
                <a:ea typeface="Times New Roman"/>
              </a:rPr>
              <a:t>proyectos</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ea typeface="Times New Roman"/>
              </a:rPr>
              <a:t>•</a:t>
            </a:r>
            <a:r>
              <a:rPr lang="en-US" sz="1500" b="1" spc="-1" dirty="0" err="1">
                <a:latin typeface="Times New Roman"/>
                <a:ea typeface="Times New Roman"/>
              </a:rPr>
              <a:t>Gestión</a:t>
            </a:r>
            <a:r>
              <a:rPr lang="en-US" sz="1500" b="1" spc="-1" dirty="0">
                <a:latin typeface="Times New Roman"/>
                <a:ea typeface="Times New Roman"/>
              </a:rPr>
              <a:t> con </a:t>
            </a:r>
            <a:r>
              <a:rPr lang="en-US" sz="1500" b="1" spc="-1" dirty="0" err="1">
                <a:latin typeface="Times New Roman"/>
                <a:ea typeface="Times New Roman"/>
              </a:rPr>
              <a:t>métricas</a:t>
            </a:r>
            <a:r>
              <a:rPr lang="en-US" sz="1500" spc="-1" dirty="0">
                <a:latin typeface="Times New Roman"/>
                <a:ea typeface="Times New Roman"/>
              </a:rPr>
              <a:t>– </a:t>
            </a:r>
            <a:r>
              <a:rPr lang="en-US" sz="1500" spc="-1" dirty="0" err="1">
                <a:latin typeface="Times New Roman"/>
                <a:ea typeface="Times New Roman"/>
              </a:rPr>
              <a:t>recopilar</a:t>
            </a:r>
            <a:r>
              <a:rPr lang="en-US" sz="1500" spc="-1" dirty="0">
                <a:latin typeface="Times New Roman"/>
                <a:ea typeface="Times New Roman"/>
              </a:rPr>
              <a:t> las </a:t>
            </a:r>
            <a:r>
              <a:rPr lang="en-US" sz="1500" spc="-1" dirty="0" err="1">
                <a:latin typeface="Times New Roman"/>
                <a:ea typeface="Times New Roman"/>
              </a:rPr>
              <a:t>métricas</a:t>
            </a:r>
            <a:r>
              <a:rPr lang="en-US" sz="1500" spc="-1" dirty="0">
                <a:latin typeface="Times New Roman"/>
                <a:ea typeface="Times New Roman"/>
              </a:rPr>
              <a:t>, </a:t>
            </a:r>
            <a:r>
              <a:rPr lang="en-US" sz="1500" spc="-1" dirty="0" err="1">
                <a:latin typeface="Times New Roman"/>
                <a:ea typeface="Times New Roman"/>
              </a:rPr>
              <a:t>comprenderlas</a:t>
            </a:r>
            <a:r>
              <a:rPr lang="en-US" sz="1500" spc="-1" dirty="0">
                <a:latin typeface="Times New Roman"/>
                <a:ea typeface="Times New Roman"/>
              </a:rPr>
              <a:t> y </a:t>
            </a:r>
            <a:r>
              <a:rPr lang="en-US" sz="1500" spc="-1" dirty="0" err="1">
                <a:latin typeface="Times New Roman"/>
                <a:ea typeface="Times New Roman"/>
              </a:rPr>
              <a:t>realizar</a:t>
            </a:r>
            <a:r>
              <a:rPr lang="en-US" sz="1500" spc="-1" dirty="0">
                <a:latin typeface="Times New Roman"/>
                <a:ea typeface="Times New Roman"/>
              </a:rPr>
              <a:t> </a:t>
            </a:r>
            <a:r>
              <a:rPr lang="en-US" sz="1500" spc="-1" dirty="0" err="1">
                <a:latin typeface="Times New Roman"/>
                <a:ea typeface="Times New Roman"/>
              </a:rPr>
              <a:t>cambios</a:t>
            </a:r>
            <a:r>
              <a:rPr lang="en-US" sz="1500" spc="-1" dirty="0">
                <a:latin typeface="Times New Roman"/>
                <a:ea typeface="Times New Roman"/>
              </a:rPr>
              <a:t> </a:t>
            </a:r>
            <a:r>
              <a:rPr lang="en-US" sz="1500" spc="-1" dirty="0" err="1">
                <a:latin typeface="Times New Roman"/>
                <a:ea typeface="Times New Roman"/>
              </a:rPr>
              <a:t>en</a:t>
            </a:r>
            <a:r>
              <a:rPr lang="en-US" sz="1500" spc="-1" dirty="0">
                <a:latin typeface="Times New Roman"/>
                <a:ea typeface="Times New Roman"/>
              </a:rPr>
              <a:t> </a:t>
            </a:r>
            <a:r>
              <a:rPr lang="en-US" sz="1500" spc="-1" dirty="0" err="1">
                <a:latin typeface="Times New Roman"/>
                <a:ea typeface="Times New Roman"/>
              </a:rPr>
              <a:t>el</a:t>
            </a:r>
            <a:r>
              <a:rPr lang="en-US" sz="1500" spc="-1" dirty="0">
                <a:latin typeface="Times New Roman"/>
                <a:ea typeface="Times New Roman"/>
              </a:rPr>
              <a:t> </a:t>
            </a:r>
            <a:r>
              <a:rPr lang="en-US" sz="1500" spc="-1" dirty="0" err="1">
                <a:latin typeface="Times New Roman"/>
                <a:ea typeface="Times New Roman"/>
              </a:rPr>
              <a:t>producto</a:t>
            </a:r>
            <a:r>
              <a:rPr lang="en-US" sz="1500" spc="-1" dirty="0">
                <a:latin typeface="Times New Roman"/>
                <a:ea typeface="Times New Roman"/>
              </a:rPr>
              <a:t> o </a:t>
            </a:r>
            <a:r>
              <a:rPr lang="en-US" sz="1500" spc="-1" dirty="0" err="1">
                <a:latin typeface="Times New Roman"/>
                <a:ea typeface="Times New Roman"/>
              </a:rPr>
              <a:t>proceso</a:t>
            </a:r>
            <a:r>
              <a:rPr lang="en-US" sz="1500" spc="-1" dirty="0">
                <a:latin typeface="Times New Roman"/>
                <a:ea typeface="Times New Roman"/>
              </a:rPr>
              <a:t> </a:t>
            </a:r>
            <a:r>
              <a:rPr lang="en-US" sz="1500" spc="-1" dirty="0" err="1">
                <a:latin typeface="Times New Roman"/>
                <a:ea typeface="Times New Roman"/>
              </a:rPr>
              <a:t>en</a:t>
            </a:r>
            <a:r>
              <a:rPr lang="en-US" sz="1500" spc="-1" dirty="0">
                <a:latin typeface="Times New Roman"/>
                <a:ea typeface="Times New Roman"/>
              </a:rPr>
              <a:t> </a:t>
            </a:r>
            <a:r>
              <a:rPr lang="en-US" sz="1500" spc="-1" dirty="0" err="1">
                <a:latin typeface="Times New Roman"/>
                <a:ea typeface="Times New Roman"/>
              </a:rPr>
              <a:t>función</a:t>
            </a:r>
            <a:r>
              <a:rPr lang="en-US" sz="1500" spc="-1" dirty="0">
                <a:latin typeface="Times New Roman"/>
                <a:ea typeface="Times New Roman"/>
              </a:rPr>
              <a:t> del </a:t>
            </a:r>
            <a:r>
              <a:rPr lang="en-US" sz="1500" spc="-1" dirty="0" err="1">
                <a:latin typeface="Times New Roman"/>
                <a:ea typeface="Times New Roman"/>
              </a:rPr>
              <a:t>análisis</a:t>
            </a:r>
            <a:r>
              <a:rPr lang="en-US" sz="1500" spc="-1" dirty="0">
                <a:latin typeface="Times New Roman"/>
                <a:ea typeface="Times New Roman"/>
              </a:rPr>
              <a:t>. Las </a:t>
            </a:r>
            <a:r>
              <a:rPr lang="en-US" sz="1500" spc="-1" dirty="0" err="1">
                <a:latin typeface="Times New Roman"/>
                <a:ea typeface="Times New Roman"/>
              </a:rPr>
              <a:t>métricas</a:t>
            </a:r>
            <a:r>
              <a:rPr lang="en-US" sz="1500" spc="-1" dirty="0">
                <a:latin typeface="Times New Roman"/>
                <a:ea typeface="Times New Roman"/>
              </a:rPr>
              <a:t> </a:t>
            </a:r>
            <a:r>
              <a:rPr lang="en-US" sz="1500" spc="-1" dirty="0" err="1">
                <a:latin typeface="Times New Roman"/>
                <a:ea typeface="Times New Roman"/>
              </a:rPr>
              <a:t>deben</a:t>
            </a:r>
            <a:r>
              <a:rPr lang="en-US" sz="1500" spc="-1" dirty="0">
                <a:latin typeface="Times New Roman"/>
                <a:ea typeface="Times New Roman"/>
              </a:rPr>
              <a:t> </a:t>
            </a:r>
            <a:r>
              <a:rPr lang="en-US" sz="1500" spc="-1" dirty="0" err="1">
                <a:latin typeface="Times New Roman"/>
                <a:ea typeface="Times New Roman"/>
              </a:rPr>
              <a:t>ser</a:t>
            </a:r>
            <a:r>
              <a:rPr lang="en-US" sz="1500" u="sng" spc="-1" dirty="0" err="1">
                <a:latin typeface="Times New Roman"/>
                <a:ea typeface="Times New Roman"/>
              </a:rPr>
              <a:t>estandarizado</a:t>
            </a:r>
            <a:r>
              <a:rPr lang="en-US" sz="1500" spc="-1" dirty="0" err="1">
                <a:latin typeface="Times New Roman"/>
                <a:ea typeface="Times New Roman"/>
              </a:rPr>
              <a:t>Ser</a:t>
            </a:r>
            <a:r>
              <a:rPr lang="en-US" sz="1500" spc="-1" dirty="0">
                <a:latin typeface="Times New Roman"/>
                <a:ea typeface="Times New Roman"/>
              </a:rPr>
              <a:t> </a:t>
            </a:r>
            <a:r>
              <a:rPr lang="en-US" sz="1500" spc="-1" dirty="0" err="1">
                <a:latin typeface="Times New Roman"/>
                <a:ea typeface="Times New Roman"/>
              </a:rPr>
              <a:t>eficaz</a:t>
            </a:r>
            <a:r>
              <a:rPr lang="en-US" sz="1500" spc="-1" dirty="0">
                <a:latin typeface="Times New Roman"/>
                <a:ea typeface="Times New Roman"/>
              </a:rPr>
              <a:t>.</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spc="-1" dirty="0">
                <a:latin typeface="Times New Roman"/>
                <a:ea typeface="Times New Roman"/>
              </a:rPr>
              <a:t>•</a:t>
            </a:r>
            <a:r>
              <a:rPr lang="en-US" sz="1500" b="1" spc="-1" dirty="0" err="1">
                <a:latin typeface="Times New Roman"/>
                <a:ea typeface="Times New Roman"/>
              </a:rPr>
              <a:t>Análisis</a:t>
            </a:r>
            <a:r>
              <a:rPr lang="en-US" sz="1500" b="1" spc="-1" dirty="0">
                <a:latin typeface="Times New Roman"/>
                <a:ea typeface="Times New Roman"/>
              </a:rPr>
              <a:t> de </a:t>
            </a:r>
            <a:r>
              <a:rPr lang="en-US" sz="1500" b="1" spc="-1" dirty="0" err="1">
                <a:latin typeface="Times New Roman"/>
                <a:ea typeface="Times New Roman"/>
              </a:rPr>
              <a:t>riesgos</a:t>
            </a:r>
            <a:r>
              <a:rPr lang="en-US" sz="1500" spc="-1" dirty="0">
                <a:latin typeface="Times New Roman"/>
                <a:ea typeface="Times New Roman"/>
              </a:rPr>
              <a:t>– </a:t>
            </a:r>
            <a:r>
              <a:rPr lang="en-US" sz="1500" spc="-1" dirty="0" err="1">
                <a:latin typeface="Times New Roman"/>
                <a:ea typeface="Times New Roman"/>
              </a:rPr>
              <a:t>identificar</a:t>
            </a:r>
            <a:r>
              <a:rPr lang="en-US" sz="1500" spc="-1" dirty="0">
                <a:latin typeface="Times New Roman"/>
                <a:ea typeface="Times New Roman"/>
              </a:rPr>
              <a:t> </a:t>
            </a:r>
            <a:r>
              <a:rPr lang="en-US" sz="1500" spc="-1" dirty="0" err="1">
                <a:latin typeface="Times New Roman"/>
                <a:ea typeface="Times New Roman"/>
              </a:rPr>
              <a:t>riesgos</a:t>
            </a:r>
            <a:r>
              <a:rPr lang="en-US" sz="1500" spc="-1" dirty="0">
                <a:latin typeface="Times New Roman"/>
                <a:ea typeface="Times New Roman"/>
              </a:rPr>
              <a:t> y </a:t>
            </a:r>
            <a:r>
              <a:rPr lang="en-US" sz="1500" spc="-1" dirty="0" err="1">
                <a:latin typeface="Times New Roman"/>
                <a:ea typeface="Times New Roman"/>
              </a:rPr>
              <a:t>oportunidades</a:t>
            </a:r>
            <a:r>
              <a:rPr lang="en-US" sz="1500" spc="-1" dirty="0">
                <a:latin typeface="Times New Roman"/>
                <a:ea typeface="Times New Roman"/>
              </a:rPr>
              <a:t> </a:t>
            </a:r>
            <a:r>
              <a:rPr lang="en-US" sz="1500" spc="-1" dirty="0" err="1">
                <a:latin typeface="Times New Roman"/>
                <a:ea typeface="Times New Roman"/>
              </a:rPr>
              <a:t>potenciales</a:t>
            </a:r>
            <a:r>
              <a:rPr lang="en-US" sz="1500" spc="-1" dirty="0">
                <a:latin typeface="Times New Roman"/>
                <a:ea typeface="Times New Roman"/>
              </a:rPr>
              <a:t> al </a:t>
            </a:r>
            <a:r>
              <a:rPr lang="en-US" sz="1500" spc="-1" dirty="0" err="1">
                <a:latin typeface="Times New Roman"/>
                <a:ea typeface="Times New Roman"/>
              </a:rPr>
              <a:t>inicio</a:t>
            </a:r>
            <a:r>
              <a:rPr lang="en-US" sz="1500" spc="-1" dirty="0">
                <a:latin typeface="Times New Roman"/>
                <a:ea typeface="Times New Roman"/>
              </a:rPr>
              <a:t> del </a:t>
            </a:r>
            <a:r>
              <a:rPr lang="en-US" sz="1500" spc="-1" dirty="0" err="1">
                <a:latin typeface="Times New Roman"/>
                <a:ea typeface="Times New Roman"/>
              </a:rPr>
              <a:t>programa</a:t>
            </a:r>
            <a:r>
              <a:rPr lang="en-US" sz="1500" spc="-1" dirty="0">
                <a:latin typeface="Times New Roman"/>
                <a:ea typeface="Times New Roman"/>
              </a:rPr>
              <a:t> y </a:t>
            </a:r>
            <a:r>
              <a:rPr lang="en-US" sz="1500" spc="-1" dirty="0" err="1">
                <a:latin typeface="Times New Roman"/>
                <a:ea typeface="Times New Roman"/>
              </a:rPr>
              <a:t>hacerles</a:t>
            </a:r>
            <a:r>
              <a:rPr lang="en-US" sz="1500" spc="-1" dirty="0">
                <a:latin typeface="Times New Roman"/>
                <a:ea typeface="Times New Roman"/>
              </a:rPr>
              <a:t> </a:t>
            </a:r>
            <a:r>
              <a:rPr lang="en-US" sz="1500" spc="-1" dirty="0" err="1">
                <a:latin typeface="Times New Roman"/>
                <a:ea typeface="Times New Roman"/>
              </a:rPr>
              <a:t>seguimiento</a:t>
            </a:r>
            <a:r>
              <a:rPr lang="en-US" sz="1500" spc="-1" dirty="0">
                <a:latin typeface="Times New Roman"/>
                <a:ea typeface="Times New Roman"/>
              </a:rPr>
              <a:t> hasta </a:t>
            </a:r>
            <a:r>
              <a:rPr lang="en-US" sz="1500" spc="-1" dirty="0" err="1">
                <a:latin typeface="Times New Roman"/>
                <a:ea typeface="Times New Roman"/>
              </a:rPr>
              <a:t>su</a:t>
            </a:r>
            <a:r>
              <a:rPr lang="en-US" sz="1500" spc="-1" dirty="0">
                <a:latin typeface="Times New Roman"/>
                <a:ea typeface="Times New Roman"/>
              </a:rPr>
              <a:t> </a:t>
            </a:r>
            <a:r>
              <a:rPr lang="en-US" sz="1500" spc="-1" dirty="0" err="1">
                <a:latin typeface="Times New Roman"/>
                <a:ea typeface="Times New Roman"/>
              </a:rPr>
              <a:t>realización</a:t>
            </a:r>
            <a:r>
              <a:rPr lang="en-US" sz="1500" spc="-1" dirty="0">
                <a:latin typeface="Times New Roman"/>
                <a:ea typeface="Times New Roman"/>
              </a:rPr>
              <a:t>.</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b="1" spc="-1" dirty="0">
                <a:latin typeface="Times New Roman"/>
                <a:ea typeface="Times New Roman"/>
              </a:rPr>
              <a:t>•</a:t>
            </a:r>
            <a:r>
              <a:rPr lang="en-US" sz="1500" b="1" spc="-1" dirty="0" err="1">
                <a:latin typeface="Times New Roman"/>
                <a:ea typeface="Times New Roman"/>
              </a:rPr>
              <a:t>Congelación</a:t>
            </a:r>
            <a:r>
              <a:rPr lang="en-US" sz="1500" b="1" spc="-1" dirty="0">
                <a:latin typeface="Times New Roman"/>
                <a:ea typeface="Times New Roman"/>
              </a:rPr>
              <a:t> de la </a:t>
            </a:r>
            <a:r>
              <a:rPr lang="en-US" sz="1500" b="1" spc="-1" dirty="0" err="1">
                <a:latin typeface="Times New Roman"/>
                <a:ea typeface="Times New Roman"/>
              </a:rPr>
              <a:t>construcción</a:t>
            </a:r>
            <a:r>
              <a:rPr lang="en-US" sz="1500" spc="-1" dirty="0">
                <a:latin typeface="Times New Roman"/>
                <a:ea typeface="Times New Roman"/>
              </a:rPr>
              <a:t>– no se </a:t>
            </a:r>
            <a:r>
              <a:rPr lang="en-US" sz="1500" spc="-1" dirty="0" err="1">
                <a:latin typeface="Times New Roman"/>
                <a:ea typeface="Times New Roman"/>
              </a:rPr>
              <a:t>realizan</a:t>
            </a:r>
            <a:r>
              <a:rPr lang="en-US" sz="1500" spc="-1" dirty="0">
                <a:latin typeface="Times New Roman"/>
                <a:ea typeface="Times New Roman"/>
              </a:rPr>
              <a:t> </a:t>
            </a:r>
            <a:r>
              <a:rPr lang="en-US" sz="1500" spc="-1" dirty="0" err="1">
                <a:latin typeface="Times New Roman"/>
                <a:ea typeface="Times New Roman"/>
              </a:rPr>
              <a:t>cambios</a:t>
            </a:r>
            <a:r>
              <a:rPr lang="en-US" sz="1500" spc="-1" dirty="0">
                <a:latin typeface="Times New Roman"/>
                <a:ea typeface="Times New Roman"/>
              </a:rPr>
              <a:t> </a:t>
            </a:r>
            <a:r>
              <a:rPr lang="en-US" sz="1500" spc="-1" dirty="0" err="1">
                <a:latin typeface="Times New Roman"/>
                <a:ea typeface="Times New Roman"/>
              </a:rPr>
              <a:t>en</a:t>
            </a:r>
            <a:r>
              <a:rPr lang="en-US" sz="1500" spc="-1" dirty="0">
                <a:latin typeface="Times New Roman"/>
                <a:ea typeface="Times New Roman"/>
              </a:rPr>
              <a:t> </a:t>
            </a:r>
            <a:r>
              <a:rPr lang="en-US" sz="1500" spc="-1" dirty="0" err="1">
                <a:latin typeface="Times New Roman"/>
                <a:ea typeface="Times New Roman"/>
              </a:rPr>
              <a:t>el</a:t>
            </a:r>
            <a:r>
              <a:rPr lang="en-US" sz="1500" spc="-1" dirty="0">
                <a:latin typeface="Times New Roman"/>
                <a:ea typeface="Times New Roman"/>
              </a:rPr>
              <a:t> </a:t>
            </a:r>
            <a:r>
              <a:rPr lang="en-US" sz="1500" spc="-1" dirty="0" err="1">
                <a:latin typeface="Times New Roman"/>
                <a:ea typeface="Times New Roman"/>
              </a:rPr>
              <a:t>código</a:t>
            </a:r>
            <a:r>
              <a:rPr lang="en-US" sz="1500" spc="-1" dirty="0">
                <a:latin typeface="Times New Roman"/>
                <a:ea typeface="Times New Roman"/>
              </a:rPr>
              <a:t> </a:t>
            </a:r>
            <a:r>
              <a:rPr lang="en-US" sz="1500" spc="-1" dirty="0" err="1">
                <a:latin typeface="Times New Roman"/>
                <a:ea typeface="Times New Roman"/>
              </a:rPr>
              <a:t>durante</a:t>
            </a:r>
            <a:r>
              <a:rPr lang="en-US" sz="1500" spc="-1" dirty="0">
                <a:latin typeface="Times New Roman"/>
                <a:ea typeface="Times New Roman"/>
              </a:rPr>
              <a:t> las </a:t>
            </a:r>
            <a:r>
              <a:rPr lang="en-US" sz="1500" spc="-1" dirty="0" err="1">
                <a:latin typeface="Times New Roman"/>
                <a:ea typeface="Times New Roman"/>
              </a:rPr>
              <a:t>pruebas</a:t>
            </a:r>
            <a:r>
              <a:rPr lang="en-US" sz="1500" spc="-1" dirty="0">
                <a:latin typeface="Times New Roman"/>
                <a:ea typeface="Times New Roman"/>
              </a:rPr>
              <a:t> </a:t>
            </a:r>
            <a:r>
              <a:rPr lang="en-US" sz="1500" spc="-1" dirty="0" err="1">
                <a:latin typeface="Times New Roman"/>
                <a:ea typeface="Times New Roman"/>
              </a:rPr>
              <a:t>formales</a:t>
            </a:r>
            <a:r>
              <a:rPr lang="en-US" sz="1500" spc="-1" dirty="0">
                <a:latin typeface="Times New Roman"/>
                <a:ea typeface="Times New Roman"/>
              </a:rPr>
              <a:t>.</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b="1" spc="-1" dirty="0">
                <a:latin typeface="Times New Roman"/>
                <a:ea typeface="Times New Roman"/>
              </a:rPr>
              <a:t>•</a:t>
            </a:r>
            <a:r>
              <a:rPr lang="en-US" sz="1500" b="1" spc="-1" dirty="0" err="1">
                <a:latin typeface="Times New Roman"/>
                <a:ea typeface="Times New Roman"/>
              </a:rPr>
              <a:t>Pautas</a:t>
            </a:r>
            <a:r>
              <a:rPr lang="en-US" sz="1500" b="1" spc="-1" dirty="0">
                <a:latin typeface="Times New Roman"/>
                <a:ea typeface="Times New Roman"/>
              </a:rPr>
              <a:t> para </a:t>
            </a:r>
            <a:r>
              <a:rPr lang="en-US" sz="1500" b="1" spc="-1" dirty="0" err="1">
                <a:latin typeface="Times New Roman"/>
                <a:ea typeface="Times New Roman"/>
              </a:rPr>
              <a:t>pruebas</a:t>
            </a:r>
            <a:r>
              <a:rPr lang="en-US" sz="1500" b="1" spc="-1" dirty="0">
                <a:latin typeface="Times New Roman"/>
                <a:ea typeface="Times New Roman"/>
              </a:rPr>
              <a:t> a </a:t>
            </a:r>
            <a:r>
              <a:rPr lang="en-US" sz="1500" b="1" spc="-1" dirty="0" err="1">
                <a:latin typeface="Times New Roman"/>
                <a:ea typeface="Times New Roman"/>
              </a:rPr>
              <a:t>nivel</a:t>
            </a:r>
            <a:r>
              <a:rPr lang="en-US" sz="1500" b="1" spc="-1" dirty="0">
                <a:latin typeface="Times New Roman"/>
                <a:ea typeface="Times New Roman"/>
              </a:rPr>
              <a:t> de </a:t>
            </a:r>
            <a:r>
              <a:rPr lang="en-US" sz="1500" b="1" spc="-1" dirty="0" err="1">
                <a:latin typeface="Times New Roman"/>
                <a:ea typeface="Times New Roman"/>
              </a:rPr>
              <a:t>unidad</a:t>
            </a:r>
            <a:r>
              <a:rPr lang="en-US" sz="1500" spc="-1" dirty="0">
                <a:latin typeface="Times New Roman"/>
                <a:ea typeface="Times New Roman"/>
              </a:rPr>
              <a:t>– planes y </a:t>
            </a:r>
            <a:r>
              <a:rPr lang="en-US" sz="1500" spc="-1" dirty="0" err="1">
                <a:latin typeface="Times New Roman"/>
                <a:ea typeface="Times New Roman"/>
              </a:rPr>
              <a:t>procedimientos</a:t>
            </a:r>
            <a:r>
              <a:rPr lang="en-US" sz="1500" spc="-1" dirty="0">
                <a:latin typeface="Times New Roman"/>
                <a:ea typeface="Times New Roman"/>
              </a:rPr>
              <a:t> de </a:t>
            </a:r>
            <a:r>
              <a:rPr lang="en-US" sz="1500" spc="-1" dirty="0" err="1">
                <a:latin typeface="Times New Roman"/>
                <a:ea typeface="Times New Roman"/>
              </a:rPr>
              <a:t>prueba</a:t>
            </a:r>
            <a:r>
              <a:rPr lang="en-US" sz="1500" spc="-1" dirty="0">
                <a:latin typeface="Times New Roman"/>
                <a:ea typeface="Times New Roman"/>
              </a:rPr>
              <a:t> para </a:t>
            </a:r>
            <a:r>
              <a:rPr lang="en-US" sz="1500" spc="-1" dirty="0" err="1">
                <a:latin typeface="Times New Roman"/>
                <a:ea typeface="Times New Roman"/>
              </a:rPr>
              <a:t>cada</a:t>
            </a:r>
            <a:r>
              <a:rPr lang="en-US" sz="1500" spc="-1" dirty="0">
                <a:latin typeface="Times New Roman"/>
                <a:ea typeface="Times New Roman"/>
              </a:rPr>
              <a:t> UT</a:t>
            </a:r>
            <a:endParaRPr lang="en-US" sz="1500" spc="-1" dirty="0">
              <a:latin typeface="Times New Roman"/>
            </a:endParaRPr>
          </a:p>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US" sz="1500" b="1" spc="-1" dirty="0">
                <a:latin typeface="Times New Roman"/>
                <a:ea typeface="Times New Roman"/>
              </a:rPr>
              <a:t>•</a:t>
            </a:r>
            <a:r>
              <a:rPr lang="en-US" sz="1500" b="1" spc="-1" dirty="0" err="1">
                <a:latin typeface="Times New Roman"/>
                <a:ea typeface="Times New Roman"/>
              </a:rPr>
              <a:t>Criterios</a:t>
            </a:r>
            <a:r>
              <a:rPr lang="en-US" sz="1500" b="1" spc="-1" dirty="0">
                <a:latin typeface="Times New Roman"/>
                <a:ea typeface="Times New Roman"/>
              </a:rPr>
              <a:t> de </a:t>
            </a:r>
            <a:r>
              <a:rPr lang="en-US" sz="1500" b="1" spc="-1" dirty="0" err="1">
                <a:latin typeface="Times New Roman"/>
                <a:ea typeface="Times New Roman"/>
              </a:rPr>
              <a:t>aceptación</a:t>
            </a:r>
            <a:r>
              <a:rPr lang="en-US" sz="1500" b="1" spc="-1" dirty="0">
                <a:latin typeface="Times New Roman"/>
                <a:ea typeface="Times New Roman"/>
              </a:rPr>
              <a:t> de base</a:t>
            </a:r>
            <a:r>
              <a:rPr lang="en-US" sz="1500" spc="-1" dirty="0">
                <a:latin typeface="Times New Roman"/>
                <a:ea typeface="Times New Roman"/>
              </a:rPr>
              <a:t>– </a:t>
            </a:r>
            <a:r>
              <a:rPr lang="en-US" sz="1500" spc="-1" dirty="0" err="1">
                <a:latin typeface="Times New Roman"/>
                <a:ea typeface="Times New Roman"/>
              </a:rPr>
              <a:t>establecimiento</a:t>
            </a:r>
            <a:r>
              <a:rPr lang="en-US" sz="1500" spc="-1" dirty="0">
                <a:latin typeface="Times New Roman"/>
                <a:ea typeface="Times New Roman"/>
              </a:rPr>
              <a:t> de </a:t>
            </a:r>
            <a:r>
              <a:rPr lang="en-US" sz="1500" spc="-1" dirty="0" err="1">
                <a:latin typeface="Times New Roman"/>
                <a:ea typeface="Times New Roman"/>
              </a:rPr>
              <a:t>criterios</a:t>
            </a:r>
            <a:r>
              <a:rPr lang="en-US" sz="1500" spc="-1" dirty="0">
                <a:latin typeface="Times New Roman"/>
                <a:ea typeface="Times New Roman"/>
              </a:rPr>
              <a:t> de </a:t>
            </a:r>
            <a:r>
              <a:rPr lang="en-US" sz="1500" spc="-1" dirty="0" err="1">
                <a:latin typeface="Times New Roman"/>
                <a:ea typeface="Times New Roman"/>
              </a:rPr>
              <a:t>cierre</a:t>
            </a:r>
            <a:r>
              <a:rPr lang="en-US" sz="1500" spc="-1" dirty="0">
                <a:latin typeface="Times New Roman"/>
                <a:ea typeface="Times New Roman"/>
              </a:rPr>
              <a:t> por adelantado (es </a:t>
            </a:r>
            <a:r>
              <a:rPr lang="en-US" sz="1500" spc="-1" dirty="0" err="1">
                <a:latin typeface="Times New Roman"/>
                <a:ea typeface="Times New Roman"/>
              </a:rPr>
              <a:t>decir</a:t>
            </a:r>
            <a:r>
              <a:rPr lang="en-US" sz="1500" spc="-1" dirty="0">
                <a:latin typeface="Times New Roman"/>
                <a:ea typeface="Times New Roman"/>
              </a:rPr>
              <a:t>, no hay STR P1 </a:t>
            </a:r>
            <a:r>
              <a:rPr lang="en-US" sz="1500" spc="-1" dirty="0" err="1">
                <a:latin typeface="Times New Roman"/>
                <a:ea typeface="Times New Roman"/>
              </a:rPr>
              <a:t>en</a:t>
            </a:r>
            <a:r>
              <a:rPr lang="en-US" sz="1500" spc="-1" dirty="0">
                <a:latin typeface="Times New Roman"/>
                <a:ea typeface="Times New Roman"/>
              </a:rPr>
              <a:t> FAT TRR)</a:t>
            </a:r>
            <a:endParaRPr lang="en-US" sz="1500" spc="-1" dirty="0">
              <a:latin typeface="Times New Roman"/>
            </a:endParaRPr>
          </a:p>
        </p:txBody>
      </p:sp>
    </p:spTree>
    <p:extLst>
      <p:ext uri="{BB962C8B-B14F-4D97-AF65-F5344CB8AC3E}">
        <p14:creationId xmlns:p14="http://schemas.microsoft.com/office/powerpoint/2010/main" val="2036467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C8EC4F-B398-7EF7-25CD-53C5AA46B431}"/>
              </a:ext>
            </a:extLst>
          </p:cNvPr>
          <p:cNvSpPr>
            <a:spLocks noGrp="1"/>
          </p:cNvSpPr>
          <p:nvPr>
            <p:ph type="title" idx="4294967295"/>
          </p:nvPr>
        </p:nvSpPr>
        <p:spPr>
          <a:xfrm>
            <a:off x="0" y="444500"/>
            <a:ext cx="4926505" cy="573088"/>
          </a:xfrm>
        </p:spPr>
        <p:txBody>
          <a:bodyPr/>
          <a:lstStyle/>
          <a:p>
            <a:pPr algn="ctr"/>
            <a:r>
              <a:rPr lang="es-ES" dirty="0">
                <a:solidFill>
                  <a:srgbClr val="FF0000"/>
                </a:solidFill>
              </a:rPr>
              <a:t>Control de Lectura </a:t>
            </a:r>
            <a:endParaRPr lang="es-PE" dirty="0">
              <a:solidFill>
                <a:srgbClr val="FF0000"/>
              </a:solidFill>
            </a:endParaRPr>
          </a:p>
        </p:txBody>
      </p:sp>
      <p:sp>
        <p:nvSpPr>
          <p:cNvPr id="3" name="Marcador de número de diapositiva 2">
            <a:extLst>
              <a:ext uri="{FF2B5EF4-FFF2-40B4-BE49-F238E27FC236}">
                <a16:creationId xmlns:a16="http://schemas.microsoft.com/office/drawing/2014/main" id="{F399993E-5EDB-673D-8361-4422522C8B46}"/>
              </a:ext>
            </a:extLst>
          </p:cNvPr>
          <p:cNvSpPr>
            <a:spLocks noGrp="1"/>
          </p:cNvSpPr>
          <p:nvPr>
            <p:ph type="sldNum" idx="4294967295"/>
          </p:nvPr>
        </p:nvSpPr>
        <p:spPr>
          <a:xfrm>
            <a:off x="8594725" y="0"/>
            <a:ext cx="549275" cy="39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1pPr>
            <a:lvl2pPr marR="0" lvl="1"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2pPr>
            <a:lvl3pPr marR="0" lvl="2"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3pPr>
            <a:lvl4pPr marR="0" lvl="3"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4pPr>
            <a:lvl5pPr marR="0" lvl="4"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5pPr>
            <a:lvl6pPr marR="0" lvl="5"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6pPr>
            <a:lvl7pPr marR="0" lvl="6"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7pPr>
            <a:lvl8pPr marR="0" lvl="7"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8pPr>
            <a:lvl9pPr marR="0" lvl="8"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49</a:t>
            </a:fld>
            <a:endParaRPr lang="es-PE"/>
          </a:p>
        </p:txBody>
      </p:sp>
      <p:sp>
        <p:nvSpPr>
          <p:cNvPr id="4" name="CuadroTexto 3">
            <a:extLst>
              <a:ext uri="{FF2B5EF4-FFF2-40B4-BE49-F238E27FC236}">
                <a16:creationId xmlns:a16="http://schemas.microsoft.com/office/drawing/2014/main" id="{758ABAFC-2607-C736-EE67-A88A518A4452}"/>
              </a:ext>
            </a:extLst>
          </p:cNvPr>
          <p:cNvSpPr txBox="1"/>
          <p:nvPr/>
        </p:nvSpPr>
        <p:spPr>
          <a:xfrm>
            <a:off x="274638" y="1173409"/>
            <a:ext cx="4651867" cy="3739485"/>
          </a:xfrm>
          <a:prstGeom prst="rect">
            <a:avLst/>
          </a:prstGeom>
          <a:noFill/>
        </p:spPr>
        <p:txBody>
          <a:bodyPr wrap="square" rtlCol="0">
            <a:spAutoFit/>
          </a:bodyPr>
          <a:lstStyle/>
          <a:p>
            <a:r>
              <a:rPr lang="es-ES" dirty="0"/>
              <a:t>Revisar y responder:</a:t>
            </a:r>
          </a:p>
          <a:p>
            <a:r>
              <a:rPr lang="es-PE" sz="1100" dirty="0"/>
              <a:t>https://www.researchgate.net/profile/Deepak-Khazanchi/publication/230636169_Software_Quality_Assurance/links/02e7e52b4bddcf076a000000/Software-Quality-Assurance.pdf?_tp=eyJjb250ZXh0Ijp7ImZpcnN0UGFnZSI6InB1YmxpY2F0aW9uRGlyZWN0b3J5IiwicGFnZSI6InB1YmxpY2F0aW9uIn19</a:t>
            </a:r>
          </a:p>
          <a:p>
            <a:endParaRPr lang="es-PE" dirty="0"/>
          </a:p>
          <a:p>
            <a:pPr marL="342900" indent="-342900">
              <a:buAutoNum type="arabicPeriod"/>
            </a:pPr>
            <a:r>
              <a:rPr lang="es-PE" dirty="0"/>
              <a:t>Indique tres causas por las que considera que fallan los proyectos de software?</a:t>
            </a:r>
          </a:p>
          <a:p>
            <a:pPr marL="342900" indent="-342900">
              <a:buAutoNum type="arabicPeriod"/>
            </a:pPr>
            <a:r>
              <a:rPr lang="es-PE" dirty="0"/>
              <a:t>Describa que es aseguramiento de calidad de software, justifique.</a:t>
            </a:r>
          </a:p>
          <a:p>
            <a:pPr marL="342900" indent="-342900">
              <a:buAutoNum type="arabicPeriod"/>
            </a:pPr>
            <a:r>
              <a:rPr lang="es-PE" dirty="0"/>
              <a:t>El aseguramiento de calidad de software en las fases de producción, cual considera mas compleja.</a:t>
            </a:r>
          </a:p>
          <a:p>
            <a:endParaRPr lang="es-PE" dirty="0"/>
          </a:p>
          <a:p>
            <a:r>
              <a:rPr lang="es-PE" dirty="0"/>
              <a:t>PRESENTACION</a:t>
            </a:r>
          </a:p>
          <a:p>
            <a:r>
              <a:rPr lang="es-PE" dirty="0"/>
              <a:t>Individual</a:t>
            </a:r>
          </a:p>
          <a:p>
            <a:r>
              <a:rPr lang="es-PE" dirty="0"/>
              <a:t>Responder preguntas</a:t>
            </a:r>
          </a:p>
          <a:p>
            <a:r>
              <a:rPr lang="es-PE" dirty="0"/>
              <a:t>Fecha: Sesión actual</a:t>
            </a:r>
          </a:p>
        </p:txBody>
      </p:sp>
      <p:pic>
        <p:nvPicPr>
          <p:cNvPr id="6" name="Imagen 5">
            <a:extLst>
              <a:ext uri="{FF2B5EF4-FFF2-40B4-BE49-F238E27FC236}">
                <a16:creationId xmlns:a16="http://schemas.microsoft.com/office/drawing/2014/main" id="{EF772E6D-13D6-C9B0-A5B7-339F1CA379F7}"/>
              </a:ext>
            </a:extLst>
          </p:cNvPr>
          <p:cNvPicPr>
            <a:picLocks noChangeAspect="1"/>
          </p:cNvPicPr>
          <p:nvPr/>
        </p:nvPicPr>
        <p:blipFill>
          <a:blip r:embed="rId2"/>
          <a:stretch>
            <a:fillRect/>
          </a:stretch>
        </p:blipFill>
        <p:spPr>
          <a:xfrm>
            <a:off x="4926505" y="600321"/>
            <a:ext cx="3942857" cy="3942857"/>
          </a:xfrm>
          <a:prstGeom prst="rect">
            <a:avLst/>
          </a:prstGeom>
        </p:spPr>
      </p:pic>
    </p:spTree>
    <p:extLst>
      <p:ext uri="{BB962C8B-B14F-4D97-AF65-F5344CB8AC3E}">
        <p14:creationId xmlns:p14="http://schemas.microsoft.com/office/powerpoint/2010/main" val="38905567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84075-DC8E-999B-1A55-77A32C651E01}"/>
              </a:ext>
            </a:extLst>
          </p:cNvPr>
          <p:cNvSpPr>
            <a:spLocks noGrp="1"/>
          </p:cNvSpPr>
          <p:nvPr>
            <p:ph type="title" idx="4294967295"/>
          </p:nvPr>
        </p:nvSpPr>
        <p:spPr>
          <a:xfrm>
            <a:off x="0" y="444500"/>
            <a:ext cx="7702550" cy="573088"/>
          </a:xfrm>
        </p:spPr>
        <p:txBody>
          <a:bodyPr/>
          <a:lstStyle/>
          <a:p>
            <a:pPr algn="ctr"/>
            <a:r>
              <a:rPr lang="es-ES" dirty="0">
                <a:solidFill>
                  <a:srgbClr val="FF0000"/>
                </a:solidFill>
              </a:rPr>
              <a:t>Referencias</a:t>
            </a:r>
            <a:endParaRPr lang="es-PE" dirty="0">
              <a:solidFill>
                <a:srgbClr val="FF0000"/>
              </a:solidFill>
            </a:endParaRPr>
          </a:p>
        </p:txBody>
      </p:sp>
      <p:sp>
        <p:nvSpPr>
          <p:cNvPr id="3" name="Marcador de número de diapositiva 2">
            <a:extLst>
              <a:ext uri="{FF2B5EF4-FFF2-40B4-BE49-F238E27FC236}">
                <a16:creationId xmlns:a16="http://schemas.microsoft.com/office/drawing/2014/main" id="{264804EB-EE00-069E-F15B-3AAD1E68CFA5}"/>
              </a:ext>
            </a:extLst>
          </p:cNvPr>
          <p:cNvSpPr>
            <a:spLocks noGrp="1"/>
          </p:cNvSpPr>
          <p:nvPr>
            <p:ph type="sldNum" idx="4294967295"/>
          </p:nvPr>
        </p:nvSpPr>
        <p:spPr>
          <a:xfrm>
            <a:off x="8594725" y="0"/>
            <a:ext cx="549275" cy="39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1pPr>
            <a:lvl2pPr marR="0" lvl="1"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2pPr>
            <a:lvl3pPr marR="0" lvl="2"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3pPr>
            <a:lvl4pPr marR="0" lvl="3"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4pPr>
            <a:lvl5pPr marR="0" lvl="4"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5pPr>
            <a:lvl6pPr marR="0" lvl="5"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6pPr>
            <a:lvl7pPr marR="0" lvl="6"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7pPr>
            <a:lvl8pPr marR="0" lvl="7"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8pPr>
            <a:lvl9pPr marR="0" lvl="8"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50</a:t>
            </a:fld>
            <a:endParaRPr lang="es-PE"/>
          </a:p>
        </p:txBody>
      </p:sp>
      <p:sp>
        <p:nvSpPr>
          <p:cNvPr id="4" name="CuadroTexto 3">
            <a:extLst>
              <a:ext uri="{FF2B5EF4-FFF2-40B4-BE49-F238E27FC236}">
                <a16:creationId xmlns:a16="http://schemas.microsoft.com/office/drawing/2014/main" id="{7B773407-3A80-118C-FEB4-3D7782050D4D}"/>
              </a:ext>
            </a:extLst>
          </p:cNvPr>
          <p:cNvSpPr txBox="1"/>
          <p:nvPr/>
        </p:nvSpPr>
        <p:spPr>
          <a:xfrm>
            <a:off x="606056" y="1520456"/>
            <a:ext cx="6624084" cy="1384995"/>
          </a:xfrm>
          <a:prstGeom prst="rect">
            <a:avLst/>
          </a:prstGeom>
          <a:noFill/>
        </p:spPr>
        <p:txBody>
          <a:bodyPr wrap="square" rtlCol="0">
            <a:spAutoFit/>
          </a:bodyPr>
          <a:lstStyle/>
          <a:p>
            <a:pPr marL="342900" indent="-342900">
              <a:buAutoNum type="arabicPeriod"/>
            </a:pPr>
            <a:r>
              <a:rPr lang="es-ES" dirty="0">
                <a:hlinkClick r:id="rId2"/>
              </a:rPr>
              <a:t>https://www.nist.gov/system/files/documents/2018/01/12/procedure-for-software-qa-20180101.pdf</a:t>
            </a:r>
            <a:endParaRPr lang="es-ES" dirty="0"/>
          </a:p>
          <a:p>
            <a:pPr marL="342900" indent="-342900">
              <a:buAutoNum type="arabicPeriod"/>
            </a:pPr>
            <a:r>
              <a:rPr lang="es-ES" dirty="0">
                <a:hlinkClick r:id="rId3"/>
              </a:rPr>
              <a:t>https://www.altexsoft.com/media/2016/10/Quality-Assurance-Quality-Control-and-Testing-%E2%80%94-the-Basics-of-Software-Quality-Management-Whitepaper.pdf</a:t>
            </a:r>
            <a:endParaRPr lang="es-ES" dirty="0"/>
          </a:p>
          <a:p>
            <a:pPr marL="342900" indent="-342900">
              <a:buAutoNum type="arabicPeriod"/>
            </a:pPr>
            <a:endParaRPr lang="es-PE" dirty="0"/>
          </a:p>
        </p:txBody>
      </p:sp>
    </p:spTree>
    <p:extLst>
      <p:ext uri="{BB962C8B-B14F-4D97-AF65-F5344CB8AC3E}">
        <p14:creationId xmlns:p14="http://schemas.microsoft.com/office/powerpoint/2010/main" val="39749988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ítulo 1">
            <a:extLst>
              <a:ext uri="{FF2B5EF4-FFF2-40B4-BE49-F238E27FC236}">
                <a16:creationId xmlns:a16="http://schemas.microsoft.com/office/drawing/2014/main" id="{0558C7F0-DE8B-4C81-B63D-E961D7877609}"/>
              </a:ext>
            </a:extLst>
          </p:cNvPr>
          <p:cNvSpPr>
            <a:spLocks noGrp="1"/>
          </p:cNvSpPr>
          <p:nvPr>
            <p:ph type="title" idx="4294967295"/>
          </p:nvPr>
        </p:nvSpPr>
        <p:spPr>
          <a:xfrm>
            <a:off x="0" y="444500"/>
            <a:ext cx="7702550" cy="573088"/>
          </a:xfrm>
        </p:spPr>
        <p:txBody>
          <a:bodyPr rtlCol="0"/>
          <a:lstStyle/>
          <a:p>
            <a:pPr algn="ctr">
              <a:defRPr/>
            </a:pPr>
            <a:r>
              <a:rPr lang="es-PE" sz="2400" dirty="0">
                <a:solidFill>
                  <a:srgbClr val="FE9202"/>
                </a:solidFill>
                <a:latin typeface="Arial" panose="020B0604020202020204" pitchFamily="34" charset="0"/>
                <a:cs typeface="Arial" panose="020B0604020202020204" pitchFamily="34" charset="0"/>
              </a:rPr>
              <a:t>Trabajo Parcial 2: </a:t>
            </a:r>
            <a:br>
              <a:rPr lang="es-PE" sz="2400" dirty="0">
                <a:solidFill>
                  <a:srgbClr val="FE9202"/>
                </a:solidFill>
                <a:latin typeface="Arial" panose="020B0604020202020204" pitchFamily="34" charset="0"/>
                <a:cs typeface="Arial" panose="020B0604020202020204" pitchFamily="34" charset="0"/>
              </a:rPr>
            </a:br>
            <a:r>
              <a:rPr lang="es-PE" sz="2400" dirty="0">
                <a:solidFill>
                  <a:srgbClr val="FE9202"/>
                </a:solidFill>
                <a:latin typeface="Arial" panose="020B0604020202020204" pitchFamily="34" charset="0"/>
                <a:cs typeface="Arial" panose="020B0604020202020204" pitchFamily="34" charset="0"/>
              </a:rPr>
              <a:t>Aplicación de norma IEEE 730-2014</a:t>
            </a:r>
          </a:p>
        </p:txBody>
      </p:sp>
      <p:sp>
        <p:nvSpPr>
          <p:cNvPr id="3" name="Marcador de contenido 2">
            <a:extLst>
              <a:ext uri="{FF2B5EF4-FFF2-40B4-BE49-F238E27FC236}">
                <a16:creationId xmlns:a16="http://schemas.microsoft.com/office/drawing/2014/main" id="{98B4DB2D-D07C-4909-A335-0B42EAA5B99D}"/>
              </a:ext>
            </a:extLst>
          </p:cNvPr>
          <p:cNvSpPr>
            <a:spLocks noGrp="1"/>
          </p:cNvSpPr>
          <p:nvPr>
            <p:ph type="body" idx="4294967295"/>
          </p:nvPr>
        </p:nvSpPr>
        <p:spPr>
          <a:xfrm>
            <a:off x="287079" y="812006"/>
            <a:ext cx="7702550" cy="411163"/>
          </a:xfrm>
        </p:spPr>
        <p:txBody>
          <a:bodyPr rtlCol="0">
            <a:noAutofit/>
          </a:bodyPr>
          <a:lstStyle/>
          <a:p>
            <a:pPr marL="139700" indent="0">
              <a:buNone/>
              <a:defRPr/>
            </a:pPr>
            <a:endParaRPr lang="es-PE" sz="18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Revisar:</a:t>
            </a: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https://sqgne.org/presentations/2014-15/Heimann-Apr-2015.pdf</a:t>
            </a:r>
          </a:p>
          <a:p>
            <a:pPr marL="139700" indent="0">
              <a:buNone/>
              <a:defRPr/>
            </a:pPr>
            <a:endParaRPr lang="es-PE" sz="1800" dirty="0">
              <a:solidFill>
                <a:schemeClr val="tx1">
                  <a:lumMod val="95000"/>
                  <a:lumOff val="5000"/>
                </a:schemeClr>
              </a:solidFill>
              <a:latin typeface="Arial" panose="020B0604020202020204" pitchFamily="34" charset="0"/>
              <a:cs typeface="Arial" panose="020B0604020202020204" pitchFamily="34" charset="0"/>
            </a:endParaRPr>
          </a:p>
          <a:p>
            <a:pPr>
              <a:buFont typeface="Wingdings 3" charset="2"/>
              <a:buAutoNum type="arabicPeriod"/>
              <a:defRPr/>
            </a:pPr>
            <a:r>
              <a:rPr lang="es-PE" sz="1600" dirty="0">
                <a:solidFill>
                  <a:schemeClr val="tx1">
                    <a:lumMod val="95000"/>
                    <a:lumOff val="5000"/>
                  </a:schemeClr>
                </a:solidFill>
                <a:latin typeface="Arial" panose="020B0604020202020204" pitchFamily="34" charset="0"/>
                <a:cs typeface="Arial" panose="020B0604020202020204" pitchFamily="34" charset="0"/>
              </a:rPr>
              <a:t>Adecuar y planificar la aplicación de la norma IEEE 730-2014, en el proyecto de trabajo parcial 1.</a:t>
            </a:r>
          </a:p>
          <a:p>
            <a:pPr>
              <a:buFont typeface="Wingdings 3" charset="2"/>
              <a:buAutoNum type="arabicPeriod"/>
              <a:defRPr/>
            </a:pPr>
            <a:r>
              <a:rPr lang="es-PE" sz="1600" dirty="0">
                <a:solidFill>
                  <a:schemeClr val="tx1">
                    <a:lumMod val="95000"/>
                    <a:lumOff val="5000"/>
                  </a:schemeClr>
                </a:solidFill>
                <a:latin typeface="Arial" panose="020B0604020202020204" pitchFamily="34" charset="0"/>
                <a:cs typeface="Arial" panose="020B0604020202020204" pitchFamily="34" charset="0"/>
              </a:rPr>
              <a:t> Determinar actividades de producto y de proceso a realizar para el aseguramiento de calidad</a:t>
            </a:r>
          </a:p>
          <a:p>
            <a:pPr>
              <a:buFont typeface="Wingdings 3" charset="2"/>
              <a:buAutoNum type="arabicPeriod"/>
              <a:defRPr/>
            </a:pPr>
            <a:r>
              <a:rPr lang="es-PE" sz="1600" dirty="0">
                <a:solidFill>
                  <a:schemeClr val="tx1">
                    <a:lumMod val="95000"/>
                    <a:lumOff val="5000"/>
                  </a:schemeClr>
                </a:solidFill>
                <a:latin typeface="Arial" panose="020B0604020202020204" pitchFamily="34" charset="0"/>
                <a:cs typeface="Arial" panose="020B0604020202020204" pitchFamily="34" charset="0"/>
              </a:rPr>
              <a:t>Indique los roles a considerar y las responsabilidades de estos.</a:t>
            </a:r>
          </a:p>
          <a:p>
            <a:pPr>
              <a:buFont typeface="Wingdings 3" charset="2"/>
              <a:buAutoNum type="arabicPeriod"/>
              <a:defRPr/>
            </a:pPr>
            <a:r>
              <a:rPr lang="es-PE" sz="1600" dirty="0">
                <a:solidFill>
                  <a:schemeClr val="tx1">
                    <a:lumMod val="95000"/>
                    <a:lumOff val="5000"/>
                  </a:schemeClr>
                </a:solidFill>
                <a:latin typeface="Arial" panose="020B0604020202020204" pitchFamily="34" charset="0"/>
                <a:cs typeface="Arial" panose="020B0604020202020204" pitchFamily="34" charset="0"/>
              </a:rPr>
              <a:t>Generar calendario de actividades e indicadores</a:t>
            </a:r>
          </a:p>
          <a:p>
            <a:pPr>
              <a:defRPr/>
            </a:pPr>
            <a:endParaRPr lang="es-PE" sz="16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600" dirty="0">
                <a:solidFill>
                  <a:schemeClr val="tx1">
                    <a:lumMod val="95000"/>
                    <a:lumOff val="5000"/>
                  </a:schemeClr>
                </a:solidFill>
                <a:latin typeface="Arial" panose="020B0604020202020204" pitchFamily="34" charset="0"/>
                <a:cs typeface="Arial" panose="020B0604020202020204" pitchFamily="34" charset="0"/>
              </a:rPr>
              <a:t>Grupo:   05 personas</a:t>
            </a:r>
          </a:p>
          <a:p>
            <a:pPr marL="139700" indent="0">
              <a:buNone/>
              <a:defRPr/>
            </a:pPr>
            <a:r>
              <a:rPr lang="es-PE" sz="1600" dirty="0">
                <a:solidFill>
                  <a:schemeClr val="tx1">
                    <a:lumMod val="95000"/>
                    <a:lumOff val="5000"/>
                  </a:schemeClr>
                </a:solidFill>
                <a:latin typeface="Arial" panose="020B0604020202020204" pitchFamily="34" charset="0"/>
                <a:cs typeface="Arial" panose="020B0604020202020204" pitchFamily="34" charset="0"/>
              </a:rPr>
              <a:t>Entregable: Reporte y presentación </a:t>
            </a:r>
            <a:r>
              <a:rPr lang="es-PE" sz="1600" dirty="0" err="1">
                <a:solidFill>
                  <a:schemeClr val="tx1">
                    <a:lumMod val="95000"/>
                    <a:lumOff val="5000"/>
                  </a:schemeClr>
                </a:solidFill>
                <a:latin typeface="Arial" panose="020B0604020202020204" pitchFamily="34" charset="0"/>
                <a:cs typeface="Arial" panose="020B0604020202020204" pitchFamily="34" charset="0"/>
              </a:rPr>
              <a:t>ppt</a:t>
            </a:r>
            <a:endParaRPr lang="es-PE" sz="16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600" dirty="0">
                <a:solidFill>
                  <a:schemeClr val="tx1">
                    <a:lumMod val="95000"/>
                    <a:lumOff val="5000"/>
                  </a:schemeClr>
                </a:solidFill>
                <a:latin typeface="Arial" panose="020B0604020202020204" pitchFamily="34" charset="0"/>
                <a:cs typeface="Arial" panose="020B0604020202020204" pitchFamily="34" charset="0"/>
              </a:rPr>
              <a:t>Entrega: 08/09/2026</a:t>
            </a:r>
          </a:p>
          <a:p>
            <a:pPr>
              <a:defRPr/>
            </a:pPr>
            <a:endParaRPr lang="es-PE" sz="1500" dirty="0">
              <a:solidFill>
                <a:schemeClr val="tx1">
                  <a:lumMod val="95000"/>
                  <a:lumOff val="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11"/>
        <p:cNvGrpSpPr/>
        <p:nvPr/>
      </p:nvGrpSpPr>
      <p:grpSpPr>
        <a:xfrm>
          <a:off x="0" y="0"/>
          <a:ext cx="0" cy="0"/>
          <a:chOff x="0" y="0"/>
          <a:chExt cx="0" cy="0"/>
        </a:xfrm>
      </p:grpSpPr>
      <p:sp>
        <p:nvSpPr>
          <p:cNvPr id="2412" name="Google Shape;2412;p64"/>
          <p:cNvSpPr txBox="1">
            <a:spLocks noGrp="1"/>
          </p:cNvSpPr>
          <p:nvPr>
            <p:ph type="title"/>
          </p:nvPr>
        </p:nvSpPr>
        <p:spPr>
          <a:xfrm>
            <a:off x="1157288" y="685275"/>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a:t>
            </a:r>
            <a:endParaRPr dirty="0"/>
          </a:p>
        </p:txBody>
      </p:sp>
      <p:sp>
        <p:nvSpPr>
          <p:cNvPr id="2413" name="Google Shape;2413;p64"/>
          <p:cNvSpPr txBox="1">
            <a:spLocks noGrp="1"/>
          </p:cNvSpPr>
          <p:nvPr>
            <p:ph type="subTitle" idx="1"/>
          </p:nvPr>
        </p:nvSpPr>
        <p:spPr>
          <a:xfrm>
            <a:off x="1157250" y="2203275"/>
            <a:ext cx="4448100" cy="100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jsilvaf@unsa.edu.pe</a:t>
            </a:r>
            <a:endParaRPr dirty="0"/>
          </a:p>
        </p:txBody>
      </p:sp>
      <p:sp>
        <p:nvSpPr>
          <p:cNvPr id="2414" name="Google Shape;2414;p64"/>
          <p:cNvSpPr txBox="1">
            <a:spLocks noGrp="1"/>
          </p:cNvSpPr>
          <p:nvPr>
            <p:ph type="subTitle" idx="2"/>
          </p:nvPr>
        </p:nvSpPr>
        <p:spPr>
          <a:xfrm>
            <a:off x="1157250" y="1800075"/>
            <a:ext cx="4448100" cy="3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p:txBody>
      </p:sp>
      <p:grpSp>
        <p:nvGrpSpPr>
          <p:cNvPr id="2416" name="Google Shape;2416;p64"/>
          <p:cNvGrpSpPr/>
          <p:nvPr/>
        </p:nvGrpSpPr>
        <p:grpSpPr>
          <a:xfrm>
            <a:off x="5361478" y="2513937"/>
            <a:ext cx="597900" cy="385800"/>
            <a:chOff x="2289878" y="3082512"/>
            <a:chExt cx="597900" cy="385800"/>
          </a:xfrm>
        </p:grpSpPr>
        <p:sp>
          <p:nvSpPr>
            <p:cNvPr id="2417" name="Google Shape;2417;p64"/>
            <p:cNvSpPr/>
            <p:nvPr/>
          </p:nvSpPr>
          <p:spPr>
            <a:xfrm>
              <a:off x="2447030" y="3130409"/>
              <a:ext cx="282876" cy="28321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64"/>
            <p:cNvSpPr/>
            <p:nvPr/>
          </p:nvSpPr>
          <p:spPr>
            <a:xfrm>
              <a:off x="2289878"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9" name="Google Shape;2419;p64"/>
          <p:cNvGrpSpPr/>
          <p:nvPr/>
        </p:nvGrpSpPr>
        <p:grpSpPr>
          <a:xfrm>
            <a:off x="4573177" y="2513937"/>
            <a:ext cx="597900" cy="385800"/>
            <a:chOff x="1501577" y="3082512"/>
            <a:chExt cx="597900" cy="385800"/>
          </a:xfrm>
        </p:grpSpPr>
        <p:grpSp>
          <p:nvGrpSpPr>
            <p:cNvPr id="2420" name="Google Shape;2420;p64"/>
            <p:cNvGrpSpPr/>
            <p:nvPr/>
          </p:nvGrpSpPr>
          <p:grpSpPr>
            <a:xfrm>
              <a:off x="1659114" y="3130469"/>
              <a:ext cx="283212" cy="282899"/>
              <a:chOff x="3303268" y="3817349"/>
              <a:chExt cx="346056" cy="345674"/>
            </a:xfrm>
          </p:grpSpPr>
          <p:sp>
            <p:nvSpPr>
              <p:cNvPr id="2421" name="Google Shape;2421;p64"/>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64"/>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64"/>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64"/>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5" name="Google Shape;2425;p64"/>
            <p:cNvSpPr/>
            <p:nvPr/>
          </p:nvSpPr>
          <p:spPr>
            <a:xfrm>
              <a:off x="1501577"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6" name="Google Shape;2426;p64"/>
          <p:cNvGrpSpPr/>
          <p:nvPr/>
        </p:nvGrpSpPr>
        <p:grpSpPr>
          <a:xfrm>
            <a:off x="3784875" y="2513937"/>
            <a:ext cx="597900" cy="385800"/>
            <a:chOff x="713275" y="3082512"/>
            <a:chExt cx="597900" cy="385800"/>
          </a:xfrm>
        </p:grpSpPr>
        <p:grpSp>
          <p:nvGrpSpPr>
            <p:cNvPr id="2427" name="Google Shape;2427;p64"/>
            <p:cNvGrpSpPr/>
            <p:nvPr/>
          </p:nvGrpSpPr>
          <p:grpSpPr>
            <a:xfrm>
              <a:off x="870716" y="3133963"/>
              <a:ext cx="283558" cy="283245"/>
              <a:chOff x="3752358" y="3817349"/>
              <a:chExt cx="346056" cy="345674"/>
            </a:xfrm>
          </p:grpSpPr>
          <p:sp>
            <p:nvSpPr>
              <p:cNvPr id="2428" name="Google Shape;2428;p64"/>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64"/>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64"/>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64"/>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2" name="Google Shape;2432;p64"/>
            <p:cNvSpPr/>
            <p:nvPr/>
          </p:nvSpPr>
          <p:spPr>
            <a:xfrm>
              <a:off x="713275"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3" name="Google Shape;2433;p64"/>
          <p:cNvGrpSpPr/>
          <p:nvPr/>
        </p:nvGrpSpPr>
        <p:grpSpPr>
          <a:xfrm rot="10800000" flipH="1">
            <a:off x="6773992" y="-1205456"/>
            <a:ext cx="4151819" cy="5527900"/>
            <a:chOff x="6309526" y="836950"/>
            <a:chExt cx="3920509" cy="5219925"/>
          </a:xfrm>
        </p:grpSpPr>
        <p:pic>
          <p:nvPicPr>
            <p:cNvPr id="2434" name="Google Shape;2434;p64"/>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2435" name="Google Shape;2435;p64"/>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64"/>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64"/>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8" name="Google Shape;2438;p64"/>
            <p:cNvGrpSpPr/>
            <p:nvPr/>
          </p:nvGrpSpPr>
          <p:grpSpPr>
            <a:xfrm>
              <a:off x="7280400" y="3719575"/>
              <a:ext cx="582050" cy="582425"/>
              <a:chOff x="959750" y="3039275"/>
              <a:chExt cx="582050" cy="582425"/>
            </a:xfrm>
          </p:grpSpPr>
          <p:sp>
            <p:nvSpPr>
              <p:cNvPr id="2439" name="Google Shape;2439;p6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6" name="Google Shape;2446;p64"/>
            <p:cNvGrpSpPr/>
            <p:nvPr/>
          </p:nvGrpSpPr>
          <p:grpSpPr>
            <a:xfrm>
              <a:off x="7728436" y="3524084"/>
              <a:ext cx="134004" cy="134004"/>
              <a:chOff x="8356813" y="1074288"/>
              <a:chExt cx="351900" cy="351900"/>
            </a:xfrm>
          </p:grpSpPr>
          <p:sp>
            <p:nvSpPr>
              <p:cNvPr id="2447" name="Google Shape;2447;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9" name="Google Shape;2449;p64"/>
            <p:cNvGrpSpPr/>
            <p:nvPr/>
          </p:nvGrpSpPr>
          <p:grpSpPr>
            <a:xfrm>
              <a:off x="7344361" y="3150259"/>
              <a:ext cx="134004" cy="134004"/>
              <a:chOff x="8356813" y="1074288"/>
              <a:chExt cx="351900" cy="351900"/>
            </a:xfrm>
          </p:grpSpPr>
          <p:sp>
            <p:nvSpPr>
              <p:cNvPr id="2450" name="Google Shape;2450;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2" name="Google Shape;2452;p64"/>
            <p:cNvGrpSpPr/>
            <p:nvPr/>
          </p:nvGrpSpPr>
          <p:grpSpPr>
            <a:xfrm>
              <a:off x="8337811" y="2464059"/>
              <a:ext cx="134004" cy="134004"/>
              <a:chOff x="8356813" y="1074288"/>
              <a:chExt cx="351900" cy="351900"/>
            </a:xfrm>
          </p:grpSpPr>
          <p:sp>
            <p:nvSpPr>
              <p:cNvPr id="2453" name="Google Shape;2453;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5" name="Google Shape;2455;p64"/>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6" name="Google Shape;2456;p64"/>
            <p:cNvGrpSpPr/>
            <p:nvPr/>
          </p:nvGrpSpPr>
          <p:grpSpPr>
            <a:xfrm>
              <a:off x="8337812" y="3492483"/>
              <a:ext cx="699928" cy="1651024"/>
              <a:chOff x="8337812" y="3492483"/>
              <a:chExt cx="699928" cy="1651024"/>
            </a:xfrm>
          </p:grpSpPr>
          <p:sp>
            <p:nvSpPr>
              <p:cNvPr id="2457" name="Google Shape;2457;p6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6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6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0" name="Google Shape;2460;p64"/>
            <p:cNvGrpSpPr/>
            <p:nvPr/>
          </p:nvGrpSpPr>
          <p:grpSpPr>
            <a:xfrm>
              <a:off x="7945225" y="4302000"/>
              <a:ext cx="904666" cy="726121"/>
              <a:chOff x="7945225" y="4302000"/>
              <a:chExt cx="904666" cy="726121"/>
            </a:xfrm>
          </p:grpSpPr>
          <p:sp>
            <p:nvSpPr>
              <p:cNvPr id="2461" name="Google Shape;2461;p6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6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6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4" name="Google Shape;2464;p64"/>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816"/>
        <p:cNvGrpSpPr/>
        <p:nvPr/>
      </p:nvGrpSpPr>
      <p:grpSpPr>
        <a:xfrm>
          <a:off x="0" y="0"/>
          <a:ext cx="0" cy="0"/>
          <a:chOff x="0" y="0"/>
          <a:chExt cx="0" cy="0"/>
        </a:xfrm>
      </p:grpSpPr>
      <p:sp>
        <p:nvSpPr>
          <p:cNvPr id="2" name="CuadroTexto 1">
            <a:extLst>
              <a:ext uri="{FF2B5EF4-FFF2-40B4-BE49-F238E27FC236}">
                <a16:creationId xmlns:a16="http://schemas.microsoft.com/office/drawing/2014/main" id="{3202B3E8-0D97-BF11-4B4E-B5C625538451}"/>
              </a:ext>
            </a:extLst>
          </p:cNvPr>
          <p:cNvSpPr txBox="1"/>
          <p:nvPr/>
        </p:nvSpPr>
        <p:spPr>
          <a:xfrm>
            <a:off x="2743200" y="1977656"/>
            <a:ext cx="3753293" cy="307777"/>
          </a:xfrm>
          <a:prstGeom prst="rect">
            <a:avLst/>
          </a:prstGeom>
          <a:noFill/>
        </p:spPr>
        <p:txBody>
          <a:bodyPr wrap="square" rtlCol="0">
            <a:spAutoFit/>
          </a:bodyPr>
          <a:lstStyle/>
          <a:p>
            <a:pPr algn="ctr"/>
            <a:r>
              <a:rPr lang="es-ES" dirty="0">
                <a:solidFill>
                  <a:schemeClr val="tx2"/>
                </a:solidFill>
              </a:rPr>
              <a:t>Calidad de Software</a:t>
            </a:r>
            <a:endParaRPr lang="es-PE" dirty="0">
              <a:solidFill>
                <a:schemeClr val="tx2"/>
              </a:solidFill>
            </a:endParaRPr>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3505</Words>
  <Application>Microsoft Office PowerPoint</Application>
  <PresentationFormat>Presentación en pantalla (16:9)</PresentationFormat>
  <Paragraphs>365</Paragraphs>
  <Slides>53</Slides>
  <Notes>3</Notes>
  <HiddenSlides>0</HiddenSlides>
  <MMClips>0</MMClips>
  <ScaleCrop>false</ScaleCrop>
  <HeadingPairs>
    <vt:vector size="8" baseType="variant">
      <vt:variant>
        <vt:lpstr>Fuentes usadas</vt:lpstr>
      </vt:variant>
      <vt:variant>
        <vt:i4>10</vt:i4>
      </vt:variant>
      <vt:variant>
        <vt:lpstr>Tema</vt:lpstr>
      </vt:variant>
      <vt:variant>
        <vt:i4>2</vt:i4>
      </vt:variant>
      <vt:variant>
        <vt:lpstr>Servidores OLE incrustados</vt:lpstr>
      </vt:variant>
      <vt:variant>
        <vt:i4>1</vt:i4>
      </vt:variant>
      <vt:variant>
        <vt:lpstr>Títulos de diapositiva</vt:lpstr>
      </vt:variant>
      <vt:variant>
        <vt:i4>53</vt:i4>
      </vt:variant>
    </vt:vector>
  </HeadingPairs>
  <TitlesOfParts>
    <vt:vector size="66" baseType="lpstr">
      <vt:lpstr>Wingdings 3</vt:lpstr>
      <vt:lpstr>Times New Roman</vt:lpstr>
      <vt:lpstr>TIMES</vt:lpstr>
      <vt:lpstr>Arial Black</vt:lpstr>
      <vt:lpstr>IBM Plex Mono</vt:lpstr>
      <vt:lpstr>Proxima Nova</vt:lpstr>
      <vt:lpstr>Oswald</vt:lpstr>
      <vt:lpstr>Roboto Condensed</vt:lpstr>
      <vt:lpstr>Arial</vt:lpstr>
      <vt:lpstr>Poppins</vt:lpstr>
      <vt:lpstr>Introduction to Coding Workshop by Slidesgo</vt:lpstr>
      <vt:lpstr>Slidesgo Final Pages</vt:lpstr>
      <vt:lpstr>Microsoft Excel Worksheet</vt:lpstr>
      <vt:lpstr>Proceso y Aseguramiento de Calidad  Capítulo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Control de Lectura </vt:lpstr>
      <vt:lpstr>Referencias</vt:lpstr>
      <vt:lpstr>Trabajo Parcial 2:  Aplicación de norma IEEE 730-2014</vt:lpstr>
      <vt:lpstr>Thanks!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Proceso y Aseguramiento de Calidad  Capítulo 2</dc:title>
  <dc:creator>LENOVO</dc:creator>
  <cp:lastModifiedBy>JESUS MARTIN SILVA FERNANDEZ</cp:lastModifiedBy>
  <cp:revision>25</cp:revision>
  <dcterms:modified xsi:type="dcterms:W3CDTF">2026-09-01T02:39:03Z</dcterms:modified>
</cp:coreProperties>
</file>